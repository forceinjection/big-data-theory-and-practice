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g" ContentType="image/jp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36"/>
  </p:notesMasterIdLst>
  <p:sldIdLst>
    <p:sldId id="256" r:id="rId2"/>
    <p:sldId id="257" r:id="rId3"/>
    <p:sldId id="292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</p:sldIdLst>
  <p:sldSz cx="12192000" cy="6858000"/>
  <p:notesSz cx="6858000" cy="12192000"/>
  <p:embeddedFontLst>
    <p:embeddedFont>
      <p:font typeface="KaiTi" panose="02010609060101010101" pitchFamily="49" charset="-122"/>
      <p:regular r:id="rId37"/>
    </p:embeddedFont>
    <p:embeddedFont>
      <p:font typeface="MiSans" pitchFamily="2" charset="-122"/>
      <p:regular r:id="rId38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72"/>
    <p:restoredTop sz="86040"/>
  </p:normalViewPr>
  <p:slideViewPr>
    <p:cSldViewPr snapToGrid="0" snapToObjects="1">
      <p:cViewPr varScale="1">
        <p:scale>
          <a:sx n="104" d="100"/>
          <a:sy n="104" d="100"/>
        </p:scale>
        <p:origin x="1160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1.fntdata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370022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7DC84A-72AF-1C8F-DDF6-F3EA9DB3D4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2372124-6036-9225-863F-C21DE3EC98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3E5CB09-F3E3-CC95-68D2-36E636B771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1A61F2-20EE-F27A-BD20-317B8DE21C0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145392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zhuanlan.zhihu.com</a:t>
            </a:r>
            <a:r>
              <a:rPr lang="en-US" dirty="0"/>
              <a:t>/p/112574579</a:t>
            </a:r>
          </a:p>
          <a:p>
            <a:r>
              <a:rPr lang="en-US" dirty="0"/>
              <a:t>https://</a:t>
            </a:r>
            <a:r>
              <a:rPr lang="en-US" dirty="0" err="1"/>
              <a:t>github.com</a:t>
            </a:r>
            <a:r>
              <a:rPr lang="en-US" dirty="0"/>
              <a:t>/</a:t>
            </a:r>
            <a:r>
              <a:rPr lang="en-US" dirty="0" err="1"/>
              <a:t>facebook</a:t>
            </a:r>
            <a:r>
              <a:rPr lang="en-US" dirty="0"/>
              <a:t>/</a:t>
            </a:r>
            <a:r>
              <a:rPr lang="en-US" dirty="0" err="1"/>
              <a:t>rocksdb</a:t>
            </a:r>
            <a:r>
              <a:rPr lang="en-US" dirty="0"/>
              <a:t>/wiki/Leveled-Compaction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test-kimi-img.moonshot.cn/pub/slides/slides_tmpl/image/25-08-11-17:38:55-d2crkbv0ctitcgma2i60.jpg">
            <a:extLst>
              <a:ext uri="{FF2B5EF4-FFF2-40B4-BE49-F238E27FC236}">
                <a16:creationId xmlns:a16="http://schemas.microsoft.com/office/drawing/2014/main" id="{4E91DD5A-81BB-E3E2-47CA-79DE98B2DF2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12772"/>
            <a:ext cx="12192000" cy="687077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-168165" y="0"/>
            <a:ext cx="12360166" cy="6875780"/>
          </a:xfrm>
          <a:prstGeom prst="rect">
            <a:avLst/>
          </a:prstGeom>
          <a:gradFill flip="none" rotWithShape="1">
            <a:gsLst>
              <a:gs pos="0">
                <a:srgbClr val="D7B1D4"/>
              </a:gs>
              <a:gs pos="34000">
                <a:srgbClr val="BC7DB7"/>
              </a:gs>
              <a:gs pos="100000">
                <a:srgbClr val="30225F"/>
              </a:gs>
            </a:gsLst>
            <a:lin ang="1350000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4445" y="0"/>
            <a:ext cx="12187555" cy="68757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59789" y="1950085"/>
            <a:ext cx="9661065" cy="21158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>
              <a:lnSpc>
                <a:spcPct val="120000"/>
              </a:lnSpc>
            </a:pPr>
            <a:r>
              <a:rPr lang="en-US" sz="5400" b="1" dirty="0">
                <a:solidFill>
                  <a:srgbClr val="FFFFFF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Bigtable</a:t>
            </a:r>
            <a:r>
              <a:rPr lang="en-US" sz="5400" b="1" dirty="0">
                <a:solidFill>
                  <a:srgbClr val="FFFFFF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: </a:t>
            </a:r>
            <a:r>
              <a:rPr lang="zh-CN" altLang="en-US" sz="5400" b="1" dirty="0">
                <a:solidFill>
                  <a:srgbClr val="FFFFFF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分布式结构化数据存储系统深度解析与架构实现</a:t>
            </a:r>
          </a:p>
        </p:txBody>
      </p:sp>
      <p:sp>
        <p:nvSpPr>
          <p:cNvPr id="7" name="Shape 5"/>
          <p:cNvSpPr/>
          <p:nvPr/>
        </p:nvSpPr>
        <p:spPr>
          <a:xfrm>
            <a:off x="941070" y="4754245"/>
            <a:ext cx="2057400" cy="5181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941070" y="4754245"/>
            <a:ext cx="2057400" cy="518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45185" y="4813935"/>
            <a:ext cx="2249805" cy="40011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402E7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Grissom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323590" y="4754245"/>
            <a:ext cx="2057400" cy="5181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3323590" y="4754245"/>
            <a:ext cx="2057400" cy="518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227705" y="4813935"/>
            <a:ext cx="2249805" cy="40011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402E7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2025.11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1727190" y="6306820"/>
            <a:ext cx="10080000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Shape 30"/>
          <p:cNvSpPr/>
          <p:nvPr/>
        </p:nvSpPr>
        <p:spPr>
          <a:xfrm>
            <a:off x="852805" y="6177280"/>
            <a:ext cx="259080" cy="25908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3" name="Text 31"/>
          <p:cNvSpPr/>
          <p:nvPr/>
        </p:nvSpPr>
        <p:spPr>
          <a:xfrm>
            <a:off x="852805" y="6177280"/>
            <a:ext cx="259080" cy="2590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979805" y="6177280"/>
            <a:ext cx="259080" cy="259080"/>
          </a:xfrm>
          <a:prstGeom prst="ellipse">
            <a:avLst/>
          </a:prstGeom>
          <a:solidFill>
            <a:srgbClr val="000000">
              <a:alpha val="0"/>
            </a:srgbClr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Text 33"/>
          <p:cNvSpPr/>
          <p:nvPr/>
        </p:nvSpPr>
        <p:spPr>
          <a:xfrm>
            <a:off x="979805" y="6177280"/>
            <a:ext cx="259080" cy="2590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https://test-kimi-img.moonshot.cn/pub/slides/slides_tmpl/image/25-08-11-17:38:52-d2crkb70ctitcgma2i5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1225" y="1504950"/>
            <a:ext cx="10369550" cy="52451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727190" y="6306820"/>
            <a:ext cx="10080000" cy="0"/>
          </a:xfrm>
          <a:prstGeom prst="line">
            <a:avLst/>
          </a:prstGeom>
          <a:noFill/>
          <a:ln w="19050">
            <a:solidFill>
              <a:srgbClr val="402E7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6" name="Shape 3"/>
          <p:cNvSpPr/>
          <p:nvPr/>
        </p:nvSpPr>
        <p:spPr>
          <a:xfrm>
            <a:off x="852805" y="6177280"/>
            <a:ext cx="259080" cy="259080"/>
          </a:xfrm>
          <a:prstGeom prst="ellipse">
            <a:avLst/>
          </a:prstGeom>
          <a:solidFill>
            <a:srgbClr val="402E7F"/>
          </a:solidFill>
          <a:ln/>
        </p:spPr>
        <p:txBody>
          <a:bodyPr/>
          <a:lstStyle/>
          <a:p>
            <a:endParaRPr lang="zh-CN" altLang="en-US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7" name="Text 4"/>
          <p:cNvSpPr/>
          <p:nvPr/>
        </p:nvSpPr>
        <p:spPr>
          <a:xfrm>
            <a:off x="852805" y="6177280"/>
            <a:ext cx="259080" cy="2590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8" name="Shape 5"/>
          <p:cNvSpPr/>
          <p:nvPr/>
        </p:nvSpPr>
        <p:spPr>
          <a:xfrm>
            <a:off x="979805" y="6177280"/>
            <a:ext cx="259080" cy="259080"/>
          </a:xfrm>
          <a:prstGeom prst="ellipse">
            <a:avLst/>
          </a:prstGeom>
          <a:solidFill>
            <a:srgbClr val="000000">
              <a:alpha val="0"/>
            </a:srgbClr>
          </a:solidFill>
          <a:ln w="19050">
            <a:solidFill>
              <a:srgbClr val="402E7F"/>
            </a:solidFill>
            <a:prstDash val="solid"/>
          </a:ln>
        </p:spPr>
        <p:txBody>
          <a:bodyPr/>
          <a:lstStyle/>
          <a:p>
            <a:endParaRPr lang="zh-CN" altLang="en-US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9" name="Text 6"/>
          <p:cNvSpPr/>
          <p:nvPr/>
        </p:nvSpPr>
        <p:spPr>
          <a:xfrm>
            <a:off x="979805" y="6177280"/>
            <a:ext cx="259080" cy="2590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pic>
        <p:nvPicPr>
          <p:cNvPr id="28" name="Image 1" descr="https://test-kimi-img.moonshot.cn/pub/slides/slides_tmpl/image/25-08-11-17:38:57-d2crkcf0ctitcgma2i7g.jpg"/>
          <p:cNvPicPr>
            <a:picLocks noChangeAspect="1"/>
          </p:cNvPicPr>
          <p:nvPr/>
        </p:nvPicPr>
        <p:blipFill>
          <a:blip r:embed="rId4"/>
          <a:srcRect l="13082" t="46098" r="5289" b="33026"/>
          <a:stretch/>
        </p:blipFill>
        <p:spPr>
          <a:xfrm>
            <a:off x="-25400" y="2216150"/>
            <a:ext cx="5394960" cy="716280"/>
          </a:xfrm>
          <a:prstGeom prst="rect">
            <a:avLst/>
          </a:prstGeom>
        </p:spPr>
      </p:pic>
      <p:sp>
        <p:nvSpPr>
          <p:cNvPr id="29" name="Shape 25"/>
          <p:cNvSpPr/>
          <p:nvPr/>
        </p:nvSpPr>
        <p:spPr>
          <a:xfrm>
            <a:off x="-25400" y="2216150"/>
            <a:ext cx="12192635" cy="716280"/>
          </a:xfrm>
          <a:prstGeom prst="rect">
            <a:avLst/>
          </a:prstGeom>
          <a:solidFill>
            <a:srgbClr val="000000">
              <a:alpha val="0"/>
            </a:srgbClr>
          </a:solidFill>
          <a:ln w="19050">
            <a:solidFill>
              <a:srgbClr val="402E7F"/>
            </a:solidFill>
            <a:prstDash val="solid"/>
          </a:ln>
        </p:spPr>
        <p:txBody>
          <a:bodyPr/>
          <a:lstStyle/>
          <a:p>
            <a:endParaRPr lang="zh-CN" altLang="en-US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30" name="Text 26"/>
          <p:cNvSpPr/>
          <p:nvPr/>
        </p:nvSpPr>
        <p:spPr>
          <a:xfrm>
            <a:off x="-25400" y="2216150"/>
            <a:ext cx="12192635" cy="7162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pic>
        <p:nvPicPr>
          <p:cNvPr id="31" name="Image 2" descr="https://test-kimi-img.moonshot.cn/pub/slides/slides_tmpl/image/25-08-11-17:38:57-d2crkcf0ctitcgma2i7g.jpg"/>
          <p:cNvPicPr>
            <a:picLocks noChangeAspect="1"/>
          </p:cNvPicPr>
          <p:nvPr/>
        </p:nvPicPr>
        <p:blipFill>
          <a:blip r:embed="rId4"/>
          <a:srcRect l="13082" t="46098" r="5289" b="33026"/>
          <a:stretch/>
        </p:blipFill>
        <p:spPr>
          <a:xfrm>
            <a:off x="-25400" y="3806825"/>
            <a:ext cx="5394960" cy="716280"/>
          </a:xfrm>
          <a:prstGeom prst="rect">
            <a:avLst/>
          </a:prstGeom>
        </p:spPr>
      </p:pic>
      <p:sp>
        <p:nvSpPr>
          <p:cNvPr id="32" name="Shape 27"/>
          <p:cNvSpPr/>
          <p:nvPr/>
        </p:nvSpPr>
        <p:spPr>
          <a:xfrm>
            <a:off x="-25400" y="3806825"/>
            <a:ext cx="12192635" cy="716280"/>
          </a:xfrm>
          <a:prstGeom prst="rect">
            <a:avLst/>
          </a:prstGeom>
          <a:solidFill>
            <a:srgbClr val="000000">
              <a:alpha val="0"/>
            </a:srgbClr>
          </a:solidFill>
          <a:ln w="19050">
            <a:solidFill>
              <a:srgbClr val="402E7F"/>
            </a:solidFill>
            <a:prstDash val="solid"/>
          </a:ln>
        </p:spPr>
        <p:txBody>
          <a:bodyPr/>
          <a:lstStyle/>
          <a:p>
            <a:endParaRPr lang="zh-CN" altLang="en-US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33" name="Text 28"/>
          <p:cNvSpPr/>
          <p:nvPr/>
        </p:nvSpPr>
        <p:spPr>
          <a:xfrm>
            <a:off x="-25400" y="3806825"/>
            <a:ext cx="12192635" cy="7162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pic>
        <p:nvPicPr>
          <p:cNvPr id="34" name="Image 3" descr="https://test-kimi-img.moonshot.cn/pub/slides/slides_tmpl/image/25-08-11-17:38:57-d2crkcf0ctitcgma2i7g.jpg"/>
          <p:cNvPicPr>
            <a:picLocks noChangeAspect="1"/>
          </p:cNvPicPr>
          <p:nvPr/>
        </p:nvPicPr>
        <p:blipFill>
          <a:blip r:embed="rId4"/>
          <a:srcRect l="13082" t="46098" r="5289" b="33026"/>
          <a:stretch/>
        </p:blipFill>
        <p:spPr>
          <a:xfrm>
            <a:off x="-25400" y="5397500"/>
            <a:ext cx="5394960" cy="716280"/>
          </a:xfrm>
          <a:prstGeom prst="rect">
            <a:avLst/>
          </a:prstGeom>
        </p:spPr>
      </p:pic>
      <p:sp>
        <p:nvSpPr>
          <p:cNvPr id="35" name="Shape 29"/>
          <p:cNvSpPr/>
          <p:nvPr/>
        </p:nvSpPr>
        <p:spPr>
          <a:xfrm>
            <a:off x="-25400" y="5397500"/>
            <a:ext cx="12192635" cy="716280"/>
          </a:xfrm>
          <a:prstGeom prst="rect">
            <a:avLst/>
          </a:prstGeom>
          <a:solidFill>
            <a:srgbClr val="000000">
              <a:alpha val="0"/>
            </a:srgbClr>
          </a:solidFill>
          <a:ln w="19050">
            <a:solidFill>
              <a:srgbClr val="402E7F"/>
            </a:solidFill>
            <a:prstDash val="solid"/>
          </a:ln>
        </p:spPr>
        <p:txBody>
          <a:bodyPr/>
          <a:lstStyle/>
          <a:p>
            <a:endParaRPr lang="zh-CN" altLang="en-US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36" name="Text 30"/>
          <p:cNvSpPr/>
          <p:nvPr/>
        </p:nvSpPr>
        <p:spPr>
          <a:xfrm>
            <a:off x="-25400" y="5397500"/>
            <a:ext cx="12192635" cy="7162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pic>
        <p:nvPicPr>
          <p:cNvPr id="37" name="Image 4" descr="https://test-kimi-img.moonshot.cn/pub/slides/slides_tmpl/image/25-08-11-17:38:57-d2crkcf0ctitcgma2i7g.jpg"/>
          <p:cNvPicPr>
            <a:picLocks noChangeAspect="1"/>
          </p:cNvPicPr>
          <p:nvPr/>
        </p:nvPicPr>
        <p:blipFill>
          <a:blip r:embed="rId4"/>
          <a:srcRect l="13082" t="46098" r="5289" b="33026"/>
          <a:stretch/>
        </p:blipFill>
        <p:spPr>
          <a:xfrm>
            <a:off x="6772275" y="3011170"/>
            <a:ext cx="5394960" cy="716280"/>
          </a:xfrm>
          <a:prstGeom prst="rect">
            <a:avLst/>
          </a:prstGeom>
        </p:spPr>
      </p:pic>
      <p:sp>
        <p:nvSpPr>
          <p:cNvPr id="38" name="Shape 31"/>
          <p:cNvSpPr/>
          <p:nvPr/>
        </p:nvSpPr>
        <p:spPr>
          <a:xfrm>
            <a:off x="-25400" y="3011170"/>
            <a:ext cx="12192635" cy="716280"/>
          </a:xfrm>
          <a:prstGeom prst="rect">
            <a:avLst/>
          </a:prstGeom>
          <a:solidFill>
            <a:srgbClr val="000000">
              <a:alpha val="0"/>
            </a:srgbClr>
          </a:solidFill>
          <a:ln w="19050">
            <a:solidFill>
              <a:srgbClr val="402E7F"/>
            </a:solidFill>
            <a:prstDash val="solid"/>
          </a:ln>
        </p:spPr>
        <p:txBody>
          <a:bodyPr/>
          <a:lstStyle/>
          <a:p>
            <a:endParaRPr lang="zh-CN" altLang="en-US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39" name="Text 32"/>
          <p:cNvSpPr/>
          <p:nvPr/>
        </p:nvSpPr>
        <p:spPr>
          <a:xfrm>
            <a:off x="-25400" y="3011170"/>
            <a:ext cx="12192635" cy="7162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pic>
        <p:nvPicPr>
          <p:cNvPr id="40" name="Image 5" descr="https://test-kimi-img.moonshot.cn/pub/slides/slides_tmpl/image/25-08-11-17:38:57-d2crkcf0ctitcgma2i7g.jpg"/>
          <p:cNvPicPr>
            <a:picLocks noChangeAspect="1"/>
          </p:cNvPicPr>
          <p:nvPr/>
        </p:nvPicPr>
        <p:blipFill>
          <a:blip r:embed="rId4"/>
          <a:srcRect l="13082" t="46098" r="5289" b="33026"/>
          <a:stretch/>
        </p:blipFill>
        <p:spPr>
          <a:xfrm>
            <a:off x="6772275" y="4601845"/>
            <a:ext cx="5394960" cy="716280"/>
          </a:xfrm>
          <a:prstGeom prst="rect">
            <a:avLst/>
          </a:prstGeom>
        </p:spPr>
      </p:pic>
      <p:sp>
        <p:nvSpPr>
          <p:cNvPr id="41" name="Shape 33"/>
          <p:cNvSpPr/>
          <p:nvPr/>
        </p:nvSpPr>
        <p:spPr>
          <a:xfrm>
            <a:off x="-25400" y="4601845"/>
            <a:ext cx="12192635" cy="716280"/>
          </a:xfrm>
          <a:prstGeom prst="rect">
            <a:avLst/>
          </a:prstGeom>
          <a:solidFill>
            <a:srgbClr val="000000">
              <a:alpha val="0"/>
            </a:srgbClr>
          </a:solidFill>
          <a:ln w="19050">
            <a:solidFill>
              <a:srgbClr val="402E7F"/>
            </a:solidFill>
            <a:prstDash val="solid"/>
          </a:ln>
        </p:spPr>
        <p:txBody>
          <a:bodyPr/>
          <a:lstStyle/>
          <a:p>
            <a:endParaRPr lang="zh-CN" altLang="en-US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42" name="Text 34"/>
          <p:cNvSpPr/>
          <p:nvPr/>
        </p:nvSpPr>
        <p:spPr>
          <a:xfrm>
            <a:off x="-25400" y="4601845"/>
            <a:ext cx="12192635" cy="7162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43" name="Shape 35"/>
          <p:cNvSpPr/>
          <p:nvPr/>
        </p:nvSpPr>
        <p:spPr>
          <a:xfrm>
            <a:off x="3619500" y="828040"/>
            <a:ext cx="4953000" cy="92329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zh-CN" altLang="en-US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44" name="Text 36"/>
          <p:cNvSpPr/>
          <p:nvPr/>
        </p:nvSpPr>
        <p:spPr>
          <a:xfrm>
            <a:off x="3619500" y="828040"/>
            <a:ext cx="4953000" cy="923290"/>
          </a:xfrm>
          <a:prstGeom prst="rect">
            <a:avLst/>
          </a:prstGeom>
          <a:noFill/>
          <a:ln/>
        </p:spPr>
        <p:txBody>
          <a:bodyPr wrap="square" lIns="46863" tIns="90043" rIns="90043" bIns="46863" rtlCol="0" anchor="b"/>
          <a:lstStyle/>
          <a:p>
            <a:pPr algn="ctr">
              <a:lnSpc>
                <a:spcPct val="100000"/>
              </a:lnSpc>
            </a:pPr>
            <a:r>
              <a:rPr lang="en-US" sz="5400" dirty="0">
                <a:solidFill>
                  <a:srgbClr val="1E1C0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目录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45" name="Shape 37"/>
          <p:cNvSpPr/>
          <p:nvPr/>
        </p:nvSpPr>
        <p:spPr>
          <a:xfrm>
            <a:off x="-35560" y="2216150"/>
            <a:ext cx="5396400" cy="716369"/>
          </a:xfrm>
          <a:prstGeom prst="rect">
            <a:avLst/>
          </a:prstGeom>
          <a:gradFill flip="none" rotWithShape="1">
            <a:gsLst>
              <a:gs pos="0">
                <a:srgbClr val="D7B1D4"/>
              </a:gs>
              <a:gs pos="34000">
                <a:srgbClr val="BC7DB7"/>
              </a:gs>
              <a:gs pos="100000">
                <a:srgbClr val="30225F"/>
              </a:gs>
            </a:gsLst>
            <a:lin ang="13500000" scaled="1"/>
          </a:gradFill>
          <a:ln/>
        </p:spPr>
        <p:txBody>
          <a:bodyPr/>
          <a:lstStyle/>
          <a:p>
            <a:endParaRPr lang="zh-CN" altLang="en-US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46" name="Text 38"/>
          <p:cNvSpPr/>
          <p:nvPr/>
        </p:nvSpPr>
        <p:spPr>
          <a:xfrm>
            <a:off x="-35560" y="2216150"/>
            <a:ext cx="5396400" cy="716369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47" name="Shape 39"/>
          <p:cNvSpPr/>
          <p:nvPr/>
        </p:nvSpPr>
        <p:spPr>
          <a:xfrm>
            <a:off x="-35560" y="3806736"/>
            <a:ext cx="5396400" cy="716369"/>
          </a:xfrm>
          <a:prstGeom prst="rect">
            <a:avLst/>
          </a:prstGeom>
          <a:gradFill flip="none" rotWithShape="1">
            <a:gsLst>
              <a:gs pos="0">
                <a:srgbClr val="D7B1D4"/>
              </a:gs>
              <a:gs pos="34000">
                <a:srgbClr val="BC7DB7"/>
              </a:gs>
              <a:gs pos="100000">
                <a:srgbClr val="30225F"/>
              </a:gs>
            </a:gsLst>
            <a:lin ang="13500000" scaled="1"/>
          </a:gradFill>
          <a:ln/>
        </p:spPr>
        <p:txBody>
          <a:bodyPr/>
          <a:lstStyle/>
          <a:p>
            <a:endParaRPr lang="zh-CN" altLang="en-US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48" name="Text 40"/>
          <p:cNvSpPr/>
          <p:nvPr/>
        </p:nvSpPr>
        <p:spPr>
          <a:xfrm>
            <a:off x="-35560" y="3806736"/>
            <a:ext cx="5396400" cy="716369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49" name="Shape 41"/>
          <p:cNvSpPr/>
          <p:nvPr/>
        </p:nvSpPr>
        <p:spPr>
          <a:xfrm>
            <a:off x="-35560" y="5397411"/>
            <a:ext cx="5396400" cy="716369"/>
          </a:xfrm>
          <a:prstGeom prst="rect">
            <a:avLst/>
          </a:prstGeom>
          <a:gradFill flip="none" rotWithShape="1">
            <a:gsLst>
              <a:gs pos="0">
                <a:srgbClr val="D7B1D4"/>
              </a:gs>
              <a:gs pos="34000">
                <a:srgbClr val="BC7DB7"/>
              </a:gs>
              <a:gs pos="100000">
                <a:srgbClr val="30225F"/>
              </a:gs>
            </a:gsLst>
            <a:lin ang="13500000" scaled="1"/>
          </a:gradFill>
          <a:ln/>
        </p:spPr>
        <p:txBody>
          <a:bodyPr/>
          <a:lstStyle/>
          <a:p>
            <a:endParaRPr lang="zh-CN" altLang="en-US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50" name="Text 42"/>
          <p:cNvSpPr/>
          <p:nvPr/>
        </p:nvSpPr>
        <p:spPr>
          <a:xfrm>
            <a:off x="-35560" y="5397411"/>
            <a:ext cx="5396400" cy="716369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51" name="Shape 43"/>
          <p:cNvSpPr/>
          <p:nvPr/>
        </p:nvSpPr>
        <p:spPr>
          <a:xfrm>
            <a:off x="6770835" y="3011170"/>
            <a:ext cx="5396400" cy="716369"/>
          </a:xfrm>
          <a:prstGeom prst="rect">
            <a:avLst/>
          </a:prstGeom>
          <a:gradFill flip="none" rotWithShape="1">
            <a:gsLst>
              <a:gs pos="0">
                <a:srgbClr val="D7B1D4"/>
              </a:gs>
              <a:gs pos="34000">
                <a:srgbClr val="BC7DB7"/>
              </a:gs>
              <a:gs pos="100000">
                <a:srgbClr val="30225F"/>
              </a:gs>
            </a:gsLst>
            <a:lin ang="13500000" scaled="1"/>
          </a:gradFill>
          <a:ln/>
        </p:spPr>
        <p:txBody>
          <a:bodyPr/>
          <a:lstStyle/>
          <a:p>
            <a:endParaRPr lang="zh-CN" altLang="en-US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52" name="Text 44"/>
          <p:cNvSpPr/>
          <p:nvPr/>
        </p:nvSpPr>
        <p:spPr>
          <a:xfrm>
            <a:off x="6770835" y="3011170"/>
            <a:ext cx="5396400" cy="716369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53" name="Shape 45"/>
          <p:cNvSpPr/>
          <p:nvPr/>
        </p:nvSpPr>
        <p:spPr>
          <a:xfrm>
            <a:off x="6770835" y="4601756"/>
            <a:ext cx="5396400" cy="716369"/>
          </a:xfrm>
          <a:prstGeom prst="rect">
            <a:avLst/>
          </a:prstGeom>
          <a:gradFill flip="none" rotWithShape="1">
            <a:gsLst>
              <a:gs pos="0">
                <a:srgbClr val="D7B1D4"/>
              </a:gs>
              <a:gs pos="34000">
                <a:srgbClr val="BC7DB7"/>
              </a:gs>
              <a:gs pos="100000">
                <a:srgbClr val="30225F"/>
              </a:gs>
            </a:gsLst>
            <a:lin ang="13500000" scaled="1"/>
          </a:gradFill>
          <a:ln/>
        </p:spPr>
        <p:txBody>
          <a:bodyPr/>
          <a:lstStyle/>
          <a:p>
            <a:endParaRPr lang="zh-CN" altLang="en-US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54" name="Text 46"/>
          <p:cNvSpPr/>
          <p:nvPr/>
        </p:nvSpPr>
        <p:spPr>
          <a:xfrm>
            <a:off x="6770835" y="4601756"/>
            <a:ext cx="5396400" cy="716369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55" name="Text 47"/>
          <p:cNvSpPr/>
          <p:nvPr/>
        </p:nvSpPr>
        <p:spPr>
          <a:xfrm>
            <a:off x="5519420" y="2275791"/>
            <a:ext cx="772795" cy="620971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ctr">
              <a:lnSpc>
                <a:spcPct val="100000"/>
              </a:lnSpc>
            </a:pPr>
            <a:r>
              <a:rPr lang="en-US" sz="3600" b="1" dirty="0">
                <a:solidFill>
                  <a:srgbClr val="402E7F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01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56" name="Text 48"/>
          <p:cNvSpPr/>
          <p:nvPr/>
        </p:nvSpPr>
        <p:spPr>
          <a:xfrm>
            <a:off x="6357620" y="2374024"/>
            <a:ext cx="5008245" cy="46166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2400" b="1" dirty="0" err="1">
                <a:solidFill>
                  <a:srgbClr val="4E4B22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缘起：Google</a:t>
            </a:r>
            <a:r>
              <a:rPr lang="en-US" sz="2400" b="1" dirty="0">
                <a:solidFill>
                  <a:srgbClr val="4E4B22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 </a:t>
            </a:r>
            <a:r>
              <a:rPr lang="en-US" sz="2400" b="1" dirty="0" err="1">
                <a:solidFill>
                  <a:srgbClr val="4E4B22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的</a:t>
            </a:r>
            <a:r>
              <a:rPr lang="en-US" sz="2400" b="1" dirty="0">
                <a:solidFill>
                  <a:srgbClr val="4E4B22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 PB </a:t>
            </a:r>
            <a:r>
              <a:rPr lang="en-US" sz="2400" b="1" dirty="0" err="1">
                <a:solidFill>
                  <a:srgbClr val="4E4B22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级难题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57" name="Text 49"/>
          <p:cNvSpPr/>
          <p:nvPr/>
        </p:nvSpPr>
        <p:spPr>
          <a:xfrm>
            <a:off x="154940" y="3070811"/>
            <a:ext cx="772795" cy="620971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ctr">
              <a:lnSpc>
                <a:spcPct val="100000"/>
              </a:lnSpc>
            </a:pPr>
            <a:r>
              <a:rPr lang="en-US" sz="3600" b="1" dirty="0">
                <a:solidFill>
                  <a:srgbClr val="402E7F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02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58" name="Text 50"/>
          <p:cNvSpPr/>
          <p:nvPr/>
        </p:nvSpPr>
        <p:spPr>
          <a:xfrm>
            <a:off x="993140" y="3169044"/>
            <a:ext cx="5008245" cy="46166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400" b="1" dirty="0">
                <a:solidFill>
                  <a:srgbClr val="4E4B22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数据模型：四维映射的工程智慧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59" name="Text 51"/>
          <p:cNvSpPr/>
          <p:nvPr/>
        </p:nvSpPr>
        <p:spPr>
          <a:xfrm>
            <a:off x="5519420" y="3866466"/>
            <a:ext cx="772795" cy="620971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ctr">
              <a:lnSpc>
                <a:spcPct val="100000"/>
              </a:lnSpc>
            </a:pPr>
            <a:r>
              <a:rPr lang="en-US" sz="3600" b="1" dirty="0">
                <a:solidFill>
                  <a:srgbClr val="402E7F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03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60" name="Text 52"/>
          <p:cNvSpPr/>
          <p:nvPr/>
        </p:nvSpPr>
        <p:spPr>
          <a:xfrm>
            <a:off x="6357620" y="3964699"/>
            <a:ext cx="5603152" cy="46166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2400" b="1" dirty="0">
                <a:solidFill>
                  <a:srgbClr val="4E4B22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架构拆解：从客户端到GFS的完整链路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61" name="Text 53"/>
          <p:cNvSpPr/>
          <p:nvPr/>
        </p:nvSpPr>
        <p:spPr>
          <a:xfrm>
            <a:off x="154940" y="4661486"/>
            <a:ext cx="772795" cy="620971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ctr">
              <a:lnSpc>
                <a:spcPct val="100000"/>
              </a:lnSpc>
            </a:pPr>
            <a:r>
              <a:rPr lang="en-US" sz="3600" b="1" dirty="0">
                <a:solidFill>
                  <a:srgbClr val="402E7F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04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62" name="Text 54"/>
          <p:cNvSpPr/>
          <p:nvPr/>
        </p:nvSpPr>
        <p:spPr>
          <a:xfrm>
            <a:off x="993140" y="4759719"/>
            <a:ext cx="5008245" cy="46166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2400" b="1" dirty="0">
                <a:solidFill>
                  <a:srgbClr val="3E3A1C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Tablet </a:t>
            </a:r>
            <a:r>
              <a:rPr lang="en-US" sz="2400" b="1" dirty="0" err="1">
                <a:solidFill>
                  <a:srgbClr val="3E3A1C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分裂与负载均衡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63" name="Text 55"/>
          <p:cNvSpPr/>
          <p:nvPr/>
        </p:nvSpPr>
        <p:spPr>
          <a:xfrm>
            <a:off x="5519420" y="5457141"/>
            <a:ext cx="772795" cy="620971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ctr">
              <a:lnSpc>
                <a:spcPct val="100000"/>
              </a:lnSpc>
            </a:pPr>
            <a:r>
              <a:rPr lang="en-US" sz="3600" b="1" dirty="0">
                <a:solidFill>
                  <a:srgbClr val="402E7F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05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64" name="Text 56"/>
          <p:cNvSpPr/>
          <p:nvPr/>
        </p:nvSpPr>
        <p:spPr>
          <a:xfrm>
            <a:off x="6357620" y="5555374"/>
            <a:ext cx="5008245" cy="46166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2400" b="1" dirty="0">
                <a:solidFill>
                  <a:srgbClr val="3E3A1C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LSM </a:t>
            </a:r>
            <a:r>
              <a:rPr lang="en-US" sz="2400" b="1" dirty="0" err="1">
                <a:solidFill>
                  <a:srgbClr val="3E3A1C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树引擎与</a:t>
            </a:r>
            <a:r>
              <a:rPr lang="en-US" sz="2400" b="1" dirty="0">
                <a:solidFill>
                  <a:srgbClr val="3E3A1C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 Compaction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ED8573-62E5-BC30-A9EB-6944B128F4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https://test-kimi-img.moonshot.cn/pub/slides/slides_tmpl/image/25-08-11-17:38:52-d2crkb70ctitcgma2i50.png">
            <a:extLst>
              <a:ext uri="{FF2B5EF4-FFF2-40B4-BE49-F238E27FC236}">
                <a16:creationId xmlns:a16="http://schemas.microsoft.com/office/drawing/2014/main" id="{A4519190-07C8-59B0-0D54-BFC4833DAB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1225" y="1504950"/>
            <a:ext cx="10369550" cy="524510"/>
          </a:xfrm>
          <a:prstGeom prst="rect">
            <a:avLst/>
          </a:prstGeom>
        </p:spPr>
      </p:pic>
      <p:sp>
        <p:nvSpPr>
          <p:cNvPr id="5" name="Shape 2">
            <a:extLst>
              <a:ext uri="{FF2B5EF4-FFF2-40B4-BE49-F238E27FC236}">
                <a16:creationId xmlns:a16="http://schemas.microsoft.com/office/drawing/2014/main" id="{CFC06E11-CF4A-4F8F-99BE-349219B20410}"/>
              </a:ext>
            </a:extLst>
          </p:cNvPr>
          <p:cNvSpPr/>
          <p:nvPr/>
        </p:nvSpPr>
        <p:spPr>
          <a:xfrm>
            <a:off x="1727190" y="6306820"/>
            <a:ext cx="10080000" cy="0"/>
          </a:xfrm>
          <a:prstGeom prst="line">
            <a:avLst/>
          </a:prstGeom>
          <a:noFill/>
          <a:ln w="19050">
            <a:solidFill>
              <a:srgbClr val="402E7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D26AA5E5-196E-B6AB-E959-AE3456D79E00}"/>
              </a:ext>
            </a:extLst>
          </p:cNvPr>
          <p:cNvSpPr/>
          <p:nvPr/>
        </p:nvSpPr>
        <p:spPr>
          <a:xfrm>
            <a:off x="852805" y="6177280"/>
            <a:ext cx="259080" cy="259080"/>
          </a:xfrm>
          <a:prstGeom prst="ellipse">
            <a:avLst/>
          </a:prstGeom>
          <a:solidFill>
            <a:srgbClr val="402E7F"/>
          </a:solidFill>
          <a:ln/>
        </p:spPr>
        <p:txBody>
          <a:bodyPr/>
          <a:lstStyle/>
          <a:p>
            <a:endParaRPr lang="zh-CN" altLang="en-US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57E8E75C-500F-F1E8-F8B5-FA3036D2BC81}"/>
              </a:ext>
            </a:extLst>
          </p:cNvPr>
          <p:cNvSpPr/>
          <p:nvPr/>
        </p:nvSpPr>
        <p:spPr>
          <a:xfrm>
            <a:off x="852805" y="6177280"/>
            <a:ext cx="259080" cy="2590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3F8FC918-FAC7-B34A-A129-5A0575B4FBF7}"/>
              </a:ext>
            </a:extLst>
          </p:cNvPr>
          <p:cNvSpPr/>
          <p:nvPr/>
        </p:nvSpPr>
        <p:spPr>
          <a:xfrm>
            <a:off x="979805" y="6177280"/>
            <a:ext cx="259080" cy="259080"/>
          </a:xfrm>
          <a:prstGeom prst="ellipse">
            <a:avLst/>
          </a:prstGeom>
          <a:solidFill>
            <a:srgbClr val="000000">
              <a:alpha val="0"/>
            </a:srgbClr>
          </a:solidFill>
          <a:ln w="19050">
            <a:solidFill>
              <a:srgbClr val="402E7F"/>
            </a:solidFill>
            <a:prstDash val="solid"/>
          </a:ln>
        </p:spPr>
        <p:txBody>
          <a:bodyPr/>
          <a:lstStyle/>
          <a:p>
            <a:endParaRPr lang="zh-CN" altLang="en-US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7A1B2669-4F9C-EFDA-D903-A8EC505BB79D}"/>
              </a:ext>
            </a:extLst>
          </p:cNvPr>
          <p:cNvSpPr/>
          <p:nvPr/>
        </p:nvSpPr>
        <p:spPr>
          <a:xfrm>
            <a:off x="979805" y="6177280"/>
            <a:ext cx="259080" cy="2590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pic>
        <p:nvPicPr>
          <p:cNvPr id="28" name="Image 1" descr="https://test-kimi-img.moonshot.cn/pub/slides/slides_tmpl/image/25-08-11-17:38:57-d2crkcf0ctitcgma2i7g.jpg">
            <a:extLst>
              <a:ext uri="{FF2B5EF4-FFF2-40B4-BE49-F238E27FC236}">
                <a16:creationId xmlns:a16="http://schemas.microsoft.com/office/drawing/2014/main" id="{1BF2D8FC-0282-D8C3-900C-28BAB909C83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3082" t="46098" r="5289" b="33026"/>
          <a:stretch/>
        </p:blipFill>
        <p:spPr>
          <a:xfrm>
            <a:off x="-25400" y="2216150"/>
            <a:ext cx="5394960" cy="716280"/>
          </a:xfrm>
          <a:prstGeom prst="rect">
            <a:avLst/>
          </a:prstGeom>
        </p:spPr>
      </p:pic>
      <p:sp>
        <p:nvSpPr>
          <p:cNvPr id="29" name="Shape 25">
            <a:extLst>
              <a:ext uri="{FF2B5EF4-FFF2-40B4-BE49-F238E27FC236}">
                <a16:creationId xmlns:a16="http://schemas.microsoft.com/office/drawing/2014/main" id="{D712A446-922C-D3AF-D7D9-04D92E2D6DFD}"/>
              </a:ext>
            </a:extLst>
          </p:cNvPr>
          <p:cNvSpPr/>
          <p:nvPr/>
        </p:nvSpPr>
        <p:spPr>
          <a:xfrm>
            <a:off x="-25400" y="2216150"/>
            <a:ext cx="12192635" cy="716280"/>
          </a:xfrm>
          <a:prstGeom prst="rect">
            <a:avLst/>
          </a:prstGeom>
          <a:solidFill>
            <a:srgbClr val="000000">
              <a:alpha val="0"/>
            </a:srgbClr>
          </a:solidFill>
          <a:ln w="19050">
            <a:solidFill>
              <a:srgbClr val="402E7F"/>
            </a:solidFill>
            <a:prstDash val="solid"/>
          </a:ln>
        </p:spPr>
        <p:txBody>
          <a:bodyPr/>
          <a:lstStyle/>
          <a:p>
            <a:endParaRPr lang="zh-CN" altLang="en-US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30" name="Text 26">
            <a:extLst>
              <a:ext uri="{FF2B5EF4-FFF2-40B4-BE49-F238E27FC236}">
                <a16:creationId xmlns:a16="http://schemas.microsoft.com/office/drawing/2014/main" id="{18B63B98-8B78-35C4-74ED-EF375A6645EF}"/>
              </a:ext>
            </a:extLst>
          </p:cNvPr>
          <p:cNvSpPr/>
          <p:nvPr/>
        </p:nvSpPr>
        <p:spPr>
          <a:xfrm>
            <a:off x="-25400" y="2216150"/>
            <a:ext cx="12192635" cy="7162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pic>
        <p:nvPicPr>
          <p:cNvPr id="37" name="Image 4" descr="https://test-kimi-img.moonshot.cn/pub/slides/slides_tmpl/image/25-08-11-17:38:57-d2crkcf0ctitcgma2i7g.jpg">
            <a:extLst>
              <a:ext uri="{FF2B5EF4-FFF2-40B4-BE49-F238E27FC236}">
                <a16:creationId xmlns:a16="http://schemas.microsoft.com/office/drawing/2014/main" id="{BC4A7087-2834-8403-A0E8-DF885DAB4FE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3082" t="46098" r="5289" b="33026"/>
          <a:stretch/>
        </p:blipFill>
        <p:spPr>
          <a:xfrm>
            <a:off x="6772275" y="3011170"/>
            <a:ext cx="5394960" cy="716280"/>
          </a:xfrm>
          <a:prstGeom prst="rect">
            <a:avLst/>
          </a:prstGeom>
        </p:spPr>
      </p:pic>
      <p:sp>
        <p:nvSpPr>
          <p:cNvPr id="38" name="Shape 31">
            <a:extLst>
              <a:ext uri="{FF2B5EF4-FFF2-40B4-BE49-F238E27FC236}">
                <a16:creationId xmlns:a16="http://schemas.microsoft.com/office/drawing/2014/main" id="{2FADA62E-0B9F-BDE1-42D4-0763F9F2E37E}"/>
              </a:ext>
            </a:extLst>
          </p:cNvPr>
          <p:cNvSpPr/>
          <p:nvPr/>
        </p:nvSpPr>
        <p:spPr>
          <a:xfrm>
            <a:off x="-25400" y="3011170"/>
            <a:ext cx="12192635" cy="716280"/>
          </a:xfrm>
          <a:prstGeom prst="rect">
            <a:avLst/>
          </a:prstGeom>
          <a:solidFill>
            <a:srgbClr val="000000">
              <a:alpha val="0"/>
            </a:srgbClr>
          </a:solidFill>
          <a:ln w="19050">
            <a:solidFill>
              <a:srgbClr val="402E7F"/>
            </a:solidFill>
            <a:prstDash val="solid"/>
          </a:ln>
        </p:spPr>
        <p:txBody>
          <a:bodyPr/>
          <a:lstStyle/>
          <a:p>
            <a:endParaRPr lang="zh-CN" altLang="en-US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39" name="Text 32">
            <a:extLst>
              <a:ext uri="{FF2B5EF4-FFF2-40B4-BE49-F238E27FC236}">
                <a16:creationId xmlns:a16="http://schemas.microsoft.com/office/drawing/2014/main" id="{45A8E609-9243-E65F-71A6-745FA74CACE9}"/>
              </a:ext>
            </a:extLst>
          </p:cNvPr>
          <p:cNvSpPr/>
          <p:nvPr/>
        </p:nvSpPr>
        <p:spPr>
          <a:xfrm>
            <a:off x="-25400" y="3011170"/>
            <a:ext cx="12192635" cy="7162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43" name="Shape 35">
            <a:extLst>
              <a:ext uri="{FF2B5EF4-FFF2-40B4-BE49-F238E27FC236}">
                <a16:creationId xmlns:a16="http://schemas.microsoft.com/office/drawing/2014/main" id="{7DAB6B66-E218-0832-D4BA-E045753188F7}"/>
              </a:ext>
            </a:extLst>
          </p:cNvPr>
          <p:cNvSpPr/>
          <p:nvPr/>
        </p:nvSpPr>
        <p:spPr>
          <a:xfrm>
            <a:off x="3619500" y="828040"/>
            <a:ext cx="4953000" cy="92329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zh-CN" altLang="en-US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44" name="Text 36">
            <a:extLst>
              <a:ext uri="{FF2B5EF4-FFF2-40B4-BE49-F238E27FC236}">
                <a16:creationId xmlns:a16="http://schemas.microsoft.com/office/drawing/2014/main" id="{084400EB-BE59-FDAC-FA7A-83D96CAEBFDD}"/>
              </a:ext>
            </a:extLst>
          </p:cNvPr>
          <p:cNvSpPr/>
          <p:nvPr/>
        </p:nvSpPr>
        <p:spPr>
          <a:xfrm>
            <a:off x="3619500" y="828040"/>
            <a:ext cx="4953000" cy="923290"/>
          </a:xfrm>
          <a:prstGeom prst="rect">
            <a:avLst/>
          </a:prstGeom>
          <a:noFill/>
          <a:ln/>
        </p:spPr>
        <p:txBody>
          <a:bodyPr wrap="square" lIns="46863" tIns="90043" rIns="90043" bIns="46863" rtlCol="0" anchor="b"/>
          <a:lstStyle/>
          <a:p>
            <a:pPr algn="ctr">
              <a:lnSpc>
                <a:spcPct val="100000"/>
              </a:lnSpc>
            </a:pPr>
            <a:r>
              <a:rPr lang="en-US" sz="5400" dirty="0">
                <a:solidFill>
                  <a:srgbClr val="1E1C0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目录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45" name="Shape 37">
            <a:extLst>
              <a:ext uri="{FF2B5EF4-FFF2-40B4-BE49-F238E27FC236}">
                <a16:creationId xmlns:a16="http://schemas.microsoft.com/office/drawing/2014/main" id="{AF3E9E43-B1EE-8F49-466A-2AAD83B7CD8A}"/>
              </a:ext>
            </a:extLst>
          </p:cNvPr>
          <p:cNvSpPr/>
          <p:nvPr/>
        </p:nvSpPr>
        <p:spPr>
          <a:xfrm>
            <a:off x="-35560" y="2216150"/>
            <a:ext cx="5396400" cy="716369"/>
          </a:xfrm>
          <a:prstGeom prst="rect">
            <a:avLst/>
          </a:prstGeom>
          <a:gradFill flip="none" rotWithShape="1">
            <a:gsLst>
              <a:gs pos="0">
                <a:srgbClr val="D7B1D4"/>
              </a:gs>
              <a:gs pos="34000">
                <a:srgbClr val="BC7DB7"/>
              </a:gs>
              <a:gs pos="100000">
                <a:srgbClr val="30225F"/>
              </a:gs>
            </a:gsLst>
            <a:lin ang="13500000" scaled="1"/>
          </a:gradFill>
          <a:ln/>
        </p:spPr>
        <p:txBody>
          <a:bodyPr/>
          <a:lstStyle/>
          <a:p>
            <a:endParaRPr lang="zh-CN" altLang="en-US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46" name="Text 38">
            <a:extLst>
              <a:ext uri="{FF2B5EF4-FFF2-40B4-BE49-F238E27FC236}">
                <a16:creationId xmlns:a16="http://schemas.microsoft.com/office/drawing/2014/main" id="{56EC3D90-A027-701A-A63F-51030856375C}"/>
              </a:ext>
            </a:extLst>
          </p:cNvPr>
          <p:cNvSpPr/>
          <p:nvPr/>
        </p:nvSpPr>
        <p:spPr>
          <a:xfrm>
            <a:off x="-35560" y="2216150"/>
            <a:ext cx="5396400" cy="716369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51" name="Shape 43">
            <a:extLst>
              <a:ext uri="{FF2B5EF4-FFF2-40B4-BE49-F238E27FC236}">
                <a16:creationId xmlns:a16="http://schemas.microsoft.com/office/drawing/2014/main" id="{45B06D9B-1CC7-B7A7-6BEB-3CFEC404B3C7}"/>
              </a:ext>
            </a:extLst>
          </p:cNvPr>
          <p:cNvSpPr/>
          <p:nvPr/>
        </p:nvSpPr>
        <p:spPr>
          <a:xfrm>
            <a:off x="6770835" y="3011170"/>
            <a:ext cx="5396400" cy="716369"/>
          </a:xfrm>
          <a:prstGeom prst="rect">
            <a:avLst/>
          </a:prstGeom>
          <a:gradFill flip="none" rotWithShape="1">
            <a:gsLst>
              <a:gs pos="0">
                <a:srgbClr val="D7B1D4"/>
              </a:gs>
              <a:gs pos="34000">
                <a:srgbClr val="BC7DB7"/>
              </a:gs>
              <a:gs pos="100000">
                <a:srgbClr val="30225F"/>
              </a:gs>
            </a:gsLst>
            <a:lin ang="13500000" scaled="1"/>
          </a:gradFill>
          <a:ln/>
        </p:spPr>
        <p:txBody>
          <a:bodyPr/>
          <a:lstStyle/>
          <a:p>
            <a:endParaRPr lang="zh-CN" altLang="en-US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52" name="Text 44">
            <a:extLst>
              <a:ext uri="{FF2B5EF4-FFF2-40B4-BE49-F238E27FC236}">
                <a16:creationId xmlns:a16="http://schemas.microsoft.com/office/drawing/2014/main" id="{1894518F-B4CF-A7A7-DC8F-295B8060A486}"/>
              </a:ext>
            </a:extLst>
          </p:cNvPr>
          <p:cNvSpPr/>
          <p:nvPr/>
        </p:nvSpPr>
        <p:spPr>
          <a:xfrm>
            <a:off x="6770835" y="3011170"/>
            <a:ext cx="5396400" cy="716369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55" name="Text 47">
            <a:extLst>
              <a:ext uri="{FF2B5EF4-FFF2-40B4-BE49-F238E27FC236}">
                <a16:creationId xmlns:a16="http://schemas.microsoft.com/office/drawing/2014/main" id="{96851A1F-37AF-AE83-BAD4-A703007544FB}"/>
              </a:ext>
            </a:extLst>
          </p:cNvPr>
          <p:cNvSpPr/>
          <p:nvPr/>
        </p:nvSpPr>
        <p:spPr>
          <a:xfrm>
            <a:off x="5519420" y="2275791"/>
            <a:ext cx="772795" cy="620971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ctr">
              <a:lnSpc>
                <a:spcPct val="100000"/>
              </a:lnSpc>
            </a:pPr>
            <a:r>
              <a:rPr lang="en-US" sz="3600" b="1" dirty="0">
                <a:solidFill>
                  <a:srgbClr val="402E7F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06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56" name="Text 48">
            <a:extLst>
              <a:ext uri="{FF2B5EF4-FFF2-40B4-BE49-F238E27FC236}">
                <a16:creationId xmlns:a16="http://schemas.microsoft.com/office/drawing/2014/main" id="{1F6292E3-A381-14D9-AA71-50989CB1741B}"/>
              </a:ext>
            </a:extLst>
          </p:cNvPr>
          <p:cNvSpPr/>
          <p:nvPr/>
        </p:nvSpPr>
        <p:spPr>
          <a:xfrm>
            <a:off x="6357620" y="2374024"/>
            <a:ext cx="5008245" cy="46166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altLang="zh-CN" sz="2400" b="1" dirty="0" err="1">
                <a:solidFill>
                  <a:srgbClr val="1E1C0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生产实战：全球网站内容存储</a:t>
            </a:r>
            <a:endParaRPr lang="en-US" altLang="zh-CN" sz="14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57" name="Text 49">
            <a:extLst>
              <a:ext uri="{FF2B5EF4-FFF2-40B4-BE49-F238E27FC236}">
                <a16:creationId xmlns:a16="http://schemas.microsoft.com/office/drawing/2014/main" id="{49927294-2A6F-FE31-EA26-E307B6E90346}"/>
              </a:ext>
            </a:extLst>
          </p:cNvPr>
          <p:cNvSpPr/>
          <p:nvPr/>
        </p:nvSpPr>
        <p:spPr>
          <a:xfrm>
            <a:off x="154940" y="3070811"/>
            <a:ext cx="772795" cy="620971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ctr">
              <a:lnSpc>
                <a:spcPct val="100000"/>
              </a:lnSpc>
            </a:pPr>
            <a:r>
              <a:rPr lang="en-US" sz="3600" b="1" dirty="0">
                <a:solidFill>
                  <a:srgbClr val="402E7F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07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58" name="Text 50">
            <a:extLst>
              <a:ext uri="{FF2B5EF4-FFF2-40B4-BE49-F238E27FC236}">
                <a16:creationId xmlns:a16="http://schemas.microsoft.com/office/drawing/2014/main" id="{EE3B11AA-9CFB-03A7-AC33-6ADF29C89C55}"/>
              </a:ext>
            </a:extLst>
          </p:cNvPr>
          <p:cNvSpPr/>
          <p:nvPr/>
        </p:nvSpPr>
        <p:spPr>
          <a:xfrm>
            <a:off x="993140" y="3169044"/>
            <a:ext cx="5008245" cy="46166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altLang="zh-CN" sz="2400" b="1" dirty="0" err="1">
                <a:solidFill>
                  <a:srgbClr val="1E1C0D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总结与启示</a:t>
            </a:r>
            <a:endParaRPr lang="en-US" altLang="zh-CN" sz="14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62402237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4445" y="0"/>
            <a:ext cx="12187555" cy="6875780"/>
          </a:xfrm>
          <a:prstGeom prst="rect">
            <a:avLst/>
          </a:prstGeom>
          <a:gradFill flip="none" rotWithShape="1">
            <a:gsLst>
              <a:gs pos="0">
                <a:srgbClr val="D7B1D4"/>
              </a:gs>
              <a:gs pos="34000">
                <a:srgbClr val="BC7DB7"/>
              </a:gs>
              <a:gs pos="100000">
                <a:srgbClr val="30225F"/>
              </a:gs>
            </a:gsLst>
            <a:lin ang="13500000" scaled="1"/>
          </a:gradFill>
          <a:ln/>
        </p:spPr>
        <p:txBody>
          <a:bodyPr/>
          <a:lstStyle/>
          <a:p>
            <a:endParaRPr lang="zh-CN" altLang="en-US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5" name="Text 3"/>
          <p:cNvSpPr/>
          <p:nvPr/>
        </p:nvSpPr>
        <p:spPr>
          <a:xfrm>
            <a:off x="4445" y="0"/>
            <a:ext cx="12187555" cy="68757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1727190" y="6306820"/>
            <a:ext cx="10080000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852805" y="6177280"/>
            <a:ext cx="259080" cy="25908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852805" y="6177280"/>
            <a:ext cx="259080" cy="2590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979805" y="6177280"/>
            <a:ext cx="259080" cy="259080"/>
          </a:xfrm>
          <a:prstGeom prst="ellipse">
            <a:avLst/>
          </a:prstGeom>
          <a:solidFill>
            <a:srgbClr val="000000">
              <a:alpha val="0"/>
            </a:srgbClr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979805" y="6177280"/>
            <a:ext cx="259080" cy="2590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1863725" y="2687320"/>
            <a:ext cx="8464550" cy="230695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zh-CN" altLang="en-US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1863725" y="2687320"/>
            <a:ext cx="8464550" cy="230695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t"/>
          <a:lstStyle/>
          <a:p>
            <a:pPr algn="ctr">
              <a:lnSpc>
                <a:spcPct val="100000"/>
              </a:lnSpc>
            </a:pPr>
            <a:r>
              <a:rPr lang="en-US" sz="6000" b="1" dirty="0" err="1">
                <a:solidFill>
                  <a:srgbClr val="FFFFFF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缘起：</a:t>
            </a:r>
            <a:r>
              <a:rPr lang="en-US" sz="6000" b="1" dirty="0" err="1">
                <a:solidFill>
                  <a:srgbClr val="FFFFFF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Google</a:t>
            </a:r>
            <a:r>
              <a:rPr lang="en-US" sz="6000" b="1" dirty="0">
                <a:solidFill>
                  <a:srgbClr val="FFFFFF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 </a:t>
            </a:r>
            <a:r>
              <a:rPr lang="en-US" sz="6000" b="1" dirty="0" err="1">
                <a:solidFill>
                  <a:srgbClr val="FFFFFF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的</a:t>
            </a:r>
            <a:r>
              <a:rPr lang="en-US" sz="6000" b="1" dirty="0">
                <a:solidFill>
                  <a:srgbClr val="FFFFFF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 </a:t>
            </a:r>
            <a:r>
              <a:rPr lang="en-US" sz="6000" b="1" dirty="0">
                <a:solidFill>
                  <a:srgbClr val="FFFFFF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PB</a:t>
            </a:r>
            <a:r>
              <a:rPr lang="en-US" sz="6000" b="1" dirty="0">
                <a:solidFill>
                  <a:srgbClr val="FFFFFF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 </a:t>
            </a:r>
            <a:r>
              <a:rPr lang="en-US" sz="6000" b="1" dirty="0" err="1">
                <a:solidFill>
                  <a:srgbClr val="FFFFFF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级难题</a:t>
            </a:r>
            <a:endParaRPr lang="en-US" sz="12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2515235" y="1350010"/>
            <a:ext cx="7161530" cy="1200329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7200" dirty="0">
                <a:solidFill>
                  <a:srgbClr val="FFFFFF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01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5940000">
            <a:off x="367665" y="335915"/>
            <a:ext cx="558800" cy="594995"/>
          </a:xfrm>
          <a:prstGeom prst="donut">
            <a:avLst>
              <a:gd name="adj" fmla="val 25000"/>
            </a:avLst>
          </a:prstGeom>
          <a:gradFill flip="none" rotWithShape="1">
            <a:gsLst>
              <a:gs pos="0">
                <a:srgbClr val="402E7F"/>
              </a:gs>
              <a:gs pos="54000">
                <a:srgbClr val="BC7DB7">
                  <a:alpha val="3000"/>
                </a:srgbClr>
              </a:gs>
              <a:gs pos="100000">
                <a:srgbClr val="BC7DB7">
                  <a:alpha val="3000"/>
                </a:srgbClr>
              </a:gs>
            </a:gsLst>
            <a:lin ang="18900000" scaled="1"/>
          </a:gradFill>
          <a:ln/>
        </p:spPr>
        <p:txBody>
          <a:bodyPr/>
          <a:lstStyle/>
          <a:p>
            <a:endParaRPr lang="zh-CN" altLang="en-US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3" name="Text 1"/>
          <p:cNvSpPr/>
          <p:nvPr/>
        </p:nvSpPr>
        <p:spPr>
          <a:xfrm rot="5940000">
            <a:off x="367665" y="335915"/>
            <a:ext cx="558800" cy="59499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t"/>
          <a:lstStyle/>
          <a:p>
            <a:pPr>
              <a:lnSpc>
                <a:spcPct val="100000"/>
              </a:lnSpc>
            </a:pP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5" name="Text 2"/>
          <p:cNvSpPr/>
          <p:nvPr/>
        </p:nvSpPr>
        <p:spPr>
          <a:xfrm>
            <a:off x="139700" y="1295400"/>
            <a:ext cx="11912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3600" b="1" dirty="0" err="1">
                <a:solidFill>
                  <a:srgbClr val="8F5C9A"/>
                </a:solidFill>
                <a:latin typeface="KaiTi" panose="02010609060101010101" pitchFamily="49" charset="-122"/>
                <a:ea typeface="KaiTi" panose="02010609060101010101" pitchFamily="49" charset="-122"/>
                <a:cs typeface="Noto Sans SC" pitchFamily="34" charset="-120"/>
              </a:rPr>
              <a:t>缘起：</a:t>
            </a:r>
            <a:r>
              <a:rPr lang="en-US" sz="3600" b="1" dirty="0" err="1">
                <a:solidFill>
                  <a:srgbClr val="8F5C9A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Google</a:t>
            </a:r>
            <a:r>
              <a:rPr lang="en-US" sz="3600" b="1" dirty="0">
                <a:solidFill>
                  <a:srgbClr val="8F5C9A"/>
                </a:solidFill>
                <a:latin typeface="KaiTi" panose="02010609060101010101" pitchFamily="49" charset="-122"/>
                <a:ea typeface="KaiTi" panose="02010609060101010101" pitchFamily="49" charset="-122"/>
                <a:cs typeface="Noto Sans SC" pitchFamily="34" charset="-120"/>
              </a:rPr>
              <a:t> </a:t>
            </a:r>
            <a:r>
              <a:rPr lang="en-US" sz="3600" b="1" dirty="0" err="1">
                <a:solidFill>
                  <a:srgbClr val="8F5C9A"/>
                </a:solidFill>
                <a:latin typeface="KaiTi" panose="02010609060101010101" pitchFamily="49" charset="-122"/>
                <a:ea typeface="KaiTi" panose="02010609060101010101" pitchFamily="49" charset="-122"/>
                <a:cs typeface="Noto Sans SC" pitchFamily="34" charset="-120"/>
              </a:rPr>
              <a:t>的</a:t>
            </a:r>
            <a:r>
              <a:rPr lang="en-US" sz="3600" b="1" dirty="0">
                <a:solidFill>
                  <a:srgbClr val="8F5C9A"/>
                </a:solidFill>
                <a:latin typeface="KaiTi" panose="02010609060101010101" pitchFamily="49" charset="-122"/>
                <a:ea typeface="KaiTi" panose="02010609060101010101" pitchFamily="49" charset="-122"/>
                <a:cs typeface="Noto Sans SC" pitchFamily="34" charset="-120"/>
              </a:rPr>
              <a:t> </a:t>
            </a:r>
            <a:r>
              <a:rPr lang="en-US" sz="3600" b="1" dirty="0">
                <a:solidFill>
                  <a:srgbClr val="8F5C9A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PB</a:t>
            </a:r>
            <a:r>
              <a:rPr lang="en-US" sz="3600" b="1" dirty="0">
                <a:solidFill>
                  <a:srgbClr val="8F5C9A"/>
                </a:solidFill>
                <a:latin typeface="KaiTi" panose="02010609060101010101" pitchFamily="49" charset="-122"/>
                <a:ea typeface="KaiTi" panose="02010609060101010101" pitchFamily="49" charset="-122"/>
                <a:cs typeface="Noto Sans SC" pitchFamily="34" charset="-120"/>
              </a:rPr>
              <a:t> </a:t>
            </a:r>
            <a:r>
              <a:rPr lang="en-US" sz="3600" b="1" dirty="0" err="1">
                <a:solidFill>
                  <a:srgbClr val="8F5C9A"/>
                </a:solidFill>
                <a:latin typeface="KaiTi" panose="02010609060101010101" pitchFamily="49" charset="-122"/>
                <a:ea typeface="KaiTi" panose="02010609060101010101" pitchFamily="49" charset="-122"/>
                <a:cs typeface="Noto Sans SC" pitchFamily="34" charset="-120"/>
              </a:rPr>
              <a:t>级难题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6" name="Text 3"/>
          <p:cNvSpPr/>
          <p:nvPr/>
        </p:nvSpPr>
        <p:spPr>
          <a:xfrm>
            <a:off x="196850" y="1905000"/>
            <a:ext cx="117983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dirty="0">
                <a:solidFill>
                  <a:srgbClr val="3C3542"/>
                </a:solidFill>
                <a:latin typeface="KaiTi" panose="02010609060101010101" pitchFamily="49" charset="-122"/>
                <a:ea typeface="KaiTi" panose="02010609060101010101" pitchFamily="49" charset="-122"/>
                <a:cs typeface="Noto Sans SC" pitchFamily="34" charset="-120"/>
              </a:rPr>
              <a:t>2000年代数据洪流与存储瓶颈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7" name="Shape 4"/>
          <p:cNvSpPr/>
          <p:nvPr/>
        </p:nvSpPr>
        <p:spPr>
          <a:xfrm>
            <a:off x="254000" y="2565400"/>
            <a:ext cx="3695700" cy="2387600"/>
          </a:xfrm>
          <a:custGeom>
            <a:avLst/>
            <a:gdLst/>
            <a:ahLst/>
            <a:cxnLst/>
            <a:rect l="l" t="t" r="r" b="b"/>
            <a:pathLst>
              <a:path w="3695700" h="2387600">
                <a:moveTo>
                  <a:pt x="101592" y="0"/>
                </a:moveTo>
                <a:lnTo>
                  <a:pt x="3594108" y="0"/>
                </a:lnTo>
                <a:cubicBezTo>
                  <a:pt x="3650216" y="0"/>
                  <a:pt x="3695700" y="45484"/>
                  <a:pt x="3695700" y="101592"/>
                </a:cubicBezTo>
                <a:lnTo>
                  <a:pt x="3695700" y="2286008"/>
                </a:lnTo>
                <a:cubicBezTo>
                  <a:pt x="3695700" y="2342116"/>
                  <a:pt x="3650216" y="2387600"/>
                  <a:pt x="3594108" y="2387600"/>
                </a:cubicBezTo>
                <a:lnTo>
                  <a:pt x="101592" y="2387600"/>
                </a:lnTo>
                <a:cubicBezTo>
                  <a:pt x="45484" y="2387600"/>
                  <a:pt x="0" y="2342116"/>
                  <a:pt x="0" y="2286008"/>
                </a:cubicBezTo>
                <a:lnTo>
                  <a:pt x="0" y="101592"/>
                </a:lnTo>
                <a:cubicBezTo>
                  <a:pt x="0" y="45522"/>
                  <a:pt x="45522" y="0"/>
                  <a:pt x="101592" y="0"/>
                </a:cubicBezTo>
                <a:close/>
              </a:path>
            </a:pathLst>
          </a:custGeom>
          <a:solidFill>
            <a:srgbClr val="D3B9D7">
              <a:alpha val="25098"/>
            </a:srgbClr>
          </a:solidFill>
          <a:ln/>
        </p:spPr>
        <p:txBody>
          <a:bodyPr/>
          <a:lstStyle/>
          <a:p>
            <a:endParaRPr lang="zh-CN" altLang="en-US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8" name="Shape 5"/>
          <p:cNvSpPr/>
          <p:nvPr/>
        </p:nvSpPr>
        <p:spPr>
          <a:xfrm>
            <a:off x="1832471" y="2768600"/>
            <a:ext cx="533400" cy="609600"/>
          </a:xfrm>
          <a:custGeom>
            <a:avLst/>
            <a:gdLst/>
            <a:ahLst/>
            <a:cxnLst/>
            <a:rect l="l" t="t" r="r" b="b"/>
            <a:pathLst>
              <a:path w="533400" h="609600">
                <a:moveTo>
                  <a:pt x="76200" y="38100"/>
                </a:moveTo>
                <a:cubicBezTo>
                  <a:pt x="34171" y="38100"/>
                  <a:pt x="0" y="72271"/>
                  <a:pt x="0" y="114300"/>
                </a:cubicBezTo>
                <a:lnTo>
                  <a:pt x="0" y="190500"/>
                </a:lnTo>
                <a:cubicBezTo>
                  <a:pt x="0" y="232529"/>
                  <a:pt x="34171" y="266700"/>
                  <a:pt x="76200" y="266700"/>
                </a:cubicBezTo>
                <a:lnTo>
                  <a:pt x="457200" y="266700"/>
                </a:lnTo>
                <a:cubicBezTo>
                  <a:pt x="499229" y="266700"/>
                  <a:pt x="533400" y="232529"/>
                  <a:pt x="533400" y="190500"/>
                </a:cubicBezTo>
                <a:lnTo>
                  <a:pt x="533400" y="114300"/>
                </a:lnTo>
                <a:cubicBezTo>
                  <a:pt x="533400" y="72271"/>
                  <a:pt x="499229" y="38100"/>
                  <a:pt x="457200" y="38100"/>
                </a:cubicBezTo>
                <a:lnTo>
                  <a:pt x="76200" y="38100"/>
                </a:lnTo>
                <a:close/>
                <a:moveTo>
                  <a:pt x="333375" y="123825"/>
                </a:moveTo>
                <a:cubicBezTo>
                  <a:pt x="349146" y="123825"/>
                  <a:pt x="361950" y="136629"/>
                  <a:pt x="361950" y="152400"/>
                </a:cubicBezTo>
                <a:cubicBezTo>
                  <a:pt x="361950" y="168171"/>
                  <a:pt x="349146" y="180975"/>
                  <a:pt x="333375" y="180975"/>
                </a:cubicBezTo>
                <a:cubicBezTo>
                  <a:pt x="317604" y="180975"/>
                  <a:pt x="304800" y="168171"/>
                  <a:pt x="304800" y="152400"/>
                </a:cubicBezTo>
                <a:cubicBezTo>
                  <a:pt x="304800" y="136629"/>
                  <a:pt x="317604" y="123825"/>
                  <a:pt x="333375" y="123825"/>
                </a:cubicBezTo>
                <a:close/>
                <a:moveTo>
                  <a:pt x="400050" y="152400"/>
                </a:moveTo>
                <a:cubicBezTo>
                  <a:pt x="400050" y="136629"/>
                  <a:pt x="412854" y="123825"/>
                  <a:pt x="428625" y="123825"/>
                </a:cubicBezTo>
                <a:cubicBezTo>
                  <a:pt x="444396" y="123825"/>
                  <a:pt x="457200" y="136629"/>
                  <a:pt x="457200" y="152400"/>
                </a:cubicBezTo>
                <a:cubicBezTo>
                  <a:pt x="457200" y="168171"/>
                  <a:pt x="444396" y="180975"/>
                  <a:pt x="428625" y="180975"/>
                </a:cubicBezTo>
                <a:cubicBezTo>
                  <a:pt x="412854" y="180975"/>
                  <a:pt x="400050" y="168171"/>
                  <a:pt x="400050" y="152400"/>
                </a:cubicBezTo>
                <a:close/>
                <a:moveTo>
                  <a:pt x="76200" y="342900"/>
                </a:moveTo>
                <a:cubicBezTo>
                  <a:pt x="34171" y="342900"/>
                  <a:pt x="0" y="377071"/>
                  <a:pt x="0" y="419100"/>
                </a:cubicBezTo>
                <a:lnTo>
                  <a:pt x="0" y="495300"/>
                </a:lnTo>
                <a:cubicBezTo>
                  <a:pt x="0" y="537329"/>
                  <a:pt x="34171" y="571500"/>
                  <a:pt x="76200" y="571500"/>
                </a:cubicBezTo>
                <a:lnTo>
                  <a:pt x="457200" y="571500"/>
                </a:lnTo>
                <a:cubicBezTo>
                  <a:pt x="499229" y="571500"/>
                  <a:pt x="533400" y="537329"/>
                  <a:pt x="533400" y="495300"/>
                </a:cubicBezTo>
                <a:lnTo>
                  <a:pt x="533400" y="419100"/>
                </a:lnTo>
                <a:cubicBezTo>
                  <a:pt x="533400" y="377071"/>
                  <a:pt x="499229" y="342900"/>
                  <a:pt x="457200" y="342900"/>
                </a:cubicBezTo>
                <a:lnTo>
                  <a:pt x="76200" y="342900"/>
                </a:lnTo>
                <a:close/>
                <a:moveTo>
                  <a:pt x="333375" y="428625"/>
                </a:moveTo>
                <a:cubicBezTo>
                  <a:pt x="349146" y="428625"/>
                  <a:pt x="361950" y="441429"/>
                  <a:pt x="361950" y="457200"/>
                </a:cubicBezTo>
                <a:cubicBezTo>
                  <a:pt x="361950" y="472971"/>
                  <a:pt x="349146" y="485775"/>
                  <a:pt x="333375" y="485775"/>
                </a:cubicBezTo>
                <a:cubicBezTo>
                  <a:pt x="317604" y="485775"/>
                  <a:pt x="304800" y="472971"/>
                  <a:pt x="304800" y="457200"/>
                </a:cubicBezTo>
                <a:cubicBezTo>
                  <a:pt x="304800" y="441429"/>
                  <a:pt x="317604" y="428625"/>
                  <a:pt x="333375" y="428625"/>
                </a:cubicBezTo>
                <a:close/>
                <a:moveTo>
                  <a:pt x="400050" y="457200"/>
                </a:moveTo>
                <a:cubicBezTo>
                  <a:pt x="400050" y="441429"/>
                  <a:pt x="412854" y="428625"/>
                  <a:pt x="428625" y="428625"/>
                </a:cubicBezTo>
                <a:cubicBezTo>
                  <a:pt x="444396" y="428625"/>
                  <a:pt x="457200" y="441429"/>
                  <a:pt x="457200" y="457200"/>
                </a:cubicBezTo>
                <a:cubicBezTo>
                  <a:pt x="457200" y="472971"/>
                  <a:pt x="444396" y="485775"/>
                  <a:pt x="428625" y="485775"/>
                </a:cubicBezTo>
                <a:cubicBezTo>
                  <a:pt x="412854" y="485775"/>
                  <a:pt x="400050" y="472971"/>
                  <a:pt x="400050" y="457200"/>
                </a:cubicBezTo>
                <a:close/>
              </a:path>
            </a:pathLst>
          </a:custGeom>
          <a:solidFill>
            <a:srgbClr val="A95EAF"/>
          </a:solidFill>
          <a:ln/>
        </p:spPr>
        <p:txBody>
          <a:bodyPr/>
          <a:lstStyle/>
          <a:p>
            <a:endParaRPr lang="zh-CN" altLang="en-US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9" name="Text 6"/>
          <p:cNvSpPr/>
          <p:nvPr/>
        </p:nvSpPr>
        <p:spPr>
          <a:xfrm>
            <a:off x="1210171" y="3530600"/>
            <a:ext cx="1905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3C3542"/>
                </a:solidFill>
                <a:latin typeface="KaiTi" panose="02010609060101010101" pitchFamily="49" charset="-122"/>
                <a:ea typeface="KaiTi" panose="02010609060101010101" pitchFamily="49" charset="-122"/>
                <a:cs typeface="Noto Sans SC" pitchFamily="34" charset="-120"/>
              </a:rPr>
              <a:t>传统数据库瓶颈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10" name="Text 7"/>
          <p:cNvSpPr/>
          <p:nvPr/>
        </p:nvSpPr>
        <p:spPr>
          <a:xfrm>
            <a:off x="412750" y="3987800"/>
            <a:ext cx="33782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3C3542"/>
                </a:solidFill>
                <a:latin typeface="KaiTi" panose="02010609060101010101" pitchFamily="49" charset="-122"/>
                <a:ea typeface="KaiTi" panose="02010609060101010101" pitchFamily="49" charset="-122"/>
                <a:cs typeface="Noto Sans SC" pitchFamily="34" charset="-120"/>
              </a:rPr>
              <a:t>纵向扩展成本高昂，B+树随机写放大严重，ACID跨节点锁冲突导致性能急剧下降。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4249241" y="2565400"/>
            <a:ext cx="3644900" cy="2336800"/>
          </a:xfrm>
          <a:custGeom>
            <a:avLst/>
            <a:gdLst/>
            <a:ahLst/>
            <a:cxnLst/>
            <a:rect l="l" t="t" r="r" b="b"/>
            <a:pathLst>
              <a:path w="3644900" h="2336800">
                <a:moveTo>
                  <a:pt x="101604" y="0"/>
                </a:moveTo>
                <a:lnTo>
                  <a:pt x="3543296" y="0"/>
                </a:lnTo>
                <a:cubicBezTo>
                  <a:pt x="3599410" y="0"/>
                  <a:pt x="3644900" y="45490"/>
                  <a:pt x="3644900" y="101604"/>
                </a:cubicBezTo>
                <a:lnTo>
                  <a:pt x="3644900" y="2235196"/>
                </a:lnTo>
                <a:cubicBezTo>
                  <a:pt x="3644900" y="2291310"/>
                  <a:pt x="3599410" y="2336800"/>
                  <a:pt x="3543296" y="2336800"/>
                </a:cubicBezTo>
                <a:lnTo>
                  <a:pt x="101604" y="2336800"/>
                </a:lnTo>
                <a:cubicBezTo>
                  <a:pt x="45490" y="2336800"/>
                  <a:pt x="0" y="2291310"/>
                  <a:pt x="0" y="2235196"/>
                </a:cubicBezTo>
                <a:lnTo>
                  <a:pt x="0" y="101604"/>
                </a:lnTo>
                <a:cubicBezTo>
                  <a:pt x="0" y="45527"/>
                  <a:pt x="45527" y="0"/>
                  <a:pt x="101604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25400">
            <a:solidFill>
              <a:srgbClr val="8F5C9A"/>
            </a:solidFill>
            <a:prstDash val="solid"/>
          </a:ln>
        </p:spPr>
        <p:txBody>
          <a:bodyPr/>
          <a:lstStyle/>
          <a:p>
            <a:endParaRPr lang="zh-CN" altLang="en-US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5791101" y="27940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cubicBezTo>
                  <a:pt x="322302" y="0"/>
                  <a:pt x="338376" y="9644"/>
                  <a:pt x="346710" y="25003"/>
                </a:cubicBezTo>
                <a:lnTo>
                  <a:pt x="603885" y="501253"/>
                </a:lnTo>
                <a:cubicBezTo>
                  <a:pt x="611862" y="516017"/>
                  <a:pt x="611505" y="533876"/>
                  <a:pt x="602933" y="548283"/>
                </a:cubicBezTo>
                <a:cubicBezTo>
                  <a:pt x="594360" y="562689"/>
                  <a:pt x="578763" y="571500"/>
                  <a:pt x="561975" y="571500"/>
                </a:cubicBezTo>
                <a:lnTo>
                  <a:pt x="47625" y="571500"/>
                </a:lnTo>
                <a:cubicBezTo>
                  <a:pt x="30837" y="571500"/>
                  <a:pt x="15359" y="562689"/>
                  <a:pt x="6668" y="548283"/>
                </a:cubicBezTo>
                <a:cubicBezTo>
                  <a:pt x="-2024" y="533876"/>
                  <a:pt x="-2262" y="516017"/>
                  <a:pt x="5715" y="501253"/>
                </a:cubicBezTo>
                <a:lnTo>
                  <a:pt x="262890" y="25003"/>
                </a:lnTo>
                <a:cubicBezTo>
                  <a:pt x="271224" y="9644"/>
                  <a:pt x="287298" y="0"/>
                  <a:pt x="304800" y="0"/>
                </a:cubicBezTo>
                <a:close/>
                <a:moveTo>
                  <a:pt x="304800" y="200025"/>
                </a:moveTo>
                <a:cubicBezTo>
                  <a:pt x="288965" y="200025"/>
                  <a:pt x="276225" y="212765"/>
                  <a:pt x="276225" y="228600"/>
                </a:cubicBezTo>
                <a:lnTo>
                  <a:pt x="276225" y="361950"/>
                </a:lnTo>
                <a:cubicBezTo>
                  <a:pt x="276225" y="377785"/>
                  <a:pt x="288965" y="390525"/>
                  <a:pt x="304800" y="390525"/>
                </a:cubicBezTo>
                <a:cubicBezTo>
                  <a:pt x="320635" y="390525"/>
                  <a:pt x="333375" y="377785"/>
                  <a:pt x="333375" y="361950"/>
                </a:cubicBezTo>
                <a:lnTo>
                  <a:pt x="333375" y="228600"/>
                </a:lnTo>
                <a:cubicBezTo>
                  <a:pt x="333375" y="212765"/>
                  <a:pt x="320635" y="200025"/>
                  <a:pt x="304800" y="200025"/>
                </a:cubicBezTo>
                <a:close/>
                <a:moveTo>
                  <a:pt x="336590" y="457200"/>
                </a:moveTo>
                <a:cubicBezTo>
                  <a:pt x="337313" y="445400"/>
                  <a:pt x="331428" y="434173"/>
                  <a:pt x="321313" y="428055"/>
                </a:cubicBezTo>
                <a:cubicBezTo>
                  <a:pt x="311197" y="421936"/>
                  <a:pt x="298522" y="421936"/>
                  <a:pt x="288406" y="428055"/>
                </a:cubicBezTo>
                <a:cubicBezTo>
                  <a:pt x="278291" y="434173"/>
                  <a:pt x="272406" y="445400"/>
                  <a:pt x="273129" y="457200"/>
                </a:cubicBezTo>
                <a:cubicBezTo>
                  <a:pt x="272406" y="469000"/>
                  <a:pt x="278291" y="480227"/>
                  <a:pt x="288406" y="486345"/>
                </a:cubicBezTo>
                <a:cubicBezTo>
                  <a:pt x="298522" y="492464"/>
                  <a:pt x="311197" y="492464"/>
                  <a:pt x="321313" y="486345"/>
                </a:cubicBezTo>
                <a:cubicBezTo>
                  <a:pt x="331428" y="480227"/>
                  <a:pt x="337313" y="469000"/>
                  <a:pt x="336590" y="457200"/>
                </a:cubicBezTo>
                <a:close/>
              </a:path>
            </a:pathLst>
          </a:custGeom>
          <a:solidFill>
            <a:srgbClr val="8F5C9A"/>
          </a:solidFill>
          <a:ln/>
        </p:spPr>
        <p:txBody>
          <a:bodyPr/>
          <a:lstStyle/>
          <a:p>
            <a:endParaRPr lang="zh-CN" altLang="en-US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5333901" y="3556000"/>
            <a:ext cx="1651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3C3542"/>
                </a:solidFill>
                <a:latin typeface="KaiTi" panose="02010609060101010101" pitchFamily="49" charset="-122"/>
                <a:ea typeface="KaiTi" panose="02010609060101010101" pitchFamily="49" charset="-122"/>
                <a:cs typeface="Noto Sans SC" pitchFamily="34" charset="-120"/>
              </a:rPr>
              <a:t>核心矛盾凸显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4433391" y="4013200"/>
            <a:ext cx="33274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3C3542"/>
                </a:solidFill>
                <a:latin typeface="KaiTi" panose="02010609060101010101" pitchFamily="49" charset="-122"/>
                <a:ea typeface="KaiTi" panose="02010609060101010101" pitchFamily="49" charset="-122"/>
                <a:cs typeface="Noto Sans SC" pitchFamily="34" charset="-120"/>
              </a:rPr>
              <a:t>海量数据高吞吐写入与高效查询的需求，与当时存储技术的能力出现根本性错配。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15" name="Shape 12"/>
          <p:cNvSpPr/>
          <p:nvPr/>
        </p:nvSpPr>
        <p:spPr>
          <a:xfrm>
            <a:off x="8247459" y="2565400"/>
            <a:ext cx="3695700" cy="2387600"/>
          </a:xfrm>
          <a:custGeom>
            <a:avLst/>
            <a:gdLst/>
            <a:ahLst/>
            <a:cxnLst/>
            <a:rect l="l" t="t" r="r" b="b"/>
            <a:pathLst>
              <a:path w="3695700" h="2387600">
                <a:moveTo>
                  <a:pt x="101592" y="0"/>
                </a:moveTo>
                <a:lnTo>
                  <a:pt x="3594108" y="0"/>
                </a:lnTo>
                <a:cubicBezTo>
                  <a:pt x="3650216" y="0"/>
                  <a:pt x="3695700" y="45484"/>
                  <a:pt x="3695700" y="101592"/>
                </a:cubicBezTo>
                <a:lnTo>
                  <a:pt x="3695700" y="2286008"/>
                </a:lnTo>
                <a:cubicBezTo>
                  <a:pt x="3695700" y="2342116"/>
                  <a:pt x="3650216" y="2387600"/>
                  <a:pt x="3594108" y="2387600"/>
                </a:cubicBezTo>
                <a:lnTo>
                  <a:pt x="101592" y="2387600"/>
                </a:lnTo>
                <a:cubicBezTo>
                  <a:pt x="45484" y="2387600"/>
                  <a:pt x="0" y="2342116"/>
                  <a:pt x="0" y="2286008"/>
                </a:cubicBezTo>
                <a:lnTo>
                  <a:pt x="0" y="101592"/>
                </a:lnTo>
                <a:cubicBezTo>
                  <a:pt x="0" y="45522"/>
                  <a:pt x="45522" y="0"/>
                  <a:pt x="101592" y="0"/>
                </a:cubicBezTo>
                <a:close/>
              </a:path>
            </a:pathLst>
          </a:custGeom>
          <a:solidFill>
            <a:srgbClr val="D3B9D7">
              <a:alpha val="25098"/>
            </a:srgbClr>
          </a:solidFill>
          <a:ln/>
        </p:spPr>
        <p:txBody>
          <a:bodyPr/>
          <a:lstStyle/>
          <a:p>
            <a:endParaRPr lang="zh-CN" altLang="en-US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16" name="Shape 13"/>
          <p:cNvSpPr/>
          <p:nvPr/>
        </p:nvSpPr>
        <p:spPr>
          <a:xfrm>
            <a:off x="9749730" y="2768600"/>
            <a:ext cx="685800" cy="609600"/>
          </a:xfrm>
          <a:custGeom>
            <a:avLst/>
            <a:gdLst/>
            <a:ahLst/>
            <a:cxnLst/>
            <a:rect l="l" t="t" r="r" b="b"/>
            <a:pathLst>
              <a:path w="685800" h="609600">
                <a:moveTo>
                  <a:pt x="66675" y="268605"/>
                </a:moveTo>
                <a:lnTo>
                  <a:pt x="38576" y="352663"/>
                </a:lnTo>
                <a:lnTo>
                  <a:pt x="38576" y="114300"/>
                </a:lnTo>
                <a:cubicBezTo>
                  <a:pt x="38576" y="72271"/>
                  <a:pt x="72747" y="38100"/>
                  <a:pt x="114776" y="38100"/>
                </a:cubicBezTo>
                <a:lnTo>
                  <a:pt x="279916" y="38100"/>
                </a:lnTo>
                <a:cubicBezTo>
                  <a:pt x="296347" y="38100"/>
                  <a:pt x="312420" y="43458"/>
                  <a:pt x="325636" y="53340"/>
                </a:cubicBezTo>
                <a:lnTo>
                  <a:pt x="371356" y="87630"/>
                </a:lnTo>
                <a:cubicBezTo>
                  <a:pt x="377904" y="92631"/>
                  <a:pt x="386001" y="95250"/>
                  <a:pt x="394216" y="95250"/>
                </a:cubicBezTo>
                <a:lnTo>
                  <a:pt x="533876" y="95250"/>
                </a:lnTo>
                <a:cubicBezTo>
                  <a:pt x="575905" y="95250"/>
                  <a:pt x="610076" y="129421"/>
                  <a:pt x="610076" y="171450"/>
                </a:cubicBezTo>
                <a:lnTo>
                  <a:pt x="610076" y="190500"/>
                </a:lnTo>
                <a:lnTo>
                  <a:pt x="175022" y="190500"/>
                </a:lnTo>
                <a:cubicBezTo>
                  <a:pt x="125849" y="190500"/>
                  <a:pt x="82153" y="221933"/>
                  <a:pt x="66556" y="268605"/>
                </a:cubicBezTo>
                <a:close/>
                <a:moveTo>
                  <a:pt x="568881" y="533400"/>
                </a:moveTo>
                <a:lnTo>
                  <a:pt x="117872" y="533400"/>
                </a:lnTo>
                <a:cubicBezTo>
                  <a:pt x="78819" y="533400"/>
                  <a:pt x="51316" y="495181"/>
                  <a:pt x="63698" y="458153"/>
                </a:cubicBezTo>
                <a:lnTo>
                  <a:pt x="120848" y="286703"/>
                </a:lnTo>
                <a:cubicBezTo>
                  <a:pt x="128588" y="263366"/>
                  <a:pt x="150495" y="247650"/>
                  <a:pt x="175022" y="247650"/>
                </a:cubicBezTo>
                <a:lnTo>
                  <a:pt x="626031" y="247650"/>
                </a:lnTo>
                <a:cubicBezTo>
                  <a:pt x="665083" y="247650"/>
                  <a:pt x="692587" y="285869"/>
                  <a:pt x="680204" y="322898"/>
                </a:cubicBezTo>
                <a:lnTo>
                  <a:pt x="623054" y="494348"/>
                </a:lnTo>
                <a:cubicBezTo>
                  <a:pt x="615315" y="517684"/>
                  <a:pt x="593408" y="533400"/>
                  <a:pt x="568881" y="533400"/>
                </a:cubicBezTo>
                <a:close/>
              </a:path>
            </a:pathLst>
          </a:custGeom>
          <a:solidFill>
            <a:srgbClr val="A95EAF"/>
          </a:solidFill>
          <a:ln/>
        </p:spPr>
        <p:txBody>
          <a:bodyPr/>
          <a:lstStyle/>
          <a:p>
            <a:endParaRPr lang="zh-CN" altLang="en-US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9330630" y="3530600"/>
            <a:ext cx="1651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3C3542"/>
                </a:solidFill>
                <a:latin typeface="KaiTi" panose="02010609060101010101" pitchFamily="49" charset="-122"/>
                <a:ea typeface="KaiTi" panose="02010609060101010101" pitchFamily="49" charset="-122"/>
                <a:cs typeface="Noto Sans SC" pitchFamily="34" charset="-120"/>
              </a:rPr>
              <a:t>文件系统局限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8406209" y="3987800"/>
            <a:ext cx="33782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3C3542"/>
                </a:solidFill>
                <a:latin typeface="KaiTi" panose="02010609060101010101" pitchFamily="49" charset="-122"/>
                <a:ea typeface="KaiTi" panose="02010609060101010101" pitchFamily="49" charset="-122"/>
                <a:cs typeface="Noto Sans SC" pitchFamily="34" charset="-120"/>
              </a:rPr>
              <a:t>缺乏高效索引，大规模数据检索性能差，分布式环境下文件同步与一致性难以保证。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203200" y="5257800"/>
            <a:ext cx="11785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dirty="0">
                <a:solidFill>
                  <a:srgbClr val="3C3542"/>
                </a:solidFill>
                <a:latin typeface="KaiTi" panose="02010609060101010101" pitchFamily="49" charset="-122"/>
                <a:ea typeface="KaiTi" panose="02010609060101010101" pitchFamily="49" charset="-122"/>
                <a:cs typeface="Noto Sans SC" pitchFamily="34" charset="-120"/>
              </a:rPr>
              <a:t>这一背景催生了“</a:t>
            </a:r>
            <a:r>
              <a:rPr lang="en-US" sz="1600" b="1" dirty="0">
                <a:solidFill>
                  <a:srgbClr val="8F5C9A"/>
                </a:solidFill>
                <a:latin typeface="KaiTi" panose="02010609060101010101" pitchFamily="49" charset="-122"/>
                <a:ea typeface="KaiTi" panose="02010609060101010101" pitchFamily="49" charset="-122"/>
                <a:cs typeface="Noto Sans SC" pitchFamily="34" charset="-120"/>
              </a:rPr>
              <a:t>廉价服务器+顺序写+水平扩展</a:t>
            </a:r>
            <a:r>
              <a:rPr lang="en-US" sz="1600" dirty="0">
                <a:solidFill>
                  <a:srgbClr val="3C3542"/>
                </a:solidFill>
                <a:latin typeface="KaiTi" panose="02010609060101010101" pitchFamily="49" charset="-122"/>
                <a:ea typeface="KaiTi" panose="02010609060101010101" pitchFamily="49" charset="-122"/>
                <a:cs typeface="Noto Sans SC" pitchFamily="34" charset="-120"/>
              </a:rPr>
              <a:t>”的新存储范式。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 rot="5940000">
            <a:off x="367665" y="335915"/>
            <a:ext cx="558800" cy="59499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t"/>
          <a:lstStyle/>
          <a:p>
            <a:pPr>
              <a:lnSpc>
                <a:spcPct val="100000"/>
              </a:lnSpc>
            </a:pP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5" name="Text 2"/>
          <p:cNvSpPr/>
          <p:nvPr/>
        </p:nvSpPr>
        <p:spPr>
          <a:xfrm>
            <a:off x="139700" y="1320800"/>
            <a:ext cx="11912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3600" b="1" dirty="0">
                <a:solidFill>
                  <a:srgbClr val="8F5C9A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Bigtable</a:t>
            </a:r>
            <a:r>
              <a:rPr lang="en-US" sz="3600" b="1" dirty="0">
                <a:solidFill>
                  <a:srgbClr val="8F5C9A"/>
                </a:solidFill>
                <a:latin typeface="KaiTi" panose="02010609060101010101" pitchFamily="49" charset="-122"/>
                <a:ea typeface="KaiTi" panose="02010609060101010101" pitchFamily="49" charset="-122"/>
                <a:cs typeface="Noto Sans SC" pitchFamily="34" charset="-120"/>
              </a:rPr>
              <a:t> </a:t>
            </a:r>
            <a:r>
              <a:rPr lang="en-US" sz="3600" b="1" dirty="0" err="1">
                <a:solidFill>
                  <a:srgbClr val="8F5C9A"/>
                </a:solidFill>
                <a:latin typeface="KaiTi" panose="02010609060101010101" pitchFamily="49" charset="-122"/>
                <a:ea typeface="KaiTi" panose="02010609060101010101" pitchFamily="49" charset="-122"/>
                <a:cs typeface="Noto Sans SC" pitchFamily="34" charset="-120"/>
              </a:rPr>
              <a:t>立项动机与核心目标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6" name="Text 3"/>
          <p:cNvSpPr/>
          <p:nvPr/>
        </p:nvSpPr>
        <p:spPr>
          <a:xfrm>
            <a:off x="2120900" y="2235200"/>
            <a:ext cx="16764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3C3542"/>
                </a:solidFill>
                <a:latin typeface="KaiTi" panose="02010609060101010101" pitchFamily="49" charset="-122"/>
                <a:ea typeface="KaiTi" panose="02010609060101010101" pitchFamily="49" charset="-122"/>
                <a:cs typeface="Noto Sans SC" pitchFamily="34" charset="-120"/>
              </a:rPr>
              <a:t>四大硬指标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7" name="Shape 4"/>
          <p:cNvSpPr/>
          <p:nvPr/>
        </p:nvSpPr>
        <p:spPr>
          <a:xfrm>
            <a:off x="546100" y="2844800"/>
            <a:ext cx="4673600" cy="558800"/>
          </a:xfrm>
          <a:custGeom>
            <a:avLst/>
            <a:gdLst/>
            <a:ahLst/>
            <a:cxnLst/>
            <a:rect l="l" t="t" r="r" b="b"/>
            <a:pathLst>
              <a:path w="4673600" h="558800">
                <a:moveTo>
                  <a:pt x="101601" y="0"/>
                </a:moveTo>
                <a:lnTo>
                  <a:pt x="4571999" y="0"/>
                </a:lnTo>
                <a:cubicBezTo>
                  <a:pt x="4628112" y="0"/>
                  <a:pt x="4673600" y="45488"/>
                  <a:pt x="4673600" y="101601"/>
                </a:cubicBezTo>
                <a:lnTo>
                  <a:pt x="4673600" y="457199"/>
                </a:lnTo>
                <a:cubicBezTo>
                  <a:pt x="4673600" y="513312"/>
                  <a:pt x="4628112" y="558800"/>
                  <a:pt x="4571999" y="558800"/>
                </a:cubicBezTo>
                <a:lnTo>
                  <a:pt x="101601" y="558800"/>
                </a:lnTo>
                <a:cubicBezTo>
                  <a:pt x="45488" y="558800"/>
                  <a:pt x="0" y="513312"/>
                  <a:pt x="0" y="457199"/>
                </a:cubicBezTo>
                <a:lnTo>
                  <a:pt x="0" y="101601"/>
                </a:lnTo>
                <a:cubicBezTo>
                  <a:pt x="0" y="45526"/>
                  <a:pt x="45526" y="0"/>
                  <a:pt x="101601" y="0"/>
                </a:cubicBezTo>
                <a:close/>
              </a:path>
            </a:pathLst>
          </a:custGeom>
          <a:solidFill>
            <a:srgbClr val="D3B9D7">
              <a:alpha val="25098"/>
            </a:srgbClr>
          </a:solidFill>
          <a:ln/>
        </p:spPr>
        <p:txBody>
          <a:bodyPr/>
          <a:lstStyle/>
          <a:p>
            <a:endParaRPr lang="zh-CN" altLang="en-US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8" name="Shape 5"/>
          <p:cNvSpPr/>
          <p:nvPr/>
        </p:nvSpPr>
        <p:spPr>
          <a:xfrm>
            <a:off x="825500" y="29972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27000" y="0"/>
                </a:moveTo>
                <a:cubicBezTo>
                  <a:pt x="129282" y="0"/>
                  <a:pt x="131564" y="496"/>
                  <a:pt x="133648" y="1439"/>
                </a:cubicBezTo>
                <a:lnTo>
                  <a:pt x="227112" y="41077"/>
                </a:lnTo>
                <a:cubicBezTo>
                  <a:pt x="238026" y="45690"/>
                  <a:pt x="246162" y="56455"/>
                  <a:pt x="246112" y="69453"/>
                </a:cubicBezTo>
                <a:cubicBezTo>
                  <a:pt x="245864" y="118666"/>
                  <a:pt x="225623" y="208707"/>
                  <a:pt x="140146" y="249634"/>
                </a:cubicBezTo>
                <a:cubicBezTo>
                  <a:pt x="131862" y="253603"/>
                  <a:pt x="122238" y="253603"/>
                  <a:pt x="113953" y="249634"/>
                </a:cubicBezTo>
                <a:cubicBezTo>
                  <a:pt x="28426" y="208707"/>
                  <a:pt x="8235" y="118666"/>
                  <a:pt x="7987" y="69453"/>
                </a:cubicBezTo>
                <a:cubicBezTo>
                  <a:pt x="7937" y="56455"/>
                  <a:pt x="16073" y="45690"/>
                  <a:pt x="26987" y="41077"/>
                </a:cubicBezTo>
                <a:lnTo>
                  <a:pt x="120402" y="1439"/>
                </a:lnTo>
                <a:cubicBezTo>
                  <a:pt x="122486" y="496"/>
                  <a:pt x="124718" y="0"/>
                  <a:pt x="127000" y="0"/>
                </a:cubicBezTo>
                <a:close/>
                <a:moveTo>
                  <a:pt x="127000" y="33139"/>
                </a:moveTo>
                <a:lnTo>
                  <a:pt x="127000" y="220712"/>
                </a:lnTo>
                <a:cubicBezTo>
                  <a:pt x="195461" y="187573"/>
                  <a:pt x="213866" y="114151"/>
                  <a:pt x="214313" y="70197"/>
                </a:cubicBezTo>
                <a:lnTo>
                  <a:pt x="127000" y="33189"/>
                </a:lnTo>
                <a:lnTo>
                  <a:pt x="127000" y="33189"/>
                </a:lnTo>
                <a:close/>
              </a:path>
            </a:pathLst>
          </a:custGeom>
          <a:solidFill>
            <a:srgbClr val="A95EAF"/>
          </a:solidFill>
          <a:ln/>
        </p:spPr>
        <p:txBody>
          <a:bodyPr/>
          <a:lstStyle/>
          <a:p>
            <a:endParaRPr lang="zh-CN" altLang="en-US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9" name="Text 6"/>
          <p:cNvSpPr/>
          <p:nvPr/>
        </p:nvSpPr>
        <p:spPr>
          <a:xfrm>
            <a:off x="1308100" y="2997200"/>
            <a:ext cx="16891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3C3542"/>
                </a:solidFill>
                <a:latin typeface="KaiTi" panose="02010609060101010101" pitchFamily="49" charset="-122"/>
                <a:ea typeface="KaiTi" panose="02010609060101010101" pitchFamily="49" charset="-122"/>
                <a:cs typeface="Noto Sans SC" pitchFamily="34" charset="-120"/>
              </a:rPr>
              <a:t>单机故障不影响读写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546100" y="3556000"/>
            <a:ext cx="4673600" cy="558800"/>
          </a:xfrm>
          <a:custGeom>
            <a:avLst/>
            <a:gdLst/>
            <a:ahLst/>
            <a:cxnLst/>
            <a:rect l="l" t="t" r="r" b="b"/>
            <a:pathLst>
              <a:path w="4673600" h="558800">
                <a:moveTo>
                  <a:pt x="101601" y="0"/>
                </a:moveTo>
                <a:lnTo>
                  <a:pt x="4571999" y="0"/>
                </a:lnTo>
                <a:cubicBezTo>
                  <a:pt x="4628112" y="0"/>
                  <a:pt x="4673600" y="45488"/>
                  <a:pt x="4673600" y="101601"/>
                </a:cubicBezTo>
                <a:lnTo>
                  <a:pt x="4673600" y="457199"/>
                </a:lnTo>
                <a:cubicBezTo>
                  <a:pt x="4673600" y="513312"/>
                  <a:pt x="4628112" y="558800"/>
                  <a:pt x="4571999" y="558800"/>
                </a:cubicBezTo>
                <a:lnTo>
                  <a:pt x="101601" y="558800"/>
                </a:lnTo>
                <a:cubicBezTo>
                  <a:pt x="45488" y="558800"/>
                  <a:pt x="0" y="513312"/>
                  <a:pt x="0" y="457199"/>
                </a:cubicBezTo>
                <a:lnTo>
                  <a:pt x="0" y="101601"/>
                </a:lnTo>
                <a:cubicBezTo>
                  <a:pt x="0" y="45526"/>
                  <a:pt x="45526" y="0"/>
                  <a:pt x="101601" y="0"/>
                </a:cubicBezTo>
                <a:close/>
              </a:path>
            </a:pathLst>
          </a:custGeom>
          <a:solidFill>
            <a:srgbClr val="D3B9D7">
              <a:alpha val="25098"/>
            </a:srgbClr>
          </a:solidFill>
          <a:ln/>
        </p:spPr>
        <p:txBody>
          <a:bodyPr/>
          <a:lstStyle/>
          <a:p>
            <a:endParaRPr lang="zh-CN" altLang="en-US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841375" y="3708400"/>
            <a:ext cx="222250" cy="254000"/>
          </a:xfrm>
          <a:custGeom>
            <a:avLst/>
            <a:gdLst/>
            <a:ahLst/>
            <a:cxnLst/>
            <a:rect l="l" t="t" r="r" b="b"/>
            <a:pathLst>
              <a:path w="222250" h="254000">
                <a:moveTo>
                  <a:pt x="83344" y="15875"/>
                </a:moveTo>
                <a:lnTo>
                  <a:pt x="11906" y="15875"/>
                </a:lnTo>
                <a:cubicBezTo>
                  <a:pt x="5308" y="15875"/>
                  <a:pt x="0" y="21183"/>
                  <a:pt x="0" y="27781"/>
                </a:cubicBezTo>
                <a:lnTo>
                  <a:pt x="0" y="99219"/>
                </a:lnTo>
                <a:cubicBezTo>
                  <a:pt x="0" y="104031"/>
                  <a:pt x="2877" y="108396"/>
                  <a:pt x="7342" y="110232"/>
                </a:cubicBezTo>
                <a:cubicBezTo>
                  <a:pt x="11807" y="112068"/>
                  <a:pt x="16917" y="111026"/>
                  <a:pt x="20340" y="107652"/>
                </a:cubicBezTo>
                <a:lnTo>
                  <a:pt x="40184" y="87809"/>
                </a:lnTo>
                <a:lnTo>
                  <a:pt x="79375" y="127000"/>
                </a:lnTo>
                <a:lnTo>
                  <a:pt x="40184" y="166191"/>
                </a:lnTo>
                <a:lnTo>
                  <a:pt x="20340" y="146348"/>
                </a:lnTo>
                <a:cubicBezTo>
                  <a:pt x="16917" y="142925"/>
                  <a:pt x="11807" y="141932"/>
                  <a:pt x="7342" y="143768"/>
                </a:cubicBezTo>
                <a:cubicBezTo>
                  <a:pt x="2877" y="145604"/>
                  <a:pt x="0" y="149969"/>
                  <a:pt x="0" y="154781"/>
                </a:cubicBezTo>
                <a:lnTo>
                  <a:pt x="0" y="226219"/>
                </a:lnTo>
                <a:cubicBezTo>
                  <a:pt x="0" y="232817"/>
                  <a:pt x="5308" y="238125"/>
                  <a:pt x="11906" y="238125"/>
                </a:cubicBezTo>
                <a:lnTo>
                  <a:pt x="83344" y="238125"/>
                </a:lnTo>
                <a:cubicBezTo>
                  <a:pt x="88156" y="238125"/>
                  <a:pt x="92521" y="235248"/>
                  <a:pt x="94357" y="230783"/>
                </a:cubicBezTo>
                <a:cubicBezTo>
                  <a:pt x="96193" y="226318"/>
                  <a:pt x="95200" y="221208"/>
                  <a:pt x="91777" y="217785"/>
                </a:cubicBezTo>
                <a:lnTo>
                  <a:pt x="71934" y="197941"/>
                </a:lnTo>
                <a:lnTo>
                  <a:pt x="111125" y="158750"/>
                </a:lnTo>
                <a:lnTo>
                  <a:pt x="150316" y="197941"/>
                </a:lnTo>
                <a:lnTo>
                  <a:pt x="130473" y="217785"/>
                </a:lnTo>
                <a:cubicBezTo>
                  <a:pt x="127050" y="221208"/>
                  <a:pt x="126057" y="226318"/>
                  <a:pt x="127893" y="230783"/>
                </a:cubicBezTo>
                <a:cubicBezTo>
                  <a:pt x="129729" y="235248"/>
                  <a:pt x="134094" y="238125"/>
                  <a:pt x="138906" y="238125"/>
                </a:cubicBezTo>
                <a:lnTo>
                  <a:pt x="210344" y="238125"/>
                </a:lnTo>
                <a:cubicBezTo>
                  <a:pt x="216942" y="238125"/>
                  <a:pt x="222250" y="232817"/>
                  <a:pt x="222250" y="226219"/>
                </a:cubicBezTo>
                <a:lnTo>
                  <a:pt x="222250" y="154781"/>
                </a:lnTo>
                <a:cubicBezTo>
                  <a:pt x="222250" y="149969"/>
                  <a:pt x="219373" y="145604"/>
                  <a:pt x="214908" y="143768"/>
                </a:cubicBezTo>
                <a:cubicBezTo>
                  <a:pt x="210443" y="141932"/>
                  <a:pt x="205333" y="142925"/>
                  <a:pt x="201910" y="146348"/>
                </a:cubicBezTo>
                <a:lnTo>
                  <a:pt x="182066" y="166191"/>
                </a:lnTo>
                <a:lnTo>
                  <a:pt x="142875" y="127000"/>
                </a:lnTo>
                <a:lnTo>
                  <a:pt x="182066" y="87809"/>
                </a:lnTo>
                <a:lnTo>
                  <a:pt x="201910" y="107652"/>
                </a:lnTo>
                <a:cubicBezTo>
                  <a:pt x="205333" y="111075"/>
                  <a:pt x="210443" y="112068"/>
                  <a:pt x="214908" y="110232"/>
                </a:cubicBezTo>
                <a:cubicBezTo>
                  <a:pt x="219373" y="108396"/>
                  <a:pt x="222250" y="104031"/>
                  <a:pt x="222250" y="99219"/>
                </a:cubicBezTo>
                <a:lnTo>
                  <a:pt x="222250" y="27781"/>
                </a:lnTo>
                <a:cubicBezTo>
                  <a:pt x="222250" y="21183"/>
                  <a:pt x="216942" y="15875"/>
                  <a:pt x="210344" y="15875"/>
                </a:cubicBezTo>
                <a:lnTo>
                  <a:pt x="138906" y="15875"/>
                </a:lnTo>
                <a:cubicBezTo>
                  <a:pt x="134094" y="15875"/>
                  <a:pt x="129729" y="18752"/>
                  <a:pt x="127893" y="23217"/>
                </a:cubicBezTo>
                <a:cubicBezTo>
                  <a:pt x="126057" y="27682"/>
                  <a:pt x="127099" y="32792"/>
                  <a:pt x="130473" y="36215"/>
                </a:cubicBezTo>
                <a:lnTo>
                  <a:pt x="150316" y="56059"/>
                </a:lnTo>
                <a:lnTo>
                  <a:pt x="111125" y="95250"/>
                </a:lnTo>
                <a:lnTo>
                  <a:pt x="71934" y="56059"/>
                </a:lnTo>
                <a:lnTo>
                  <a:pt x="91777" y="36215"/>
                </a:lnTo>
                <a:cubicBezTo>
                  <a:pt x="95200" y="32792"/>
                  <a:pt x="96193" y="27682"/>
                  <a:pt x="94357" y="23217"/>
                </a:cubicBezTo>
                <a:cubicBezTo>
                  <a:pt x="92521" y="18752"/>
                  <a:pt x="88156" y="15875"/>
                  <a:pt x="83344" y="15875"/>
                </a:cubicBezTo>
                <a:close/>
              </a:path>
            </a:pathLst>
          </a:custGeom>
          <a:solidFill>
            <a:srgbClr val="A95EAF"/>
          </a:solidFill>
          <a:ln/>
        </p:spPr>
        <p:txBody>
          <a:bodyPr/>
          <a:lstStyle/>
          <a:p>
            <a:endParaRPr lang="zh-CN" altLang="en-US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12" name="Text 9"/>
          <p:cNvSpPr/>
          <p:nvPr/>
        </p:nvSpPr>
        <p:spPr>
          <a:xfrm>
            <a:off x="1308100" y="3708400"/>
            <a:ext cx="16891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3C3542"/>
                </a:solidFill>
                <a:latin typeface="KaiTi" panose="02010609060101010101" pitchFamily="49" charset="-122"/>
                <a:ea typeface="KaiTi" panose="02010609060101010101" pitchFamily="49" charset="-122"/>
                <a:cs typeface="Noto Sans SC" pitchFamily="34" charset="-120"/>
              </a:rPr>
              <a:t>线性扩展至数千节点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546100" y="4267200"/>
            <a:ext cx="4673600" cy="558800"/>
          </a:xfrm>
          <a:custGeom>
            <a:avLst/>
            <a:gdLst/>
            <a:ahLst/>
            <a:cxnLst/>
            <a:rect l="l" t="t" r="r" b="b"/>
            <a:pathLst>
              <a:path w="4673600" h="558800">
                <a:moveTo>
                  <a:pt x="101601" y="0"/>
                </a:moveTo>
                <a:lnTo>
                  <a:pt x="4571999" y="0"/>
                </a:lnTo>
                <a:cubicBezTo>
                  <a:pt x="4628112" y="0"/>
                  <a:pt x="4673600" y="45488"/>
                  <a:pt x="4673600" y="101601"/>
                </a:cubicBezTo>
                <a:lnTo>
                  <a:pt x="4673600" y="457199"/>
                </a:lnTo>
                <a:cubicBezTo>
                  <a:pt x="4673600" y="513312"/>
                  <a:pt x="4628112" y="558800"/>
                  <a:pt x="4571999" y="558800"/>
                </a:cubicBezTo>
                <a:lnTo>
                  <a:pt x="101601" y="558800"/>
                </a:lnTo>
                <a:cubicBezTo>
                  <a:pt x="45488" y="558800"/>
                  <a:pt x="0" y="513312"/>
                  <a:pt x="0" y="457199"/>
                </a:cubicBezTo>
                <a:lnTo>
                  <a:pt x="0" y="101601"/>
                </a:lnTo>
                <a:cubicBezTo>
                  <a:pt x="0" y="45526"/>
                  <a:pt x="45526" y="0"/>
                  <a:pt x="101601" y="0"/>
                </a:cubicBezTo>
                <a:close/>
              </a:path>
            </a:pathLst>
          </a:custGeom>
          <a:solidFill>
            <a:srgbClr val="D3B9D7">
              <a:alpha val="25098"/>
            </a:srgbClr>
          </a:solidFill>
          <a:ln/>
        </p:spPr>
        <p:txBody>
          <a:bodyPr/>
          <a:lstStyle/>
          <a:p>
            <a:endParaRPr lang="zh-CN" altLang="en-US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841375" y="4419600"/>
            <a:ext cx="222250" cy="254000"/>
          </a:xfrm>
          <a:custGeom>
            <a:avLst/>
            <a:gdLst/>
            <a:ahLst/>
            <a:cxnLst/>
            <a:rect l="l" t="t" r="r" b="b"/>
            <a:pathLst>
              <a:path w="222250" h="254000">
                <a:moveTo>
                  <a:pt x="222250" y="102096"/>
                </a:moveTo>
                <a:cubicBezTo>
                  <a:pt x="214908" y="106958"/>
                  <a:pt x="206474" y="110877"/>
                  <a:pt x="197693" y="114002"/>
                </a:cubicBezTo>
                <a:cubicBezTo>
                  <a:pt x="174377" y="122337"/>
                  <a:pt x="143768" y="127000"/>
                  <a:pt x="111125" y="127000"/>
                </a:cubicBezTo>
                <a:cubicBezTo>
                  <a:pt x="78482" y="127000"/>
                  <a:pt x="47823" y="122287"/>
                  <a:pt x="24557" y="114002"/>
                </a:cubicBezTo>
                <a:cubicBezTo>
                  <a:pt x="15825" y="110877"/>
                  <a:pt x="7342" y="106958"/>
                  <a:pt x="0" y="102096"/>
                </a:cubicBezTo>
                <a:lnTo>
                  <a:pt x="0" y="142875"/>
                </a:lnTo>
                <a:cubicBezTo>
                  <a:pt x="0" y="164802"/>
                  <a:pt x="49758" y="182563"/>
                  <a:pt x="111125" y="182563"/>
                </a:cubicBezTo>
                <a:cubicBezTo>
                  <a:pt x="172492" y="182563"/>
                  <a:pt x="222250" y="164802"/>
                  <a:pt x="222250" y="142875"/>
                </a:cubicBezTo>
                <a:lnTo>
                  <a:pt x="222250" y="102096"/>
                </a:lnTo>
                <a:close/>
                <a:moveTo>
                  <a:pt x="222250" y="63500"/>
                </a:moveTo>
                <a:lnTo>
                  <a:pt x="222250" y="39688"/>
                </a:lnTo>
                <a:cubicBezTo>
                  <a:pt x="222250" y="17760"/>
                  <a:pt x="172492" y="0"/>
                  <a:pt x="111125" y="0"/>
                </a:cubicBezTo>
                <a:cubicBezTo>
                  <a:pt x="49758" y="0"/>
                  <a:pt x="0" y="17760"/>
                  <a:pt x="0" y="39688"/>
                </a:cubicBezTo>
                <a:lnTo>
                  <a:pt x="0" y="63500"/>
                </a:lnTo>
                <a:cubicBezTo>
                  <a:pt x="0" y="85427"/>
                  <a:pt x="49758" y="103188"/>
                  <a:pt x="111125" y="103188"/>
                </a:cubicBezTo>
                <a:cubicBezTo>
                  <a:pt x="172492" y="103188"/>
                  <a:pt x="222250" y="85427"/>
                  <a:pt x="222250" y="63500"/>
                </a:cubicBezTo>
                <a:close/>
                <a:moveTo>
                  <a:pt x="197693" y="193377"/>
                </a:moveTo>
                <a:cubicBezTo>
                  <a:pt x="174427" y="201662"/>
                  <a:pt x="143818" y="206375"/>
                  <a:pt x="111125" y="206375"/>
                </a:cubicBezTo>
                <a:cubicBezTo>
                  <a:pt x="78432" y="206375"/>
                  <a:pt x="47823" y="201662"/>
                  <a:pt x="24557" y="193377"/>
                </a:cubicBezTo>
                <a:cubicBezTo>
                  <a:pt x="15825" y="190252"/>
                  <a:pt x="7342" y="186333"/>
                  <a:pt x="0" y="181471"/>
                </a:cubicBezTo>
                <a:lnTo>
                  <a:pt x="0" y="214313"/>
                </a:lnTo>
                <a:cubicBezTo>
                  <a:pt x="0" y="236240"/>
                  <a:pt x="49758" y="254000"/>
                  <a:pt x="111125" y="254000"/>
                </a:cubicBezTo>
                <a:cubicBezTo>
                  <a:pt x="172492" y="254000"/>
                  <a:pt x="222250" y="236240"/>
                  <a:pt x="222250" y="214313"/>
                </a:cubicBezTo>
                <a:lnTo>
                  <a:pt x="222250" y="181471"/>
                </a:lnTo>
                <a:cubicBezTo>
                  <a:pt x="214908" y="186333"/>
                  <a:pt x="206474" y="190252"/>
                  <a:pt x="197693" y="193377"/>
                </a:cubicBezTo>
                <a:close/>
              </a:path>
            </a:pathLst>
          </a:custGeom>
          <a:solidFill>
            <a:srgbClr val="A95EAF"/>
          </a:solidFill>
          <a:ln/>
        </p:spPr>
        <p:txBody>
          <a:bodyPr/>
          <a:lstStyle/>
          <a:p>
            <a:endParaRPr lang="zh-CN" altLang="en-US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1308100" y="4419600"/>
            <a:ext cx="1739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3C3542"/>
                </a:solidFill>
                <a:latin typeface="KaiTi" panose="02010609060101010101" pitchFamily="49" charset="-122"/>
                <a:ea typeface="KaiTi" panose="02010609060101010101" pitchFamily="49" charset="-122"/>
                <a:cs typeface="Noto Sans SC" pitchFamily="34" charset="-120"/>
              </a:rPr>
              <a:t>单集群支持PB级数据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16" name="Shape 13"/>
          <p:cNvSpPr/>
          <p:nvPr/>
        </p:nvSpPr>
        <p:spPr>
          <a:xfrm>
            <a:off x="546100" y="4978400"/>
            <a:ext cx="4673600" cy="558800"/>
          </a:xfrm>
          <a:custGeom>
            <a:avLst/>
            <a:gdLst/>
            <a:ahLst/>
            <a:cxnLst/>
            <a:rect l="l" t="t" r="r" b="b"/>
            <a:pathLst>
              <a:path w="4673600" h="558800">
                <a:moveTo>
                  <a:pt x="101601" y="0"/>
                </a:moveTo>
                <a:lnTo>
                  <a:pt x="4571999" y="0"/>
                </a:lnTo>
                <a:cubicBezTo>
                  <a:pt x="4628112" y="0"/>
                  <a:pt x="4673600" y="45488"/>
                  <a:pt x="4673600" y="101601"/>
                </a:cubicBezTo>
                <a:lnTo>
                  <a:pt x="4673600" y="457199"/>
                </a:lnTo>
                <a:cubicBezTo>
                  <a:pt x="4673600" y="513312"/>
                  <a:pt x="4628112" y="558800"/>
                  <a:pt x="4571999" y="558800"/>
                </a:cubicBezTo>
                <a:lnTo>
                  <a:pt x="101601" y="558800"/>
                </a:lnTo>
                <a:cubicBezTo>
                  <a:pt x="45488" y="558800"/>
                  <a:pt x="0" y="513312"/>
                  <a:pt x="0" y="457199"/>
                </a:cubicBezTo>
                <a:lnTo>
                  <a:pt x="0" y="101601"/>
                </a:lnTo>
                <a:cubicBezTo>
                  <a:pt x="0" y="45526"/>
                  <a:pt x="45526" y="0"/>
                  <a:pt x="101601" y="0"/>
                </a:cubicBezTo>
                <a:close/>
              </a:path>
            </a:pathLst>
          </a:custGeom>
          <a:solidFill>
            <a:srgbClr val="D3B9D7">
              <a:alpha val="25098"/>
            </a:srgbClr>
          </a:solidFill>
          <a:ln/>
        </p:spPr>
        <p:txBody>
          <a:bodyPr/>
          <a:lstStyle/>
          <a:p>
            <a:endParaRPr lang="zh-CN" altLang="en-US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17" name="Shape 14"/>
          <p:cNvSpPr/>
          <p:nvPr/>
        </p:nvSpPr>
        <p:spPr>
          <a:xfrm>
            <a:off x="873125" y="5130800"/>
            <a:ext cx="158750" cy="254000"/>
          </a:xfrm>
          <a:custGeom>
            <a:avLst/>
            <a:gdLst/>
            <a:ahLst/>
            <a:cxnLst/>
            <a:rect l="l" t="t" r="r" b="b"/>
            <a:pathLst>
              <a:path w="158750" h="254000">
                <a:moveTo>
                  <a:pt x="67469" y="11906"/>
                </a:moveTo>
                <a:cubicBezTo>
                  <a:pt x="67469" y="5308"/>
                  <a:pt x="72777" y="0"/>
                  <a:pt x="79375" y="0"/>
                </a:cubicBezTo>
                <a:cubicBezTo>
                  <a:pt x="85973" y="0"/>
                  <a:pt x="91281" y="5308"/>
                  <a:pt x="91281" y="11906"/>
                </a:cubicBezTo>
                <a:lnTo>
                  <a:pt x="91281" y="31750"/>
                </a:lnTo>
                <a:lnTo>
                  <a:pt x="119063" y="31750"/>
                </a:lnTo>
                <a:cubicBezTo>
                  <a:pt x="127843" y="31750"/>
                  <a:pt x="134938" y="38844"/>
                  <a:pt x="134938" y="47625"/>
                </a:cubicBezTo>
                <a:cubicBezTo>
                  <a:pt x="134938" y="56406"/>
                  <a:pt x="127843" y="63500"/>
                  <a:pt x="119063" y="63500"/>
                </a:cubicBezTo>
                <a:lnTo>
                  <a:pt x="62061" y="63500"/>
                </a:lnTo>
                <a:cubicBezTo>
                  <a:pt x="49709" y="63500"/>
                  <a:pt x="39688" y="73521"/>
                  <a:pt x="39688" y="85874"/>
                </a:cubicBezTo>
                <a:cubicBezTo>
                  <a:pt x="39688" y="97036"/>
                  <a:pt x="47873" y="106462"/>
                  <a:pt x="58886" y="108049"/>
                </a:cubicBezTo>
                <a:lnTo>
                  <a:pt x="104329" y="114548"/>
                </a:lnTo>
                <a:cubicBezTo>
                  <a:pt x="131018" y="118368"/>
                  <a:pt x="150813" y="141188"/>
                  <a:pt x="150813" y="168126"/>
                </a:cubicBezTo>
                <a:cubicBezTo>
                  <a:pt x="150813" y="198041"/>
                  <a:pt x="126554" y="222250"/>
                  <a:pt x="96689" y="222250"/>
                </a:cubicBezTo>
                <a:lnTo>
                  <a:pt x="91281" y="222250"/>
                </a:lnTo>
                <a:lnTo>
                  <a:pt x="91281" y="242094"/>
                </a:lnTo>
                <a:cubicBezTo>
                  <a:pt x="91281" y="248692"/>
                  <a:pt x="85973" y="254000"/>
                  <a:pt x="79375" y="254000"/>
                </a:cubicBezTo>
                <a:cubicBezTo>
                  <a:pt x="72777" y="254000"/>
                  <a:pt x="67469" y="248692"/>
                  <a:pt x="67469" y="242094"/>
                </a:cubicBezTo>
                <a:lnTo>
                  <a:pt x="67469" y="222250"/>
                </a:lnTo>
                <a:lnTo>
                  <a:pt x="31750" y="222250"/>
                </a:lnTo>
                <a:cubicBezTo>
                  <a:pt x="22969" y="222250"/>
                  <a:pt x="15875" y="215156"/>
                  <a:pt x="15875" y="206375"/>
                </a:cubicBezTo>
                <a:cubicBezTo>
                  <a:pt x="15875" y="197594"/>
                  <a:pt x="22969" y="190500"/>
                  <a:pt x="31750" y="190500"/>
                </a:cubicBezTo>
                <a:lnTo>
                  <a:pt x="96689" y="190500"/>
                </a:lnTo>
                <a:cubicBezTo>
                  <a:pt x="109041" y="190500"/>
                  <a:pt x="119063" y="180479"/>
                  <a:pt x="119063" y="168126"/>
                </a:cubicBezTo>
                <a:cubicBezTo>
                  <a:pt x="119063" y="156964"/>
                  <a:pt x="110877" y="147538"/>
                  <a:pt x="99864" y="145951"/>
                </a:cubicBezTo>
                <a:lnTo>
                  <a:pt x="54421" y="139452"/>
                </a:lnTo>
                <a:cubicBezTo>
                  <a:pt x="27732" y="135682"/>
                  <a:pt x="7938" y="112812"/>
                  <a:pt x="7938" y="85874"/>
                </a:cubicBezTo>
                <a:cubicBezTo>
                  <a:pt x="7938" y="56009"/>
                  <a:pt x="32196" y="31750"/>
                  <a:pt x="62061" y="31750"/>
                </a:cubicBezTo>
                <a:lnTo>
                  <a:pt x="67469" y="31750"/>
                </a:lnTo>
                <a:lnTo>
                  <a:pt x="67469" y="11906"/>
                </a:lnTo>
                <a:close/>
              </a:path>
            </a:pathLst>
          </a:custGeom>
          <a:solidFill>
            <a:srgbClr val="A95EAF"/>
          </a:solidFill>
          <a:ln/>
        </p:spPr>
        <p:txBody>
          <a:bodyPr/>
          <a:lstStyle/>
          <a:p>
            <a:endParaRPr lang="zh-CN" altLang="en-US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1308100" y="5130800"/>
            <a:ext cx="2755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3C3542"/>
                </a:solidFill>
                <a:latin typeface="KaiTi" panose="02010609060101010101" pitchFamily="49" charset="-122"/>
                <a:ea typeface="KaiTi" panose="02010609060101010101" pitchFamily="49" charset="-122"/>
                <a:cs typeface="Noto Sans SC" pitchFamily="34" charset="-120"/>
              </a:rPr>
              <a:t>读写成本低于商用数据库一个量级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7810500" y="2235200"/>
            <a:ext cx="19812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3C3542"/>
                </a:solidFill>
                <a:latin typeface="KaiTi" panose="02010609060101010101" pitchFamily="49" charset="-122"/>
                <a:ea typeface="KaiTi" panose="02010609060101010101" pitchFamily="49" charset="-122"/>
                <a:cs typeface="Noto Sans SC" pitchFamily="34" charset="-120"/>
              </a:rPr>
              <a:t>四条技术主线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20" name="Shape 17"/>
          <p:cNvSpPr/>
          <p:nvPr/>
        </p:nvSpPr>
        <p:spPr>
          <a:xfrm>
            <a:off x="5803900" y="2844800"/>
            <a:ext cx="5842000" cy="558800"/>
          </a:xfrm>
          <a:custGeom>
            <a:avLst/>
            <a:gdLst/>
            <a:ahLst/>
            <a:cxnLst/>
            <a:rect l="l" t="t" r="r" b="b"/>
            <a:pathLst>
              <a:path w="5842000" h="558800">
                <a:moveTo>
                  <a:pt x="101601" y="0"/>
                </a:moveTo>
                <a:lnTo>
                  <a:pt x="5740399" y="0"/>
                </a:lnTo>
                <a:cubicBezTo>
                  <a:pt x="5796512" y="0"/>
                  <a:pt x="5842000" y="45488"/>
                  <a:pt x="5842000" y="101601"/>
                </a:cubicBezTo>
                <a:lnTo>
                  <a:pt x="5842000" y="457199"/>
                </a:lnTo>
                <a:cubicBezTo>
                  <a:pt x="5842000" y="513312"/>
                  <a:pt x="5796512" y="558800"/>
                  <a:pt x="5740399" y="558800"/>
                </a:cubicBezTo>
                <a:lnTo>
                  <a:pt x="101601" y="558800"/>
                </a:lnTo>
                <a:cubicBezTo>
                  <a:pt x="45488" y="558800"/>
                  <a:pt x="0" y="513312"/>
                  <a:pt x="0" y="457199"/>
                </a:cubicBezTo>
                <a:lnTo>
                  <a:pt x="0" y="101601"/>
                </a:lnTo>
                <a:cubicBezTo>
                  <a:pt x="0" y="45526"/>
                  <a:pt x="45526" y="0"/>
                  <a:pt x="101601" y="0"/>
                </a:cubicBezTo>
                <a:close/>
              </a:path>
            </a:pathLst>
          </a:custGeom>
          <a:solidFill>
            <a:srgbClr val="60A39A">
              <a:alpha val="25098"/>
            </a:srgbClr>
          </a:solidFill>
          <a:ln/>
        </p:spPr>
        <p:txBody>
          <a:bodyPr/>
          <a:lstStyle/>
          <a:p>
            <a:endParaRPr lang="zh-CN" altLang="en-US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21" name="Shape 18"/>
          <p:cNvSpPr/>
          <p:nvPr/>
        </p:nvSpPr>
        <p:spPr>
          <a:xfrm>
            <a:off x="6083300" y="29972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95250" y="31750"/>
                </a:moveTo>
                <a:cubicBezTo>
                  <a:pt x="95250" y="22969"/>
                  <a:pt x="102344" y="15875"/>
                  <a:pt x="111125" y="15875"/>
                </a:cubicBezTo>
                <a:lnTo>
                  <a:pt x="142875" y="15875"/>
                </a:lnTo>
                <a:cubicBezTo>
                  <a:pt x="151656" y="15875"/>
                  <a:pt x="158750" y="22969"/>
                  <a:pt x="158750" y="31750"/>
                </a:cubicBezTo>
                <a:lnTo>
                  <a:pt x="158750" y="63500"/>
                </a:lnTo>
                <a:cubicBezTo>
                  <a:pt x="158750" y="72281"/>
                  <a:pt x="151656" y="79375"/>
                  <a:pt x="142875" y="79375"/>
                </a:cubicBezTo>
                <a:lnTo>
                  <a:pt x="138906" y="79375"/>
                </a:lnTo>
                <a:lnTo>
                  <a:pt x="138906" y="111125"/>
                </a:lnTo>
                <a:lnTo>
                  <a:pt x="198438" y="111125"/>
                </a:lnTo>
                <a:cubicBezTo>
                  <a:pt x="218182" y="111125"/>
                  <a:pt x="234156" y="127099"/>
                  <a:pt x="234156" y="146844"/>
                </a:cubicBezTo>
                <a:lnTo>
                  <a:pt x="234156" y="174625"/>
                </a:lnTo>
                <a:lnTo>
                  <a:pt x="238125" y="174625"/>
                </a:lnTo>
                <a:cubicBezTo>
                  <a:pt x="246906" y="174625"/>
                  <a:pt x="254000" y="181719"/>
                  <a:pt x="254000" y="190500"/>
                </a:cubicBezTo>
                <a:lnTo>
                  <a:pt x="254000" y="222250"/>
                </a:lnTo>
                <a:cubicBezTo>
                  <a:pt x="254000" y="231031"/>
                  <a:pt x="246906" y="238125"/>
                  <a:pt x="238125" y="238125"/>
                </a:cubicBezTo>
                <a:lnTo>
                  <a:pt x="206375" y="238125"/>
                </a:lnTo>
                <a:cubicBezTo>
                  <a:pt x="197594" y="238125"/>
                  <a:pt x="190500" y="231031"/>
                  <a:pt x="190500" y="222250"/>
                </a:cubicBezTo>
                <a:lnTo>
                  <a:pt x="190500" y="190500"/>
                </a:lnTo>
                <a:cubicBezTo>
                  <a:pt x="190500" y="181719"/>
                  <a:pt x="197594" y="174625"/>
                  <a:pt x="206375" y="174625"/>
                </a:cubicBezTo>
                <a:lnTo>
                  <a:pt x="210344" y="174625"/>
                </a:lnTo>
                <a:lnTo>
                  <a:pt x="210344" y="146844"/>
                </a:lnTo>
                <a:cubicBezTo>
                  <a:pt x="210344" y="140246"/>
                  <a:pt x="205036" y="134938"/>
                  <a:pt x="198438" y="134938"/>
                </a:cubicBezTo>
                <a:lnTo>
                  <a:pt x="138906" y="134938"/>
                </a:lnTo>
                <a:lnTo>
                  <a:pt x="138906" y="174625"/>
                </a:lnTo>
                <a:lnTo>
                  <a:pt x="142875" y="174625"/>
                </a:lnTo>
                <a:cubicBezTo>
                  <a:pt x="151656" y="174625"/>
                  <a:pt x="158750" y="181719"/>
                  <a:pt x="158750" y="190500"/>
                </a:cubicBezTo>
                <a:lnTo>
                  <a:pt x="158750" y="222250"/>
                </a:lnTo>
                <a:cubicBezTo>
                  <a:pt x="158750" y="231031"/>
                  <a:pt x="151656" y="238125"/>
                  <a:pt x="142875" y="238125"/>
                </a:cubicBezTo>
                <a:lnTo>
                  <a:pt x="111125" y="238125"/>
                </a:lnTo>
                <a:cubicBezTo>
                  <a:pt x="102344" y="238125"/>
                  <a:pt x="95250" y="231031"/>
                  <a:pt x="95250" y="222250"/>
                </a:cubicBezTo>
                <a:lnTo>
                  <a:pt x="95250" y="190500"/>
                </a:lnTo>
                <a:cubicBezTo>
                  <a:pt x="95250" y="181719"/>
                  <a:pt x="102344" y="174625"/>
                  <a:pt x="111125" y="174625"/>
                </a:cubicBezTo>
                <a:lnTo>
                  <a:pt x="115094" y="174625"/>
                </a:lnTo>
                <a:lnTo>
                  <a:pt x="115094" y="134938"/>
                </a:lnTo>
                <a:lnTo>
                  <a:pt x="55563" y="134938"/>
                </a:lnTo>
                <a:cubicBezTo>
                  <a:pt x="48964" y="134938"/>
                  <a:pt x="43656" y="140246"/>
                  <a:pt x="43656" y="146844"/>
                </a:cubicBezTo>
                <a:lnTo>
                  <a:pt x="43656" y="174625"/>
                </a:lnTo>
                <a:lnTo>
                  <a:pt x="47625" y="174625"/>
                </a:lnTo>
                <a:cubicBezTo>
                  <a:pt x="56406" y="174625"/>
                  <a:pt x="63500" y="181719"/>
                  <a:pt x="63500" y="190500"/>
                </a:cubicBezTo>
                <a:lnTo>
                  <a:pt x="63500" y="222250"/>
                </a:lnTo>
                <a:cubicBezTo>
                  <a:pt x="63500" y="231031"/>
                  <a:pt x="56406" y="238125"/>
                  <a:pt x="47625" y="238125"/>
                </a:cubicBezTo>
                <a:lnTo>
                  <a:pt x="15875" y="238125"/>
                </a:lnTo>
                <a:cubicBezTo>
                  <a:pt x="7094" y="238125"/>
                  <a:pt x="0" y="231031"/>
                  <a:pt x="0" y="222250"/>
                </a:cubicBezTo>
                <a:lnTo>
                  <a:pt x="0" y="190500"/>
                </a:lnTo>
                <a:cubicBezTo>
                  <a:pt x="0" y="181719"/>
                  <a:pt x="7094" y="174625"/>
                  <a:pt x="15875" y="174625"/>
                </a:cubicBezTo>
                <a:lnTo>
                  <a:pt x="19844" y="174625"/>
                </a:lnTo>
                <a:lnTo>
                  <a:pt x="19844" y="146844"/>
                </a:lnTo>
                <a:cubicBezTo>
                  <a:pt x="19844" y="127099"/>
                  <a:pt x="35818" y="111125"/>
                  <a:pt x="55563" y="111125"/>
                </a:cubicBezTo>
                <a:lnTo>
                  <a:pt x="115094" y="111125"/>
                </a:lnTo>
                <a:lnTo>
                  <a:pt x="115094" y="79375"/>
                </a:lnTo>
                <a:lnTo>
                  <a:pt x="111125" y="79375"/>
                </a:lnTo>
                <a:cubicBezTo>
                  <a:pt x="102344" y="79375"/>
                  <a:pt x="95250" y="72281"/>
                  <a:pt x="95250" y="63500"/>
                </a:cubicBezTo>
                <a:lnTo>
                  <a:pt x="95250" y="31750"/>
                </a:lnTo>
                <a:close/>
              </a:path>
            </a:pathLst>
          </a:custGeom>
          <a:solidFill>
            <a:srgbClr val="60A39A"/>
          </a:solidFill>
          <a:ln/>
        </p:spPr>
        <p:txBody>
          <a:bodyPr/>
          <a:lstStyle/>
          <a:p>
            <a:endParaRPr lang="zh-CN" altLang="en-US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22" name="Text 19"/>
          <p:cNvSpPr/>
          <p:nvPr/>
        </p:nvSpPr>
        <p:spPr>
          <a:xfrm>
            <a:off x="6565900" y="2997200"/>
            <a:ext cx="8001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3C3542"/>
                </a:solidFill>
                <a:latin typeface="KaiTi" panose="02010609060101010101" pitchFamily="49" charset="-122"/>
                <a:ea typeface="KaiTi" panose="02010609060101010101" pitchFamily="49" charset="-122"/>
                <a:cs typeface="Noto Sans SC" pitchFamily="34" charset="-120"/>
              </a:rPr>
              <a:t>去中心化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23" name="Shape 20"/>
          <p:cNvSpPr/>
          <p:nvPr/>
        </p:nvSpPr>
        <p:spPr>
          <a:xfrm>
            <a:off x="5803900" y="3556000"/>
            <a:ext cx="5842000" cy="558800"/>
          </a:xfrm>
          <a:custGeom>
            <a:avLst/>
            <a:gdLst/>
            <a:ahLst/>
            <a:cxnLst/>
            <a:rect l="l" t="t" r="r" b="b"/>
            <a:pathLst>
              <a:path w="5842000" h="558800">
                <a:moveTo>
                  <a:pt x="101601" y="0"/>
                </a:moveTo>
                <a:lnTo>
                  <a:pt x="5740399" y="0"/>
                </a:lnTo>
                <a:cubicBezTo>
                  <a:pt x="5796512" y="0"/>
                  <a:pt x="5842000" y="45488"/>
                  <a:pt x="5842000" y="101601"/>
                </a:cubicBezTo>
                <a:lnTo>
                  <a:pt x="5842000" y="457199"/>
                </a:lnTo>
                <a:cubicBezTo>
                  <a:pt x="5842000" y="513312"/>
                  <a:pt x="5796512" y="558800"/>
                  <a:pt x="5740399" y="558800"/>
                </a:cubicBezTo>
                <a:lnTo>
                  <a:pt x="101601" y="558800"/>
                </a:lnTo>
                <a:cubicBezTo>
                  <a:pt x="45488" y="558800"/>
                  <a:pt x="0" y="513312"/>
                  <a:pt x="0" y="457199"/>
                </a:cubicBezTo>
                <a:lnTo>
                  <a:pt x="0" y="101601"/>
                </a:lnTo>
                <a:cubicBezTo>
                  <a:pt x="0" y="45526"/>
                  <a:pt x="45526" y="0"/>
                  <a:pt x="101601" y="0"/>
                </a:cubicBezTo>
                <a:close/>
              </a:path>
            </a:pathLst>
          </a:custGeom>
          <a:solidFill>
            <a:srgbClr val="60A39A">
              <a:alpha val="25098"/>
            </a:srgbClr>
          </a:solidFill>
          <a:ln/>
        </p:spPr>
        <p:txBody>
          <a:bodyPr/>
          <a:lstStyle/>
          <a:p>
            <a:endParaRPr lang="zh-CN" altLang="en-US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24" name="Shape 21"/>
          <p:cNvSpPr/>
          <p:nvPr/>
        </p:nvSpPr>
        <p:spPr>
          <a:xfrm>
            <a:off x="6067425" y="3708400"/>
            <a:ext cx="285750" cy="254000"/>
          </a:xfrm>
          <a:custGeom>
            <a:avLst/>
            <a:gdLst/>
            <a:ahLst/>
            <a:cxnLst/>
            <a:rect l="l" t="t" r="r" b="b"/>
            <a:pathLst>
              <a:path w="285750" h="254000">
                <a:moveTo>
                  <a:pt x="122337" y="185837"/>
                </a:moveTo>
                <a:lnTo>
                  <a:pt x="74712" y="233462"/>
                </a:lnTo>
                <a:cubicBezTo>
                  <a:pt x="68511" y="239663"/>
                  <a:pt x="58440" y="239663"/>
                  <a:pt x="52239" y="233462"/>
                </a:cubicBezTo>
                <a:lnTo>
                  <a:pt x="4614" y="185837"/>
                </a:lnTo>
                <a:cubicBezTo>
                  <a:pt x="-1588" y="179636"/>
                  <a:pt x="-1588" y="169565"/>
                  <a:pt x="4614" y="163364"/>
                </a:cubicBezTo>
                <a:cubicBezTo>
                  <a:pt x="10815" y="157163"/>
                  <a:pt x="20886" y="157163"/>
                  <a:pt x="27087" y="163364"/>
                </a:cubicBezTo>
                <a:lnTo>
                  <a:pt x="47625" y="183902"/>
                </a:lnTo>
                <a:lnTo>
                  <a:pt x="47625" y="31750"/>
                </a:lnTo>
                <a:cubicBezTo>
                  <a:pt x="47625" y="22969"/>
                  <a:pt x="54719" y="15875"/>
                  <a:pt x="63500" y="15875"/>
                </a:cubicBezTo>
                <a:cubicBezTo>
                  <a:pt x="72281" y="15875"/>
                  <a:pt x="79375" y="22969"/>
                  <a:pt x="79375" y="31750"/>
                </a:cubicBezTo>
                <a:lnTo>
                  <a:pt x="79375" y="183902"/>
                </a:lnTo>
                <a:lnTo>
                  <a:pt x="99913" y="163364"/>
                </a:lnTo>
                <a:cubicBezTo>
                  <a:pt x="106114" y="157163"/>
                  <a:pt x="116185" y="157163"/>
                  <a:pt x="122386" y="163364"/>
                </a:cubicBezTo>
                <a:cubicBezTo>
                  <a:pt x="128588" y="169565"/>
                  <a:pt x="128588" y="179636"/>
                  <a:pt x="122386" y="185837"/>
                </a:cubicBezTo>
                <a:close/>
                <a:moveTo>
                  <a:pt x="158750" y="238125"/>
                </a:moveTo>
                <a:cubicBezTo>
                  <a:pt x="149969" y="238125"/>
                  <a:pt x="142875" y="231031"/>
                  <a:pt x="142875" y="222250"/>
                </a:cubicBezTo>
                <a:cubicBezTo>
                  <a:pt x="142875" y="213469"/>
                  <a:pt x="149969" y="206375"/>
                  <a:pt x="158750" y="206375"/>
                </a:cubicBezTo>
                <a:lnTo>
                  <a:pt x="174625" y="206375"/>
                </a:lnTo>
                <a:cubicBezTo>
                  <a:pt x="183406" y="206375"/>
                  <a:pt x="190500" y="213469"/>
                  <a:pt x="190500" y="222250"/>
                </a:cubicBezTo>
                <a:cubicBezTo>
                  <a:pt x="190500" y="231031"/>
                  <a:pt x="183406" y="238125"/>
                  <a:pt x="174625" y="238125"/>
                </a:cubicBezTo>
                <a:lnTo>
                  <a:pt x="158750" y="238125"/>
                </a:lnTo>
                <a:close/>
                <a:moveTo>
                  <a:pt x="158750" y="174625"/>
                </a:moveTo>
                <a:cubicBezTo>
                  <a:pt x="149969" y="174625"/>
                  <a:pt x="142875" y="167531"/>
                  <a:pt x="142875" y="158750"/>
                </a:cubicBezTo>
                <a:cubicBezTo>
                  <a:pt x="142875" y="149969"/>
                  <a:pt x="149969" y="142875"/>
                  <a:pt x="158750" y="142875"/>
                </a:cubicBezTo>
                <a:lnTo>
                  <a:pt x="206375" y="142875"/>
                </a:lnTo>
                <a:cubicBezTo>
                  <a:pt x="215156" y="142875"/>
                  <a:pt x="222250" y="149969"/>
                  <a:pt x="222250" y="158750"/>
                </a:cubicBezTo>
                <a:cubicBezTo>
                  <a:pt x="222250" y="167531"/>
                  <a:pt x="215156" y="174625"/>
                  <a:pt x="206375" y="174625"/>
                </a:cubicBezTo>
                <a:lnTo>
                  <a:pt x="158750" y="174625"/>
                </a:lnTo>
                <a:close/>
                <a:moveTo>
                  <a:pt x="158750" y="111125"/>
                </a:moveTo>
                <a:cubicBezTo>
                  <a:pt x="149969" y="111125"/>
                  <a:pt x="142875" y="104031"/>
                  <a:pt x="142875" y="95250"/>
                </a:cubicBezTo>
                <a:cubicBezTo>
                  <a:pt x="142875" y="86469"/>
                  <a:pt x="149969" y="79375"/>
                  <a:pt x="158750" y="79375"/>
                </a:cubicBezTo>
                <a:lnTo>
                  <a:pt x="238125" y="79375"/>
                </a:lnTo>
                <a:cubicBezTo>
                  <a:pt x="246906" y="79375"/>
                  <a:pt x="254000" y="86469"/>
                  <a:pt x="254000" y="95250"/>
                </a:cubicBezTo>
                <a:cubicBezTo>
                  <a:pt x="254000" y="104031"/>
                  <a:pt x="246906" y="111125"/>
                  <a:pt x="238125" y="111125"/>
                </a:cubicBezTo>
                <a:lnTo>
                  <a:pt x="158750" y="111125"/>
                </a:lnTo>
                <a:close/>
                <a:moveTo>
                  <a:pt x="158750" y="47625"/>
                </a:moveTo>
                <a:cubicBezTo>
                  <a:pt x="149969" y="47625"/>
                  <a:pt x="142875" y="40531"/>
                  <a:pt x="142875" y="31750"/>
                </a:cubicBezTo>
                <a:cubicBezTo>
                  <a:pt x="142875" y="22969"/>
                  <a:pt x="149969" y="15875"/>
                  <a:pt x="158750" y="15875"/>
                </a:cubicBezTo>
                <a:lnTo>
                  <a:pt x="269875" y="15875"/>
                </a:lnTo>
                <a:cubicBezTo>
                  <a:pt x="278656" y="15875"/>
                  <a:pt x="285750" y="22969"/>
                  <a:pt x="285750" y="31750"/>
                </a:cubicBezTo>
                <a:cubicBezTo>
                  <a:pt x="285750" y="40531"/>
                  <a:pt x="278656" y="47625"/>
                  <a:pt x="269875" y="47625"/>
                </a:cubicBezTo>
                <a:lnTo>
                  <a:pt x="158750" y="47625"/>
                </a:lnTo>
                <a:close/>
              </a:path>
            </a:pathLst>
          </a:custGeom>
          <a:solidFill>
            <a:srgbClr val="60A39A"/>
          </a:solidFill>
          <a:ln/>
        </p:spPr>
        <p:txBody>
          <a:bodyPr/>
          <a:lstStyle/>
          <a:p>
            <a:endParaRPr lang="zh-CN" altLang="en-US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25" name="Text 22"/>
          <p:cNvSpPr/>
          <p:nvPr/>
        </p:nvSpPr>
        <p:spPr>
          <a:xfrm>
            <a:off x="6565900" y="3708400"/>
            <a:ext cx="977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3C3542"/>
                </a:solidFill>
                <a:latin typeface="KaiTi" panose="02010609060101010101" pitchFamily="49" charset="-122"/>
                <a:ea typeface="KaiTi" panose="02010609060101010101" pitchFamily="49" charset="-122"/>
                <a:cs typeface="Noto Sans SC" pitchFamily="34" charset="-120"/>
              </a:rPr>
              <a:t>顺序写优先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26" name="Shape 23"/>
          <p:cNvSpPr/>
          <p:nvPr/>
        </p:nvSpPr>
        <p:spPr>
          <a:xfrm>
            <a:off x="5803900" y="4267200"/>
            <a:ext cx="5842000" cy="558800"/>
          </a:xfrm>
          <a:custGeom>
            <a:avLst/>
            <a:gdLst/>
            <a:ahLst/>
            <a:cxnLst/>
            <a:rect l="l" t="t" r="r" b="b"/>
            <a:pathLst>
              <a:path w="5842000" h="558800">
                <a:moveTo>
                  <a:pt x="101601" y="0"/>
                </a:moveTo>
                <a:lnTo>
                  <a:pt x="5740399" y="0"/>
                </a:lnTo>
                <a:cubicBezTo>
                  <a:pt x="5796512" y="0"/>
                  <a:pt x="5842000" y="45488"/>
                  <a:pt x="5842000" y="101601"/>
                </a:cubicBezTo>
                <a:lnTo>
                  <a:pt x="5842000" y="457199"/>
                </a:lnTo>
                <a:cubicBezTo>
                  <a:pt x="5842000" y="513312"/>
                  <a:pt x="5796512" y="558800"/>
                  <a:pt x="5740399" y="558800"/>
                </a:cubicBezTo>
                <a:lnTo>
                  <a:pt x="101601" y="558800"/>
                </a:lnTo>
                <a:cubicBezTo>
                  <a:pt x="45488" y="558800"/>
                  <a:pt x="0" y="513312"/>
                  <a:pt x="0" y="457199"/>
                </a:cubicBezTo>
                <a:lnTo>
                  <a:pt x="0" y="101601"/>
                </a:lnTo>
                <a:cubicBezTo>
                  <a:pt x="0" y="45526"/>
                  <a:pt x="45526" y="0"/>
                  <a:pt x="101601" y="0"/>
                </a:cubicBezTo>
                <a:close/>
              </a:path>
            </a:pathLst>
          </a:custGeom>
          <a:solidFill>
            <a:srgbClr val="60A39A">
              <a:alpha val="25098"/>
            </a:srgbClr>
          </a:solidFill>
          <a:ln/>
        </p:spPr>
        <p:txBody>
          <a:bodyPr/>
          <a:lstStyle/>
          <a:p>
            <a:endParaRPr lang="zh-CN" altLang="en-US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27" name="Shape 24"/>
          <p:cNvSpPr/>
          <p:nvPr/>
        </p:nvSpPr>
        <p:spPr>
          <a:xfrm>
            <a:off x="6051550" y="4419600"/>
            <a:ext cx="317500" cy="254000"/>
          </a:xfrm>
          <a:custGeom>
            <a:avLst/>
            <a:gdLst/>
            <a:ahLst/>
            <a:cxnLst/>
            <a:rect l="l" t="t" r="r" b="b"/>
            <a:pathLst>
              <a:path w="317500" h="254000">
                <a:moveTo>
                  <a:pt x="58638" y="30956"/>
                </a:moveTo>
                <a:cubicBezTo>
                  <a:pt x="50354" y="28178"/>
                  <a:pt x="45839" y="19149"/>
                  <a:pt x="48617" y="10864"/>
                </a:cubicBezTo>
                <a:cubicBezTo>
                  <a:pt x="51395" y="2580"/>
                  <a:pt x="60375" y="-1935"/>
                  <a:pt x="68709" y="794"/>
                </a:cubicBezTo>
                <a:lnTo>
                  <a:pt x="124768" y="19496"/>
                </a:lnTo>
                <a:cubicBezTo>
                  <a:pt x="131663" y="7838"/>
                  <a:pt x="144413" y="0"/>
                  <a:pt x="158948" y="0"/>
                </a:cubicBezTo>
                <a:cubicBezTo>
                  <a:pt x="180876" y="0"/>
                  <a:pt x="198636" y="17760"/>
                  <a:pt x="198636" y="39688"/>
                </a:cubicBezTo>
                <a:cubicBezTo>
                  <a:pt x="198636" y="41176"/>
                  <a:pt x="198537" y="42614"/>
                  <a:pt x="198388" y="44053"/>
                </a:cubicBezTo>
                <a:lnTo>
                  <a:pt x="259209" y="64343"/>
                </a:lnTo>
                <a:cubicBezTo>
                  <a:pt x="267543" y="67121"/>
                  <a:pt x="272008" y="76101"/>
                  <a:pt x="269230" y="84435"/>
                </a:cubicBezTo>
                <a:cubicBezTo>
                  <a:pt x="266452" y="92770"/>
                  <a:pt x="257473" y="97234"/>
                  <a:pt x="249138" y="94456"/>
                </a:cubicBezTo>
                <a:lnTo>
                  <a:pt x="181918" y="72033"/>
                </a:lnTo>
                <a:cubicBezTo>
                  <a:pt x="179685" y="73620"/>
                  <a:pt x="177304" y="74960"/>
                  <a:pt x="174774" y="76101"/>
                </a:cubicBezTo>
                <a:lnTo>
                  <a:pt x="174774" y="238175"/>
                </a:lnTo>
                <a:cubicBezTo>
                  <a:pt x="174774" y="246955"/>
                  <a:pt x="167680" y="254050"/>
                  <a:pt x="158899" y="254050"/>
                </a:cubicBezTo>
                <a:lnTo>
                  <a:pt x="63649" y="254050"/>
                </a:lnTo>
                <a:cubicBezTo>
                  <a:pt x="54868" y="254050"/>
                  <a:pt x="47774" y="246955"/>
                  <a:pt x="47774" y="238175"/>
                </a:cubicBezTo>
                <a:cubicBezTo>
                  <a:pt x="47774" y="229394"/>
                  <a:pt x="54868" y="222300"/>
                  <a:pt x="63649" y="222300"/>
                </a:cubicBezTo>
                <a:lnTo>
                  <a:pt x="143024" y="222300"/>
                </a:lnTo>
                <a:lnTo>
                  <a:pt x="143024" y="76101"/>
                </a:lnTo>
                <a:cubicBezTo>
                  <a:pt x="132606" y="71537"/>
                  <a:pt x="124569" y="62706"/>
                  <a:pt x="121096" y="51792"/>
                </a:cubicBezTo>
                <a:lnTo>
                  <a:pt x="58638" y="30956"/>
                </a:lnTo>
                <a:close/>
                <a:moveTo>
                  <a:pt x="99616" y="142875"/>
                </a:moveTo>
                <a:lnTo>
                  <a:pt x="63649" y="81260"/>
                </a:lnTo>
                <a:lnTo>
                  <a:pt x="27732" y="142875"/>
                </a:lnTo>
                <a:lnTo>
                  <a:pt x="99616" y="142875"/>
                </a:lnTo>
                <a:close/>
                <a:moveTo>
                  <a:pt x="63698" y="190500"/>
                </a:moveTo>
                <a:cubicBezTo>
                  <a:pt x="32494" y="190500"/>
                  <a:pt x="6548" y="173633"/>
                  <a:pt x="1191" y="151358"/>
                </a:cubicBezTo>
                <a:cubicBezTo>
                  <a:pt x="-99" y="145901"/>
                  <a:pt x="1687" y="140295"/>
                  <a:pt x="4514" y="135434"/>
                </a:cubicBezTo>
                <a:lnTo>
                  <a:pt x="51743" y="54471"/>
                </a:lnTo>
                <a:cubicBezTo>
                  <a:pt x="54223" y="50205"/>
                  <a:pt x="58787" y="47625"/>
                  <a:pt x="63698" y="47625"/>
                </a:cubicBezTo>
                <a:cubicBezTo>
                  <a:pt x="68610" y="47625"/>
                  <a:pt x="73174" y="50254"/>
                  <a:pt x="75654" y="54471"/>
                </a:cubicBezTo>
                <a:lnTo>
                  <a:pt x="122882" y="135434"/>
                </a:lnTo>
                <a:cubicBezTo>
                  <a:pt x="125710" y="140295"/>
                  <a:pt x="127496" y="145901"/>
                  <a:pt x="126206" y="151358"/>
                </a:cubicBezTo>
                <a:cubicBezTo>
                  <a:pt x="120848" y="173583"/>
                  <a:pt x="94903" y="190500"/>
                  <a:pt x="63698" y="190500"/>
                </a:cubicBezTo>
                <a:close/>
                <a:moveTo>
                  <a:pt x="253603" y="144760"/>
                </a:moveTo>
                <a:lnTo>
                  <a:pt x="217686" y="206375"/>
                </a:lnTo>
                <a:lnTo>
                  <a:pt x="289570" y="206375"/>
                </a:lnTo>
                <a:lnTo>
                  <a:pt x="253653" y="144760"/>
                </a:lnTo>
                <a:close/>
                <a:moveTo>
                  <a:pt x="316111" y="214858"/>
                </a:moveTo>
                <a:cubicBezTo>
                  <a:pt x="310753" y="237133"/>
                  <a:pt x="284807" y="254000"/>
                  <a:pt x="253603" y="254000"/>
                </a:cubicBezTo>
                <a:cubicBezTo>
                  <a:pt x="222399" y="254000"/>
                  <a:pt x="196453" y="237133"/>
                  <a:pt x="191095" y="214858"/>
                </a:cubicBezTo>
                <a:cubicBezTo>
                  <a:pt x="189805" y="209401"/>
                  <a:pt x="191591" y="203795"/>
                  <a:pt x="194419" y="198934"/>
                </a:cubicBezTo>
                <a:lnTo>
                  <a:pt x="241647" y="117971"/>
                </a:lnTo>
                <a:cubicBezTo>
                  <a:pt x="244128" y="113705"/>
                  <a:pt x="248692" y="111125"/>
                  <a:pt x="253603" y="111125"/>
                </a:cubicBezTo>
                <a:cubicBezTo>
                  <a:pt x="258514" y="111125"/>
                  <a:pt x="263079" y="113754"/>
                  <a:pt x="265559" y="117971"/>
                </a:cubicBezTo>
                <a:lnTo>
                  <a:pt x="312787" y="198934"/>
                </a:lnTo>
                <a:cubicBezTo>
                  <a:pt x="315615" y="203795"/>
                  <a:pt x="317401" y="209401"/>
                  <a:pt x="316111" y="214858"/>
                </a:cubicBezTo>
                <a:close/>
              </a:path>
            </a:pathLst>
          </a:custGeom>
          <a:solidFill>
            <a:srgbClr val="60A39A"/>
          </a:solidFill>
          <a:ln/>
        </p:spPr>
        <p:txBody>
          <a:bodyPr/>
          <a:lstStyle/>
          <a:p>
            <a:endParaRPr lang="zh-CN" altLang="en-US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28" name="Text 25"/>
          <p:cNvSpPr/>
          <p:nvPr/>
        </p:nvSpPr>
        <p:spPr>
          <a:xfrm>
            <a:off x="6565900" y="4419600"/>
            <a:ext cx="8001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3C3542"/>
                </a:solidFill>
                <a:latin typeface="KaiTi" panose="02010609060101010101" pitchFamily="49" charset="-122"/>
                <a:ea typeface="KaiTi" panose="02010609060101010101" pitchFamily="49" charset="-122"/>
                <a:cs typeface="Noto Sans SC" pitchFamily="34" charset="-120"/>
              </a:rPr>
              <a:t>弱一致性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29" name="Shape 26"/>
          <p:cNvSpPr/>
          <p:nvPr/>
        </p:nvSpPr>
        <p:spPr>
          <a:xfrm>
            <a:off x="5803900" y="4978400"/>
            <a:ext cx="5842000" cy="558800"/>
          </a:xfrm>
          <a:custGeom>
            <a:avLst/>
            <a:gdLst/>
            <a:ahLst/>
            <a:cxnLst/>
            <a:rect l="l" t="t" r="r" b="b"/>
            <a:pathLst>
              <a:path w="5842000" h="558800">
                <a:moveTo>
                  <a:pt x="101601" y="0"/>
                </a:moveTo>
                <a:lnTo>
                  <a:pt x="5740399" y="0"/>
                </a:lnTo>
                <a:cubicBezTo>
                  <a:pt x="5796512" y="0"/>
                  <a:pt x="5842000" y="45488"/>
                  <a:pt x="5842000" y="101601"/>
                </a:cubicBezTo>
                <a:lnTo>
                  <a:pt x="5842000" y="457199"/>
                </a:lnTo>
                <a:cubicBezTo>
                  <a:pt x="5842000" y="513312"/>
                  <a:pt x="5796512" y="558800"/>
                  <a:pt x="5740399" y="558800"/>
                </a:cubicBezTo>
                <a:lnTo>
                  <a:pt x="101601" y="558800"/>
                </a:lnTo>
                <a:cubicBezTo>
                  <a:pt x="45488" y="558800"/>
                  <a:pt x="0" y="513312"/>
                  <a:pt x="0" y="457199"/>
                </a:cubicBezTo>
                <a:lnTo>
                  <a:pt x="0" y="101601"/>
                </a:lnTo>
                <a:cubicBezTo>
                  <a:pt x="0" y="45526"/>
                  <a:pt x="45526" y="0"/>
                  <a:pt x="101601" y="0"/>
                </a:cubicBezTo>
                <a:close/>
              </a:path>
            </a:pathLst>
          </a:custGeom>
          <a:solidFill>
            <a:srgbClr val="60A39A">
              <a:alpha val="25098"/>
            </a:srgbClr>
          </a:solidFill>
          <a:ln/>
        </p:spPr>
        <p:txBody>
          <a:bodyPr/>
          <a:lstStyle/>
          <a:p>
            <a:endParaRPr lang="zh-CN" altLang="en-US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30" name="Shape 27"/>
          <p:cNvSpPr/>
          <p:nvPr/>
        </p:nvSpPr>
        <p:spPr>
          <a:xfrm>
            <a:off x="6067425" y="5130800"/>
            <a:ext cx="285750" cy="254000"/>
          </a:xfrm>
          <a:custGeom>
            <a:avLst/>
            <a:gdLst/>
            <a:ahLst/>
            <a:cxnLst/>
            <a:rect l="l" t="t" r="r" b="b"/>
            <a:pathLst>
              <a:path w="285750" h="254000">
                <a:moveTo>
                  <a:pt x="71438" y="238125"/>
                </a:moveTo>
                <a:cubicBezTo>
                  <a:pt x="31998" y="238125"/>
                  <a:pt x="0" y="206127"/>
                  <a:pt x="0" y="166688"/>
                </a:cubicBezTo>
                <a:cubicBezTo>
                  <a:pt x="0" y="135235"/>
                  <a:pt x="20340" y="108545"/>
                  <a:pt x="48568" y="98971"/>
                </a:cubicBezTo>
                <a:cubicBezTo>
                  <a:pt x="47923" y="95151"/>
                  <a:pt x="47625" y="91281"/>
                  <a:pt x="47625" y="87313"/>
                </a:cubicBezTo>
                <a:cubicBezTo>
                  <a:pt x="47625" y="47873"/>
                  <a:pt x="79623" y="15875"/>
                  <a:pt x="119063" y="15875"/>
                </a:cubicBezTo>
                <a:cubicBezTo>
                  <a:pt x="146546" y="15875"/>
                  <a:pt x="170408" y="31403"/>
                  <a:pt x="182364" y="54124"/>
                </a:cubicBezTo>
                <a:cubicBezTo>
                  <a:pt x="189409" y="50006"/>
                  <a:pt x="197644" y="47625"/>
                  <a:pt x="206375" y="47625"/>
                </a:cubicBezTo>
                <a:cubicBezTo>
                  <a:pt x="232668" y="47625"/>
                  <a:pt x="254000" y="68957"/>
                  <a:pt x="254000" y="95250"/>
                </a:cubicBezTo>
                <a:cubicBezTo>
                  <a:pt x="254000" y="103039"/>
                  <a:pt x="252115" y="110430"/>
                  <a:pt x="248791" y="116929"/>
                </a:cubicBezTo>
                <a:cubicBezTo>
                  <a:pt x="270619" y="127000"/>
                  <a:pt x="285750" y="149027"/>
                  <a:pt x="285750" y="174625"/>
                </a:cubicBezTo>
                <a:cubicBezTo>
                  <a:pt x="285750" y="209699"/>
                  <a:pt x="257324" y="238125"/>
                  <a:pt x="222250" y="238125"/>
                </a:cubicBezTo>
                <a:lnTo>
                  <a:pt x="71438" y="238125"/>
                </a:lnTo>
                <a:close/>
                <a:moveTo>
                  <a:pt x="151309" y="94754"/>
                </a:moveTo>
                <a:cubicBezTo>
                  <a:pt x="146645" y="90091"/>
                  <a:pt x="139105" y="90091"/>
                  <a:pt x="134491" y="94754"/>
                </a:cubicBezTo>
                <a:lnTo>
                  <a:pt x="98772" y="130473"/>
                </a:lnTo>
                <a:cubicBezTo>
                  <a:pt x="94109" y="135136"/>
                  <a:pt x="94109" y="142677"/>
                  <a:pt x="98772" y="147290"/>
                </a:cubicBezTo>
                <a:cubicBezTo>
                  <a:pt x="103436" y="151904"/>
                  <a:pt x="110976" y="151954"/>
                  <a:pt x="115590" y="147290"/>
                </a:cubicBezTo>
                <a:lnTo>
                  <a:pt x="130969" y="131911"/>
                </a:lnTo>
                <a:lnTo>
                  <a:pt x="130969" y="182563"/>
                </a:lnTo>
                <a:cubicBezTo>
                  <a:pt x="130969" y="189161"/>
                  <a:pt x="136277" y="194469"/>
                  <a:pt x="142875" y="194469"/>
                </a:cubicBezTo>
                <a:cubicBezTo>
                  <a:pt x="149473" y="194469"/>
                  <a:pt x="154781" y="189161"/>
                  <a:pt x="154781" y="182563"/>
                </a:cubicBezTo>
                <a:lnTo>
                  <a:pt x="154781" y="131911"/>
                </a:lnTo>
                <a:lnTo>
                  <a:pt x="170160" y="147290"/>
                </a:lnTo>
                <a:cubicBezTo>
                  <a:pt x="174823" y="151954"/>
                  <a:pt x="182364" y="151954"/>
                  <a:pt x="186978" y="147290"/>
                </a:cubicBezTo>
                <a:cubicBezTo>
                  <a:pt x="191591" y="142627"/>
                  <a:pt x="191641" y="135086"/>
                  <a:pt x="186978" y="130473"/>
                </a:cubicBezTo>
                <a:lnTo>
                  <a:pt x="151259" y="94754"/>
                </a:lnTo>
                <a:close/>
              </a:path>
            </a:pathLst>
          </a:custGeom>
          <a:solidFill>
            <a:srgbClr val="60A39A"/>
          </a:solidFill>
          <a:ln/>
        </p:spPr>
        <p:txBody>
          <a:bodyPr/>
          <a:lstStyle/>
          <a:p>
            <a:endParaRPr lang="zh-CN" altLang="en-US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31" name="Text 28"/>
          <p:cNvSpPr/>
          <p:nvPr/>
        </p:nvSpPr>
        <p:spPr>
          <a:xfrm>
            <a:off x="6565900" y="5130800"/>
            <a:ext cx="127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3C3542"/>
                </a:solidFill>
                <a:latin typeface="KaiTi" panose="02010609060101010101" pitchFamily="49" charset="-122"/>
                <a:ea typeface="KaiTi" panose="02010609060101010101" pitchFamily="49" charset="-122"/>
                <a:cs typeface="Noto Sans SC" pitchFamily="34" charset="-120"/>
              </a:rPr>
              <a:t>共享存储(GFS)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4445" y="0"/>
            <a:ext cx="12187555" cy="6875780"/>
          </a:xfrm>
          <a:prstGeom prst="rect">
            <a:avLst/>
          </a:prstGeom>
          <a:gradFill flip="none" rotWithShape="1">
            <a:gsLst>
              <a:gs pos="0">
                <a:srgbClr val="D7B1D4"/>
              </a:gs>
              <a:gs pos="34000">
                <a:srgbClr val="BC7DB7"/>
              </a:gs>
              <a:gs pos="100000">
                <a:srgbClr val="30225F"/>
              </a:gs>
            </a:gsLst>
            <a:lin ang="13500000" scaled="1"/>
          </a:gradFill>
          <a:ln/>
        </p:spPr>
        <p:txBody>
          <a:bodyPr/>
          <a:lstStyle/>
          <a:p>
            <a:endParaRPr lang="zh-CN" altLang="en-US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5" name="Text 3"/>
          <p:cNvSpPr/>
          <p:nvPr/>
        </p:nvSpPr>
        <p:spPr>
          <a:xfrm>
            <a:off x="4445" y="0"/>
            <a:ext cx="12187555" cy="68757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1727190" y="6306820"/>
            <a:ext cx="10080000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852805" y="6177280"/>
            <a:ext cx="259080" cy="25908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852805" y="6177280"/>
            <a:ext cx="259080" cy="2590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979805" y="6177280"/>
            <a:ext cx="259080" cy="259080"/>
          </a:xfrm>
          <a:prstGeom prst="ellipse">
            <a:avLst/>
          </a:prstGeom>
          <a:solidFill>
            <a:srgbClr val="000000">
              <a:alpha val="0"/>
            </a:srgbClr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979805" y="6177280"/>
            <a:ext cx="259080" cy="2590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1863725" y="2687320"/>
            <a:ext cx="8464550" cy="230695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zh-CN" altLang="en-US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1863725" y="2687320"/>
            <a:ext cx="8464550" cy="230695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t"/>
          <a:lstStyle/>
          <a:p>
            <a:pPr algn="ctr">
              <a:lnSpc>
                <a:spcPct val="100000"/>
              </a:lnSpc>
            </a:pPr>
            <a:r>
              <a:rPr lang="en-US" sz="7200" b="1" dirty="0">
                <a:solidFill>
                  <a:srgbClr val="FFFFFF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数据模型：四维映射的工程智慧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2515235" y="1350010"/>
            <a:ext cx="7161530" cy="1200329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7200" dirty="0">
                <a:solidFill>
                  <a:srgbClr val="FFFFFF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02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2"/>
          <p:cNvSpPr/>
          <p:nvPr/>
        </p:nvSpPr>
        <p:spPr>
          <a:xfrm>
            <a:off x="254000" y="1422400"/>
            <a:ext cx="11912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b="1" dirty="0">
                <a:solidFill>
                  <a:srgbClr val="8F5C9A"/>
                </a:solidFill>
                <a:latin typeface="KaiTi" panose="02010609060101010101" pitchFamily="49" charset="-122"/>
                <a:ea typeface="KaiTi" panose="02010609060101010101" pitchFamily="49" charset="-122"/>
                <a:cs typeface="Noto Sans SC" pitchFamily="34" charset="-120"/>
              </a:rPr>
              <a:t>数据模型：四维映射的工程智慧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6" name="Text 3"/>
          <p:cNvSpPr/>
          <p:nvPr/>
        </p:nvSpPr>
        <p:spPr>
          <a:xfrm>
            <a:off x="254000" y="2032000"/>
            <a:ext cx="117983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dirty="0">
                <a:solidFill>
                  <a:srgbClr val="3C3542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(row, column:family:qualifier, timestamp) → value</a:t>
            </a:r>
            <a:endParaRPr lang="en-US" sz="1600" dirty="0">
              <a:latin typeface="Calibri" panose="020F0502020204030204" pitchFamily="34" charset="0"/>
              <a:ea typeface="KaiTi" panose="02010609060101010101" pitchFamily="49" charset="-122"/>
              <a:cs typeface="Calibri" panose="020F0502020204030204" pitchFamily="34" charset="0"/>
            </a:endParaRPr>
          </a:p>
        </p:txBody>
      </p:sp>
      <p:sp>
        <p:nvSpPr>
          <p:cNvPr id="7" name="Shape 4"/>
          <p:cNvSpPr/>
          <p:nvPr/>
        </p:nvSpPr>
        <p:spPr>
          <a:xfrm>
            <a:off x="254000" y="2692400"/>
            <a:ext cx="5740400" cy="1270000"/>
          </a:xfrm>
          <a:custGeom>
            <a:avLst/>
            <a:gdLst/>
            <a:ahLst/>
            <a:cxnLst/>
            <a:rect l="l" t="t" r="r" b="b"/>
            <a:pathLst>
              <a:path w="5740400" h="1270000">
                <a:moveTo>
                  <a:pt x="101600" y="0"/>
                </a:moveTo>
                <a:lnTo>
                  <a:pt x="5638800" y="0"/>
                </a:lnTo>
                <a:cubicBezTo>
                  <a:pt x="5694875" y="0"/>
                  <a:pt x="5740400" y="45525"/>
                  <a:pt x="5740400" y="101600"/>
                </a:cubicBezTo>
                <a:lnTo>
                  <a:pt x="5740400" y="1168400"/>
                </a:lnTo>
                <a:cubicBezTo>
                  <a:pt x="5740400" y="1224475"/>
                  <a:pt x="5694875" y="1270000"/>
                  <a:pt x="5638800" y="1270000"/>
                </a:cubicBezTo>
                <a:lnTo>
                  <a:pt x="101600" y="1270000"/>
                </a:lnTo>
                <a:cubicBezTo>
                  <a:pt x="45525" y="1270000"/>
                  <a:pt x="0" y="1224475"/>
                  <a:pt x="0" y="11684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D3B9D7">
              <a:alpha val="25098"/>
            </a:srgbClr>
          </a:solidFill>
          <a:ln/>
        </p:spPr>
        <p:txBody>
          <a:bodyPr/>
          <a:lstStyle/>
          <a:p>
            <a:endParaRPr lang="zh-CN" altLang="en-US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8" name="Shape 5"/>
          <p:cNvSpPr/>
          <p:nvPr/>
        </p:nvSpPr>
        <p:spPr>
          <a:xfrm>
            <a:off x="495300" y="29464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200025" y="209550"/>
                </a:moveTo>
                <a:cubicBezTo>
                  <a:pt x="257889" y="209550"/>
                  <a:pt x="304800" y="162639"/>
                  <a:pt x="304800" y="104775"/>
                </a:cubicBezTo>
                <a:cubicBezTo>
                  <a:pt x="304800" y="46911"/>
                  <a:pt x="257889" y="0"/>
                  <a:pt x="200025" y="0"/>
                </a:cubicBezTo>
                <a:cubicBezTo>
                  <a:pt x="142161" y="0"/>
                  <a:pt x="95250" y="46911"/>
                  <a:pt x="95250" y="104775"/>
                </a:cubicBezTo>
                <a:cubicBezTo>
                  <a:pt x="95250" y="115907"/>
                  <a:pt x="96976" y="126683"/>
                  <a:pt x="100191" y="136743"/>
                </a:cubicBezTo>
                <a:lnTo>
                  <a:pt x="4167" y="232767"/>
                </a:lnTo>
                <a:cubicBezTo>
                  <a:pt x="1488" y="235446"/>
                  <a:pt x="0" y="239078"/>
                  <a:pt x="0" y="242888"/>
                </a:cubicBezTo>
                <a:lnTo>
                  <a:pt x="0" y="290513"/>
                </a:lnTo>
                <a:cubicBezTo>
                  <a:pt x="0" y="298430"/>
                  <a:pt x="6370" y="304800"/>
                  <a:pt x="14288" y="304800"/>
                </a:cubicBezTo>
                <a:lnTo>
                  <a:pt x="61912" y="304800"/>
                </a:lnTo>
                <a:cubicBezTo>
                  <a:pt x="69830" y="304800"/>
                  <a:pt x="76200" y="298430"/>
                  <a:pt x="76200" y="290513"/>
                </a:cubicBezTo>
                <a:lnTo>
                  <a:pt x="76200" y="266700"/>
                </a:lnTo>
                <a:lnTo>
                  <a:pt x="100013" y="266700"/>
                </a:lnTo>
                <a:cubicBezTo>
                  <a:pt x="107930" y="266700"/>
                  <a:pt x="114300" y="260330"/>
                  <a:pt x="114300" y="252413"/>
                </a:cubicBezTo>
                <a:lnTo>
                  <a:pt x="114300" y="228600"/>
                </a:lnTo>
                <a:lnTo>
                  <a:pt x="138113" y="228600"/>
                </a:lnTo>
                <a:cubicBezTo>
                  <a:pt x="141923" y="228600"/>
                  <a:pt x="145554" y="227112"/>
                  <a:pt x="148233" y="224433"/>
                </a:cubicBezTo>
                <a:lnTo>
                  <a:pt x="168057" y="204609"/>
                </a:lnTo>
                <a:cubicBezTo>
                  <a:pt x="178117" y="207824"/>
                  <a:pt x="188893" y="209550"/>
                  <a:pt x="200025" y="209550"/>
                </a:cubicBezTo>
                <a:close/>
                <a:moveTo>
                  <a:pt x="223838" y="57150"/>
                </a:moveTo>
                <a:cubicBezTo>
                  <a:pt x="236980" y="57150"/>
                  <a:pt x="247650" y="67820"/>
                  <a:pt x="247650" y="80962"/>
                </a:cubicBezTo>
                <a:cubicBezTo>
                  <a:pt x="247650" y="94105"/>
                  <a:pt x="236980" y="104775"/>
                  <a:pt x="223838" y="104775"/>
                </a:cubicBezTo>
                <a:cubicBezTo>
                  <a:pt x="210695" y="104775"/>
                  <a:pt x="200025" y="94105"/>
                  <a:pt x="200025" y="80962"/>
                </a:cubicBezTo>
                <a:cubicBezTo>
                  <a:pt x="200025" y="67820"/>
                  <a:pt x="210695" y="57150"/>
                  <a:pt x="223838" y="57150"/>
                </a:cubicBezTo>
                <a:close/>
              </a:path>
            </a:pathLst>
          </a:custGeom>
          <a:solidFill>
            <a:srgbClr val="A95EAF"/>
          </a:solidFill>
          <a:ln/>
        </p:spPr>
        <p:txBody>
          <a:bodyPr/>
          <a:lstStyle/>
          <a:p>
            <a:endParaRPr lang="zh-CN" altLang="en-US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9" name="Text 6"/>
          <p:cNvSpPr/>
          <p:nvPr/>
        </p:nvSpPr>
        <p:spPr>
          <a:xfrm>
            <a:off x="1041400" y="2895600"/>
            <a:ext cx="48641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3C3542"/>
                </a:solidFill>
                <a:latin typeface="KaiTi" panose="02010609060101010101" pitchFamily="49" charset="-122"/>
                <a:ea typeface="KaiTi" panose="02010609060101010101" pitchFamily="49" charset="-122"/>
                <a:cs typeface="Noto Sans SC" pitchFamily="34" charset="-120"/>
              </a:rPr>
              <a:t>行键 (</a:t>
            </a:r>
            <a:r>
              <a:rPr lang="en-US" sz="1800" b="1" dirty="0">
                <a:solidFill>
                  <a:srgbClr val="3C3542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Row Key</a:t>
            </a:r>
            <a:r>
              <a:rPr lang="en-US" sz="1800" b="1" dirty="0">
                <a:solidFill>
                  <a:srgbClr val="3C3542"/>
                </a:solidFill>
                <a:latin typeface="KaiTi" panose="02010609060101010101" pitchFamily="49" charset="-122"/>
                <a:ea typeface="KaiTi" panose="02010609060101010101" pitchFamily="49" charset="-122"/>
                <a:cs typeface="Noto Sans SC" pitchFamily="34" charset="-120"/>
              </a:rPr>
              <a:t>)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10" name="Text 7"/>
          <p:cNvSpPr/>
          <p:nvPr/>
        </p:nvSpPr>
        <p:spPr>
          <a:xfrm>
            <a:off x="1041400" y="3251200"/>
            <a:ext cx="48387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3C3542"/>
                </a:solidFill>
                <a:latin typeface="KaiTi" panose="02010609060101010101" pitchFamily="49" charset="-122"/>
                <a:ea typeface="KaiTi" panose="02010609060101010101" pitchFamily="49" charset="-122"/>
                <a:cs typeface="Noto Sans SC" pitchFamily="34" charset="-120"/>
              </a:rPr>
              <a:t>支持</a:t>
            </a:r>
            <a:r>
              <a:rPr lang="en-US" sz="1400" dirty="0">
                <a:solidFill>
                  <a:srgbClr val="A95EAF"/>
                </a:solidFill>
                <a:highlight>
                  <a:srgbClr val="A95EAF">
                    <a:alpha val="20000"/>
                  </a:srgbClr>
                </a:highlight>
                <a:latin typeface="KaiTi" panose="02010609060101010101" pitchFamily="49" charset="-122"/>
                <a:ea typeface="KaiTi" panose="02010609060101010101" pitchFamily="49" charset="-122"/>
                <a:cs typeface="Noto Sans SC" pitchFamily="34" charset="-120"/>
              </a:rPr>
              <a:t> 字典序排序 </a:t>
            </a:r>
            <a:r>
              <a:rPr lang="en-US" sz="1400" dirty="0">
                <a:solidFill>
                  <a:srgbClr val="3C3542"/>
                </a:solidFill>
                <a:latin typeface="KaiTi" panose="02010609060101010101" pitchFamily="49" charset="-122"/>
                <a:ea typeface="KaiTi" panose="02010609060101010101" pitchFamily="49" charset="-122"/>
                <a:cs typeface="Noto Sans SC" pitchFamily="34" charset="-120"/>
              </a:rPr>
              <a:t>，优化范围查询，是数据分片和局部性的基础。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6197600" y="2692400"/>
            <a:ext cx="5740400" cy="1270000"/>
          </a:xfrm>
          <a:custGeom>
            <a:avLst/>
            <a:gdLst/>
            <a:ahLst/>
            <a:cxnLst/>
            <a:rect l="l" t="t" r="r" b="b"/>
            <a:pathLst>
              <a:path w="5740400" h="1270000">
                <a:moveTo>
                  <a:pt x="101600" y="0"/>
                </a:moveTo>
                <a:lnTo>
                  <a:pt x="5638800" y="0"/>
                </a:lnTo>
                <a:cubicBezTo>
                  <a:pt x="5694875" y="0"/>
                  <a:pt x="5740400" y="45525"/>
                  <a:pt x="5740400" y="101600"/>
                </a:cubicBezTo>
                <a:lnTo>
                  <a:pt x="5740400" y="1168400"/>
                </a:lnTo>
                <a:cubicBezTo>
                  <a:pt x="5740400" y="1224475"/>
                  <a:pt x="5694875" y="1270000"/>
                  <a:pt x="5638800" y="1270000"/>
                </a:cubicBezTo>
                <a:lnTo>
                  <a:pt x="101600" y="1270000"/>
                </a:lnTo>
                <a:cubicBezTo>
                  <a:pt x="45525" y="1270000"/>
                  <a:pt x="0" y="1224475"/>
                  <a:pt x="0" y="11684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D3B9D7">
              <a:alpha val="25098"/>
            </a:srgbClr>
          </a:solidFill>
          <a:ln/>
        </p:spPr>
        <p:txBody>
          <a:bodyPr/>
          <a:lstStyle/>
          <a:p>
            <a:endParaRPr lang="zh-CN" altLang="en-US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6457950" y="2946400"/>
            <a:ext cx="266700" cy="304800"/>
          </a:xfrm>
          <a:custGeom>
            <a:avLst/>
            <a:gdLst/>
            <a:ahLst/>
            <a:cxnLst/>
            <a:rect l="l" t="t" r="r" b="b"/>
            <a:pathLst>
              <a:path w="266700" h="304800">
                <a:moveTo>
                  <a:pt x="0" y="57150"/>
                </a:moveTo>
                <a:cubicBezTo>
                  <a:pt x="0" y="36135"/>
                  <a:pt x="17085" y="19050"/>
                  <a:pt x="38100" y="19050"/>
                </a:cubicBezTo>
                <a:lnTo>
                  <a:pt x="228600" y="19050"/>
                </a:lnTo>
                <a:cubicBezTo>
                  <a:pt x="249615" y="19050"/>
                  <a:pt x="266700" y="36135"/>
                  <a:pt x="266700" y="57150"/>
                </a:cubicBezTo>
                <a:lnTo>
                  <a:pt x="266700" y="247650"/>
                </a:lnTo>
                <a:cubicBezTo>
                  <a:pt x="266700" y="268665"/>
                  <a:pt x="249615" y="285750"/>
                  <a:pt x="228600" y="285750"/>
                </a:cubicBezTo>
                <a:lnTo>
                  <a:pt x="38100" y="285750"/>
                </a:lnTo>
                <a:cubicBezTo>
                  <a:pt x="17085" y="285750"/>
                  <a:pt x="0" y="268665"/>
                  <a:pt x="0" y="247650"/>
                </a:cubicBezTo>
                <a:lnTo>
                  <a:pt x="0" y="57150"/>
                </a:lnTo>
                <a:close/>
                <a:moveTo>
                  <a:pt x="38100" y="95250"/>
                </a:moveTo>
                <a:lnTo>
                  <a:pt x="38100" y="247650"/>
                </a:lnTo>
                <a:lnTo>
                  <a:pt x="114300" y="247650"/>
                </a:lnTo>
                <a:lnTo>
                  <a:pt x="114300" y="95250"/>
                </a:lnTo>
                <a:lnTo>
                  <a:pt x="38100" y="95250"/>
                </a:lnTo>
                <a:close/>
                <a:moveTo>
                  <a:pt x="228600" y="95250"/>
                </a:moveTo>
                <a:lnTo>
                  <a:pt x="152400" y="95250"/>
                </a:lnTo>
                <a:lnTo>
                  <a:pt x="152400" y="247650"/>
                </a:lnTo>
                <a:lnTo>
                  <a:pt x="228600" y="247650"/>
                </a:lnTo>
                <a:lnTo>
                  <a:pt x="228600" y="95250"/>
                </a:lnTo>
                <a:close/>
              </a:path>
            </a:pathLst>
          </a:custGeom>
          <a:solidFill>
            <a:srgbClr val="A95EAF"/>
          </a:solidFill>
          <a:ln/>
        </p:spPr>
        <p:txBody>
          <a:bodyPr/>
          <a:lstStyle/>
          <a:p>
            <a:endParaRPr lang="zh-CN" altLang="en-US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6985000" y="2895600"/>
            <a:ext cx="40259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3C3542"/>
                </a:solidFill>
                <a:latin typeface="KaiTi" panose="02010609060101010101" pitchFamily="49" charset="-122"/>
                <a:ea typeface="KaiTi" panose="02010609060101010101" pitchFamily="49" charset="-122"/>
                <a:cs typeface="Noto Sans SC" pitchFamily="34" charset="-120"/>
              </a:rPr>
              <a:t>列族 (</a:t>
            </a:r>
            <a:r>
              <a:rPr lang="en-US" sz="1800" b="1" dirty="0">
                <a:solidFill>
                  <a:srgbClr val="3C3542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Column Family</a:t>
            </a:r>
            <a:r>
              <a:rPr lang="en-US" sz="1800" b="1" dirty="0">
                <a:solidFill>
                  <a:srgbClr val="3C3542"/>
                </a:solidFill>
                <a:latin typeface="KaiTi" panose="02010609060101010101" pitchFamily="49" charset="-122"/>
                <a:ea typeface="KaiTi" panose="02010609060101010101" pitchFamily="49" charset="-122"/>
                <a:cs typeface="Noto Sans SC" pitchFamily="34" charset="-120"/>
              </a:rPr>
              <a:t>)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6984999" y="3251200"/>
            <a:ext cx="4313621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3C3542"/>
                </a:solidFill>
                <a:latin typeface="KaiTi" panose="02010609060101010101" pitchFamily="49" charset="-122"/>
                <a:ea typeface="KaiTi" panose="02010609060101010101" pitchFamily="49" charset="-122"/>
                <a:cs typeface="Noto Sans SC" pitchFamily="34" charset="-120"/>
              </a:rPr>
              <a:t>相关列的</a:t>
            </a:r>
            <a:r>
              <a:rPr lang="en-US" sz="1400" dirty="0">
                <a:solidFill>
                  <a:srgbClr val="A95EAF"/>
                </a:solidFill>
                <a:highlight>
                  <a:srgbClr val="A95EAF">
                    <a:alpha val="20000"/>
                  </a:srgbClr>
                </a:highlight>
                <a:latin typeface="KaiTi" panose="02010609060101010101" pitchFamily="49" charset="-122"/>
                <a:ea typeface="KaiTi" panose="02010609060101010101" pitchFamily="49" charset="-122"/>
                <a:cs typeface="Noto Sans SC" pitchFamily="34" charset="-120"/>
              </a:rPr>
              <a:t> 存储与访问单元 </a:t>
            </a:r>
            <a:r>
              <a:rPr lang="en-US" sz="1400" dirty="0">
                <a:solidFill>
                  <a:srgbClr val="3C3542"/>
                </a:solidFill>
                <a:latin typeface="KaiTi" panose="02010609060101010101" pitchFamily="49" charset="-122"/>
                <a:ea typeface="KaiTi" panose="02010609060101010101" pitchFamily="49" charset="-122"/>
                <a:cs typeface="Noto Sans SC" pitchFamily="34" charset="-120"/>
              </a:rPr>
              <a:t>，共享压缩与缓存策略。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15" name="Shape 12"/>
          <p:cNvSpPr/>
          <p:nvPr/>
        </p:nvSpPr>
        <p:spPr>
          <a:xfrm>
            <a:off x="254000" y="4165600"/>
            <a:ext cx="5740400" cy="1270000"/>
          </a:xfrm>
          <a:custGeom>
            <a:avLst/>
            <a:gdLst/>
            <a:ahLst/>
            <a:cxnLst/>
            <a:rect l="l" t="t" r="r" b="b"/>
            <a:pathLst>
              <a:path w="5740400" h="1270000">
                <a:moveTo>
                  <a:pt x="101600" y="0"/>
                </a:moveTo>
                <a:lnTo>
                  <a:pt x="5638800" y="0"/>
                </a:lnTo>
                <a:cubicBezTo>
                  <a:pt x="5694875" y="0"/>
                  <a:pt x="5740400" y="45525"/>
                  <a:pt x="5740400" y="101600"/>
                </a:cubicBezTo>
                <a:lnTo>
                  <a:pt x="5740400" y="1168400"/>
                </a:lnTo>
                <a:cubicBezTo>
                  <a:pt x="5740400" y="1224475"/>
                  <a:pt x="5694875" y="1270000"/>
                  <a:pt x="5638800" y="1270000"/>
                </a:cubicBezTo>
                <a:lnTo>
                  <a:pt x="101600" y="1270000"/>
                </a:lnTo>
                <a:cubicBezTo>
                  <a:pt x="45525" y="1270000"/>
                  <a:pt x="0" y="1224475"/>
                  <a:pt x="0" y="11684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D3B9D7">
              <a:alpha val="25098"/>
            </a:srgbClr>
          </a:solidFill>
          <a:ln/>
        </p:spPr>
        <p:txBody>
          <a:bodyPr/>
          <a:lstStyle/>
          <a:p>
            <a:endParaRPr lang="zh-CN" altLang="en-US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16" name="Shape 13"/>
          <p:cNvSpPr/>
          <p:nvPr/>
        </p:nvSpPr>
        <p:spPr>
          <a:xfrm>
            <a:off x="495300" y="44196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9348" y="57150"/>
                </a:moveTo>
                <a:lnTo>
                  <a:pt x="19348" y="146149"/>
                </a:lnTo>
                <a:cubicBezTo>
                  <a:pt x="19348" y="156270"/>
                  <a:pt x="23336" y="165973"/>
                  <a:pt x="30480" y="173117"/>
                </a:cubicBezTo>
                <a:lnTo>
                  <a:pt x="144780" y="287417"/>
                </a:lnTo>
                <a:cubicBezTo>
                  <a:pt x="159663" y="302300"/>
                  <a:pt x="183773" y="302300"/>
                  <a:pt x="198656" y="287417"/>
                </a:cubicBezTo>
                <a:lnTo>
                  <a:pt x="287655" y="198418"/>
                </a:lnTo>
                <a:cubicBezTo>
                  <a:pt x="302538" y="183535"/>
                  <a:pt x="302538" y="159425"/>
                  <a:pt x="287655" y="144542"/>
                </a:cubicBezTo>
                <a:lnTo>
                  <a:pt x="173355" y="30242"/>
                </a:lnTo>
                <a:cubicBezTo>
                  <a:pt x="166211" y="23039"/>
                  <a:pt x="156567" y="19050"/>
                  <a:pt x="146447" y="19050"/>
                </a:cubicBezTo>
                <a:lnTo>
                  <a:pt x="57448" y="19050"/>
                </a:lnTo>
                <a:cubicBezTo>
                  <a:pt x="36433" y="19050"/>
                  <a:pt x="19348" y="36135"/>
                  <a:pt x="19348" y="57150"/>
                </a:cubicBezTo>
                <a:close/>
                <a:moveTo>
                  <a:pt x="86023" y="66675"/>
                </a:moveTo>
                <a:cubicBezTo>
                  <a:pt x="96537" y="66675"/>
                  <a:pt x="105073" y="75211"/>
                  <a:pt x="105073" y="85725"/>
                </a:cubicBezTo>
                <a:cubicBezTo>
                  <a:pt x="105073" y="96239"/>
                  <a:pt x="96537" y="104775"/>
                  <a:pt x="86023" y="104775"/>
                </a:cubicBezTo>
                <a:cubicBezTo>
                  <a:pt x="75509" y="104775"/>
                  <a:pt x="66973" y="96239"/>
                  <a:pt x="66973" y="85725"/>
                </a:cubicBezTo>
                <a:cubicBezTo>
                  <a:pt x="66973" y="75211"/>
                  <a:pt x="75509" y="66675"/>
                  <a:pt x="86023" y="66675"/>
                </a:cubicBezTo>
                <a:close/>
              </a:path>
            </a:pathLst>
          </a:custGeom>
          <a:solidFill>
            <a:srgbClr val="A95EAF"/>
          </a:solidFill>
          <a:ln/>
        </p:spPr>
        <p:txBody>
          <a:bodyPr/>
          <a:lstStyle/>
          <a:p>
            <a:endParaRPr lang="zh-CN" altLang="en-US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1041400" y="4368800"/>
            <a:ext cx="43307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3C3542"/>
                </a:solidFill>
                <a:latin typeface="KaiTi" panose="02010609060101010101" pitchFamily="49" charset="-122"/>
                <a:ea typeface="KaiTi" panose="02010609060101010101" pitchFamily="49" charset="-122"/>
                <a:cs typeface="Noto Sans SC" pitchFamily="34" charset="-120"/>
              </a:rPr>
              <a:t>列限定符 (</a:t>
            </a:r>
            <a:r>
              <a:rPr lang="en-US" sz="1800" b="1" dirty="0">
                <a:solidFill>
                  <a:srgbClr val="3C3542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Qualifier</a:t>
            </a:r>
            <a:r>
              <a:rPr lang="en-US" sz="1800" b="1" dirty="0">
                <a:solidFill>
                  <a:srgbClr val="3C3542"/>
                </a:solidFill>
                <a:latin typeface="KaiTi" panose="02010609060101010101" pitchFamily="49" charset="-122"/>
                <a:ea typeface="KaiTi" panose="02010609060101010101" pitchFamily="49" charset="-122"/>
                <a:cs typeface="Noto Sans SC" pitchFamily="34" charset="-120"/>
              </a:rPr>
              <a:t>)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1041400" y="4724400"/>
            <a:ext cx="43053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3C3542"/>
                </a:solidFill>
                <a:latin typeface="KaiTi" panose="02010609060101010101" pitchFamily="49" charset="-122"/>
                <a:ea typeface="KaiTi" panose="02010609060101010101" pitchFamily="49" charset="-122"/>
                <a:cs typeface="Noto Sans SC" pitchFamily="34" charset="-120"/>
              </a:rPr>
              <a:t>支持</a:t>
            </a:r>
            <a:r>
              <a:rPr lang="en-US" sz="1400" dirty="0">
                <a:solidFill>
                  <a:srgbClr val="A95EAF"/>
                </a:solidFill>
                <a:highlight>
                  <a:srgbClr val="A95EAF">
                    <a:alpha val="20000"/>
                  </a:srgbClr>
                </a:highlight>
                <a:latin typeface="KaiTi" panose="02010609060101010101" pitchFamily="49" charset="-122"/>
                <a:ea typeface="KaiTi" panose="02010609060101010101" pitchFamily="49" charset="-122"/>
                <a:cs typeface="Noto Sans SC" pitchFamily="34" charset="-120"/>
              </a:rPr>
              <a:t> 动态创建 </a:t>
            </a:r>
            <a:r>
              <a:rPr lang="en-US" sz="1400" dirty="0">
                <a:solidFill>
                  <a:srgbClr val="3C3542"/>
                </a:solidFill>
                <a:latin typeface="KaiTi" panose="02010609060101010101" pitchFamily="49" charset="-122"/>
                <a:ea typeface="KaiTi" panose="02010609060101010101" pitchFamily="49" charset="-122"/>
                <a:cs typeface="Noto Sans SC" pitchFamily="34" charset="-120"/>
              </a:rPr>
              <a:t>，适配稀疏数据，无需预定义</a:t>
            </a:r>
            <a:r>
              <a:rPr lang="en-US" sz="1400" dirty="0">
                <a:solidFill>
                  <a:srgbClr val="3C3542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Schema</a:t>
            </a:r>
            <a:r>
              <a:rPr lang="en-US" sz="1400" dirty="0">
                <a:solidFill>
                  <a:srgbClr val="3C3542"/>
                </a:solidFill>
                <a:latin typeface="KaiTi" panose="02010609060101010101" pitchFamily="49" charset="-122"/>
                <a:ea typeface="KaiTi" panose="02010609060101010101" pitchFamily="49" charset="-122"/>
                <a:cs typeface="Noto Sans SC" pitchFamily="34" charset="-120"/>
              </a:rPr>
              <a:t>。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19" name="Shape 16"/>
          <p:cNvSpPr/>
          <p:nvPr/>
        </p:nvSpPr>
        <p:spPr>
          <a:xfrm>
            <a:off x="6197600" y="4165600"/>
            <a:ext cx="5740400" cy="1270000"/>
          </a:xfrm>
          <a:custGeom>
            <a:avLst/>
            <a:gdLst/>
            <a:ahLst/>
            <a:cxnLst/>
            <a:rect l="l" t="t" r="r" b="b"/>
            <a:pathLst>
              <a:path w="5740400" h="1270000">
                <a:moveTo>
                  <a:pt x="101600" y="0"/>
                </a:moveTo>
                <a:lnTo>
                  <a:pt x="5638800" y="0"/>
                </a:lnTo>
                <a:cubicBezTo>
                  <a:pt x="5694875" y="0"/>
                  <a:pt x="5740400" y="45525"/>
                  <a:pt x="5740400" y="101600"/>
                </a:cubicBezTo>
                <a:lnTo>
                  <a:pt x="5740400" y="1168400"/>
                </a:lnTo>
                <a:cubicBezTo>
                  <a:pt x="5740400" y="1224475"/>
                  <a:pt x="5694875" y="1270000"/>
                  <a:pt x="5638800" y="1270000"/>
                </a:cubicBezTo>
                <a:lnTo>
                  <a:pt x="101600" y="1270000"/>
                </a:lnTo>
                <a:cubicBezTo>
                  <a:pt x="45525" y="1270000"/>
                  <a:pt x="0" y="1224475"/>
                  <a:pt x="0" y="11684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D3B9D7">
              <a:alpha val="25098"/>
            </a:srgbClr>
          </a:solidFill>
          <a:ln/>
        </p:spPr>
        <p:txBody>
          <a:bodyPr/>
          <a:lstStyle/>
          <a:p>
            <a:endParaRPr lang="zh-CN" altLang="en-US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20" name="Shape 17"/>
          <p:cNvSpPr/>
          <p:nvPr/>
        </p:nvSpPr>
        <p:spPr>
          <a:xfrm>
            <a:off x="6438900" y="44196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cubicBezTo>
                  <a:pt x="236512" y="0"/>
                  <a:pt x="304800" y="68288"/>
                  <a:pt x="304800" y="152400"/>
                </a:cubicBezTo>
                <a:cubicBezTo>
                  <a:pt x="304800" y="236512"/>
                  <a:pt x="236512" y="304800"/>
                  <a:pt x="152400" y="304800"/>
                </a:cubicBezTo>
                <a:cubicBezTo>
                  <a:pt x="68288" y="304800"/>
                  <a:pt x="0" y="236512"/>
                  <a:pt x="0" y="152400"/>
                </a:cubicBezTo>
                <a:cubicBezTo>
                  <a:pt x="0" y="68288"/>
                  <a:pt x="68288" y="0"/>
                  <a:pt x="152400" y="0"/>
                </a:cubicBezTo>
                <a:close/>
                <a:moveTo>
                  <a:pt x="138113" y="71438"/>
                </a:moveTo>
                <a:lnTo>
                  <a:pt x="138113" y="152400"/>
                </a:lnTo>
                <a:cubicBezTo>
                  <a:pt x="138113" y="157163"/>
                  <a:pt x="140494" y="161627"/>
                  <a:pt x="144482" y="164306"/>
                </a:cubicBezTo>
                <a:lnTo>
                  <a:pt x="201632" y="202406"/>
                </a:lnTo>
                <a:cubicBezTo>
                  <a:pt x="208181" y="206812"/>
                  <a:pt x="217051" y="205026"/>
                  <a:pt x="221456" y="198418"/>
                </a:cubicBezTo>
                <a:cubicBezTo>
                  <a:pt x="225862" y="191810"/>
                  <a:pt x="224076" y="182999"/>
                  <a:pt x="217468" y="178594"/>
                </a:cubicBezTo>
                <a:lnTo>
                  <a:pt x="166688" y="144780"/>
                </a:lnTo>
                <a:lnTo>
                  <a:pt x="166688" y="71438"/>
                </a:lnTo>
                <a:cubicBezTo>
                  <a:pt x="166688" y="63520"/>
                  <a:pt x="160318" y="57150"/>
                  <a:pt x="152400" y="57150"/>
                </a:cubicBezTo>
                <a:cubicBezTo>
                  <a:pt x="144482" y="57150"/>
                  <a:pt x="138113" y="63520"/>
                  <a:pt x="138113" y="71438"/>
                </a:cubicBezTo>
                <a:close/>
              </a:path>
            </a:pathLst>
          </a:custGeom>
          <a:solidFill>
            <a:srgbClr val="A95EAF"/>
          </a:solidFill>
          <a:ln/>
        </p:spPr>
        <p:txBody>
          <a:bodyPr/>
          <a:lstStyle/>
          <a:p>
            <a:endParaRPr lang="zh-CN" altLang="en-US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6985000" y="4368800"/>
            <a:ext cx="33147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3C3542"/>
                </a:solidFill>
                <a:latin typeface="KaiTi" panose="02010609060101010101" pitchFamily="49" charset="-122"/>
                <a:ea typeface="KaiTi" panose="02010609060101010101" pitchFamily="49" charset="-122"/>
                <a:cs typeface="Noto Sans SC" pitchFamily="34" charset="-120"/>
              </a:rPr>
              <a:t>时间戳 (</a:t>
            </a:r>
            <a:r>
              <a:rPr lang="en-US" sz="1800" b="1" dirty="0">
                <a:solidFill>
                  <a:srgbClr val="3C3542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Timestamp</a:t>
            </a:r>
            <a:r>
              <a:rPr lang="en-US" sz="1800" b="1" dirty="0">
                <a:solidFill>
                  <a:srgbClr val="3C3542"/>
                </a:solidFill>
                <a:latin typeface="KaiTi" panose="02010609060101010101" pitchFamily="49" charset="-122"/>
                <a:ea typeface="KaiTi" panose="02010609060101010101" pitchFamily="49" charset="-122"/>
                <a:cs typeface="Noto Sans SC" pitchFamily="34" charset="-120"/>
              </a:rPr>
              <a:t>)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22" name="Text 19"/>
          <p:cNvSpPr/>
          <p:nvPr/>
        </p:nvSpPr>
        <p:spPr>
          <a:xfrm>
            <a:off x="6984999" y="4724400"/>
            <a:ext cx="352534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3C3542"/>
                </a:solidFill>
                <a:latin typeface="KaiTi" panose="02010609060101010101" pitchFamily="49" charset="-122"/>
                <a:ea typeface="KaiTi" panose="02010609060101010101" pitchFamily="49" charset="-122"/>
                <a:cs typeface="Noto Sans SC" pitchFamily="34" charset="-120"/>
              </a:rPr>
              <a:t>实现</a:t>
            </a:r>
            <a:r>
              <a:rPr lang="en-US" sz="1400" dirty="0">
                <a:solidFill>
                  <a:srgbClr val="A95EAF"/>
                </a:solidFill>
                <a:highlight>
                  <a:srgbClr val="A95EAF">
                    <a:alpha val="20000"/>
                  </a:srgbClr>
                </a:highlight>
                <a:latin typeface="KaiTi" panose="02010609060101010101" pitchFamily="49" charset="-122"/>
                <a:ea typeface="KaiTi" panose="02010609060101010101" pitchFamily="49" charset="-122"/>
                <a:cs typeface="Noto Sans SC" pitchFamily="34" charset="-120"/>
              </a:rPr>
              <a:t> 多版本控制 </a:t>
            </a:r>
            <a:r>
              <a:rPr lang="en-US" sz="1400" dirty="0">
                <a:solidFill>
                  <a:srgbClr val="3C3542"/>
                </a:solidFill>
                <a:latin typeface="KaiTi" panose="02010609060101010101" pitchFamily="49" charset="-122"/>
                <a:ea typeface="KaiTi" panose="02010609060101010101" pitchFamily="49" charset="-122"/>
                <a:cs typeface="Noto Sans SC" pitchFamily="34" charset="-120"/>
              </a:rPr>
              <a:t>，支持数据追溯与审计。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2"/>
          <p:cNvSpPr/>
          <p:nvPr/>
        </p:nvSpPr>
        <p:spPr>
          <a:xfrm>
            <a:off x="139700" y="1371600"/>
            <a:ext cx="11912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3600" b="1" dirty="0">
                <a:solidFill>
                  <a:srgbClr val="8F5C9A"/>
                </a:solidFill>
                <a:latin typeface="KaiTi" panose="02010609060101010101" pitchFamily="49" charset="-122"/>
                <a:ea typeface="KaiTi" panose="02010609060101010101" pitchFamily="49" charset="-122"/>
                <a:cs typeface="Noto Sans SC" pitchFamily="34" charset="-120"/>
              </a:rPr>
              <a:t>行键字典序的局部性威力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6" name="Shape 3"/>
          <p:cNvSpPr/>
          <p:nvPr/>
        </p:nvSpPr>
        <p:spPr>
          <a:xfrm>
            <a:off x="254000" y="2311400"/>
            <a:ext cx="4356100" cy="2438400"/>
          </a:xfrm>
          <a:custGeom>
            <a:avLst/>
            <a:gdLst/>
            <a:ahLst/>
            <a:cxnLst/>
            <a:rect l="l" t="t" r="r" b="b"/>
            <a:pathLst>
              <a:path w="4356100" h="2438400">
                <a:moveTo>
                  <a:pt x="101608" y="0"/>
                </a:moveTo>
                <a:lnTo>
                  <a:pt x="4254492" y="0"/>
                </a:lnTo>
                <a:cubicBezTo>
                  <a:pt x="4310608" y="0"/>
                  <a:pt x="4356100" y="45492"/>
                  <a:pt x="4356100" y="101608"/>
                </a:cubicBezTo>
                <a:lnTo>
                  <a:pt x="4356100" y="2336792"/>
                </a:lnTo>
                <a:cubicBezTo>
                  <a:pt x="4356100" y="2392908"/>
                  <a:pt x="4310608" y="2438400"/>
                  <a:pt x="4254492" y="2438400"/>
                </a:cubicBezTo>
                <a:lnTo>
                  <a:pt x="101608" y="2438400"/>
                </a:lnTo>
                <a:cubicBezTo>
                  <a:pt x="45492" y="2438400"/>
                  <a:pt x="0" y="2392908"/>
                  <a:pt x="0" y="2336792"/>
                </a:cubicBezTo>
                <a:lnTo>
                  <a:pt x="0" y="101608"/>
                </a:lnTo>
                <a:cubicBezTo>
                  <a:pt x="0" y="45529"/>
                  <a:pt x="45529" y="0"/>
                  <a:pt x="101608" y="0"/>
                </a:cubicBezTo>
                <a:close/>
              </a:path>
            </a:pathLst>
          </a:custGeom>
          <a:solidFill>
            <a:srgbClr val="D3B9D7">
              <a:alpha val="25098"/>
            </a:srgbClr>
          </a:solidFill>
          <a:ln/>
        </p:spPr>
        <p:txBody>
          <a:bodyPr/>
          <a:lstStyle/>
          <a:p>
            <a:endParaRPr lang="zh-CN" altLang="en-US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7" name="Text 4"/>
          <p:cNvSpPr/>
          <p:nvPr/>
        </p:nvSpPr>
        <p:spPr>
          <a:xfrm>
            <a:off x="393700" y="2514600"/>
            <a:ext cx="40767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3C3542"/>
                </a:solidFill>
                <a:latin typeface="KaiTi" panose="02010609060101010101" pitchFamily="49" charset="-122"/>
                <a:ea typeface="KaiTi" panose="02010609060101010101" pitchFamily="49" charset="-122"/>
                <a:cs typeface="Noto Sans SC" pitchFamily="34" charset="-120"/>
              </a:rPr>
              <a:t>随机</a:t>
            </a:r>
            <a:r>
              <a:rPr lang="en-US" sz="2000" b="1" dirty="0">
                <a:solidFill>
                  <a:srgbClr val="3C3542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Hash</a:t>
            </a:r>
            <a:r>
              <a:rPr lang="en-US" sz="2000" b="1" dirty="0">
                <a:solidFill>
                  <a:srgbClr val="3C3542"/>
                </a:solidFill>
                <a:latin typeface="KaiTi" panose="02010609060101010101" pitchFamily="49" charset="-122"/>
                <a:ea typeface="KaiTi" panose="02010609060101010101" pitchFamily="49" charset="-122"/>
                <a:cs typeface="Noto Sans SC" pitchFamily="34" charset="-120"/>
              </a:rPr>
              <a:t>分布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9" name="Text 5"/>
          <p:cNvSpPr/>
          <p:nvPr/>
        </p:nvSpPr>
        <p:spPr>
          <a:xfrm>
            <a:off x="431800" y="3073400"/>
            <a:ext cx="40386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3C3542"/>
                </a:solidFill>
                <a:latin typeface="KaiTi" panose="02010609060101010101" pitchFamily="49" charset="-122"/>
                <a:ea typeface="KaiTi" panose="02010609060101010101" pitchFamily="49" charset="-122"/>
                <a:cs typeface="Noto Sans SC" pitchFamily="34" charset="-120"/>
              </a:rPr>
              <a:t>数据分散，范围查询需扫描全表，</a:t>
            </a:r>
            <a:r>
              <a:rPr lang="en-US" sz="1400" b="1" dirty="0">
                <a:solidFill>
                  <a:srgbClr val="A95EAF"/>
                </a:solidFill>
                <a:latin typeface="KaiTi" panose="02010609060101010101" pitchFamily="49" charset="-122"/>
                <a:ea typeface="KaiTi" panose="02010609060101010101" pitchFamily="49" charset="-122"/>
                <a:cs typeface="Noto Sans SC" pitchFamily="34" charset="-120"/>
              </a:rPr>
              <a:t>延迟高</a:t>
            </a:r>
            <a:r>
              <a:rPr lang="en-US" sz="1400" dirty="0">
                <a:solidFill>
                  <a:srgbClr val="3C3542"/>
                </a:solidFill>
                <a:latin typeface="KaiTi" panose="02010609060101010101" pitchFamily="49" charset="-122"/>
                <a:ea typeface="KaiTi" panose="02010609060101010101" pitchFamily="49" charset="-122"/>
                <a:cs typeface="Noto Sans SC" pitchFamily="34" charset="-120"/>
              </a:rPr>
              <a:t>。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10" name="Shape 6"/>
          <p:cNvSpPr/>
          <p:nvPr/>
        </p:nvSpPr>
        <p:spPr>
          <a:xfrm>
            <a:off x="5714901" y="3149600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748010" y="224135"/>
                </a:moveTo>
                <a:lnTo>
                  <a:pt x="605135" y="367010"/>
                </a:lnTo>
                <a:cubicBezTo>
                  <a:pt x="591443" y="380702"/>
                  <a:pt x="571054" y="384721"/>
                  <a:pt x="553194" y="377279"/>
                </a:cubicBezTo>
                <a:cubicBezTo>
                  <a:pt x="535335" y="369838"/>
                  <a:pt x="523875" y="352574"/>
                  <a:pt x="523875" y="333375"/>
                </a:cubicBezTo>
                <a:lnTo>
                  <a:pt x="523875" y="238125"/>
                </a:lnTo>
                <a:lnTo>
                  <a:pt x="47625" y="238125"/>
                </a:lnTo>
                <a:cubicBezTo>
                  <a:pt x="21282" y="238125"/>
                  <a:pt x="0" y="216843"/>
                  <a:pt x="0" y="190500"/>
                </a:cubicBezTo>
                <a:cubicBezTo>
                  <a:pt x="0" y="164157"/>
                  <a:pt x="21282" y="142875"/>
                  <a:pt x="47625" y="142875"/>
                </a:cubicBezTo>
                <a:lnTo>
                  <a:pt x="523875" y="142875"/>
                </a:lnTo>
                <a:lnTo>
                  <a:pt x="523875" y="47625"/>
                </a:lnTo>
                <a:cubicBezTo>
                  <a:pt x="523875" y="28426"/>
                  <a:pt x="535484" y="11013"/>
                  <a:pt x="553343" y="3572"/>
                </a:cubicBezTo>
                <a:cubicBezTo>
                  <a:pt x="571202" y="-3870"/>
                  <a:pt x="591592" y="298"/>
                  <a:pt x="605284" y="13841"/>
                </a:cubicBezTo>
                <a:lnTo>
                  <a:pt x="748159" y="156716"/>
                </a:lnTo>
                <a:cubicBezTo>
                  <a:pt x="766763" y="175320"/>
                  <a:pt x="766763" y="205532"/>
                  <a:pt x="748159" y="224135"/>
                </a:cubicBezTo>
                <a:close/>
                <a:moveTo>
                  <a:pt x="156716" y="748010"/>
                </a:moveTo>
                <a:lnTo>
                  <a:pt x="13841" y="605135"/>
                </a:lnTo>
                <a:cubicBezTo>
                  <a:pt x="-4762" y="586532"/>
                  <a:pt x="-4762" y="556320"/>
                  <a:pt x="13841" y="537716"/>
                </a:cubicBezTo>
                <a:lnTo>
                  <a:pt x="156716" y="394841"/>
                </a:lnTo>
                <a:cubicBezTo>
                  <a:pt x="170408" y="381149"/>
                  <a:pt x="190798" y="377130"/>
                  <a:pt x="208657" y="384572"/>
                </a:cubicBezTo>
                <a:cubicBezTo>
                  <a:pt x="226516" y="392013"/>
                  <a:pt x="238125" y="409426"/>
                  <a:pt x="238125" y="428625"/>
                </a:cubicBezTo>
                <a:lnTo>
                  <a:pt x="238125" y="523875"/>
                </a:lnTo>
                <a:lnTo>
                  <a:pt x="714375" y="523875"/>
                </a:lnTo>
                <a:cubicBezTo>
                  <a:pt x="740718" y="523875"/>
                  <a:pt x="762000" y="545157"/>
                  <a:pt x="762000" y="571500"/>
                </a:cubicBezTo>
                <a:cubicBezTo>
                  <a:pt x="762000" y="597843"/>
                  <a:pt x="740718" y="619125"/>
                  <a:pt x="714375" y="619125"/>
                </a:cubicBezTo>
                <a:lnTo>
                  <a:pt x="238125" y="619125"/>
                </a:lnTo>
                <a:lnTo>
                  <a:pt x="238125" y="714375"/>
                </a:lnTo>
                <a:cubicBezTo>
                  <a:pt x="238125" y="733574"/>
                  <a:pt x="226516" y="750987"/>
                  <a:pt x="208657" y="758428"/>
                </a:cubicBezTo>
                <a:cubicBezTo>
                  <a:pt x="190798" y="765870"/>
                  <a:pt x="170408" y="761702"/>
                  <a:pt x="156716" y="748159"/>
                </a:cubicBezTo>
                <a:close/>
              </a:path>
            </a:pathLst>
          </a:custGeom>
          <a:solidFill>
            <a:srgbClr val="8F5C9A"/>
          </a:solidFill>
          <a:ln/>
        </p:spPr>
        <p:txBody>
          <a:bodyPr/>
          <a:lstStyle/>
          <a:p>
            <a:endParaRPr lang="zh-CN" altLang="en-US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14" name="Text 9"/>
          <p:cNvSpPr/>
          <p:nvPr/>
        </p:nvSpPr>
        <p:spPr>
          <a:xfrm>
            <a:off x="203200" y="5181600"/>
            <a:ext cx="11785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dirty="0">
                <a:solidFill>
                  <a:srgbClr val="3C3542"/>
                </a:solidFill>
                <a:latin typeface="KaiTi" panose="02010609060101010101" pitchFamily="49" charset="-122"/>
                <a:ea typeface="KaiTi" panose="02010609060101010101" pitchFamily="49" charset="-122"/>
                <a:cs typeface="Noto Sans SC" pitchFamily="34" charset="-120"/>
              </a:rPr>
              <a:t>通过精心设计行键（如域名反转），</a:t>
            </a:r>
            <a:r>
              <a:rPr lang="en-US" sz="1600" dirty="0">
                <a:solidFill>
                  <a:srgbClr val="3C3542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Bigtable</a:t>
            </a:r>
            <a:r>
              <a:rPr lang="en-US" sz="1600" dirty="0">
                <a:solidFill>
                  <a:srgbClr val="3C3542"/>
                </a:solidFill>
                <a:latin typeface="KaiTi" panose="02010609060101010101" pitchFamily="49" charset="-122"/>
                <a:ea typeface="KaiTi" panose="02010609060101010101" pitchFamily="49" charset="-122"/>
                <a:cs typeface="Noto Sans SC" pitchFamily="34" charset="-120"/>
              </a:rPr>
              <a:t>将</a:t>
            </a:r>
            <a:r>
              <a:rPr lang="en-US" sz="1600" dirty="0">
                <a:solidFill>
                  <a:srgbClr val="A95EAF"/>
                </a:solidFill>
                <a:highlight>
                  <a:srgbClr val="A95EAF">
                    <a:alpha val="20000"/>
                  </a:srgbClr>
                </a:highlight>
                <a:latin typeface="KaiTi" panose="02010609060101010101" pitchFamily="49" charset="-122"/>
                <a:ea typeface="KaiTi" panose="02010609060101010101" pitchFamily="49" charset="-122"/>
                <a:cs typeface="Noto Sans SC" pitchFamily="34" charset="-120"/>
              </a:rPr>
              <a:t> 逻辑相关性转化为物理局部性 </a:t>
            </a:r>
            <a:r>
              <a:rPr lang="en-US" sz="1600" dirty="0">
                <a:solidFill>
                  <a:srgbClr val="3C3542"/>
                </a:solidFill>
                <a:latin typeface="KaiTi" panose="02010609060101010101" pitchFamily="49" charset="-122"/>
                <a:ea typeface="KaiTi" panose="02010609060101010101" pitchFamily="49" charset="-122"/>
                <a:cs typeface="Noto Sans SC" pitchFamily="34" charset="-120"/>
              </a:rPr>
              <a:t>，实现性能飞跃。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15" name="Shape 3">
            <a:extLst>
              <a:ext uri="{FF2B5EF4-FFF2-40B4-BE49-F238E27FC236}">
                <a16:creationId xmlns:a16="http://schemas.microsoft.com/office/drawing/2014/main" id="{62036946-5FEF-2526-B9C2-B012267DB1D2}"/>
              </a:ext>
            </a:extLst>
          </p:cNvPr>
          <p:cNvSpPr/>
          <p:nvPr/>
        </p:nvSpPr>
        <p:spPr>
          <a:xfrm>
            <a:off x="7583388" y="2311400"/>
            <a:ext cx="4356100" cy="2438400"/>
          </a:xfrm>
          <a:custGeom>
            <a:avLst/>
            <a:gdLst/>
            <a:ahLst/>
            <a:cxnLst/>
            <a:rect l="l" t="t" r="r" b="b"/>
            <a:pathLst>
              <a:path w="4356100" h="2438400">
                <a:moveTo>
                  <a:pt x="101608" y="0"/>
                </a:moveTo>
                <a:lnTo>
                  <a:pt x="4254492" y="0"/>
                </a:lnTo>
                <a:cubicBezTo>
                  <a:pt x="4310608" y="0"/>
                  <a:pt x="4356100" y="45492"/>
                  <a:pt x="4356100" y="101608"/>
                </a:cubicBezTo>
                <a:lnTo>
                  <a:pt x="4356100" y="2336792"/>
                </a:lnTo>
                <a:cubicBezTo>
                  <a:pt x="4356100" y="2392908"/>
                  <a:pt x="4310608" y="2438400"/>
                  <a:pt x="4254492" y="2438400"/>
                </a:cubicBezTo>
                <a:lnTo>
                  <a:pt x="101608" y="2438400"/>
                </a:lnTo>
                <a:cubicBezTo>
                  <a:pt x="45492" y="2438400"/>
                  <a:pt x="0" y="2392908"/>
                  <a:pt x="0" y="2336792"/>
                </a:cubicBezTo>
                <a:lnTo>
                  <a:pt x="0" y="101608"/>
                </a:lnTo>
                <a:cubicBezTo>
                  <a:pt x="0" y="45529"/>
                  <a:pt x="45529" y="0"/>
                  <a:pt x="101608" y="0"/>
                </a:cubicBezTo>
                <a:close/>
              </a:path>
            </a:pathLst>
          </a:custGeom>
          <a:solidFill>
            <a:srgbClr val="D3B9D7">
              <a:alpha val="25098"/>
            </a:srgbClr>
          </a:solidFill>
          <a:ln/>
        </p:spPr>
        <p:txBody>
          <a:bodyPr/>
          <a:lstStyle/>
          <a:p>
            <a:endParaRPr lang="zh-CN" altLang="en-US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11" name="Text 7"/>
          <p:cNvSpPr/>
          <p:nvPr/>
        </p:nvSpPr>
        <p:spPr>
          <a:xfrm>
            <a:off x="7723088" y="2387600"/>
            <a:ext cx="40767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3C3542"/>
                </a:solidFill>
                <a:latin typeface="KaiTi" panose="02010609060101010101" pitchFamily="49" charset="-122"/>
                <a:ea typeface="KaiTi" panose="02010609060101010101" pitchFamily="49" charset="-122"/>
                <a:cs typeface="Noto Sans SC" pitchFamily="34" charset="-120"/>
              </a:rPr>
              <a:t>字典序分布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13" name="Text 8"/>
          <p:cNvSpPr/>
          <p:nvPr/>
        </p:nvSpPr>
        <p:spPr>
          <a:xfrm>
            <a:off x="7742138" y="3073400"/>
            <a:ext cx="4038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3C3542"/>
                </a:solidFill>
                <a:latin typeface="KaiTi" panose="02010609060101010101" pitchFamily="49" charset="-122"/>
                <a:ea typeface="KaiTi" panose="02010609060101010101" pitchFamily="49" charset="-122"/>
                <a:cs typeface="Noto Sans SC" pitchFamily="34" charset="-120"/>
              </a:rPr>
              <a:t>相关数据物理相邻，范围查询变为</a:t>
            </a:r>
            <a:r>
              <a:rPr lang="en-US" sz="1400" b="1" dirty="0">
                <a:solidFill>
                  <a:srgbClr val="8F5C9A"/>
                </a:solidFill>
                <a:latin typeface="KaiTi" panose="02010609060101010101" pitchFamily="49" charset="-122"/>
                <a:ea typeface="KaiTi" panose="02010609060101010101" pitchFamily="49" charset="-122"/>
                <a:cs typeface="Noto Sans SC" pitchFamily="34" charset="-120"/>
              </a:rPr>
              <a:t>顺序读</a:t>
            </a:r>
            <a:r>
              <a:rPr lang="en-US" sz="1400" dirty="0">
                <a:solidFill>
                  <a:srgbClr val="3C3542"/>
                </a:solidFill>
                <a:latin typeface="KaiTi" panose="02010609060101010101" pitchFamily="49" charset="-122"/>
                <a:ea typeface="KaiTi" panose="02010609060101010101" pitchFamily="49" charset="-122"/>
                <a:cs typeface="Noto Sans SC" pitchFamily="34" charset="-120"/>
              </a:rPr>
              <a:t>，延迟显著降低。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2"/>
          <p:cNvSpPr/>
          <p:nvPr/>
        </p:nvSpPr>
        <p:spPr>
          <a:xfrm>
            <a:off x="139700" y="1447800"/>
            <a:ext cx="11912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3600" b="1" dirty="0">
                <a:solidFill>
                  <a:srgbClr val="8F5C9A"/>
                </a:solidFill>
                <a:latin typeface="KaiTi" panose="02010609060101010101" pitchFamily="49" charset="-122"/>
                <a:ea typeface="KaiTi" panose="02010609060101010101" pitchFamily="49" charset="-122"/>
                <a:cs typeface="Noto Sans SC" pitchFamily="34" charset="-120"/>
              </a:rPr>
              <a:t>列族与限定符的存储引擎映射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6" name="Shape 3"/>
          <p:cNvSpPr/>
          <p:nvPr/>
        </p:nvSpPr>
        <p:spPr>
          <a:xfrm>
            <a:off x="254000" y="2260600"/>
            <a:ext cx="4432300" cy="2540000"/>
          </a:xfrm>
          <a:custGeom>
            <a:avLst/>
            <a:gdLst/>
            <a:ahLst/>
            <a:cxnLst/>
            <a:rect l="l" t="t" r="r" b="b"/>
            <a:pathLst>
              <a:path w="4432300" h="2540000">
                <a:moveTo>
                  <a:pt x="101600" y="0"/>
                </a:moveTo>
                <a:lnTo>
                  <a:pt x="4330700" y="0"/>
                </a:lnTo>
                <a:cubicBezTo>
                  <a:pt x="4386775" y="0"/>
                  <a:pt x="4432300" y="45525"/>
                  <a:pt x="4432300" y="101600"/>
                </a:cubicBezTo>
                <a:lnTo>
                  <a:pt x="4432300" y="2438400"/>
                </a:lnTo>
                <a:cubicBezTo>
                  <a:pt x="4432300" y="2494475"/>
                  <a:pt x="4386775" y="2540000"/>
                  <a:pt x="4330700" y="2540000"/>
                </a:cubicBezTo>
                <a:lnTo>
                  <a:pt x="101600" y="2540000"/>
                </a:lnTo>
                <a:cubicBezTo>
                  <a:pt x="45525" y="2540000"/>
                  <a:pt x="0" y="2494475"/>
                  <a:pt x="0" y="24384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D3B9D7">
              <a:alpha val="25098"/>
            </a:srgbClr>
          </a:solidFill>
          <a:ln/>
        </p:spPr>
        <p:txBody>
          <a:bodyPr/>
          <a:lstStyle/>
          <a:p>
            <a:endParaRPr lang="zh-CN" altLang="en-US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7" name="Text 4"/>
          <p:cNvSpPr/>
          <p:nvPr/>
        </p:nvSpPr>
        <p:spPr>
          <a:xfrm>
            <a:off x="393700" y="2463800"/>
            <a:ext cx="41529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3C3542"/>
                </a:solidFill>
                <a:latin typeface="KaiTi" panose="02010609060101010101" pitchFamily="49" charset="-122"/>
                <a:ea typeface="KaiTi" panose="02010609060101010101" pitchFamily="49" charset="-122"/>
                <a:cs typeface="Noto Sans SC" pitchFamily="34" charset="-120"/>
              </a:rPr>
              <a:t>逻辑模型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8" name="Text 5"/>
          <p:cNvSpPr/>
          <p:nvPr/>
        </p:nvSpPr>
        <p:spPr>
          <a:xfrm>
            <a:off x="457200" y="2921000"/>
            <a:ext cx="1313656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3C3542"/>
                </a:solidFill>
                <a:latin typeface="KaiTi" panose="02010609060101010101" pitchFamily="49" charset="-122"/>
                <a:ea typeface="KaiTi" panose="02010609060101010101" pitchFamily="49" charset="-122"/>
                <a:cs typeface="Calibri" panose="020F0502020204030204" pitchFamily="34" charset="0"/>
              </a:rPr>
              <a:t>列族</a:t>
            </a:r>
            <a:r>
              <a:rPr lang="en-US" sz="1400" b="1" dirty="0">
                <a:solidFill>
                  <a:srgbClr val="3C3542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: content</a:t>
            </a:r>
            <a:endParaRPr lang="en-US" sz="1600" dirty="0">
              <a:latin typeface="Calibri" panose="020F0502020204030204" pitchFamily="34" charset="0"/>
              <a:ea typeface="KaiTi" panose="02010609060101010101" pitchFamily="49" charset="-122"/>
              <a:cs typeface="Calibri" panose="020F0502020204030204" pitchFamily="34" charset="0"/>
            </a:endParaRPr>
          </a:p>
        </p:txBody>
      </p:sp>
      <p:sp>
        <p:nvSpPr>
          <p:cNvPr id="9" name="Shape 6"/>
          <p:cNvSpPr/>
          <p:nvPr/>
        </p:nvSpPr>
        <p:spPr>
          <a:xfrm>
            <a:off x="457200" y="3276600"/>
            <a:ext cx="0" cy="254000"/>
          </a:xfrm>
          <a:prstGeom prst="line">
            <a:avLst/>
          </a:prstGeom>
          <a:noFill/>
          <a:ln w="25400">
            <a:solidFill>
              <a:srgbClr val="A95EA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>
              <a:latin typeface="Calibri" panose="020F0502020204030204" pitchFamily="34" charset="0"/>
              <a:ea typeface="KaiTi" panose="02010609060101010101" pitchFamily="49" charset="-122"/>
              <a:cs typeface="Calibri" panose="020F0502020204030204" pitchFamily="34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457200" y="3276600"/>
            <a:ext cx="4089400" cy="254000"/>
          </a:xfrm>
          <a:prstGeom prst="rect">
            <a:avLst/>
          </a:prstGeom>
          <a:noFill/>
          <a:ln/>
        </p:spPr>
        <p:txBody>
          <a:bodyPr wrap="square" lIns="20320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3C3542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html</a:t>
            </a:r>
            <a:endParaRPr lang="en-US" sz="1600" dirty="0">
              <a:latin typeface="Calibri" panose="020F0502020204030204" pitchFamily="34" charset="0"/>
              <a:ea typeface="KaiTi" panose="02010609060101010101" pitchFamily="49" charset="-122"/>
              <a:cs typeface="Calibri" panose="020F0502020204030204" pitchFamily="34" charset="0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457200" y="3632200"/>
            <a:ext cx="0" cy="254000"/>
          </a:xfrm>
          <a:prstGeom prst="line">
            <a:avLst/>
          </a:prstGeom>
          <a:noFill/>
          <a:ln w="25400">
            <a:solidFill>
              <a:srgbClr val="A95EA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>
              <a:latin typeface="Calibri" panose="020F0502020204030204" pitchFamily="34" charset="0"/>
              <a:ea typeface="KaiTi" panose="02010609060101010101" pitchFamily="49" charset="-122"/>
              <a:cs typeface="Calibri" panose="020F0502020204030204" pitchFamily="34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457200" y="3632200"/>
            <a:ext cx="4089400" cy="254000"/>
          </a:xfrm>
          <a:prstGeom prst="rect">
            <a:avLst/>
          </a:prstGeom>
          <a:noFill/>
          <a:ln/>
        </p:spPr>
        <p:txBody>
          <a:bodyPr wrap="square" lIns="20320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3C3542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text</a:t>
            </a:r>
            <a:endParaRPr lang="en-US" sz="1600" dirty="0">
              <a:latin typeface="Calibri" panose="020F0502020204030204" pitchFamily="34" charset="0"/>
              <a:ea typeface="KaiTi" panose="02010609060101010101" pitchFamily="49" charset="-122"/>
              <a:cs typeface="Calibri" panose="020F0502020204030204" pitchFamily="34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457200" y="3987800"/>
            <a:ext cx="1469926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3C3542"/>
                </a:solidFill>
                <a:latin typeface="KaiTi" panose="02010609060101010101" pitchFamily="49" charset="-122"/>
                <a:ea typeface="KaiTi" panose="02010609060101010101" pitchFamily="49" charset="-122"/>
                <a:cs typeface="Calibri" panose="020F0502020204030204" pitchFamily="34" charset="0"/>
              </a:rPr>
              <a:t>列族</a:t>
            </a:r>
            <a:r>
              <a:rPr lang="en-US" sz="1400" b="1" dirty="0">
                <a:solidFill>
                  <a:srgbClr val="3C3542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: metadata</a:t>
            </a:r>
            <a:endParaRPr lang="en-US" sz="1600" dirty="0">
              <a:latin typeface="Calibri" panose="020F0502020204030204" pitchFamily="34" charset="0"/>
              <a:ea typeface="KaiTi" panose="02010609060101010101" pitchFamily="49" charset="-122"/>
              <a:cs typeface="Calibri" panose="020F0502020204030204" pitchFamily="34" charset="0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457200" y="4343400"/>
            <a:ext cx="0" cy="254000"/>
          </a:xfrm>
          <a:prstGeom prst="line">
            <a:avLst/>
          </a:prstGeom>
          <a:noFill/>
          <a:ln w="25400">
            <a:solidFill>
              <a:srgbClr val="A95EA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457200" y="4343400"/>
            <a:ext cx="4089400" cy="254000"/>
          </a:xfrm>
          <a:prstGeom prst="rect">
            <a:avLst/>
          </a:prstGeom>
          <a:noFill/>
          <a:ln/>
        </p:spPr>
        <p:txBody>
          <a:bodyPr wrap="square" lIns="20320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3C3542"/>
                </a:solidFill>
                <a:latin typeface="KaiTi" panose="02010609060101010101" pitchFamily="49" charset="-122"/>
                <a:ea typeface="KaiTi" panose="02010609060101010101" pitchFamily="49" charset="-122"/>
                <a:cs typeface="Noto Sans SC" pitchFamily="34" charset="-120"/>
              </a:rPr>
              <a:t>language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16" name="Shape 13"/>
          <p:cNvSpPr/>
          <p:nvPr/>
        </p:nvSpPr>
        <p:spPr>
          <a:xfrm>
            <a:off x="5791101" y="32258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598408" y="331708"/>
                </a:moveTo>
                <a:cubicBezTo>
                  <a:pt x="613291" y="316825"/>
                  <a:pt x="613291" y="292656"/>
                  <a:pt x="598408" y="277773"/>
                </a:cubicBezTo>
                <a:lnTo>
                  <a:pt x="407908" y="87273"/>
                </a:lnTo>
                <a:cubicBezTo>
                  <a:pt x="393025" y="72390"/>
                  <a:pt x="368856" y="72390"/>
                  <a:pt x="353973" y="87273"/>
                </a:cubicBezTo>
                <a:cubicBezTo>
                  <a:pt x="339090" y="102156"/>
                  <a:pt x="339090" y="126325"/>
                  <a:pt x="353973" y="141208"/>
                </a:cubicBezTo>
                <a:lnTo>
                  <a:pt x="479465" y="266700"/>
                </a:lnTo>
                <a:lnTo>
                  <a:pt x="38100" y="266700"/>
                </a:lnTo>
                <a:cubicBezTo>
                  <a:pt x="17026" y="266700"/>
                  <a:pt x="0" y="283726"/>
                  <a:pt x="0" y="304800"/>
                </a:cubicBezTo>
                <a:cubicBezTo>
                  <a:pt x="0" y="325874"/>
                  <a:pt x="17026" y="342900"/>
                  <a:pt x="38100" y="342900"/>
                </a:cubicBezTo>
                <a:lnTo>
                  <a:pt x="479465" y="342900"/>
                </a:lnTo>
                <a:lnTo>
                  <a:pt x="353973" y="468392"/>
                </a:lnTo>
                <a:cubicBezTo>
                  <a:pt x="339090" y="483275"/>
                  <a:pt x="339090" y="507444"/>
                  <a:pt x="353973" y="522327"/>
                </a:cubicBezTo>
                <a:cubicBezTo>
                  <a:pt x="368856" y="537210"/>
                  <a:pt x="393025" y="537210"/>
                  <a:pt x="407908" y="522327"/>
                </a:cubicBezTo>
                <a:lnTo>
                  <a:pt x="598408" y="331827"/>
                </a:lnTo>
                <a:close/>
              </a:path>
            </a:pathLst>
          </a:custGeom>
          <a:solidFill>
            <a:srgbClr val="8F5C9A"/>
          </a:solidFill>
          <a:ln/>
        </p:spPr>
        <p:txBody>
          <a:bodyPr/>
          <a:lstStyle/>
          <a:p>
            <a:endParaRPr lang="zh-CN" altLang="en-US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17" name="Shape 14"/>
          <p:cNvSpPr/>
          <p:nvPr/>
        </p:nvSpPr>
        <p:spPr>
          <a:xfrm>
            <a:off x="7503616" y="2438400"/>
            <a:ext cx="4432300" cy="2184400"/>
          </a:xfrm>
          <a:custGeom>
            <a:avLst/>
            <a:gdLst/>
            <a:ahLst/>
            <a:cxnLst/>
            <a:rect l="l" t="t" r="r" b="b"/>
            <a:pathLst>
              <a:path w="4432300" h="2184400">
                <a:moveTo>
                  <a:pt x="101596" y="0"/>
                </a:moveTo>
                <a:lnTo>
                  <a:pt x="4330704" y="0"/>
                </a:lnTo>
                <a:cubicBezTo>
                  <a:pt x="4386814" y="0"/>
                  <a:pt x="4432300" y="45486"/>
                  <a:pt x="4432300" y="101596"/>
                </a:cubicBezTo>
                <a:lnTo>
                  <a:pt x="4432300" y="2082804"/>
                </a:lnTo>
                <a:cubicBezTo>
                  <a:pt x="4432300" y="2138914"/>
                  <a:pt x="4386814" y="2184400"/>
                  <a:pt x="4330704" y="2184400"/>
                </a:cubicBezTo>
                <a:lnTo>
                  <a:pt x="101596" y="2184400"/>
                </a:lnTo>
                <a:cubicBezTo>
                  <a:pt x="45486" y="2184400"/>
                  <a:pt x="0" y="2138914"/>
                  <a:pt x="0" y="2082804"/>
                </a:cubicBezTo>
                <a:lnTo>
                  <a:pt x="0" y="101596"/>
                </a:lnTo>
                <a:cubicBezTo>
                  <a:pt x="0" y="45524"/>
                  <a:pt x="45524" y="0"/>
                  <a:pt x="101596" y="0"/>
                </a:cubicBezTo>
                <a:close/>
              </a:path>
            </a:pathLst>
          </a:custGeom>
          <a:solidFill>
            <a:srgbClr val="D3B9D7">
              <a:alpha val="25098"/>
            </a:srgbClr>
          </a:solidFill>
          <a:ln/>
        </p:spPr>
        <p:txBody>
          <a:bodyPr/>
          <a:lstStyle/>
          <a:p>
            <a:endParaRPr lang="zh-CN" altLang="en-US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7643316" y="2641600"/>
            <a:ext cx="41529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3C3542"/>
                </a:solidFill>
                <a:latin typeface="KaiTi" panose="02010609060101010101" pitchFamily="49" charset="-122"/>
                <a:ea typeface="KaiTi" panose="02010609060101010101" pitchFamily="49" charset="-122"/>
                <a:cs typeface="Noto Sans SC" pitchFamily="34" charset="-120"/>
              </a:rPr>
              <a:t>物理存储 (</a:t>
            </a:r>
            <a:r>
              <a:rPr lang="en-US" sz="2000" b="1" dirty="0">
                <a:solidFill>
                  <a:srgbClr val="3C3542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SSTable</a:t>
            </a:r>
            <a:r>
              <a:rPr lang="en-US" sz="2000" b="1" dirty="0">
                <a:solidFill>
                  <a:srgbClr val="3C3542"/>
                </a:solidFill>
                <a:latin typeface="KaiTi" panose="02010609060101010101" pitchFamily="49" charset="-122"/>
                <a:ea typeface="KaiTi" panose="02010609060101010101" pitchFamily="49" charset="-122"/>
                <a:cs typeface="Noto Sans SC" pitchFamily="34" charset="-120"/>
              </a:rPr>
              <a:t>)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7706816" y="3098800"/>
            <a:ext cx="1968798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3C3542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Data Block 1 (content)</a:t>
            </a:r>
            <a:endParaRPr lang="en-US" sz="1600" dirty="0">
              <a:latin typeface="Calibri" panose="020F0502020204030204" pitchFamily="34" charset="0"/>
              <a:ea typeface="KaiTi" panose="02010609060101010101" pitchFamily="49" charset="-122"/>
              <a:cs typeface="Calibri" panose="020F0502020204030204" pitchFamily="34" charset="0"/>
            </a:endParaRPr>
          </a:p>
        </p:txBody>
      </p:sp>
      <p:sp>
        <p:nvSpPr>
          <p:cNvPr id="20" name="Shape 17"/>
          <p:cNvSpPr/>
          <p:nvPr/>
        </p:nvSpPr>
        <p:spPr>
          <a:xfrm>
            <a:off x="7706816" y="3454400"/>
            <a:ext cx="0" cy="254000"/>
          </a:xfrm>
          <a:prstGeom prst="line">
            <a:avLst/>
          </a:prstGeom>
          <a:noFill/>
          <a:ln w="25400">
            <a:solidFill>
              <a:srgbClr val="60A39A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7706816" y="3454400"/>
            <a:ext cx="4089400" cy="254000"/>
          </a:xfrm>
          <a:prstGeom prst="rect">
            <a:avLst/>
          </a:prstGeom>
          <a:noFill/>
          <a:ln/>
        </p:spPr>
        <p:txBody>
          <a:bodyPr wrap="square" lIns="20320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3C3542"/>
                </a:solidFill>
                <a:latin typeface="KaiTi" panose="02010609060101010101" pitchFamily="49" charset="-122"/>
                <a:ea typeface="KaiTi" panose="02010609060101010101" pitchFamily="49" charset="-122"/>
                <a:cs typeface="Noto Sans SC" pitchFamily="34" charset="-120"/>
              </a:rPr>
              <a:t>共享压缩算法 </a:t>
            </a:r>
            <a:r>
              <a:rPr lang="en-US" sz="1400" dirty="0">
                <a:solidFill>
                  <a:srgbClr val="3C3542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(e.g., ZSTD)</a:t>
            </a:r>
            <a:endParaRPr lang="en-US" sz="1600" dirty="0">
              <a:latin typeface="Calibri" panose="020F0502020204030204" pitchFamily="34" charset="0"/>
              <a:ea typeface="KaiTi" panose="02010609060101010101" pitchFamily="49" charset="-122"/>
              <a:cs typeface="Calibri" panose="020F0502020204030204" pitchFamily="34" charset="0"/>
            </a:endParaRPr>
          </a:p>
        </p:txBody>
      </p:sp>
      <p:sp>
        <p:nvSpPr>
          <p:cNvPr id="22" name="Text 19"/>
          <p:cNvSpPr/>
          <p:nvPr/>
        </p:nvSpPr>
        <p:spPr>
          <a:xfrm>
            <a:off x="7706816" y="3810000"/>
            <a:ext cx="2158901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3C3542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Data Block 2 (metadata)</a:t>
            </a:r>
            <a:endParaRPr lang="en-US" sz="1600" dirty="0">
              <a:latin typeface="Calibri" panose="020F0502020204030204" pitchFamily="34" charset="0"/>
              <a:ea typeface="KaiTi" panose="02010609060101010101" pitchFamily="49" charset="-122"/>
              <a:cs typeface="Calibri" panose="020F0502020204030204" pitchFamily="34" charset="0"/>
            </a:endParaRPr>
          </a:p>
        </p:txBody>
      </p:sp>
      <p:sp>
        <p:nvSpPr>
          <p:cNvPr id="23" name="Shape 20"/>
          <p:cNvSpPr/>
          <p:nvPr/>
        </p:nvSpPr>
        <p:spPr>
          <a:xfrm>
            <a:off x="7706816" y="4165600"/>
            <a:ext cx="0" cy="254000"/>
          </a:xfrm>
          <a:prstGeom prst="line">
            <a:avLst/>
          </a:prstGeom>
          <a:noFill/>
          <a:ln w="25400">
            <a:solidFill>
              <a:srgbClr val="60A39A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24" name="Text 21"/>
          <p:cNvSpPr/>
          <p:nvPr/>
        </p:nvSpPr>
        <p:spPr>
          <a:xfrm>
            <a:off x="7706816" y="4165600"/>
            <a:ext cx="4089400" cy="254000"/>
          </a:xfrm>
          <a:prstGeom prst="rect">
            <a:avLst/>
          </a:prstGeom>
          <a:noFill/>
          <a:ln/>
        </p:spPr>
        <p:txBody>
          <a:bodyPr wrap="square" lIns="20320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3C3542"/>
                </a:solidFill>
                <a:latin typeface="KaiTi" panose="02010609060101010101" pitchFamily="49" charset="-122"/>
                <a:ea typeface="KaiTi" panose="02010609060101010101" pitchFamily="49" charset="-122"/>
                <a:cs typeface="Noto Sans SC" pitchFamily="34" charset="-120"/>
              </a:rPr>
              <a:t>共享</a:t>
            </a:r>
            <a:r>
              <a:rPr lang="en-US" sz="1400" dirty="0">
                <a:solidFill>
                  <a:srgbClr val="3C3542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Bloom</a:t>
            </a:r>
            <a:r>
              <a:rPr lang="en-US" sz="1400" dirty="0">
                <a:solidFill>
                  <a:srgbClr val="3C3542"/>
                </a:solidFill>
                <a:latin typeface="KaiTi" panose="02010609060101010101" pitchFamily="49" charset="-122"/>
                <a:ea typeface="KaiTi" panose="02010609060101010101" pitchFamily="49" charset="-122"/>
                <a:cs typeface="Noto Sans SC" pitchFamily="34" charset="-120"/>
              </a:rPr>
              <a:t>过滤器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25" name="Text 22"/>
          <p:cNvSpPr/>
          <p:nvPr/>
        </p:nvSpPr>
        <p:spPr>
          <a:xfrm>
            <a:off x="203200" y="5105400"/>
            <a:ext cx="11785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dirty="0">
                <a:solidFill>
                  <a:srgbClr val="3C3542"/>
                </a:solidFill>
                <a:latin typeface="KaiTi" panose="02010609060101010101" pitchFamily="49" charset="-122"/>
                <a:ea typeface="KaiTi" panose="02010609060101010101" pitchFamily="49" charset="-122"/>
                <a:cs typeface="Noto Sans SC" pitchFamily="34" charset="-120"/>
              </a:rPr>
              <a:t>同一列族数据</a:t>
            </a:r>
            <a:r>
              <a:rPr lang="en-US" sz="1600" dirty="0">
                <a:solidFill>
                  <a:srgbClr val="A95EAF"/>
                </a:solidFill>
                <a:highlight>
                  <a:srgbClr val="A95EAF">
                    <a:alpha val="20000"/>
                  </a:srgbClr>
                </a:highlight>
                <a:latin typeface="KaiTi" panose="02010609060101010101" pitchFamily="49" charset="-122"/>
                <a:ea typeface="KaiTi" panose="02010609060101010101" pitchFamily="49" charset="-122"/>
                <a:cs typeface="Noto Sans SC" pitchFamily="34" charset="-120"/>
              </a:rPr>
              <a:t> 物理上连续存储 </a:t>
            </a:r>
            <a:r>
              <a:rPr lang="en-US" sz="1600" dirty="0">
                <a:solidFill>
                  <a:srgbClr val="3C3542"/>
                </a:solidFill>
                <a:latin typeface="KaiTi" panose="02010609060101010101" pitchFamily="49" charset="-122"/>
                <a:ea typeface="KaiTi" panose="02010609060101010101" pitchFamily="49" charset="-122"/>
                <a:cs typeface="Noto Sans SC" pitchFamily="34" charset="-120"/>
              </a:rPr>
              <a:t>，</a:t>
            </a:r>
            <a:r>
              <a:rPr lang="en-US" sz="1600" dirty="0" err="1">
                <a:solidFill>
                  <a:srgbClr val="3C3542"/>
                </a:solidFill>
                <a:latin typeface="KaiTi" panose="02010609060101010101" pitchFamily="49" charset="-122"/>
                <a:ea typeface="KaiTi" panose="02010609060101010101" pitchFamily="49" charset="-122"/>
                <a:cs typeface="Noto Sans SC" pitchFamily="34" charset="-120"/>
              </a:rPr>
              <a:t>共享存储优化策略。限定符在块内以</a:t>
            </a:r>
            <a:r>
              <a:rPr lang="zh-CN" altLang="en-US" sz="1600" dirty="0">
                <a:solidFill>
                  <a:srgbClr val="3C3542"/>
                </a:solidFill>
                <a:latin typeface="KaiTi" panose="02010609060101010101" pitchFamily="49" charset="-122"/>
                <a:ea typeface="KaiTi" panose="02010609060101010101" pitchFamily="49" charset="-122"/>
                <a:cs typeface="Noto Sans SC" pitchFamily="34" charset="-120"/>
              </a:rPr>
              <a:t> </a:t>
            </a:r>
            <a:r>
              <a:rPr lang="en-US" sz="1600" dirty="0">
                <a:solidFill>
                  <a:srgbClr val="3C3542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delta</a:t>
            </a:r>
            <a:r>
              <a:rPr lang="zh-CN" altLang="en-US" sz="1600" dirty="0">
                <a:solidFill>
                  <a:srgbClr val="3C3542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 </a:t>
            </a:r>
            <a:r>
              <a:rPr lang="en-US" sz="1600" dirty="0" err="1">
                <a:solidFill>
                  <a:srgbClr val="3C3542"/>
                </a:solidFill>
                <a:latin typeface="KaiTi" panose="02010609060101010101" pitchFamily="49" charset="-122"/>
                <a:ea typeface="KaiTi" panose="02010609060101010101" pitchFamily="49" charset="-122"/>
                <a:cs typeface="Noto Sans SC" pitchFamily="34" charset="-120"/>
              </a:rPr>
              <a:t>形式存储，配合前缀压缩节省空间</a:t>
            </a:r>
            <a:r>
              <a:rPr lang="en-US" sz="1600" dirty="0">
                <a:solidFill>
                  <a:srgbClr val="3C3542"/>
                </a:solidFill>
                <a:latin typeface="KaiTi" panose="02010609060101010101" pitchFamily="49" charset="-122"/>
                <a:ea typeface="KaiTi" panose="02010609060101010101" pitchFamily="49" charset="-122"/>
                <a:cs typeface="Noto Sans SC" pitchFamily="34" charset="-120"/>
              </a:rPr>
              <a:t>。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4445" y="0"/>
            <a:ext cx="12187555" cy="6875780"/>
          </a:xfrm>
          <a:prstGeom prst="rect">
            <a:avLst/>
          </a:prstGeom>
          <a:gradFill flip="none" rotWithShape="1">
            <a:gsLst>
              <a:gs pos="0">
                <a:srgbClr val="D7B1D4"/>
              </a:gs>
              <a:gs pos="34000">
                <a:srgbClr val="BC7DB7"/>
              </a:gs>
              <a:gs pos="100000">
                <a:srgbClr val="30225F"/>
              </a:gs>
            </a:gsLst>
            <a:lin ang="1350000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4445" y="0"/>
            <a:ext cx="12187555" cy="68757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1727190" y="6306820"/>
            <a:ext cx="10080000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Shape 23"/>
          <p:cNvSpPr/>
          <p:nvPr/>
        </p:nvSpPr>
        <p:spPr>
          <a:xfrm>
            <a:off x="852805" y="6177280"/>
            <a:ext cx="259080" cy="25908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852805" y="6177280"/>
            <a:ext cx="259080" cy="2590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979805" y="6177280"/>
            <a:ext cx="259080" cy="259080"/>
          </a:xfrm>
          <a:prstGeom prst="ellipse">
            <a:avLst/>
          </a:prstGeom>
          <a:solidFill>
            <a:srgbClr val="000000">
              <a:alpha val="0"/>
            </a:srgbClr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6"/>
          <p:cNvSpPr/>
          <p:nvPr/>
        </p:nvSpPr>
        <p:spPr>
          <a:xfrm>
            <a:off x="979805" y="6177280"/>
            <a:ext cx="259080" cy="2590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1863725" y="2687320"/>
            <a:ext cx="8464550" cy="230695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0" name="Text 28"/>
          <p:cNvSpPr/>
          <p:nvPr/>
        </p:nvSpPr>
        <p:spPr>
          <a:xfrm>
            <a:off x="1863725" y="2687320"/>
            <a:ext cx="8464550" cy="230695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t"/>
          <a:lstStyle/>
          <a:p>
            <a:pPr algn="ctr">
              <a:lnSpc>
                <a:spcPct val="100000"/>
              </a:lnSpc>
            </a:pPr>
            <a:r>
              <a:rPr lang="en-US" sz="7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架构拆解：从客户端到GFS的完整链路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2515235" y="1350010"/>
            <a:ext cx="7161530" cy="109855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7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03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2"/>
          <p:cNvSpPr/>
          <p:nvPr/>
        </p:nvSpPr>
        <p:spPr>
          <a:xfrm>
            <a:off x="139700" y="2082800"/>
            <a:ext cx="11912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3600" b="1" dirty="0">
                <a:solidFill>
                  <a:srgbClr val="8F5C9A"/>
                </a:solidFill>
                <a:latin typeface="KaiTi" panose="02010609060101010101" pitchFamily="49" charset="-122"/>
                <a:ea typeface="KaiTi" panose="02010609060101010101" pitchFamily="49" charset="-122"/>
                <a:cs typeface="Calibri" panose="020F0502020204030204" pitchFamily="34" charset="0"/>
              </a:rPr>
              <a:t>架构拆解：从客户端到</a:t>
            </a:r>
            <a:r>
              <a:rPr lang="en-US" sz="3600" b="1" dirty="0">
                <a:solidFill>
                  <a:srgbClr val="8F5C9A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GFS</a:t>
            </a:r>
            <a:r>
              <a:rPr lang="en-US" sz="3600" b="1" dirty="0">
                <a:solidFill>
                  <a:srgbClr val="8F5C9A"/>
                </a:solidFill>
                <a:latin typeface="KaiTi" panose="02010609060101010101" pitchFamily="49" charset="-122"/>
                <a:ea typeface="KaiTi" panose="02010609060101010101" pitchFamily="49" charset="-122"/>
                <a:cs typeface="Calibri" panose="020F0502020204030204" pitchFamily="34" charset="0"/>
              </a:rPr>
              <a:t>的完整链路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  <a:cs typeface="Calibri" panose="020F0502020204030204" pitchFamily="34" charset="0"/>
            </a:endParaRPr>
          </a:p>
        </p:txBody>
      </p:sp>
      <p:sp>
        <p:nvSpPr>
          <p:cNvPr id="6" name="Shape 3"/>
          <p:cNvSpPr/>
          <p:nvPr/>
        </p:nvSpPr>
        <p:spPr>
          <a:xfrm>
            <a:off x="1203920" y="29972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57150" y="28575"/>
                </a:moveTo>
                <a:cubicBezTo>
                  <a:pt x="25628" y="28575"/>
                  <a:pt x="0" y="54203"/>
                  <a:pt x="0" y="85725"/>
                </a:cubicBezTo>
                <a:lnTo>
                  <a:pt x="0" y="314325"/>
                </a:lnTo>
                <a:cubicBezTo>
                  <a:pt x="0" y="345847"/>
                  <a:pt x="25628" y="371475"/>
                  <a:pt x="57150" y="371475"/>
                </a:cubicBezTo>
                <a:lnTo>
                  <a:pt x="185738" y="371475"/>
                </a:lnTo>
                <a:lnTo>
                  <a:pt x="171450" y="414338"/>
                </a:lnTo>
                <a:lnTo>
                  <a:pt x="107156" y="414338"/>
                </a:lnTo>
                <a:cubicBezTo>
                  <a:pt x="95280" y="414338"/>
                  <a:pt x="85725" y="423892"/>
                  <a:pt x="85725" y="435769"/>
                </a:cubicBezTo>
                <a:cubicBezTo>
                  <a:pt x="85725" y="447645"/>
                  <a:pt x="95280" y="457200"/>
                  <a:pt x="107156" y="457200"/>
                </a:cubicBezTo>
                <a:lnTo>
                  <a:pt x="350044" y="457200"/>
                </a:lnTo>
                <a:cubicBezTo>
                  <a:pt x="361920" y="457200"/>
                  <a:pt x="371475" y="447645"/>
                  <a:pt x="371475" y="435769"/>
                </a:cubicBezTo>
                <a:cubicBezTo>
                  <a:pt x="371475" y="423892"/>
                  <a:pt x="361920" y="414338"/>
                  <a:pt x="350044" y="414338"/>
                </a:cubicBezTo>
                <a:lnTo>
                  <a:pt x="285750" y="414338"/>
                </a:lnTo>
                <a:lnTo>
                  <a:pt x="271463" y="371475"/>
                </a:lnTo>
                <a:lnTo>
                  <a:pt x="400050" y="371475"/>
                </a:lnTo>
                <a:cubicBezTo>
                  <a:pt x="431572" y="371475"/>
                  <a:pt x="457200" y="345847"/>
                  <a:pt x="457200" y="314325"/>
                </a:cubicBezTo>
                <a:lnTo>
                  <a:pt x="457200" y="85725"/>
                </a:lnTo>
                <a:cubicBezTo>
                  <a:pt x="457200" y="54203"/>
                  <a:pt x="431572" y="28575"/>
                  <a:pt x="400050" y="28575"/>
                </a:cubicBezTo>
                <a:lnTo>
                  <a:pt x="57150" y="28575"/>
                </a:lnTo>
                <a:close/>
                <a:moveTo>
                  <a:pt x="85725" y="85725"/>
                </a:moveTo>
                <a:lnTo>
                  <a:pt x="371475" y="85725"/>
                </a:lnTo>
                <a:cubicBezTo>
                  <a:pt x="387281" y="85725"/>
                  <a:pt x="400050" y="98494"/>
                  <a:pt x="400050" y="114300"/>
                </a:cubicBezTo>
                <a:lnTo>
                  <a:pt x="400050" y="257175"/>
                </a:lnTo>
                <a:cubicBezTo>
                  <a:pt x="400050" y="272981"/>
                  <a:pt x="387281" y="285750"/>
                  <a:pt x="371475" y="285750"/>
                </a:cubicBezTo>
                <a:lnTo>
                  <a:pt x="85725" y="285750"/>
                </a:lnTo>
                <a:cubicBezTo>
                  <a:pt x="69919" y="285750"/>
                  <a:pt x="57150" y="272981"/>
                  <a:pt x="57150" y="257175"/>
                </a:cubicBezTo>
                <a:lnTo>
                  <a:pt x="57150" y="114300"/>
                </a:lnTo>
                <a:cubicBezTo>
                  <a:pt x="57150" y="98494"/>
                  <a:pt x="69919" y="85725"/>
                  <a:pt x="85725" y="85725"/>
                </a:cubicBezTo>
                <a:close/>
              </a:path>
            </a:pathLst>
          </a:custGeom>
          <a:solidFill>
            <a:srgbClr val="A95EAF"/>
          </a:solidFill>
          <a:ln/>
        </p:spPr>
        <p:txBody>
          <a:bodyPr/>
          <a:lstStyle/>
          <a:p>
            <a:endParaRPr lang="zh-CN" altLang="en-US">
              <a:latin typeface="KaiTi" panose="02010609060101010101" pitchFamily="49" charset="-122"/>
              <a:ea typeface="KaiTi" panose="02010609060101010101" pitchFamily="49" charset="-122"/>
              <a:cs typeface="Calibri" panose="020F0502020204030204" pitchFamily="34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1076920" y="3556000"/>
            <a:ext cx="711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b="1" dirty="0">
                <a:solidFill>
                  <a:srgbClr val="3C3542"/>
                </a:solidFill>
                <a:latin typeface="KaiTi" panose="02010609060101010101" pitchFamily="49" charset="-122"/>
                <a:ea typeface="KaiTi" panose="02010609060101010101" pitchFamily="49" charset="-122"/>
                <a:cs typeface="Calibri" panose="020F0502020204030204" pitchFamily="34" charset="0"/>
              </a:rPr>
              <a:t>客户端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  <a:cs typeface="Calibri" panose="020F0502020204030204" pitchFamily="34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1018877" y="3860800"/>
            <a:ext cx="8255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200" dirty="0">
                <a:solidFill>
                  <a:srgbClr val="3C3542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API</a:t>
            </a:r>
            <a:r>
              <a:rPr lang="en-US" sz="1200" dirty="0">
                <a:solidFill>
                  <a:srgbClr val="3C3542"/>
                </a:solidFill>
                <a:latin typeface="KaiTi" panose="02010609060101010101" pitchFamily="49" charset="-122"/>
                <a:ea typeface="KaiTi" panose="02010609060101010101" pitchFamily="49" charset="-122"/>
                <a:cs typeface="Calibri" panose="020F0502020204030204" pitchFamily="34" charset="0"/>
              </a:rPr>
              <a:t> &amp; 缓存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  <a:cs typeface="Calibri" panose="020F0502020204030204" pitchFamily="34" charset="0"/>
            </a:endParaRPr>
          </a:p>
        </p:txBody>
      </p:sp>
      <p:sp>
        <p:nvSpPr>
          <p:cNvPr id="9" name="Shape 6"/>
          <p:cNvSpPr/>
          <p:nvPr/>
        </p:nvSpPr>
        <p:spPr>
          <a:xfrm>
            <a:off x="2503190" y="3378200"/>
            <a:ext cx="190500" cy="304800"/>
          </a:xfrm>
          <a:custGeom>
            <a:avLst/>
            <a:gdLst/>
            <a:ahLst/>
            <a:cxnLst/>
            <a:rect l="l" t="t" r="r" b="b"/>
            <a:pathLst>
              <a:path w="190500" h="304800">
                <a:moveTo>
                  <a:pt x="185202" y="138946"/>
                </a:moveTo>
                <a:cubicBezTo>
                  <a:pt x="192643" y="146387"/>
                  <a:pt x="192643" y="158472"/>
                  <a:pt x="185202" y="165914"/>
                </a:cubicBezTo>
                <a:lnTo>
                  <a:pt x="70902" y="280214"/>
                </a:lnTo>
                <a:cubicBezTo>
                  <a:pt x="63460" y="287655"/>
                  <a:pt x="51375" y="287655"/>
                  <a:pt x="43934" y="280214"/>
                </a:cubicBezTo>
                <a:cubicBezTo>
                  <a:pt x="36493" y="272772"/>
                  <a:pt x="36493" y="260687"/>
                  <a:pt x="43934" y="253246"/>
                </a:cubicBezTo>
                <a:lnTo>
                  <a:pt x="144780" y="152400"/>
                </a:lnTo>
                <a:lnTo>
                  <a:pt x="43994" y="51554"/>
                </a:lnTo>
                <a:cubicBezTo>
                  <a:pt x="36552" y="44113"/>
                  <a:pt x="36552" y="32028"/>
                  <a:pt x="43994" y="24586"/>
                </a:cubicBezTo>
                <a:cubicBezTo>
                  <a:pt x="51435" y="17145"/>
                  <a:pt x="63520" y="17145"/>
                  <a:pt x="70961" y="24586"/>
                </a:cubicBezTo>
                <a:lnTo>
                  <a:pt x="185261" y="138886"/>
                </a:lnTo>
                <a:close/>
              </a:path>
            </a:pathLst>
          </a:custGeom>
          <a:solidFill>
            <a:srgbClr val="99A1AF"/>
          </a:solidFill>
          <a:ln/>
        </p:spPr>
        <p:txBody>
          <a:bodyPr/>
          <a:lstStyle/>
          <a:p>
            <a:endParaRPr lang="zh-CN" altLang="en-US">
              <a:latin typeface="KaiTi" panose="02010609060101010101" pitchFamily="49" charset="-122"/>
              <a:ea typeface="KaiTi" panose="02010609060101010101" pitchFamily="49" charset="-122"/>
              <a:cs typeface="Calibri" panose="020F0502020204030204" pitchFamily="34" charset="0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3564235" y="2997200"/>
            <a:ext cx="400050" cy="457200"/>
          </a:xfrm>
          <a:custGeom>
            <a:avLst/>
            <a:gdLst/>
            <a:ahLst/>
            <a:cxnLst/>
            <a:rect l="l" t="t" r="r" b="b"/>
            <a:pathLst>
              <a:path w="400050" h="457200">
                <a:moveTo>
                  <a:pt x="57150" y="28575"/>
                </a:moveTo>
                <a:cubicBezTo>
                  <a:pt x="25628" y="28575"/>
                  <a:pt x="0" y="54203"/>
                  <a:pt x="0" y="85725"/>
                </a:cubicBezTo>
                <a:lnTo>
                  <a:pt x="0" y="142875"/>
                </a:lnTo>
                <a:cubicBezTo>
                  <a:pt x="0" y="174397"/>
                  <a:pt x="25628" y="200025"/>
                  <a:pt x="57150" y="200025"/>
                </a:cubicBezTo>
                <a:lnTo>
                  <a:pt x="342900" y="200025"/>
                </a:lnTo>
                <a:cubicBezTo>
                  <a:pt x="374422" y="200025"/>
                  <a:pt x="400050" y="174397"/>
                  <a:pt x="400050" y="142875"/>
                </a:cubicBezTo>
                <a:lnTo>
                  <a:pt x="400050" y="85725"/>
                </a:lnTo>
                <a:cubicBezTo>
                  <a:pt x="400050" y="54203"/>
                  <a:pt x="374422" y="28575"/>
                  <a:pt x="342900" y="28575"/>
                </a:cubicBezTo>
                <a:lnTo>
                  <a:pt x="57150" y="28575"/>
                </a:lnTo>
                <a:close/>
                <a:moveTo>
                  <a:pt x="250031" y="92869"/>
                </a:moveTo>
                <a:cubicBezTo>
                  <a:pt x="261859" y="92869"/>
                  <a:pt x="271463" y="102472"/>
                  <a:pt x="271463" y="114300"/>
                </a:cubicBezTo>
                <a:cubicBezTo>
                  <a:pt x="271463" y="126128"/>
                  <a:pt x="261859" y="135731"/>
                  <a:pt x="250031" y="135731"/>
                </a:cubicBezTo>
                <a:cubicBezTo>
                  <a:pt x="238203" y="135731"/>
                  <a:pt x="228600" y="126128"/>
                  <a:pt x="228600" y="114300"/>
                </a:cubicBezTo>
                <a:cubicBezTo>
                  <a:pt x="228600" y="102472"/>
                  <a:pt x="238203" y="92869"/>
                  <a:pt x="250031" y="92869"/>
                </a:cubicBezTo>
                <a:close/>
                <a:moveTo>
                  <a:pt x="300038" y="114300"/>
                </a:moveTo>
                <a:cubicBezTo>
                  <a:pt x="300038" y="102472"/>
                  <a:pt x="309641" y="92869"/>
                  <a:pt x="321469" y="92869"/>
                </a:cubicBezTo>
                <a:cubicBezTo>
                  <a:pt x="333297" y="92869"/>
                  <a:pt x="342900" y="102472"/>
                  <a:pt x="342900" y="114300"/>
                </a:cubicBezTo>
                <a:cubicBezTo>
                  <a:pt x="342900" y="126128"/>
                  <a:pt x="333297" y="135731"/>
                  <a:pt x="321469" y="135731"/>
                </a:cubicBezTo>
                <a:cubicBezTo>
                  <a:pt x="309641" y="135731"/>
                  <a:pt x="300038" y="126128"/>
                  <a:pt x="300038" y="114300"/>
                </a:cubicBezTo>
                <a:close/>
                <a:moveTo>
                  <a:pt x="57150" y="257175"/>
                </a:moveTo>
                <a:cubicBezTo>
                  <a:pt x="25628" y="257175"/>
                  <a:pt x="0" y="282803"/>
                  <a:pt x="0" y="314325"/>
                </a:cubicBezTo>
                <a:lnTo>
                  <a:pt x="0" y="371475"/>
                </a:lnTo>
                <a:cubicBezTo>
                  <a:pt x="0" y="402997"/>
                  <a:pt x="25628" y="428625"/>
                  <a:pt x="57150" y="428625"/>
                </a:cubicBezTo>
                <a:lnTo>
                  <a:pt x="342900" y="428625"/>
                </a:lnTo>
                <a:cubicBezTo>
                  <a:pt x="374422" y="428625"/>
                  <a:pt x="400050" y="402997"/>
                  <a:pt x="400050" y="371475"/>
                </a:cubicBezTo>
                <a:lnTo>
                  <a:pt x="400050" y="314325"/>
                </a:lnTo>
                <a:cubicBezTo>
                  <a:pt x="400050" y="282803"/>
                  <a:pt x="374422" y="257175"/>
                  <a:pt x="342900" y="257175"/>
                </a:cubicBezTo>
                <a:lnTo>
                  <a:pt x="57150" y="257175"/>
                </a:lnTo>
                <a:close/>
                <a:moveTo>
                  <a:pt x="250031" y="321469"/>
                </a:moveTo>
                <a:cubicBezTo>
                  <a:pt x="261859" y="321469"/>
                  <a:pt x="271463" y="331072"/>
                  <a:pt x="271463" y="342900"/>
                </a:cubicBezTo>
                <a:cubicBezTo>
                  <a:pt x="271463" y="354728"/>
                  <a:pt x="261859" y="364331"/>
                  <a:pt x="250031" y="364331"/>
                </a:cubicBezTo>
                <a:cubicBezTo>
                  <a:pt x="238203" y="364331"/>
                  <a:pt x="228600" y="354728"/>
                  <a:pt x="228600" y="342900"/>
                </a:cubicBezTo>
                <a:cubicBezTo>
                  <a:pt x="228600" y="331072"/>
                  <a:pt x="238203" y="321469"/>
                  <a:pt x="250031" y="321469"/>
                </a:cubicBezTo>
                <a:close/>
                <a:moveTo>
                  <a:pt x="300038" y="342900"/>
                </a:moveTo>
                <a:cubicBezTo>
                  <a:pt x="300038" y="331072"/>
                  <a:pt x="309641" y="321469"/>
                  <a:pt x="321469" y="321469"/>
                </a:cubicBezTo>
                <a:cubicBezTo>
                  <a:pt x="333297" y="321469"/>
                  <a:pt x="342900" y="331072"/>
                  <a:pt x="342900" y="342900"/>
                </a:cubicBezTo>
                <a:cubicBezTo>
                  <a:pt x="342900" y="354728"/>
                  <a:pt x="333297" y="364331"/>
                  <a:pt x="321469" y="364331"/>
                </a:cubicBezTo>
                <a:cubicBezTo>
                  <a:pt x="309641" y="364331"/>
                  <a:pt x="300038" y="354728"/>
                  <a:pt x="300038" y="342900"/>
                </a:cubicBezTo>
                <a:close/>
              </a:path>
            </a:pathLst>
          </a:custGeom>
          <a:solidFill>
            <a:srgbClr val="A95EAF"/>
          </a:solidFill>
          <a:ln/>
        </p:spPr>
        <p:txBody>
          <a:bodyPr/>
          <a:lstStyle/>
          <a:p>
            <a:endParaRPr lang="zh-CN" altLang="en-US">
              <a:latin typeface="KaiTi" panose="02010609060101010101" pitchFamily="49" charset="-122"/>
              <a:ea typeface="KaiTi" panose="02010609060101010101" pitchFamily="49" charset="-122"/>
              <a:cs typeface="Calibri" panose="020F0502020204030204" pitchFamily="34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3068935" y="3556000"/>
            <a:ext cx="1397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b="1" dirty="0">
                <a:solidFill>
                  <a:srgbClr val="3C3542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Tablet Server</a:t>
            </a:r>
            <a:endParaRPr lang="en-US" sz="1600" dirty="0">
              <a:latin typeface="Calibri" panose="020F0502020204030204" pitchFamily="34" charset="0"/>
              <a:ea typeface="KaiTi" panose="02010609060101010101" pitchFamily="49" charset="-122"/>
              <a:cs typeface="Calibri" panose="020F0502020204030204" pitchFamily="34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3268960" y="3860800"/>
            <a:ext cx="9906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200" dirty="0">
                <a:solidFill>
                  <a:srgbClr val="3C3542"/>
                </a:solidFill>
                <a:latin typeface="KaiTi" panose="02010609060101010101" pitchFamily="49" charset="-122"/>
                <a:ea typeface="KaiTi" panose="02010609060101010101" pitchFamily="49" charset="-122"/>
                <a:cs typeface="Calibri" panose="020F0502020204030204" pitchFamily="34" charset="0"/>
              </a:rPr>
              <a:t>数据读写核心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  <a:cs typeface="Calibri" panose="020F0502020204030204" pitchFamily="34" charset="0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4834930" y="3378200"/>
            <a:ext cx="190500" cy="304800"/>
          </a:xfrm>
          <a:custGeom>
            <a:avLst/>
            <a:gdLst/>
            <a:ahLst/>
            <a:cxnLst/>
            <a:rect l="l" t="t" r="r" b="b"/>
            <a:pathLst>
              <a:path w="190500" h="304800">
                <a:moveTo>
                  <a:pt x="185202" y="138946"/>
                </a:moveTo>
                <a:cubicBezTo>
                  <a:pt x="192643" y="146387"/>
                  <a:pt x="192643" y="158472"/>
                  <a:pt x="185202" y="165914"/>
                </a:cubicBezTo>
                <a:lnTo>
                  <a:pt x="70902" y="280214"/>
                </a:lnTo>
                <a:cubicBezTo>
                  <a:pt x="63460" y="287655"/>
                  <a:pt x="51375" y="287655"/>
                  <a:pt x="43934" y="280214"/>
                </a:cubicBezTo>
                <a:cubicBezTo>
                  <a:pt x="36493" y="272772"/>
                  <a:pt x="36493" y="260687"/>
                  <a:pt x="43934" y="253246"/>
                </a:cubicBezTo>
                <a:lnTo>
                  <a:pt x="144780" y="152400"/>
                </a:lnTo>
                <a:lnTo>
                  <a:pt x="43994" y="51554"/>
                </a:lnTo>
                <a:cubicBezTo>
                  <a:pt x="36552" y="44113"/>
                  <a:pt x="36552" y="32028"/>
                  <a:pt x="43994" y="24586"/>
                </a:cubicBezTo>
                <a:cubicBezTo>
                  <a:pt x="51435" y="17145"/>
                  <a:pt x="63520" y="17145"/>
                  <a:pt x="70961" y="24586"/>
                </a:cubicBezTo>
                <a:lnTo>
                  <a:pt x="185261" y="138886"/>
                </a:lnTo>
                <a:close/>
              </a:path>
            </a:pathLst>
          </a:custGeom>
          <a:solidFill>
            <a:srgbClr val="99A1AF"/>
          </a:solidFill>
          <a:ln/>
        </p:spPr>
        <p:txBody>
          <a:bodyPr/>
          <a:lstStyle/>
          <a:p>
            <a:endParaRPr lang="zh-CN" altLang="en-US">
              <a:latin typeface="KaiTi" panose="02010609060101010101" pitchFamily="49" charset="-122"/>
              <a:ea typeface="KaiTi" panose="02010609060101010101" pitchFamily="49" charset="-122"/>
              <a:cs typeface="Calibri" panose="020F0502020204030204" pitchFamily="34" charset="0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5810250" y="2997200"/>
            <a:ext cx="571500" cy="457200"/>
          </a:xfrm>
          <a:custGeom>
            <a:avLst/>
            <a:gdLst/>
            <a:ahLst/>
            <a:cxnLst/>
            <a:rect l="l" t="t" r="r" b="b"/>
            <a:pathLst>
              <a:path w="571500" h="457200">
                <a:moveTo>
                  <a:pt x="371386" y="187970"/>
                </a:moveTo>
                <a:cubicBezTo>
                  <a:pt x="382280" y="185023"/>
                  <a:pt x="393710" y="190202"/>
                  <a:pt x="398621" y="200293"/>
                </a:cubicBezTo>
                <a:lnTo>
                  <a:pt x="415230" y="233869"/>
                </a:lnTo>
                <a:cubicBezTo>
                  <a:pt x="424428" y="235119"/>
                  <a:pt x="433447" y="237619"/>
                  <a:pt x="441930" y="241102"/>
                </a:cubicBezTo>
                <a:lnTo>
                  <a:pt x="473184" y="220295"/>
                </a:lnTo>
                <a:cubicBezTo>
                  <a:pt x="482560" y="214045"/>
                  <a:pt x="494973" y="215295"/>
                  <a:pt x="502920" y="223242"/>
                </a:cubicBezTo>
                <a:lnTo>
                  <a:pt x="520065" y="240387"/>
                </a:lnTo>
                <a:cubicBezTo>
                  <a:pt x="528012" y="248335"/>
                  <a:pt x="529263" y="260836"/>
                  <a:pt x="523012" y="270123"/>
                </a:cubicBezTo>
                <a:lnTo>
                  <a:pt x="502206" y="301288"/>
                </a:lnTo>
                <a:cubicBezTo>
                  <a:pt x="503902" y="305485"/>
                  <a:pt x="505420" y="309860"/>
                  <a:pt x="506670" y="314414"/>
                </a:cubicBezTo>
                <a:cubicBezTo>
                  <a:pt x="507921" y="318968"/>
                  <a:pt x="508724" y="323433"/>
                  <a:pt x="509349" y="327987"/>
                </a:cubicBezTo>
                <a:lnTo>
                  <a:pt x="543014" y="344597"/>
                </a:lnTo>
                <a:cubicBezTo>
                  <a:pt x="553105" y="349597"/>
                  <a:pt x="558284" y="361027"/>
                  <a:pt x="555337" y="371832"/>
                </a:cubicBezTo>
                <a:lnTo>
                  <a:pt x="549086" y="395228"/>
                </a:lnTo>
                <a:cubicBezTo>
                  <a:pt x="546140" y="406033"/>
                  <a:pt x="536049" y="413355"/>
                  <a:pt x="524798" y="412641"/>
                </a:cubicBezTo>
                <a:lnTo>
                  <a:pt x="487293" y="410230"/>
                </a:lnTo>
                <a:cubicBezTo>
                  <a:pt x="481667" y="417463"/>
                  <a:pt x="475149" y="424160"/>
                  <a:pt x="467737" y="429875"/>
                </a:cubicBezTo>
                <a:lnTo>
                  <a:pt x="470148" y="467291"/>
                </a:lnTo>
                <a:cubicBezTo>
                  <a:pt x="470862" y="478542"/>
                  <a:pt x="463540" y="488722"/>
                  <a:pt x="452735" y="491579"/>
                </a:cubicBezTo>
                <a:lnTo>
                  <a:pt x="429339" y="497830"/>
                </a:lnTo>
                <a:cubicBezTo>
                  <a:pt x="418445" y="500777"/>
                  <a:pt x="407104" y="495598"/>
                  <a:pt x="402104" y="485507"/>
                </a:cubicBezTo>
                <a:lnTo>
                  <a:pt x="385495" y="451931"/>
                </a:lnTo>
                <a:cubicBezTo>
                  <a:pt x="376297" y="450681"/>
                  <a:pt x="367278" y="448181"/>
                  <a:pt x="358795" y="444698"/>
                </a:cubicBezTo>
                <a:lnTo>
                  <a:pt x="327541" y="465505"/>
                </a:lnTo>
                <a:cubicBezTo>
                  <a:pt x="318165" y="471755"/>
                  <a:pt x="305753" y="470505"/>
                  <a:pt x="297805" y="462558"/>
                </a:cubicBezTo>
                <a:lnTo>
                  <a:pt x="280660" y="445413"/>
                </a:lnTo>
                <a:cubicBezTo>
                  <a:pt x="272713" y="437465"/>
                  <a:pt x="271463" y="425053"/>
                  <a:pt x="277713" y="415677"/>
                </a:cubicBezTo>
                <a:lnTo>
                  <a:pt x="298519" y="384423"/>
                </a:lnTo>
                <a:cubicBezTo>
                  <a:pt x="296823" y="380226"/>
                  <a:pt x="295305" y="375851"/>
                  <a:pt x="294055" y="371296"/>
                </a:cubicBezTo>
                <a:cubicBezTo>
                  <a:pt x="292804" y="366742"/>
                  <a:pt x="292001" y="362188"/>
                  <a:pt x="291376" y="357723"/>
                </a:cubicBezTo>
                <a:lnTo>
                  <a:pt x="257711" y="341114"/>
                </a:lnTo>
                <a:cubicBezTo>
                  <a:pt x="247620" y="336113"/>
                  <a:pt x="242530" y="324683"/>
                  <a:pt x="245388" y="313879"/>
                </a:cubicBezTo>
                <a:lnTo>
                  <a:pt x="251639" y="290483"/>
                </a:lnTo>
                <a:cubicBezTo>
                  <a:pt x="254585" y="279678"/>
                  <a:pt x="264676" y="272355"/>
                  <a:pt x="275927" y="273070"/>
                </a:cubicBezTo>
                <a:lnTo>
                  <a:pt x="313343" y="275481"/>
                </a:lnTo>
                <a:cubicBezTo>
                  <a:pt x="318968" y="268248"/>
                  <a:pt x="325487" y="261551"/>
                  <a:pt x="332899" y="255836"/>
                </a:cubicBezTo>
                <a:lnTo>
                  <a:pt x="330488" y="218509"/>
                </a:lnTo>
                <a:cubicBezTo>
                  <a:pt x="329773" y="207258"/>
                  <a:pt x="337096" y="197078"/>
                  <a:pt x="347901" y="194221"/>
                </a:cubicBezTo>
                <a:lnTo>
                  <a:pt x="371296" y="187970"/>
                </a:lnTo>
                <a:close/>
                <a:moveTo>
                  <a:pt x="400407" y="303609"/>
                </a:moveTo>
                <a:cubicBezTo>
                  <a:pt x="378722" y="303634"/>
                  <a:pt x="361137" y="321260"/>
                  <a:pt x="361161" y="342945"/>
                </a:cubicBezTo>
                <a:cubicBezTo>
                  <a:pt x="361186" y="364630"/>
                  <a:pt x="378811" y="382215"/>
                  <a:pt x="400496" y="382191"/>
                </a:cubicBezTo>
                <a:cubicBezTo>
                  <a:pt x="422182" y="382166"/>
                  <a:pt x="439767" y="364540"/>
                  <a:pt x="439742" y="342855"/>
                </a:cubicBezTo>
                <a:cubicBezTo>
                  <a:pt x="439718" y="321170"/>
                  <a:pt x="422092" y="303585"/>
                  <a:pt x="400407" y="303609"/>
                </a:cubicBezTo>
                <a:close/>
                <a:moveTo>
                  <a:pt x="200829" y="-40630"/>
                </a:moveTo>
                <a:lnTo>
                  <a:pt x="224224" y="-34379"/>
                </a:lnTo>
                <a:cubicBezTo>
                  <a:pt x="235029" y="-31433"/>
                  <a:pt x="242352" y="-21253"/>
                  <a:pt x="241637" y="-10091"/>
                </a:cubicBezTo>
                <a:lnTo>
                  <a:pt x="239226" y="27236"/>
                </a:lnTo>
                <a:cubicBezTo>
                  <a:pt x="246638" y="32951"/>
                  <a:pt x="253157" y="39559"/>
                  <a:pt x="258782" y="46881"/>
                </a:cubicBezTo>
                <a:lnTo>
                  <a:pt x="296287" y="44470"/>
                </a:lnTo>
                <a:cubicBezTo>
                  <a:pt x="307449" y="43755"/>
                  <a:pt x="317629" y="51078"/>
                  <a:pt x="320576" y="61883"/>
                </a:cubicBezTo>
                <a:lnTo>
                  <a:pt x="326827" y="85279"/>
                </a:lnTo>
                <a:cubicBezTo>
                  <a:pt x="329684" y="96083"/>
                  <a:pt x="324594" y="107513"/>
                  <a:pt x="314504" y="112514"/>
                </a:cubicBezTo>
                <a:lnTo>
                  <a:pt x="280839" y="129123"/>
                </a:lnTo>
                <a:cubicBezTo>
                  <a:pt x="280214" y="133677"/>
                  <a:pt x="279321" y="138232"/>
                  <a:pt x="278160" y="142696"/>
                </a:cubicBezTo>
                <a:cubicBezTo>
                  <a:pt x="276999" y="147161"/>
                  <a:pt x="275392" y="151626"/>
                  <a:pt x="273695" y="155823"/>
                </a:cubicBezTo>
                <a:lnTo>
                  <a:pt x="294501" y="187077"/>
                </a:lnTo>
                <a:cubicBezTo>
                  <a:pt x="300752" y="196453"/>
                  <a:pt x="299502" y="208865"/>
                  <a:pt x="291554" y="216813"/>
                </a:cubicBezTo>
                <a:lnTo>
                  <a:pt x="274409" y="233958"/>
                </a:lnTo>
                <a:cubicBezTo>
                  <a:pt x="266462" y="241905"/>
                  <a:pt x="254050" y="243155"/>
                  <a:pt x="244673" y="236905"/>
                </a:cubicBezTo>
                <a:lnTo>
                  <a:pt x="213420" y="216098"/>
                </a:lnTo>
                <a:cubicBezTo>
                  <a:pt x="204936" y="219581"/>
                  <a:pt x="195917" y="222081"/>
                  <a:pt x="186720" y="223331"/>
                </a:cubicBezTo>
                <a:lnTo>
                  <a:pt x="170111" y="256907"/>
                </a:lnTo>
                <a:cubicBezTo>
                  <a:pt x="165110" y="266998"/>
                  <a:pt x="153680" y="272088"/>
                  <a:pt x="142875" y="269230"/>
                </a:cubicBezTo>
                <a:lnTo>
                  <a:pt x="119479" y="262979"/>
                </a:lnTo>
                <a:cubicBezTo>
                  <a:pt x="108585" y="260033"/>
                  <a:pt x="101352" y="249853"/>
                  <a:pt x="102066" y="238691"/>
                </a:cubicBezTo>
                <a:lnTo>
                  <a:pt x="104477" y="201275"/>
                </a:lnTo>
                <a:cubicBezTo>
                  <a:pt x="97066" y="195560"/>
                  <a:pt x="90547" y="188952"/>
                  <a:pt x="84921" y="181630"/>
                </a:cubicBezTo>
                <a:lnTo>
                  <a:pt x="47417" y="184041"/>
                </a:lnTo>
                <a:cubicBezTo>
                  <a:pt x="36255" y="184755"/>
                  <a:pt x="26075" y="177433"/>
                  <a:pt x="23128" y="166628"/>
                </a:cubicBezTo>
                <a:lnTo>
                  <a:pt x="16877" y="143232"/>
                </a:lnTo>
                <a:cubicBezTo>
                  <a:pt x="14020" y="132427"/>
                  <a:pt x="19110" y="120997"/>
                  <a:pt x="29200" y="115997"/>
                </a:cubicBezTo>
                <a:lnTo>
                  <a:pt x="62865" y="99387"/>
                </a:lnTo>
                <a:cubicBezTo>
                  <a:pt x="63490" y="94833"/>
                  <a:pt x="64383" y="90368"/>
                  <a:pt x="65544" y="85814"/>
                </a:cubicBezTo>
                <a:cubicBezTo>
                  <a:pt x="66794" y="81260"/>
                  <a:pt x="68223" y="76885"/>
                  <a:pt x="70009" y="72688"/>
                </a:cubicBezTo>
                <a:lnTo>
                  <a:pt x="49203" y="41523"/>
                </a:lnTo>
                <a:cubicBezTo>
                  <a:pt x="42952" y="32147"/>
                  <a:pt x="44202" y="19735"/>
                  <a:pt x="52149" y="11787"/>
                </a:cubicBezTo>
                <a:lnTo>
                  <a:pt x="69294" y="-5358"/>
                </a:lnTo>
                <a:cubicBezTo>
                  <a:pt x="77242" y="-13305"/>
                  <a:pt x="89654" y="-14555"/>
                  <a:pt x="99030" y="-8305"/>
                </a:cubicBezTo>
                <a:lnTo>
                  <a:pt x="130284" y="12502"/>
                </a:lnTo>
                <a:cubicBezTo>
                  <a:pt x="138767" y="9019"/>
                  <a:pt x="147786" y="6519"/>
                  <a:pt x="156984" y="5269"/>
                </a:cubicBezTo>
                <a:lnTo>
                  <a:pt x="173593" y="-28307"/>
                </a:lnTo>
                <a:cubicBezTo>
                  <a:pt x="178594" y="-38398"/>
                  <a:pt x="189934" y="-43488"/>
                  <a:pt x="200829" y="-40630"/>
                </a:cubicBezTo>
                <a:close/>
                <a:moveTo>
                  <a:pt x="171807" y="75009"/>
                </a:moveTo>
                <a:cubicBezTo>
                  <a:pt x="150122" y="75009"/>
                  <a:pt x="132517" y="92615"/>
                  <a:pt x="132517" y="114300"/>
                </a:cubicBezTo>
                <a:cubicBezTo>
                  <a:pt x="132517" y="135985"/>
                  <a:pt x="150122" y="153591"/>
                  <a:pt x="171807" y="153591"/>
                </a:cubicBezTo>
                <a:cubicBezTo>
                  <a:pt x="193492" y="153591"/>
                  <a:pt x="211098" y="135985"/>
                  <a:pt x="211098" y="114300"/>
                </a:cubicBezTo>
                <a:cubicBezTo>
                  <a:pt x="211098" y="92615"/>
                  <a:pt x="193492" y="75009"/>
                  <a:pt x="171807" y="75009"/>
                </a:cubicBezTo>
                <a:close/>
              </a:path>
            </a:pathLst>
          </a:custGeom>
          <a:solidFill>
            <a:srgbClr val="A95EAF"/>
          </a:solidFill>
          <a:ln/>
        </p:spPr>
        <p:txBody>
          <a:bodyPr/>
          <a:lstStyle/>
          <a:p>
            <a:endParaRPr lang="zh-CN" altLang="en-US">
              <a:latin typeface="KaiTi" panose="02010609060101010101" pitchFamily="49" charset="-122"/>
              <a:ea typeface="KaiTi" panose="02010609060101010101" pitchFamily="49" charset="-122"/>
              <a:cs typeface="Calibri" panose="020F0502020204030204" pitchFamily="34" charset="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5709642" y="3556000"/>
            <a:ext cx="774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b="1" dirty="0">
                <a:solidFill>
                  <a:srgbClr val="3C3542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Master</a:t>
            </a:r>
            <a:endParaRPr lang="en-US" sz="1600" dirty="0">
              <a:latin typeface="Calibri" panose="020F0502020204030204" pitchFamily="34" charset="0"/>
              <a:ea typeface="KaiTi" panose="02010609060101010101" pitchFamily="49" charset="-122"/>
              <a:cs typeface="Calibri" panose="020F0502020204030204" pitchFamily="34" charset="0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5600700" y="3860800"/>
            <a:ext cx="9906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200" dirty="0">
                <a:solidFill>
                  <a:srgbClr val="3C3542"/>
                </a:solidFill>
                <a:latin typeface="KaiTi" panose="02010609060101010101" pitchFamily="49" charset="-122"/>
                <a:ea typeface="KaiTi" panose="02010609060101010101" pitchFamily="49" charset="-122"/>
                <a:cs typeface="Calibri" panose="020F0502020204030204" pitchFamily="34" charset="0"/>
              </a:rPr>
              <a:t>元数据与调度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  <a:cs typeface="Calibri" panose="020F0502020204030204" pitchFamily="34" charset="0"/>
            </a:endParaRPr>
          </a:p>
        </p:txBody>
      </p:sp>
      <p:sp>
        <p:nvSpPr>
          <p:cNvPr id="17" name="Shape 14"/>
          <p:cNvSpPr/>
          <p:nvPr/>
        </p:nvSpPr>
        <p:spPr>
          <a:xfrm>
            <a:off x="7166670" y="3378200"/>
            <a:ext cx="190500" cy="304800"/>
          </a:xfrm>
          <a:custGeom>
            <a:avLst/>
            <a:gdLst/>
            <a:ahLst/>
            <a:cxnLst/>
            <a:rect l="l" t="t" r="r" b="b"/>
            <a:pathLst>
              <a:path w="190500" h="304800">
                <a:moveTo>
                  <a:pt x="185202" y="138946"/>
                </a:moveTo>
                <a:cubicBezTo>
                  <a:pt x="192643" y="146387"/>
                  <a:pt x="192643" y="158472"/>
                  <a:pt x="185202" y="165914"/>
                </a:cubicBezTo>
                <a:lnTo>
                  <a:pt x="70902" y="280214"/>
                </a:lnTo>
                <a:cubicBezTo>
                  <a:pt x="63460" y="287655"/>
                  <a:pt x="51375" y="287655"/>
                  <a:pt x="43934" y="280214"/>
                </a:cubicBezTo>
                <a:cubicBezTo>
                  <a:pt x="36493" y="272772"/>
                  <a:pt x="36493" y="260687"/>
                  <a:pt x="43934" y="253246"/>
                </a:cubicBezTo>
                <a:lnTo>
                  <a:pt x="144780" y="152400"/>
                </a:lnTo>
                <a:lnTo>
                  <a:pt x="43994" y="51554"/>
                </a:lnTo>
                <a:cubicBezTo>
                  <a:pt x="36552" y="44113"/>
                  <a:pt x="36552" y="32028"/>
                  <a:pt x="43994" y="24586"/>
                </a:cubicBezTo>
                <a:cubicBezTo>
                  <a:pt x="51435" y="17145"/>
                  <a:pt x="63520" y="17145"/>
                  <a:pt x="70961" y="24586"/>
                </a:cubicBezTo>
                <a:lnTo>
                  <a:pt x="185261" y="138886"/>
                </a:lnTo>
                <a:close/>
              </a:path>
            </a:pathLst>
          </a:custGeom>
          <a:solidFill>
            <a:srgbClr val="99A1AF"/>
          </a:solidFill>
          <a:ln/>
        </p:spPr>
        <p:txBody>
          <a:bodyPr/>
          <a:lstStyle/>
          <a:p>
            <a:endParaRPr lang="zh-CN" altLang="en-US">
              <a:latin typeface="KaiTi" panose="02010609060101010101" pitchFamily="49" charset="-122"/>
              <a:ea typeface="KaiTi" panose="02010609060101010101" pitchFamily="49" charset="-122"/>
              <a:cs typeface="Calibri" panose="020F0502020204030204" pitchFamily="34" charset="0"/>
            </a:endParaRPr>
          </a:p>
        </p:txBody>
      </p:sp>
      <p:sp>
        <p:nvSpPr>
          <p:cNvPr id="18" name="Shape 15"/>
          <p:cNvSpPr/>
          <p:nvPr/>
        </p:nvSpPr>
        <p:spPr>
          <a:xfrm>
            <a:off x="8256290" y="2997200"/>
            <a:ext cx="342900" cy="457200"/>
          </a:xfrm>
          <a:custGeom>
            <a:avLst/>
            <a:gdLst/>
            <a:ahLst/>
            <a:cxnLst/>
            <a:rect l="l" t="t" r="r" b="b"/>
            <a:pathLst>
              <a:path w="342900" h="457200">
                <a:moveTo>
                  <a:pt x="114300" y="85725"/>
                </a:moveTo>
                <a:lnTo>
                  <a:pt x="114300" y="142875"/>
                </a:lnTo>
                <a:lnTo>
                  <a:pt x="228600" y="142875"/>
                </a:lnTo>
                <a:lnTo>
                  <a:pt x="228600" y="85725"/>
                </a:lnTo>
                <a:cubicBezTo>
                  <a:pt x="228600" y="54203"/>
                  <a:pt x="202972" y="28575"/>
                  <a:pt x="171450" y="28575"/>
                </a:cubicBezTo>
                <a:cubicBezTo>
                  <a:pt x="139928" y="28575"/>
                  <a:pt x="114300" y="54203"/>
                  <a:pt x="114300" y="85725"/>
                </a:cubicBezTo>
                <a:close/>
                <a:moveTo>
                  <a:pt x="57150" y="142875"/>
                </a:moveTo>
                <a:lnTo>
                  <a:pt x="57150" y="85725"/>
                </a:lnTo>
                <a:cubicBezTo>
                  <a:pt x="57150" y="22592"/>
                  <a:pt x="108317" y="-28575"/>
                  <a:pt x="171450" y="-28575"/>
                </a:cubicBezTo>
                <a:cubicBezTo>
                  <a:pt x="234583" y="-28575"/>
                  <a:pt x="285750" y="22592"/>
                  <a:pt x="285750" y="85725"/>
                </a:cubicBezTo>
                <a:lnTo>
                  <a:pt x="285750" y="142875"/>
                </a:lnTo>
                <a:cubicBezTo>
                  <a:pt x="317272" y="142875"/>
                  <a:pt x="342900" y="168503"/>
                  <a:pt x="342900" y="200025"/>
                </a:cubicBezTo>
                <a:lnTo>
                  <a:pt x="342900" y="400050"/>
                </a:lnTo>
                <a:cubicBezTo>
                  <a:pt x="342900" y="431572"/>
                  <a:pt x="317272" y="457200"/>
                  <a:pt x="285750" y="457200"/>
                </a:cubicBezTo>
                <a:lnTo>
                  <a:pt x="57150" y="457200"/>
                </a:lnTo>
                <a:cubicBezTo>
                  <a:pt x="25628" y="457200"/>
                  <a:pt x="0" y="431572"/>
                  <a:pt x="0" y="400050"/>
                </a:cubicBezTo>
                <a:lnTo>
                  <a:pt x="0" y="200025"/>
                </a:lnTo>
                <a:cubicBezTo>
                  <a:pt x="0" y="168503"/>
                  <a:pt x="25628" y="142875"/>
                  <a:pt x="57150" y="142875"/>
                </a:cubicBezTo>
                <a:close/>
              </a:path>
            </a:pathLst>
          </a:custGeom>
          <a:solidFill>
            <a:srgbClr val="A95EAF"/>
          </a:solidFill>
          <a:ln/>
        </p:spPr>
        <p:txBody>
          <a:bodyPr/>
          <a:lstStyle/>
          <a:p>
            <a:endParaRPr lang="zh-CN" altLang="en-US">
              <a:latin typeface="KaiTi" panose="02010609060101010101" pitchFamily="49" charset="-122"/>
              <a:ea typeface="KaiTi" panose="02010609060101010101" pitchFamily="49" charset="-122"/>
              <a:cs typeface="Calibri" panose="020F0502020204030204" pitchFamily="34" charset="0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8009037" y="3556000"/>
            <a:ext cx="838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b="1" dirty="0">
                <a:solidFill>
                  <a:srgbClr val="3C3542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Chubby</a:t>
            </a:r>
            <a:endParaRPr lang="en-US" sz="1600" dirty="0">
              <a:latin typeface="Calibri" panose="020F0502020204030204" pitchFamily="34" charset="0"/>
              <a:ea typeface="KaiTi" panose="02010609060101010101" pitchFamily="49" charset="-122"/>
              <a:cs typeface="Calibri" panose="020F0502020204030204" pitchFamily="34" charset="0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8084840" y="3860800"/>
            <a:ext cx="6858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200" dirty="0">
                <a:solidFill>
                  <a:srgbClr val="3C3542"/>
                </a:solidFill>
                <a:latin typeface="KaiTi" panose="02010609060101010101" pitchFamily="49" charset="-122"/>
                <a:ea typeface="KaiTi" panose="02010609060101010101" pitchFamily="49" charset="-122"/>
                <a:cs typeface="Calibri" panose="020F0502020204030204" pitchFamily="34" charset="0"/>
              </a:rPr>
              <a:t>协调与锁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  <a:cs typeface="Calibri" panose="020F0502020204030204" pitchFamily="34" charset="0"/>
            </a:endParaRPr>
          </a:p>
        </p:txBody>
      </p:sp>
      <p:sp>
        <p:nvSpPr>
          <p:cNvPr id="21" name="Shape 18"/>
          <p:cNvSpPr/>
          <p:nvPr/>
        </p:nvSpPr>
        <p:spPr>
          <a:xfrm>
            <a:off x="9498409" y="3378200"/>
            <a:ext cx="190500" cy="304800"/>
          </a:xfrm>
          <a:custGeom>
            <a:avLst/>
            <a:gdLst/>
            <a:ahLst/>
            <a:cxnLst/>
            <a:rect l="l" t="t" r="r" b="b"/>
            <a:pathLst>
              <a:path w="190500" h="304800">
                <a:moveTo>
                  <a:pt x="185202" y="138946"/>
                </a:moveTo>
                <a:cubicBezTo>
                  <a:pt x="192643" y="146387"/>
                  <a:pt x="192643" y="158472"/>
                  <a:pt x="185202" y="165914"/>
                </a:cubicBezTo>
                <a:lnTo>
                  <a:pt x="70902" y="280214"/>
                </a:lnTo>
                <a:cubicBezTo>
                  <a:pt x="63460" y="287655"/>
                  <a:pt x="51375" y="287655"/>
                  <a:pt x="43934" y="280214"/>
                </a:cubicBezTo>
                <a:cubicBezTo>
                  <a:pt x="36493" y="272772"/>
                  <a:pt x="36493" y="260687"/>
                  <a:pt x="43934" y="253246"/>
                </a:cubicBezTo>
                <a:lnTo>
                  <a:pt x="144780" y="152400"/>
                </a:lnTo>
                <a:lnTo>
                  <a:pt x="43994" y="51554"/>
                </a:lnTo>
                <a:cubicBezTo>
                  <a:pt x="36552" y="44113"/>
                  <a:pt x="36552" y="32028"/>
                  <a:pt x="43994" y="24586"/>
                </a:cubicBezTo>
                <a:cubicBezTo>
                  <a:pt x="51435" y="17145"/>
                  <a:pt x="63520" y="17145"/>
                  <a:pt x="70961" y="24586"/>
                </a:cubicBezTo>
                <a:lnTo>
                  <a:pt x="185261" y="138886"/>
                </a:lnTo>
                <a:close/>
              </a:path>
            </a:pathLst>
          </a:custGeom>
          <a:solidFill>
            <a:srgbClr val="99A1AF"/>
          </a:solidFill>
          <a:ln/>
        </p:spPr>
        <p:txBody>
          <a:bodyPr/>
          <a:lstStyle/>
          <a:p>
            <a:endParaRPr lang="zh-CN" altLang="en-US">
              <a:latin typeface="KaiTi" panose="02010609060101010101" pitchFamily="49" charset="-122"/>
              <a:ea typeface="KaiTi" panose="02010609060101010101" pitchFamily="49" charset="-122"/>
              <a:cs typeface="Calibri" panose="020F0502020204030204" pitchFamily="34" charset="0"/>
            </a:endParaRPr>
          </a:p>
        </p:txBody>
      </p:sp>
      <p:sp>
        <p:nvSpPr>
          <p:cNvPr id="22" name="Shape 19"/>
          <p:cNvSpPr/>
          <p:nvPr/>
        </p:nvSpPr>
        <p:spPr>
          <a:xfrm>
            <a:off x="10559455" y="2997200"/>
            <a:ext cx="400050" cy="457200"/>
          </a:xfrm>
          <a:custGeom>
            <a:avLst/>
            <a:gdLst/>
            <a:ahLst/>
            <a:cxnLst/>
            <a:rect l="l" t="t" r="r" b="b"/>
            <a:pathLst>
              <a:path w="400050" h="457200">
                <a:moveTo>
                  <a:pt x="57150" y="28575"/>
                </a:moveTo>
                <a:cubicBezTo>
                  <a:pt x="25628" y="28575"/>
                  <a:pt x="0" y="54203"/>
                  <a:pt x="0" y="85725"/>
                </a:cubicBezTo>
                <a:lnTo>
                  <a:pt x="0" y="232261"/>
                </a:lnTo>
                <a:cubicBezTo>
                  <a:pt x="16163" y="220920"/>
                  <a:pt x="35897" y="214313"/>
                  <a:pt x="57150" y="214313"/>
                </a:cubicBezTo>
                <a:lnTo>
                  <a:pt x="342900" y="214313"/>
                </a:lnTo>
                <a:cubicBezTo>
                  <a:pt x="364153" y="214313"/>
                  <a:pt x="383887" y="220920"/>
                  <a:pt x="400050" y="232261"/>
                </a:cubicBezTo>
                <a:lnTo>
                  <a:pt x="400050" y="85725"/>
                </a:lnTo>
                <a:cubicBezTo>
                  <a:pt x="400050" y="54203"/>
                  <a:pt x="374422" y="28575"/>
                  <a:pt x="342900" y="28575"/>
                </a:cubicBezTo>
                <a:lnTo>
                  <a:pt x="57150" y="28575"/>
                </a:lnTo>
                <a:close/>
                <a:moveTo>
                  <a:pt x="400050" y="314325"/>
                </a:moveTo>
                <a:cubicBezTo>
                  <a:pt x="400050" y="282803"/>
                  <a:pt x="374422" y="257175"/>
                  <a:pt x="342900" y="257175"/>
                </a:cubicBezTo>
                <a:lnTo>
                  <a:pt x="57150" y="257175"/>
                </a:lnTo>
                <a:cubicBezTo>
                  <a:pt x="25628" y="257175"/>
                  <a:pt x="0" y="282803"/>
                  <a:pt x="0" y="314325"/>
                </a:cubicBezTo>
                <a:lnTo>
                  <a:pt x="0" y="371475"/>
                </a:lnTo>
                <a:cubicBezTo>
                  <a:pt x="0" y="402997"/>
                  <a:pt x="25628" y="428625"/>
                  <a:pt x="57150" y="428625"/>
                </a:cubicBezTo>
                <a:lnTo>
                  <a:pt x="342900" y="428625"/>
                </a:lnTo>
                <a:cubicBezTo>
                  <a:pt x="374422" y="428625"/>
                  <a:pt x="400050" y="402997"/>
                  <a:pt x="400050" y="371475"/>
                </a:cubicBezTo>
                <a:lnTo>
                  <a:pt x="400050" y="314325"/>
                </a:lnTo>
                <a:close/>
                <a:moveTo>
                  <a:pt x="200025" y="342900"/>
                </a:moveTo>
                <a:cubicBezTo>
                  <a:pt x="200025" y="327129"/>
                  <a:pt x="212829" y="314325"/>
                  <a:pt x="228600" y="314325"/>
                </a:cubicBezTo>
                <a:cubicBezTo>
                  <a:pt x="244371" y="314325"/>
                  <a:pt x="257175" y="327129"/>
                  <a:pt x="257175" y="342900"/>
                </a:cubicBezTo>
                <a:cubicBezTo>
                  <a:pt x="257175" y="358671"/>
                  <a:pt x="244371" y="371475"/>
                  <a:pt x="228600" y="371475"/>
                </a:cubicBezTo>
                <a:cubicBezTo>
                  <a:pt x="212829" y="371475"/>
                  <a:pt x="200025" y="358671"/>
                  <a:pt x="200025" y="342900"/>
                </a:cubicBezTo>
                <a:close/>
                <a:moveTo>
                  <a:pt x="314325" y="314325"/>
                </a:moveTo>
                <a:cubicBezTo>
                  <a:pt x="330096" y="314325"/>
                  <a:pt x="342900" y="327129"/>
                  <a:pt x="342900" y="342900"/>
                </a:cubicBezTo>
                <a:cubicBezTo>
                  <a:pt x="342900" y="358671"/>
                  <a:pt x="330096" y="371475"/>
                  <a:pt x="314325" y="371475"/>
                </a:cubicBezTo>
                <a:cubicBezTo>
                  <a:pt x="298554" y="371475"/>
                  <a:pt x="285750" y="358671"/>
                  <a:pt x="285750" y="342900"/>
                </a:cubicBezTo>
                <a:cubicBezTo>
                  <a:pt x="285750" y="327129"/>
                  <a:pt x="298554" y="314325"/>
                  <a:pt x="314325" y="314325"/>
                </a:cubicBezTo>
                <a:close/>
              </a:path>
            </a:pathLst>
          </a:custGeom>
          <a:solidFill>
            <a:srgbClr val="A95EAF"/>
          </a:solidFill>
          <a:ln/>
        </p:spPr>
        <p:txBody>
          <a:bodyPr/>
          <a:lstStyle/>
          <a:p>
            <a:endParaRPr lang="zh-CN" altLang="en-US">
              <a:latin typeface="KaiTi" panose="02010609060101010101" pitchFamily="49" charset="-122"/>
              <a:ea typeface="KaiTi" panose="02010609060101010101" pitchFamily="49" charset="-122"/>
              <a:cs typeface="Calibri" panose="020F0502020204030204" pitchFamily="34" charset="0"/>
            </a:endParaRPr>
          </a:p>
        </p:txBody>
      </p:sp>
      <p:sp>
        <p:nvSpPr>
          <p:cNvPr id="23" name="Text 20"/>
          <p:cNvSpPr/>
          <p:nvPr/>
        </p:nvSpPr>
        <p:spPr>
          <a:xfrm>
            <a:off x="10506571" y="3556000"/>
            <a:ext cx="508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b="1" dirty="0">
                <a:solidFill>
                  <a:srgbClr val="3C3542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GFS</a:t>
            </a:r>
            <a:endParaRPr lang="en-US" sz="1600" dirty="0">
              <a:latin typeface="Calibri" panose="020F0502020204030204" pitchFamily="34" charset="0"/>
              <a:ea typeface="KaiTi" panose="02010609060101010101" pitchFamily="49" charset="-122"/>
              <a:cs typeface="Calibri" panose="020F0502020204030204" pitchFamily="34" charset="0"/>
            </a:endParaRPr>
          </a:p>
        </p:txBody>
      </p:sp>
      <p:sp>
        <p:nvSpPr>
          <p:cNvPr id="24" name="Text 21"/>
          <p:cNvSpPr/>
          <p:nvPr/>
        </p:nvSpPr>
        <p:spPr>
          <a:xfrm>
            <a:off x="10340380" y="3860800"/>
            <a:ext cx="8382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200" dirty="0">
                <a:solidFill>
                  <a:srgbClr val="3C3542"/>
                </a:solidFill>
                <a:latin typeface="KaiTi" panose="02010609060101010101" pitchFamily="49" charset="-122"/>
                <a:ea typeface="KaiTi" panose="02010609060101010101" pitchFamily="49" charset="-122"/>
                <a:cs typeface="Calibri" panose="020F0502020204030204" pitchFamily="34" charset="0"/>
              </a:rPr>
              <a:t>持久化存储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  <a:cs typeface="Calibri" panose="020F0502020204030204" pitchFamily="34" charset="0"/>
            </a:endParaRPr>
          </a:p>
        </p:txBody>
      </p:sp>
      <p:sp>
        <p:nvSpPr>
          <p:cNvPr id="25" name="Text 22"/>
          <p:cNvSpPr/>
          <p:nvPr/>
        </p:nvSpPr>
        <p:spPr>
          <a:xfrm>
            <a:off x="203200" y="4470400"/>
            <a:ext cx="11785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dirty="0">
                <a:solidFill>
                  <a:srgbClr val="3C3542"/>
                </a:solidFill>
                <a:latin typeface="KaiTi" panose="02010609060101010101" pitchFamily="49" charset="-122"/>
                <a:ea typeface="KaiTi" panose="02010609060101010101" pitchFamily="49" charset="-122"/>
                <a:cs typeface="Calibri" panose="020F0502020204030204" pitchFamily="34" charset="0"/>
              </a:rPr>
              <a:t>各层职责清晰，通过</a:t>
            </a:r>
            <a:r>
              <a:rPr lang="en-US" sz="1600" dirty="0">
                <a:solidFill>
                  <a:srgbClr val="A95EAF"/>
                </a:solidFill>
                <a:highlight>
                  <a:srgbClr val="A95EAF">
                    <a:alpha val="20000"/>
                  </a:srgbClr>
                </a:highlight>
                <a:latin typeface="KaiTi" panose="02010609060101010101" pitchFamily="49" charset="-122"/>
                <a:ea typeface="KaiTi" panose="02010609060101010101" pitchFamily="49" charset="-122"/>
                <a:cs typeface="Calibri" panose="020F0502020204030204" pitchFamily="34" charset="0"/>
              </a:rPr>
              <a:t> 松耦合协作 </a:t>
            </a:r>
            <a:r>
              <a:rPr lang="en-US" sz="1600" dirty="0">
                <a:solidFill>
                  <a:srgbClr val="3C3542"/>
                </a:solidFill>
                <a:latin typeface="KaiTi" panose="02010609060101010101" pitchFamily="49" charset="-122"/>
                <a:ea typeface="KaiTi" panose="02010609060101010101" pitchFamily="49" charset="-122"/>
                <a:cs typeface="Calibri" panose="020F0502020204030204" pitchFamily="34" charset="0"/>
              </a:rPr>
              <a:t>，共同构建高可用、可扩展的分布式存储服务。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  <a:cs typeface="Calibri" panose="020F0502020204030204" pitchFamily="34" charset="0"/>
            </a:endParaRPr>
          </a:p>
        </p:txBody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 rot="5940000">
            <a:off x="367665" y="335915"/>
            <a:ext cx="558800" cy="59499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t"/>
          <a:lstStyle/>
          <a:p>
            <a:pPr>
              <a:lnSpc>
                <a:spcPct val="100000"/>
              </a:lnSpc>
            </a:pP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5" name="Text 2"/>
          <p:cNvSpPr/>
          <p:nvPr/>
        </p:nvSpPr>
        <p:spPr>
          <a:xfrm>
            <a:off x="254000" y="1168400"/>
            <a:ext cx="678793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b="1" dirty="0" err="1">
                <a:solidFill>
                  <a:srgbClr val="8F5C9A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TabletServer</a:t>
            </a:r>
            <a:r>
              <a:rPr lang="en-US" sz="3600" b="1" dirty="0">
                <a:solidFill>
                  <a:srgbClr val="8F5C9A"/>
                </a:solidFill>
                <a:latin typeface="KaiTi" panose="02010609060101010101" pitchFamily="49" charset="-122"/>
                <a:ea typeface="KaiTi" panose="02010609060101010101" pitchFamily="49" charset="-122"/>
                <a:cs typeface="Noto Sans SC" pitchFamily="34" charset="-120"/>
              </a:rPr>
              <a:t> </a:t>
            </a:r>
            <a:r>
              <a:rPr lang="en-US" sz="3600" b="1" dirty="0" err="1">
                <a:solidFill>
                  <a:srgbClr val="8F5C9A"/>
                </a:solidFill>
                <a:latin typeface="KaiTi" panose="02010609060101010101" pitchFamily="49" charset="-122"/>
                <a:ea typeface="KaiTi" panose="02010609060101010101" pitchFamily="49" charset="-122"/>
                <a:cs typeface="Noto Sans SC" pitchFamily="34" charset="-120"/>
              </a:rPr>
              <a:t>的读写并发模型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6" name="Text 3"/>
          <p:cNvSpPr/>
          <p:nvPr/>
        </p:nvSpPr>
        <p:spPr>
          <a:xfrm>
            <a:off x="253999" y="2387600"/>
            <a:ext cx="6787929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 err="1">
                <a:solidFill>
                  <a:srgbClr val="3C3542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TabletServer</a:t>
            </a:r>
            <a:r>
              <a:rPr lang="en-US" sz="1600" dirty="0">
                <a:solidFill>
                  <a:srgbClr val="3C3542"/>
                </a:solidFill>
                <a:latin typeface="KaiTi" panose="02010609060101010101" pitchFamily="49" charset="-122"/>
                <a:ea typeface="KaiTi" panose="02010609060101010101" pitchFamily="49" charset="-122"/>
                <a:cs typeface="Noto Sans SC" pitchFamily="34" charset="-120"/>
              </a:rPr>
              <a:t> </a:t>
            </a:r>
            <a:r>
              <a:rPr lang="en-US" sz="1600" dirty="0" err="1">
                <a:solidFill>
                  <a:srgbClr val="3C3542"/>
                </a:solidFill>
                <a:latin typeface="KaiTi" panose="02010609060101010101" pitchFamily="49" charset="-122"/>
                <a:ea typeface="KaiTi" panose="02010609060101010101" pitchFamily="49" charset="-122"/>
                <a:cs typeface="Noto Sans SC" pitchFamily="34" charset="-120"/>
              </a:rPr>
              <a:t>是数据读写的第一入口，其并发模型是性能的关键</a:t>
            </a:r>
            <a:r>
              <a:rPr lang="en-US" sz="1600" dirty="0">
                <a:solidFill>
                  <a:srgbClr val="3C3542"/>
                </a:solidFill>
                <a:latin typeface="KaiTi" panose="02010609060101010101" pitchFamily="49" charset="-122"/>
                <a:ea typeface="KaiTi" panose="02010609060101010101" pitchFamily="49" charset="-122"/>
                <a:cs typeface="Noto Sans SC" pitchFamily="34" charset="-120"/>
              </a:rPr>
              <a:t>。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7" name="Shape 4"/>
          <p:cNvSpPr/>
          <p:nvPr/>
        </p:nvSpPr>
        <p:spPr>
          <a:xfrm>
            <a:off x="253999" y="3200400"/>
            <a:ext cx="8984593" cy="1168400"/>
          </a:xfrm>
          <a:custGeom>
            <a:avLst/>
            <a:gdLst/>
            <a:ahLst/>
            <a:cxnLst/>
            <a:rect l="l" t="t" r="r" b="b"/>
            <a:pathLst>
              <a:path w="5537200" h="1168400">
                <a:moveTo>
                  <a:pt x="101604" y="0"/>
                </a:moveTo>
                <a:lnTo>
                  <a:pt x="5435596" y="0"/>
                </a:lnTo>
                <a:cubicBezTo>
                  <a:pt x="5491710" y="0"/>
                  <a:pt x="5537200" y="45490"/>
                  <a:pt x="5537200" y="101604"/>
                </a:cubicBezTo>
                <a:lnTo>
                  <a:pt x="5537200" y="1066796"/>
                </a:lnTo>
                <a:cubicBezTo>
                  <a:pt x="5537200" y="1122910"/>
                  <a:pt x="5491710" y="1168400"/>
                  <a:pt x="5435596" y="1168400"/>
                </a:cubicBezTo>
                <a:lnTo>
                  <a:pt x="101604" y="1168400"/>
                </a:lnTo>
                <a:cubicBezTo>
                  <a:pt x="45490" y="1168400"/>
                  <a:pt x="0" y="1122910"/>
                  <a:pt x="0" y="1066796"/>
                </a:cubicBezTo>
                <a:lnTo>
                  <a:pt x="0" y="101604"/>
                </a:lnTo>
                <a:cubicBezTo>
                  <a:pt x="0" y="45527"/>
                  <a:pt x="45527" y="0"/>
                  <a:pt x="101604" y="0"/>
                </a:cubicBezTo>
                <a:close/>
              </a:path>
            </a:pathLst>
          </a:custGeom>
          <a:solidFill>
            <a:srgbClr val="D3B9D7">
              <a:alpha val="25098"/>
            </a:srgbClr>
          </a:solidFill>
          <a:ln/>
        </p:spPr>
        <p:txBody>
          <a:bodyPr/>
          <a:lstStyle/>
          <a:p>
            <a:endParaRPr lang="zh-CN" altLang="en-US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8" name="Text 5"/>
          <p:cNvSpPr/>
          <p:nvPr/>
        </p:nvSpPr>
        <p:spPr>
          <a:xfrm>
            <a:off x="406400" y="3352800"/>
            <a:ext cx="53467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A95EAF"/>
                </a:solidFill>
                <a:latin typeface="KaiTi" panose="02010609060101010101" pitchFamily="49" charset="-122"/>
                <a:ea typeface="KaiTi" panose="02010609060101010101" pitchFamily="49" charset="-122"/>
                <a:cs typeface="Noto Sans SC" pitchFamily="34" charset="-120"/>
              </a:rPr>
              <a:t>写路径 (串行化)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9" name="Text 6"/>
          <p:cNvSpPr/>
          <p:nvPr/>
        </p:nvSpPr>
        <p:spPr>
          <a:xfrm>
            <a:off x="406399" y="3708400"/>
            <a:ext cx="6635531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 err="1">
                <a:solidFill>
                  <a:srgbClr val="3C3542"/>
                </a:solidFill>
                <a:latin typeface="KaiTi" panose="02010609060101010101" pitchFamily="49" charset="-122"/>
                <a:ea typeface="KaiTi" panose="02010609060101010101" pitchFamily="49" charset="-122"/>
                <a:cs typeface="Noto Sans SC" pitchFamily="34" charset="-120"/>
              </a:rPr>
              <a:t>追加</a:t>
            </a:r>
            <a:r>
              <a:rPr lang="en-US" sz="1400" dirty="0">
                <a:solidFill>
                  <a:srgbClr val="3C3542"/>
                </a:solidFill>
                <a:latin typeface="KaiTi" panose="02010609060101010101" pitchFamily="49" charset="-122"/>
                <a:ea typeface="KaiTi" panose="02010609060101010101" pitchFamily="49" charset="-122"/>
                <a:cs typeface="Noto Sans SC" pitchFamily="34" charset="-120"/>
              </a:rPr>
              <a:t> </a:t>
            </a:r>
            <a:r>
              <a:rPr lang="en-US" sz="1400" dirty="0">
                <a:solidFill>
                  <a:srgbClr val="3C3542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WAL</a:t>
            </a:r>
            <a:r>
              <a:rPr lang="en-US" sz="1400" dirty="0">
                <a:solidFill>
                  <a:srgbClr val="3C3542"/>
                </a:solidFill>
                <a:latin typeface="KaiTi" panose="02010609060101010101" pitchFamily="49" charset="-122"/>
                <a:ea typeface="KaiTi" panose="02010609060101010101" pitchFamily="49" charset="-122"/>
                <a:cs typeface="Noto Sans SC" pitchFamily="34" charset="-120"/>
              </a:rPr>
              <a:t> → </a:t>
            </a:r>
            <a:r>
              <a:rPr lang="en-US" sz="1400" dirty="0" err="1">
                <a:solidFill>
                  <a:srgbClr val="3C3542"/>
                </a:solidFill>
                <a:latin typeface="KaiTi" panose="02010609060101010101" pitchFamily="49" charset="-122"/>
                <a:ea typeface="KaiTi" panose="02010609060101010101" pitchFamily="49" charset="-122"/>
                <a:cs typeface="Noto Sans SC" pitchFamily="34" charset="-120"/>
              </a:rPr>
              <a:t>写</a:t>
            </a:r>
            <a:r>
              <a:rPr lang="en-US" sz="1400" dirty="0">
                <a:solidFill>
                  <a:srgbClr val="3C3542"/>
                </a:solidFill>
                <a:latin typeface="KaiTi" panose="02010609060101010101" pitchFamily="49" charset="-122"/>
                <a:ea typeface="KaiTi" panose="02010609060101010101" pitchFamily="49" charset="-122"/>
                <a:cs typeface="Noto Sans SC" pitchFamily="34" charset="-120"/>
              </a:rPr>
              <a:t> </a:t>
            </a:r>
            <a:r>
              <a:rPr lang="en-US" sz="1400" dirty="0" err="1">
                <a:solidFill>
                  <a:srgbClr val="3C3542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MemTable</a:t>
            </a:r>
            <a:r>
              <a:rPr lang="en-US" sz="1400" dirty="0" err="1">
                <a:solidFill>
                  <a:srgbClr val="3C3542"/>
                </a:solidFill>
                <a:latin typeface="KaiTi" panose="02010609060101010101" pitchFamily="49" charset="-122"/>
                <a:ea typeface="KaiTi" panose="02010609060101010101" pitchFamily="49" charset="-122"/>
                <a:cs typeface="Noto Sans SC" pitchFamily="34" charset="-120"/>
              </a:rPr>
              <a:t>。行锁仅在内存跳表插入阶段，</a:t>
            </a:r>
            <a:r>
              <a:rPr lang="en-US" sz="1400" b="1" dirty="0" err="1">
                <a:solidFill>
                  <a:srgbClr val="3C3542"/>
                </a:solidFill>
                <a:latin typeface="KaiTi" panose="02010609060101010101" pitchFamily="49" charset="-122"/>
                <a:ea typeface="KaiTi" panose="02010609060101010101" pitchFamily="49" charset="-122"/>
                <a:cs typeface="Noto Sans SC" pitchFamily="34" charset="-120"/>
              </a:rPr>
              <a:t>高并发写入</a:t>
            </a:r>
            <a:r>
              <a:rPr lang="en-US" sz="1400" dirty="0">
                <a:solidFill>
                  <a:srgbClr val="3C3542"/>
                </a:solidFill>
                <a:latin typeface="KaiTi" panose="02010609060101010101" pitchFamily="49" charset="-122"/>
                <a:ea typeface="KaiTi" panose="02010609060101010101" pitchFamily="49" charset="-122"/>
                <a:cs typeface="Noto Sans SC" pitchFamily="34" charset="-120"/>
              </a:rPr>
              <a:t>。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254000" y="4521200"/>
            <a:ext cx="8984592" cy="1168400"/>
          </a:xfrm>
          <a:custGeom>
            <a:avLst/>
            <a:gdLst/>
            <a:ahLst/>
            <a:cxnLst/>
            <a:rect l="l" t="t" r="r" b="b"/>
            <a:pathLst>
              <a:path w="5537200" h="1168400">
                <a:moveTo>
                  <a:pt x="101604" y="0"/>
                </a:moveTo>
                <a:lnTo>
                  <a:pt x="5435596" y="0"/>
                </a:lnTo>
                <a:cubicBezTo>
                  <a:pt x="5491710" y="0"/>
                  <a:pt x="5537200" y="45490"/>
                  <a:pt x="5537200" y="101604"/>
                </a:cubicBezTo>
                <a:lnTo>
                  <a:pt x="5537200" y="1066796"/>
                </a:lnTo>
                <a:cubicBezTo>
                  <a:pt x="5537200" y="1122910"/>
                  <a:pt x="5491710" y="1168400"/>
                  <a:pt x="5435596" y="1168400"/>
                </a:cubicBezTo>
                <a:lnTo>
                  <a:pt x="101604" y="1168400"/>
                </a:lnTo>
                <a:cubicBezTo>
                  <a:pt x="45490" y="1168400"/>
                  <a:pt x="0" y="1122910"/>
                  <a:pt x="0" y="1066796"/>
                </a:cubicBezTo>
                <a:lnTo>
                  <a:pt x="0" y="101604"/>
                </a:lnTo>
                <a:cubicBezTo>
                  <a:pt x="0" y="45527"/>
                  <a:pt x="45527" y="0"/>
                  <a:pt x="101604" y="0"/>
                </a:cubicBezTo>
                <a:close/>
              </a:path>
            </a:pathLst>
          </a:custGeom>
          <a:solidFill>
            <a:srgbClr val="D3B9D7">
              <a:alpha val="25098"/>
            </a:srgbClr>
          </a:solidFill>
          <a:ln/>
        </p:spPr>
        <p:txBody>
          <a:bodyPr/>
          <a:lstStyle/>
          <a:p>
            <a:endParaRPr lang="zh-CN" altLang="en-US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11" name="Text 8"/>
          <p:cNvSpPr/>
          <p:nvPr/>
        </p:nvSpPr>
        <p:spPr>
          <a:xfrm>
            <a:off x="406400" y="4673600"/>
            <a:ext cx="53467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A95EAF"/>
                </a:solidFill>
                <a:latin typeface="KaiTi" panose="02010609060101010101" pitchFamily="49" charset="-122"/>
                <a:ea typeface="KaiTi" panose="02010609060101010101" pitchFamily="49" charset="-122"/>
                <a:cs typeface="Noto Sans SC" pitchFamily="34" charset="-120"/>
              </a:rPr>
              <a:t>读路径 (并行化)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12" name="Text 9"/>
          <p:cNvSpPr/>
          <p:nvPr/>
        </p:nvSpPr>
        <p:spPr>
          <a:xfrm>
            <a:off x="406399" y="5029200"/>
            <a:ext cx="6887779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 err="1">
                <a:solidFill>
                  <a:srgbClr val="3C3542"/>
                </a:solidFill>
                <a:latin typeface="KaiTi" panose="02010609060101010101" pitchFamily="49" charset="-122"/>
                <a:ea typeface="KaiTi" panose="02010609060101010101" pitchFamily="49" charset="-122"/>
                <a:cs typeface="Noto Sans SC" pitchFamily="34" charset="-120"/>
              </a:rPr>
              <a:t>并行查询</a:t>
            </a:r>
            <a:r>
              <a:rPr lang="en-US" sz="1400" dirty="0">
                <a:solidFill>
                  <a:srgbClr val="3C3542"/>
                </a:solidFill>
                <a:latin typeface="KaiTi" panose="02010609060101010101" pitchFamily="49" charset="-122"/>
                <a:ea typeface="KaiTi" panose="02010609060101010101" pitchFamily="49" charset="-122"/>
                <a:cs typeface="Noto Sans SC" pitchFamily="34" charset="-120"/>
              </a:rPr>
              <a:t> </a:t>
            </a:r>
            <a:r>
              <a:rPr lang="en-US" sz="1400" dirty="0" err="1">
                <a:solidFill>
                  <a:srgbClr val="3C3542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MemTable</a:t>
            </a:r>
            <a:r>
              <a:rPr lang="en-US" sz="1400" dirty="0" err="1">
                <a:solidFill>
                  <a:srgbClr val="3C3542"/>
                </a:solidFill>
                <a:latin typeface="KaiTi" panose="02010609060101010101" pitchFamily="49" charset="-122"/>
                <a:ea typeface="KaiTi" panose="02010609060101010101" pitchFamily="49" charset="-122"/>
                <a:cs typeface="Noto Sans SC" pitchFamily="34" charset="-120"/>
              </a:rPr>
              <a:t>、</a:t>
            </a:r>
            <a:r>
              <a:rPr lang="en-US" sz="1400" dirty="0" err="1">
                <a:solidFill>
                  <a:srgbClr val="3C3542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immutable</a:t>
            </a:r>
            <a:r>
              <a:rPr lang="en-US" sz="1400" dirty="0">
                <a:solidFill>
                  <a:srgbClr val="3C3542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 </a:t>
            </a:r>
            <a:r>
              <a:rPr lang="en-US" sz="1400" dirty="0" err="1">
                <a:solidFill>
                  <a:srgbClr val="3C3542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MemTable</a:t>
            </a:r>
            <a:r>
              <a:rPr lang="en-US" sz="1400" dirty="0" err="1">
                <a:solidFill>
                  <a:srgbClr val="3C3542"/>
                </a:solidFill>
                <a:latin typeface="KaiTi" panose="02010609060101010101" pitchFamily="49" charset="-122"/>
                <a:ea typeface="KaiTi" panose="02010609060101010101" pitchFamily="49" charset="-122"/>
                <a:cs typeface="Noto Sans SC" pitchFamily="34" charset="-120"/>
              </a:rPr>
              <a:t>、多</a:t>
            </a:r>
            <a:r>
              <a:rPr lang="en-US" sz="1400" dirty="0">
                <a:solidFill>
                  <a:srgbClr val="3C3542"/>
                </a:solidFill>
                <a:latin typeface="KaiTi" panose="02010609060101010101" pitchFamily="49" charset="-122"/>
                <a:ea typeface="KaiTi" panose="02010609060101010101" pitchFamily="49" charset="-122"/>
                <a:cs typeface="Noto Sans SC" pitchFamily="34" charset="-120"/>
              </a:rPr>
              <a:t> </a:t>
            </a:r>
            <a:r>
              <a:rPr lang="en-US" sz="1400" dirty="0">
                <a:solidFill>
                  <a:srgbClr val="3C3542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Level SSTable</a:t>
            </a:r>
            <a:r>
              <a:rPr lang="en-US" sz="1400" dirty="0">
                <a:solidFill>
                  <a:srgbClr val="3C3542"/>
                </a:solidFill>
                <a:latin typeface="KaiTi" panose="02010609060101010101" pitchFamily="49" charset="-122"/>
                <a:ea typeface="KaiTi" panose="02010609060101010101" pitchFamily="49" charset="-122"/>
                <a:cs typeface="Noto Sans SC" pitchFamily="34" charset="-120"/>
              </a:rPr>
              <a:t>，</a:t>
            </a:r>
            <a:r>
              <a:rPr lang="en-US" sz="1400" b="1" dirty="0">
                <a:solidFill>
                  <a:srgbClr val="3C3542"/>
                </a:solidFill>
                <a:latin typeface="KaiTi" panose="02010609060101010101" pitchFamily="49" charset="-122"/>
                <a:ea typeface="KaiTi" panose="02010609060101010101" pitchFamily="49" charset="-122"/>
                <a:cs typeface="Noto Sans SC" pitchFamily="34" charset="-120"/>
              </a:rPr>
              <a:t>低延迟读取</a:t>
            </a:r>
            <a:r>
              <a:rPr lang="en-US" sz="1400" dirty="0">
                <a:solidFill>
                  <a:srgbClr val="3C3542"/>
                </a:solidFill>
                <a:latin typeface="KaiTi" panose="02010609060101010101" pitchFamily="49" charset="-122"/>
                <a:ea typeface="KaiTi" panose="02010609060101010101" pitchFamily="49" charset="-122"/>
                <a:cs typeface="Noto Sans SC" pitchFamily="34" charset="-120"/>
              </a:rPr>
              <a:t>。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2"/>
          <p:cNvSpPr/>
          <p:nvPr/>
        </p:nvSpPr>
        <p:spPr>
          <a:xfrm>
            <a:off x="139700" y="1930400"/>
            <a:ext cx="11912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3600" b="1" dirty="0">
                <a:solidFill>
                  <a:srgbClr val="8F5C9A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Master</a:t>
            </a:r>
            <a:r>
              <a:rPr lang="en-US" sz="3600" b="1" dirty="0">
                <a:solidFill>
                  <a:srgbClr val="8F5C9A"/>
                </a:solidFill>
                <a:latin typeface="KaiTi" panose="02010609060101010101" pitchFamily="49" charset="-122"/>
                <a:ea typeface="KaiTi" panose="02010609060101010101" pitchFamily="49" charset="-122"/>
                <a:cs typeface="Noto Sans SC" pitchFamily="34" charset="-120"/>
              </a:rPr>
              <a:t> </a:t>
            </a:r>
            <a:r>
              <a:rPr lang="en-US" sz="3600" b="1" dirty="0" err="1">
                <a:solidFill>
                  <a:srgbClr val="8F5C9A"/>
                </a:solidFill>
                <a:latin typeface="KaiTi" panose="02010609060101010101" pitchFamily="49" charset="-122"/>
                <a:ea typeface="KaiTi" panose="02010609060101010101" pitchFamily="49" charset="-122"/>
                <a:cs typeface="Noto Sans SC" pitchFamily="34" charset="-120"/>
              </a:rPr>
              <a:t>的轻量级调度与无状态设计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6" name="Shape 3"/>
          <p:cNvSpPr/>
          <p:nvPr/>
        </p:nvSpPr>
        <p:spPr>
          <a:xfrm>
            <a:off x="254000" y="2768600"/>
            <a:ext cx="3695700" cy="2133600"/>
          </a:xfrm>
          <a:custGeom>
            <a:avLst/>
            <a:gdLst/>
            <a:ahLst/>
            <a:cxnLst/>
            <a:rect l="l" t="t" r="r" b="b"/>
            <a:pathLst>
              <a:path w="3695700" h="2133600">
                <a:moveTo>
                  <a:pt x="101602" y="0"/>
                </a:moveTo>
                <a:lnTo>
                  <a:pt x="3594098" y="0"/>
                </a:lnTo>
                <a:cubicBezTo>
                  <a:pt x="3650211" y="0"/>
                  <a:pt x="3695700" y="45489"/>
                  <a:pt x="3695700" y="101602"/>
                </a:cubicBezTo>
                <a:lnTo>
                  <a:pt x="3695700" y="2031998"/>
                </a:lnTo>
                <a:cubicBezTo>
                  <a:pt x="3695700" y="2088111"/>
                  <a:pt x="3650211" y="2133600"/>
                  <a:pt x="3594098" y="2133600"/>
                </a:cubicBezTo>
                <a:lnTo>
                  <a:pt x="101602" y="2133600"/>
                </a:lnTo>
                <a:cubicBezTo>
                  <a:pt x="45489" y="2133600"/>
                  <a:pt x="0" y="2088111"/>
                  <a:pt x="0" y="20319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D3B9D7">
              <a:alpha val="25098"/>
            </a:srgbClr>
          </a:solidFill>
          <a:ln/>
        </p:spPr>
        <p:txBody>
          <a:bodyPr/>
          <a:lstStyle/>
          <a:p>
            <a:endParaRPr lang="zh-CN" altLang="en-US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7" name="Shape 4"/>
          <p:cNvSpPr/>
          <p:nvPr/>
        </p:nvSpPr>
        <p:spPr>
          <a:xfrm>
            <a:off x="1794371" y="29718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565904" y="119"/>
                </a:moveTo>
                <a:cubicBezTo>
                  <a:pt x="577691" y="-833"/>
                  <a:pt x="589240" y="3691"/>
                  <a:pt x="597575" y="12025"/>
                </a:cubicBezTo>
                <a:cubicBezTo>
                  <a:pt x="605909" y="20360"/>
                  <a:pt x="610433" y="31909"/>
                  <a:pt x="609481" y="43696"/>
                </a:cubicBezTo>
                <a:cubicBezTo>
                  <a:pt x="604718" y="102394"/>
                  <a:pt x="588764" y="193953"/>
                  <a:pt x="554355" y="281464"/>
                </a:cubicBezTo>
                <a:cubicBezTo>
                  <a:pt x="552212" y="286822"/>
                  <a:pt x="547807" y="290870"/>
                  <a:pt x="542211" y="292537"/>
                </a:cubicBezTo>
                <a:lnTo>
                  <a:pt x="445889" y="321469"/>
                </a:lnTo>
                <a:cubicBezTo>
                  <a:pt x="441246" y="322898"/>
                  <a:pt x="438150" y="327065"/>
                  <a:pt x="438150" y="331946"/>
                </a:cubicBezTo>
                <a:cubicBezTo>
                  <a:pt x="438150" y="338018"/>
                  <a:pt x="443032" y="342900"/>
                  <a:pt x="449104" y="342900"/>
                </a:cubicBezTo>
                <a:lnTo>
                  <a:pt x="495062" y="342900"/>
                </a:lnTo>
                <a:cubicBezTo>
                  <a:pt x="509349" y="342900"/>
                  <a:pt x="518517" y="358140"/>
                  <a:pt x="511135" y="370403"/>
                </a:cubicBezTo>
                <a:cubicBezTo>
                  <a:pt x="506373" y="378381"/>
                  <a:pt x="501253" y="386120"/>
                  <a:pt x="496014" y="393740"/>
                </a:cubicBezTo>
                <a:cubicBezTo>
                  <a:pt x="493633" y="397193"/>
                  <a:pt x="490061" y="399693"/>
                  <a:pt x="486013" y="401003"/>
                </a:cubicBezTo>
                <a:lnTo>
                  <a:pt x="369689" y="435769"/>
                </a:lnTo>
                <a:cubicBezTo>
                  <a:pt x="365046" y="437197"/>
                  <a:pt x="361950" y="441365"/>
                  <a:pt x="361950" y="446246"/>
                </a:cubicBezTo>
                <a:cubicBezTo>
                  <a:pt x="361950" y="452318"/>
                  <a:pt x="366832" y="457200"/>
                  <a:pt x="372904" y="457200"/>
                </a:cubicBezTo>
                <a:lnTo>
                  <a:pt x="391954" y="457200"/>
                </a:lnTo>
                <a:cubicBezTo>
                  <a:pt x="409337" y="457200"/>
                  <a:pt x="416957" y="477917"/>
                  <a:pt x="402431" y="487442"/>
                </a:cubicBezTo>
                <a:cubicBezTo>
                  <a:pt x="321469" y="541020"/>
                  <a:pt x="238482" y="538996"/>
                  <a:pt x="185261" y="524708"/>
                </a:cubicBezTo>
                <a:cubicBezTo>
                  <a:pt x="170140" y="520660"/>
                  <a:pt x="156686" y="512921"/>
                  <a:pt x="144304" y="503396"/>
                </a:cubicBezTo>
                <a:lnTo>
                  <a:pt x="57150" y="590550"/>
                </a:lnTo>
                <a:cubicBezTo>
                  <a:pt x="46673" y="601028"/>
                  <a:pt x="29527" y="601028"/>
                  <a:pt x="19050" y="590550"/>
                </a:cubicBezTo>
                <a:cubicBezTo>
                  <a:pt x="8573" y="580073"/>
                  <a:pt x="8573" y="562928"/>
                  <a:pt x="19050" y="552450"/>
                </a:cubicBezTo>
                <a:lnTo>
                  <a:pt x="114300" y="457200"/>
                </a:lnTo>
                <a:lnTo>
                  <a:pt x="114895" y="457795"/>
                </a:lnTo>
                <a:cubicBezTo>
                  <a:pt x="115729" y="456247"/>
                  <a:pt x="116800" y="454819"/>
                  <a:pt x="118110" y="453509"/>
                </a:cubicBezTo>
                <a:lnTo>
                  <a:pt x="304800" y="266700"/>
                </a:lnTo>
                <a:cubicBezTo>
                  <a:pt x="315278" y="256223"/>
                  <a:pt x="315278" y="239078"/>
                  <a:pt x="304800" y="228600"/>
                </a:cubicBezTo>
                <a:cubicBezTo>
                  <a:pt x="294322" y="218123"/>
                  <a:pt x="277178" y="218123"/>
                  <a:pt x="266700" y="228600"/>
                </a:cubicBezTo>
                <a:lnTo>
                  <a:pt x="106799" y="388382"/>
                </a:lnTo>
                <a:cubicBezTo>
                  <a:pt x="96203" y="398978"/>
                  <a:pt x="78224" y="393621"/>
                  <a:pt x="77033" y="378619"/>
                </a:cubicBezTo>
                <a:cubicBezTo>
                  <a:pt x="71914" y="315278"/>
                  <a:pt x="88106" y="232053"/>
                  <a:pt x="163473" y="156686"/>
                </a:cubicBezTo>
                <a:cubicBezTo>
                  <a:pt x="271939" y="48220"/>
                  <a:pt x="466130" y="8215"/>
                  <a:pt x="565785" y="119"/>
                </a:cubicBezTo>
                <a:close/>
              </a:path>
            </a:pathLst>
          </a:custGeom>
          <a:solidFill>
            <a:srgbClr val="A95EAF"/>
          </a:solidFill>
          <a:ln/>
        </p:spPr>
        <p:txBody>
          <a:bodyPr/>
          <a:lstStyle/>
          <a:p>
            <a:endParaRPr lang="zh-CN" altLang="en-US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8" name="Text 5"/>
          <p:cNvSpPr/>
          <p:nvPr/>
        </p:nvSpPr>
        <p:spPr>
          <a:xfrm>
            <a:off x="393700" y="3733800"/>
            <a:ext cx="34163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3C3542"/>
                </a:solidFill>
                <a:latin typeface="KaiTi" panose="02010609060101010101" pitchFamily="49" charset="-122"/>
                <a:ea typeface="KaiTi" panose="02010609060101010101" pitchFamily="49" charset="-122"/>
                <a:cs typeface="Noto Sans SC" pitchFamily="34" charset="-120"/>
              </a:rPr>
              <a:t>轻量级调度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9" name="Text 6"/>
          <p:cNvSpPr/>
          <p:nvPr/>
        </p:nvSpPr>
        <p:spPr>
          <a:xfrm>
            <a:off x="412750" y="4191000"/>
            <a:ext cx="33782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 err="1">
                <a:solidFill>
                  <a:srgbClr val="3C3542"/>
                </a:solidFill>
                <a:latin typeface="KaiTi" panose="02010609060101010101" pitchFamily="49" charset="-122"/>
                <a:ea typeface="KaiTi" panose="02010609060101010101" pitchFamily="49" charset="-122"/>
                <a:cs typeface="Noto Sans SC" pitchFamily="34" charset="-120"/>
              </a:rPr>
              <a:t>不承载数据流量，仅负责</a:t>
            </a:r>
            <a:r>
              <a:rPr lang="en-US" sz="1400" b="1" dirty="0" err="1">
                <a:solidFill>
                  <a:srgbClr val="3C3542"/>
                </a:solidFill>
                <a:latin typeface="KaiTi" panose="02010609060101010101" pitchFamily="49" charset="-122"/>
                <a:ea typeface="KaiTi" panose="02010609060101010101" pitchFamily="49" charset="-122"/>
                <a:cs typeface="Noto Sans SC" pitchFamily="34" charset="-120"/>
              </a:rPr>
              <a:t>负载视图与调度决策</a:t>
            </a:r>
            <a:r>
              <a:rPr lang="en-US" sz="1400" dirty="0" err="1">
                <a:solidFill>
                  <a:srgbClr val="3C3542"/>
                </a:solidFill>
                <a:latin typeface="KaiTi" panose="02010609060101010101" pitchFamily="49" charset="-122"/>
                <a:ea typeface="KaiTi" panose="02010609060101010101" pitchFamily="49" charset="-122"/>
                <a:cs typeface="Noto Sans SC" pitchFamily="34" charset="-120"/>
              </a:rPr>
              <a:t>，通过</a:t>
            </a:r>
            <a:r>
              <a:rPr lang="en-US" sz="1400" dirty="0">
                <a:solidFill>
                  <a:srgbClr val="3C3542"/>
                </a:solidFill>
                <a:latin typeface="KaiTi" panose="02010609060101010101" pitchFamily="49" charset="-122"/>
                <a:ea typeface="KaiTi" panose="02010609060101010101" pitchFamily="49" charset="-122"/>
                <a:cs typeface="Noto Sans SC" pitchFamily="34" charset="-120"/>
              </a:rPr>
              <a:t> </a:t>
            </a:r>
            <a:r>
              <a:rPr lang="en-US" sz="1400" dirty="0">
                <a:solidFill>
                  <a:srgbClr val="3C3542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Chubby</a:t>
            </a:r>
            <a:r>
              <a:rPr lang="en-US" sz="1400" dirty="0">
                <a:solidFill>
                  <a:srgbClr val="3C3542"/>
                </a:solidFill>
                <a:latin typeface="KaiTi" panose="02010609060101010101" pitchFamily="49" charset="-122"/>
                <a:ea typeface="KaiTi" panose="02010609060101010101" pitchFamily="49" charset="-122"/>
                <a:cs typeface="Noto Sans SC" pitchFamily="34" charset="-120"/>
              </a:rPr>
              <a:t> </a:t>
            </a:r>
            <a:r>
              <a:rPr lang="en-US" sz="1400" dirty="0" err="1">
                <a:solidFill>
                  <a:srgbClr val="3C3542"/>
                </a:solidFill>
                <a:latin typeface="KaiTi" panose="02010609060101010101" pitchFamily="49" charset="-122"/>
                <a:ea typeface="KaiTi" panose="02010609060101010101" pitchFamily="49" charset="-122"/>
                <a:cs typeface="Noto Sans SC" pitchFamily="34" charset="-120"/>
              </a:rPr>
              <a:t>锁保证原子性</a:t>
            </a:r>
            <a:r>
              <a:rPr lang="en-US" sz="1400" dirty="0">
                <a:solidFill>
                  <a:srgbClr val="3C3542"/>
                </a:solidFill>
                <a:latin typeface="KaiTi" panose="02010609060101010101" pitchFamily="49" charset="-122"/>
                <a:ea typeface="KaiTi" panose="02010609060101010101" pitchFamily="49" charset="-122"/>
                <a:cs typeface="Noto Sans SC" pitchFamily="34" charset="-120"/>
              </a:rPr>
              <a:t>。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4249241" y="2743200"/>
            <a:ext cx="3644900" cy="2133600"/>
          </a:xfrm>
          <a:custGeom>
            <a:avLst/>
            <a:gdLst/>
            <a:ahLst/>
            <a:cxnLst/>
            <a:rect l="l" t="t" r="r" b="b"/>
            <a:pathLst>
              <a:path w="3644900" h="2133600">
                <a:moveTo>
                  <a:pt x="101602" y="0"/>
                </a:moveTo>
                <a:lnTo>
                  <a:pt x="3543298" y="0"/>
                </a:lnTo>
                <a:cubicBezTo>
                  <a:pt x="3599411" y="0"/>
                  <a:pt x="3644900" y="45489"/>
                  <a:pt x="3644900" y="101602"/>
                </a:cubicBezTo>
                <a:lnTo>
                  <a:pt x="3644900" y="2031998"/>
                </a:lnTo>
                <a:cubicBezTo>
                  <a:pt x="3644900" y="2088111"/>
                  <a:pt x="3599411" y="2133600"/>
                  <a:pt x="3543298" y="2133600"/>
                </a:cubicBezTo>
                <a:lnTo>
                  <a:pt x="101602" y="2133600"/>
                </a:lnTo>
                <a:cubicBezTo>
                  <a:pt x="45489" y="2133600"/>
                  <a:pt x="0" y="2088111"/>
                  <a:pt x="0" y="20319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25400">
            <a:solidFill>
              <a:srgbClr val="8F5C9A"/>
            </a:solidFill>
            <a:prstDash val="solid"/>
          </a:ln>
        </p:spPr>
        <p:txBody>
          <a:bodyPr/>
          <a:lstStyle/>
          <a:p>
            <a:endParaRPr lang="zh-CN" altLang="en-US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5829201" y="2971800"/>
            <a:ext cx="533400" cy="609600"/>
          </a:xfrm>
          <a:custGeom>
            <a:avLst/>
            <a:gdLst/>
            <a:ahLst/>
            <a:cxnLst/>
            <a:rect l="l" t="t" r="r" b="b"/>
            <a:pathLst>
              <a:path w="533400" h="609600">
                <a:moveTo>
                  <a:pt x="533400" y="245031"/>
                </a:moveTo>
                <a:cubicBezTo>
                  <a:pt x="515779" y="256699"/>
                  <a:pt x="495538" y="266105"/>
                  <a:pt x="474464" y="273606"/>
                </a:cubicBezTo>
                <a:cubicBezTo>
                  <a:pt x="418505" y="293608"/>
                  <a:pt x="345043" y="304800"/>
                  <a:pt x="266700" y="304800"/>
                </a:cubicBezTo>
                <a:cubicBezTo>
                  <a:pt x="188357" y="304800"/>
                  <a:pt x="114776" y="293489"/>
                  <a:pt x="58936" y="273606"/>
                </a:cubicBezTo>
                <a:cubicBezTo>
                  <a:pt x="37981" y="266105"/>
                  <a:pt x="17621" y="256699"/>
                  <a:pt x="0" y="245031"/>
                </a:cubicBezTo>
                <a:lnTo>
                  <a:pt x="0" y="342900"/>
                </a:lnTo>
                <a:cubicBezTo>
                  <a:pt x="0" y="395526"/>
                  <a:pt x="119420" y="438150"/>
                  <a:pt x="266700" y="438150"/>
                </a:cubicBezTo>
                <a:cubicBezTo>
                  <a:pt x="413980" y="438150"/>
                  <a:pt x="533400" y="395526"/>
                  <a:pt x="533400" y="342900"/>
                </a:cubicBezTo>
                <a:lnTo>
                  <a:pt x="533400" y="245031"/>
                </a:lnTo>
                <a:close/>
                <a:moveTo>
                  <a:pt x="533400" y="152400"/>
                </a:moveTo>
                <a:lnTo>
                  <a:pt x="533400" y="95250"/>
                </a:lnTo>
                <a:cubicBezTo>
                  <a:pt x="533400" y="42624"/>
                  <a:pt x="413980" y="0"/>
                  <a:pt x="266700" y="0"/>
                </a:cubicBezTo>
                <a:cubicBezTo>
                  <a:pt x="119420" y="0"/>
                  <a:pt x="0" y="42624"/>
                  <a:pt x="0" y="95250"/>
                </a:cubicBezTo>
                <a:lnTo>
                  <a:pt x="0" y="152400"/>
                </a:lnTo>
                <a:cubicBezTo>
                  <a:pt x="0" y="205026"/>
                  <a:pt x="119420" y="247650"/>
                  <a:pt x="266700" y="247650"/>
                </a:cubicBezTo>
                <a:cubicBezTo>
                  <a:pt x="413980" y="247650"/>
                  <a:pt x="533400" y="205026"/>
                  <a:pt x="533400" y="152400"/>
                </a:cubicBezTo>
                <a:close/>
                <a:moveTo>
                  <a:pt x="474464" y="464106"/>
                </a:moveTo>
                <a:cubicBezTo>
                  <a:pt x="418624" y="483989"/>
                  <a:pt x="345162" y="495300"/>
                  <a:pt x="266700" y="495300"/>
                </a:cubicBezTo>
                <a:cubicBezTo>
                  <a:pt x="188238" y="495300"/>
                  <a:pt x="114776" y="483989"/>
                  <a:pt x="58936" y="464106"/>
                </a:cubicBezTo>
                <a:cubicBezTo>
                  <a:pt x="37981" y="456605"/>
                  <a:pt x="17621" y="447199"/>
                  <a:pt x="0" y="435531"/>
                </a:cubicBezTo>
                <a:lnTo>
                  <a:pt x="0" y="514350"/>
                </a:lnTo>
                <a:cubicBezTo>
                  <a:pt x="0" y="566976"/>
                  <a:pt x="119420" y="609600"/>
                  <a:pt x="266700" y="609600"/>
                </a:cubicBezTo>
                <a:cubicBezTo>
                  <a:pt x="413980" y="609600"/>
                  <a:pt x="533400" y="566976"/>
                  <a:pt x="533400" y="514350"/>
                </a:cubicBezTo>
                <a:lnTo>
                  <a:pt x="533400" y="435531"/>
                </a:lnTo>
                <a:cubicBezTo>
                  <a:pt x="515779" y="447199"/>
                  <a:pt x="495538" y="456605"/>
                  <a:pt x="474464" y="464106"/>
                </a:cubicBezTo>
                <a:close/>
              </a:path>
            </a:pathLst>
          </a:custGeom>
          <a:solidFill>
            <a:srgbClr val="8F5C9A"/>
          </a:solidFill>
          <a:ln/>
        </p:spPr>
        <p:txBody>
          <a:bodyPr/>
          <a:lstStyle/>
          <a:p>
            <a:endParaRPr lang="zh-CN" altLang="en-US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12" name="Text 9"/>
          <p:cNvSpPr/>
          <p:nvPr/>
        </p:nvSpPr>
        <p:spPr>
          <a:xfrm>
            <a:off x="4414341" y="3733800"/>
            <a:ext cx="33655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3C3542"/>
                </a:solidFill>
                <a:latin typeface="KaiTi" panose="02010609060101010101" pitchFamily="49" charset="-122"/>
                <a:ea typeface="KaiTi" panose="02010609060101010101" pitchFamily="49" charset="-122"/>
                <a:cs typeface="Noto Sans SC" pitchFamily="34" charset="-120"/>
              </a:rPr>
              <a:t>无状态设计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4433391" y="4191000"/>
            <a:ext cx="33274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 err="1">
                <a:solidFill>
                  <a:srgbClr val="3C3542"/>
                </a:solidFill>
                <a:latin typeface="KaiTi" panose="02010609060101010101" pitchFamily="49" charset="-122"/>
                <a:ea typeface="KaiTi" panose="02010609060101010101" pitchFamily="49" charset="-122"/>
                <a:cs typeface="Noto Sans SC" pitchFamily="34" charset="-120"/>
              </a:rPr>
              <a:t>元数据存储在</a:t>
            </a:r>
            <a:r>
              <a:rPr lang="en-US" sz="1400" dirty="0">
                <a:solidFill>
                  <a:srgbClr val="3C3542"/>
                </a:solidFill>
                <a:latin typeface="KaiTi" panose="02010609060101010101" pitchFamily="49" charset="-122"/>
                <a:ea typeface="KaiTi" panose="02010609060101010101" pitchFamily="49" charset="-122"/>
                <a:cs typeface="Noto Sans SC" pitchFamily="34" charset="-120"/>
              </a:rPr>
              <a:t> </a:t>
            </a:r>
            <a:r>
              <a:rPr lang="en-US" sz="1400" dirty="0" err="1">
                <a:solidFill>
                  <a:srgbClr val="3C3542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GFS</a:t>
            </a:r>
            <a:r>
              <a:rPr lang="en-US" sz="1400" dirty="0" err="1">
                <a:solidFill>
                  <a:srgbClr val="3C3542"/>
                </a:solidFill>
                <a:latin typeface="KaiTi" panose="02010609060101010101" pitchFamily="49" charset="-122"/>
                <a:ea typeface="KaiTi" panose="02010609060101010101" pitchFamily="49" charset="-122"/>
                <a:cs typeface="Noto Sans SC" pitchFamily="34" charset="-120"/>
              </a:rPr>
              <a:t>，主备切换时</a:t>
            </a:r>
            <a:r>
              <a:rPr lang="en-US" sz="1400" b="1" dirty="0" err="1">
                <a:solidFill>
                  <a:srgbClr val="3C3542"/>
                </a:solidFill>
                <a:latin typeface="KaiTi" panose="02010609060101010101" pitchFamily="49" charset="-122"/>
                <a:ea typeface="KaiTi" panose="02010609060101010101" pitchFamily="49" charset="-122"/>
                <a:cs typeface="Noto Sans SC" pitchFamily="34" charset="-120"/>
              </a:rPr>
              <a:t>秒级恢复</a:t>
            </a:r>
            <a:r>
              <a:rPr lang="en-US" sz="1400" dirty="0" err="1">
                <a:solidFill>
                  <a:srgbClr val="3C3542"/>
                </a:solidFill>
                <a:latin typeface="KaiTi" panose="02010609060101010101" pitchFamily="49" charset="-122"/>
                <a:ea typeface="KaiTi" panose="02010609060101010101" pitchFamily="49" charset="-122"/>
                <a:cs typeface="Noto Sans SC" pitchFamily="34" charset="-120"/>
              </a:rPr>
              <a:t>，高可用性强</a:t>
            </a:r>
            <a:r>
              <a:rPr lang="en-US" sz="1400" dirty="0">
                <a:solidFill>
                  <a:srgbClr val="3C3542"/>
                </a:solidFill>
                <a:latin typeface="KaiTi" panose="02010609060101010101" pitchFamily="49" charset="-122"/>
                <a:ea typeface="KaiTi" panose="02010609060101010101" pitchFamily="49" charset="-122"/>
                <a:cs typeface="Noto Sans SC" pitchFamily="34" charset="-120"/>
              </a:rPr>
              <a:t>。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8247459" y="2768600"/>
            <a:ext cx="3695700" cy="2133600"/>
          </a:xfrm>
          <a:custGeom>
            <a:avLst/>
            <a:gdLst/>
            <a:ahLst/>
            <a:cxnLst/>
            <a:rect l="l" t="t" r="r" b="b"/>
            <a:pathLst>
              <a:path w="3695700" h="2133600">
                <a:moveTo>
                  <a:pt x="101602" y="0"/>
                </a:moveTo>
                <a:lnTo>
                  <a:pt x="3594098" y="0"/>
                </a:lnTo>
                <a:cubicBezTo>
                  <a:pt x="3650211" y="0"/>
                  <a:pt x="3695700" y="45489"/>
                  <a:pt x="3695700" y="101602"/>
                </a:cubicBezTo>
                <a:lnTo>
                  <a:pt x="3695700" y="2031998"/>
                </a:lnTo>
                <a:cubicBezTo>
                  <a:pt x="3695700" y="2088111"/>
                  <a:pt x="3650211" y="2133600"/>
                  <a:pt x="3594098" y="2133600"/>
                </a:cubicBezTo>
                <a:lnTo>
                  <a:pt x="101602" y="2133600"/>
                </a:lnTo>
                <a:cubicBezTo>
                  <a:pt x="45489" y="2133600"/>
                  <a:pt x="0" y="2088111"/>
                  <a:pt x="0" y="20319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D3B9D7">
              <a:alpha val="25098"/>
            </a:srgbClr>
          </a:solidFill>
          <a:ln/>
        </p:spPr>
        <p:txBody>
          <a:bodyPr/>
          <a:lstStyle/>
          <a:p>
            <a:endParaRPr lang="zh-CN" altLang="en-US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15" name="Shape 12"/>
          <p:cNvSpPr/>
          <p:nvPr/>
        </p:nvSpPr>
        <p:spPr>
          <a:xfrm>
            <a:off x="9711630" y="2971800"/>
            <a:ext cx="762000" cy="609600"/>
          </a:xfrm>
          <a:custGeom>
            <a:avLst/>
            <a:gdLst/>
            <a:ahLst/>
            <a:cxnLst/>
            <a:rect l="l" t="t" r="r" b="b"/>
            <a:pathLst>
              <a:path w="762000" h="609600">
                <a:moveTo>
                  <a:pt x="495181" y="250627"/>
                </a:moveTo>
                <a:cubicBezTo>
                  <a:pt x="509707" y="246698"/>
                  <a:pt x="524947" y="253603"/>
                  <a:pt x="531495" y="267057"/>
                </a:cubicBezTo>
                <a:lnTo>
                  <a:pt x="553641" y="311825"/>
                </a:lnTo>
                <a:cubicBezTo>
                  <a:pt x="565904" y="313492"/>
                  <a:pt x="577929" y="316825"/>
                  <a:pt x="589240" y="321469"/>
                </a:cubicBezTo>
                <a:lnTo>
                  <a:pt x="630912" y="293727"/>
                </a:lnTo>
                <a:cubicBezTo>
                  <a:pt x="643414" y="285393"/>
                  <a:pt x="659963" y="287060"/>
                  <a:pt x="670560" y="297656"/>
                </a:cubicBezTo>
                <a:lnTo>
                  <a:pt x="693420" y="320516"/>
                </a:lnTo>
                <a:cubicBezTo>
                  <a:pt x="704017" y="331113"/>
                  <a:pt x="705683" y="347782"/>
                  <a:pt x="697349" y="360164"/>
                </a:cubicBezTo>
                <a:lnTo>
                  <a:pt x="669608" y="401717"/>
                </a:lnTo>
                <a:cubicBezTo>
                  <a:pt x="671870" y="407313"/>
                  <a:pt x="673894" y="413147"/>
                  <a:pt x="675561" y="419219"/>
                </a:cubicBezTo>
                <a:cubicBezTo>
                  <a:pt x="677228" y="425291"/>
                  <a:pt x="678299" y="431244"/>
                  <a:pt x="679133" y="437317"/>
                </a:cubicBezTo>
                <a:lnTo>
                  <a:pt x="724019" y="459462"/>
                </a:lnTo>
                <a:cubicBezTo>
                  <a:pt x="737473" y="466130"/>
                  <a:pt x="744379" y="481370"/>
                  <a:pt x="740450" y="495776"/>
                </a:cubicBezTo>
                <a:lnTo>
                  <a:pt x="732115" y="526971"/>
                </a:lnTo>
                <a:cubicBezTo>
                  <a:pt x="728186" y="541377"/>
                  <a:pt x="714732" y="551140"/>
                  <a:pt x="699730" y="550188"/>
                </a:cubicBezTo>
                <a:lnTo>
                  <a:pt x="649724" y="546973"/>
                </a:lnTo>
                <a:cubicBezTo>
                  <a:pt x="642223" y="556617"/>
                  <a:pt x="633532" y="565547"/>
                  <a:pt x="623649" y="573167"/>
                </a:cubicBezTo>
                <a:lnTo>
                  <a:pt x="626864" y="623054"/>
                </a:lnTo>
                <a:cubicBezTo>
                  <a:pt x="627817" y="638056"/>
                  <a:pt x="618053" y="651629"/>
                  <a:pt x="603647" y="655439"/>
                </a:cubicBezTo>
                <a:lnTo>
                  <a:pt x="572453" y="663773"/>
                </a:lnTo>
                <a:cubicBezTo>
                  <a:pt x="557927" y="667702"/>
                  <a:pt x="542806" y="660797"/>
                  <a:pt x="536138" y="647343"/>
                </a:cubicBezTo>
                <a:lnTo>
                  <a:pt x="513993" y="602575"/>
                </a:lnTo>
                <a:cubicBezTo>
                  <a:pt x="501729" y="600908"/>
                  <a:pt x="489704" y="597575"/>
                  <a:pt x="478393" y="592931"/>
                </a:cubicBezTo>
                <a:lnTo>
                  <a:pt x="436721" y="620673"/>
                </a:lnTo>
                <a:cubicBezTo>
                  <a:pt x="424220" y="629007"/>
                  <a:pt x="407670" y="627340"/>
                  <a:pt x="397073" y="616744"/>
                </a:cubicBezTo>
                <a:lnTo>
                  <a:pt x="374213" y="593884"/>
                </a:lnTo>
                <a:cubicBezTo>
                  <a:pt x="363617" y="583287"/>
                  <a:pt x="361950" y="566738"/>
                  <a:pt x="370284" y="554236"/>
                </a:cubicBezTo>
                <a:lnTo>
                  <a:pt x="398026" y="512564"/>
                </a:lnTo>
                <a:cubicBezTo>
                  <a:pt x="395764" y="506968"/>
                  <a:pt x="393740" y="501134"/>
                  <a:pt x="392073" y="495062"/>
                </a:cubicBezTo>
                <a:cubicBezTo>
                  <a:pt x="390406" y="488990"/>
                  <a:pt x="389334" y="482918"/>
                  <a:pt x="388501" y="476964"/>
                </a:cubicBezTo>
                <a:lnTo>
                  <a:pt x="343614" y="454819"/>
                </a:lnTo>
                <a:cubicBezTo>
                  <a:pt x="330160" y="448151"/>
                  <a:pt x="323374" y="432911"/>
                  <a:pt x="327184" y="418505"/>
                </a:cubicBezTo>
                <a:lnTo>
                  <a:pt x="335518" y="387310"/>
                </a:lnTo>
                <a:cubicBezTo>
                  <a:pt x="339447" y="372904"/>
                  <a:pt x="352901" y="363141"/>
                  <a:pt x="367903" y="364093"/>
                </a:cubicBezTo>
                <a:lnTo>
                  <a:pt x="417790" y="367308"/>
                </a:lnTo>
                <a:cubicBezTo>
                  <a:pt x="425291" y="357664"/>
                  <a:pt x="433983" y="348734"/>
                  <a:pt x="443865" y="341114"/>
                </a:cubicBezTo>
                <a:lnTo>
                  <a:pt x="440650" y="291346"/>
                </a:lnTo>
                <a:cubicBezTo>
                  <a:pt x="439698" y="276344"/>
                  <a:pt x="449461" y="262771"/>
                  <a:pt x="463867" y="258961"/>
                </a:cubicBezTo>
                <a:lnTo>
                  <a:pt x="495062" y="250627"/>
                </a:lnTo>
                <a:close/>
                <a:moveTo>
                  <a:pt x="533876" y="404813"/>
                </a:moveTo>
                <a:cubicBezTo>
                  <a:pt x="504963" y="404845"/>
                  <a:pt x="481515" y="428346"/>
                  <a:pt x="481548" y="457260"/>
                </a:cubicBezTo>
                <a:cubicBezTo>
                  <a:pt x="481581" y="486173"/>
                  <a:pt x="505082" y="509620"/>
                  <a:pt x="533995" y="509588"/>
                </a:cubicBezTo>
                <a:cubicBezTo>
                  <a:pt x="562909" y="509555"/>
                  <a:pt x="586356" y="486054"/>
                  <a:pt x="586323" y="457140"/>
                </a:cubicBezTo>
                <a:cubicBezTo>
                  <a:pt x="586290" y="428227"/>
                  <a:pt x="562790" y="404780"/>
                  <a:pt x="533876" y="404813"/>
                </a:cubicBezTo>
                <a:close/>
                <a:moveTo>
                  <a:pt x="267772" y="-54173"/>
                </a:moveTo>
                <a:lnTo>
                  <a:pt x="298966" y="-45839"/>
                </a:lnTo>
                <a:cubicBezTo>
                  <a:pt x="313373" y="-41910"/>
                  <a:pt x="323136" y="-28337"/>
                  <a:pt x="322183" y="-13454"/>
                </a:cubicBezTo>
                <a:lnTo>
                  <a:pt x="318968" y="36314"/>
                </a:lnTo>
                <a:cubicBezTo>
                  <a:pt x="328851" y="43934"/>
                  <a:pt x="337542" y="52745"/>
                  <a:pt x="345043" y="62508"/>
                </a:cubicBezTo>
                <a:lnTo>
                  <a:pt x="395049" y="59293"/>
                </a:lnTo>
                <a:cubicBezTo>
                  <a:pt x="409932" y="58341"/>
                  <a:pt x="423505" y="68104"/>
                  <a:pt x="427434" y="82510"/>
                </a:cubicBezTo>
                <a:lnTo>
                  <a:pt x="435769" y="113705"/>
                </a:lnTo>
                <a:cubicBezTo>
                  <a:pt x="439579" y="128111"/>
                  <a:pt x="432792" y="143351"/>
                  <a:pt x="419338" y="150019"/>
                </a:cubicBezTo>
                <a:lnTo>
                  <a:pt x="374452" y="172164"/>
                </a:lnTo>
                <a:cubicBezTo>
                  <a:pt x="373618" y="178237"/>
                  <a:pt x="372428" y="184309"/>
                  <a:pt x="370880" y="190262"/>
                </a:cubicBezTo>
                <a:cubicBezTo>
                  <a:pt x="369332" y="196215"/>
                  <a:pt x="367189" y="202168"/>
                  <a:pt x="364927" y="207764"/>
                </a:cubicBezTo>
                <a:lnTo>
                  <a:pt x="392668" y="249436"/>
                </a:lnTo>
                <a:cubicBezTo>
                  <a:pt x="401003" y="261937"/>
                  <a:pt x="399336" y="278487"/>
                  <a:pt x="388739" y="289084"/>
                </a:cubicBezTo>
                <a:lnTo>
                  <a:pt x="365879" y="311944"/>
                </a:lnTo>
                <a:cubicBezTo>
                  <a:pt x="355283" y="322540"/>
                  <a:pt x="338733" y="324207"/>
                  <a:pt x="326231" y="315873"/>
                </a:cubicBezTo>
                <a:lnTo>
                  <a:pt x="284559" y="288131"/>
                </a:lnTo>
                <a:cubicBezTo>
                  <a:pt x="273248" y="292775"/>
                  <a:pt x="261223" y="296108"/>
                  <a:pt x="248960" y="297775"/>
                </a:cubicBezTo>
                <a:lnTo>
                  <a:pt x="226814" y="342543"/>
                </a:lnTo>
                <a:cubicBezTo>
                  <a:pt x="220147" y="355997"/>
                  <a:pt x="204907" y="362783"/>
                  <a:pt x="190500" y="358973"/>
                </a:cubicBezTo>
                <a:lnTo>
                  <a:pt x="159306" y="350639"/>
                </a:lnTo>
                <a:cubicBezTo>
                  <a:pt x="144780" y="346710"/>
                  <a:pt x="135136" y="333137"/>
                  <a:pt x="136088" y="318254"/>
                </a:cubicBezTo>
                <a:lnTo>
                  <a:pt x="139303" y="268367"/>
                </a:lnTo>
                <a:cubicBezTo>
                  <a:pt x="129421" y="260747"/>
                  <a:pt x="120729" y="251936"/>
                  <a:pt x="113228" y="242173"/>
                </a:cubicBezTo>
                <a:lnTo>
                  <a:pt x="63222" y="245388"/>
                </a:lnTo>
                <a:cubicBezTo>
                  <a:pt x="48339" y="246340"/>
                  <a:pt x="34766" y="236577"/>
                  <a:pt x="30837" y="222171"/>
                </a:cubicBezTo>
                <a:lnTo>
                  <a:pt x="22503" y="190976"/>
                </a:lnTo>
                <a:cubicBezTo>
                  <a:pt x="18693" y="176570"/>
                  <a:pt x="25479" y="161330"/>
                  <a:pt x="38933" y="154662"/>
                </a:cubicBezTo>
                <a:lnTo>
                  <a:pt x="83820" y="132517"/>
                </a:lnTo>
                <a:cubicBezTo>
                  <a:pt x="84653" y="126444"/>
                  <a:pt x="85844" y="120491"/>
                  <a:pt x="87392" y="114419"/>
                </a:cubicBezTo>
                <a:cubicBezTo>
                  <a:pt x="89059" y="108347"/>
                  <a:pt x="90964" y="102513"/>
                  <a:pt x="93345" y="96917"/>
                </a:cubicBezTo>
                <a:lnTo>
                  <a:pt x="65603" y="55364"/>
                </a:lnTo>
                <a:cubicBezTo>
                  <a:pt x="57269" y="42863"/>
                  <a:pt x="58936" y="26313"/>
                  <a:pt x="69533" y="15716"/>
                </a:cubicBezTo>
                <a:lnTo>
                  <a:pt x="92393" y="-7144"/>
                </a:lnTo>
                <a:cubicBezTo>
                  <a:pt x="102989" y="-17740"/>
                  <a:pt x="119539" y="-19407"/>
                  <a:pt x="132040" y="-11073"/>
                </a:cubicBezTo>
                <a:lnTo>
                  <a:pt x="173712" y="16669"/>
                </a:lnTo>
                <a:cubicBezTo>
                  <a:pt x="185023" y="12025"/>
                  <a:pt x="197048" y="8692"/>
                  <a:pt x="209312" y="7025"/>
                </a:cubicBezTo>
                <a:lnTo>
                  <a:pt x="231458" y="-37743"/>
                </a:lnTo>
                <a:cubicBezTo>
                  <a:pt x="238125" y="-51197"/>
                  <a:pt x="253246" y="-57983"/>
                  <a:pt x="267772" y="-54173"/>
                </a:cubicBezTo>
                <a:close/>
                <a:moveTo>
                  <a:pt x="229076" y="100013"/>
                </a:moveTo>
                <a:cubicBezTo>
                  <a:pt x="200163" y="100013"/>
                  <a:pt x="176689" y="123487"/>
                  <a:pt x="176689" y="152400"/>
                </a:cubicBezTo>
                <a:cubicBezTo>
                  <a:pt x="176689" y="181313"/>
                  <a:pt x="200163" y="204787"/>
                  <a:pt x="229076" y="204787"/>
                </a:cubicBezTo>
                <a:cubicBezTo>
                  <a:pt x="257990" y="204787"/>
                  <a:pt x="281464" y="181313"/>
                  <a:pt x="281464" y="152400"/>
                </a:cubicBezTo>
                <a:cubicBezTo>
                  <a:pt x="281464" y="123487"/>
                  <a:pt x="257990" y="100013"/>
                  <a:pt x="229076" y="100013"/>
                </a:cubicBezTo>
                <a:close/>
              </a:path>
            </a:pathLst>
          </a:custGeom>
          <a:solidFill>
            <a:srgbClr val="A95EAF"/>
          </a:solidFill>
          <a:ln/>
        </p:spPr>
        <p:txBody>
          <a:bodyPr/>
          <a:lstStyle/>
          <a:p>
            <a:endParaRPr lang="zh-CN" altLang="en-US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8387159" y="3733800"/>
            <a:ext cx="34163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3C3542"/>
                </a:solidFill>
                <a:latin typeface="KaiTi" panose="02010609060101010101" pitchFamily="49" charset="-122"/>
                <a:ea typeface="KaiTi" panose="02010609060101010101" pitchFamily="49" charset="-122"/>
                <a:cs typeface="Noto Sans SC" pitchFamily="34" charset="-120"/>
              </a:rPr>
              <a:t>状态机管理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8406209" y="4191000"/>
            <a:ext cx="33782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3C3542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Tablet</a:t>
            </a:r>
            <a:r>
              <a:rPr lang="en-US" sz="1400" dirty="0">
                <a:solidFill>
                  <a:srgbClr val="3C3542"/>
                </a:solidFill>
                <a:latin typeface="KaiTi" panose="02010609060101010101" pitchFamily="49" charset="-122"/>
                <a:ea typeface="KaiTi" panose="02010609060101010101" pitchFamily="49" charset="-122"/>
                <a:cs typeface="Noto Sans SC" pitchFamily="34" charset="-120"/>
              </a:rPr>
              <a:t> </a:t>
            </a:r>
            <a:r>
              <a:rPr lang="en-US" sz="1400" dirty="0" err="1">
                <a:solidFill>
                  <a:srgbClr val="3C3542"/>
                </a:solidFill>
                <a:latin typeface="KaiTi" panose="02010609060101010101" pitchFamily="49" charset="-122"/>
                <a:ea typeface="KaiTi" panose="02010609060101010101" pitchFamily="49" charset="-122"/>
                <a:cs typeface="Noto Sans SC" pitchFamily="34" charset="-120"/>
              </a:rPr>
              <a:t>移动通过</a:t>
            </a:r>
            <a:r>
              <a:rPr lang="en-US" sz="1400" b="1" dirty="0" err="1">
                <a:solidFill>
                  <a:srgbClr val="3C3542"/>
                </a:solidFill>
                <a:latin typeface="KaiTi" panose="02010609060101010101" pitchFamily="49" charset="-122"/>
                <a:ea typeface="KaiTi" panose="02010609060101010101" pitchFamily="49" charset="-122"/>
                <a:cs typeface="Noto Sans SC" pitchFamily="34" charset="-120"/>
              </a:rPr>
              <a:t>四步状态机</a:t>
            </a:r>
            <a:r>
              <a:rPr lang="en-US" sz="1400" dirty="0" err="1">
                <a:solidFill>
                  <a:srgbClr val="3C3542"/>
                </a:solidFill>
                <a:latin typeface="KaiTi" panose="02010609060101010101" pitchFamily="49" charset="-122"/>
                <a:ea typeface="KaiTi" panose="02010609060101010101" pitchFamily="49" charset="-122"/>
                <a:cs typeface="Noto Sans SC" pitchFamily="34" charset="-120"/>
              </a:rPr>
              <a:t>实现，确保操作的原子性与一致性</a:t>
            </a:r>
            <a:r>
              <a:rPr lang="en-US" sz="1400" dirty="0">
                <a:solidFill>
                  <a:srgbClr val="3C3542"/>
                </a:solidFill>
                <a:latin typeface="KaiTi" panose="02010609060101010101" pitchFamily="49" charset="-122"/>
                <a:ea typeface="KaiTi" panose="02010609060101010101" pitchFamily="49" charset="-122"/>
                <a:cs typeface="Noto Sans SC" pitchFamily="34" charset="-120"/>
              </a:rPr>
              <a:t>。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2"/>
          <p:cNvSpPr/>
          <p:nvPr/>
        </p:nvSpPr>
        <p:spPr>
          <a:xfrm>
            <a:off x="139700" y="1574800"/>
            <a:ext cx="11912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3600" b="1" dirty="0">
                <a:solidFill>
                  <a:srgbClr val="8F5C9A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Chubby</a:t>
            </a:r>
            <a:r>
              <a:rPr lang="en-US" sz="3600" b="1" dirty="0">
                <a:solidFill>
                  <a:srgbClr val="8F5C9A"/>
                </a:solidFill>
                <a:latin typeface="KaiTi" panose="02010609060101010101" pitchFamily="49" charset="-122"/>
                <a:ea typeface="KaiTi" panose="02010609060101010101" pitchFamily="49" charset="-122"/>
                <a:cs typeface="Calibri" panose="020F0502020204030204" pitchFamily="34" charset="0"/>
              </a:rPr>
              <a:t> </a:t>
            </a:r>
            <a:r>
              <a:rPr lang="en-US" sz="3600" b="1" dirty="0" err="1">
                <a:solidFill>
                  <a:srgbClr val="8F5C9A"/>
                </a:solidFill>
                <a:latin typeface="KaiTi" panose="02010609060101010101" pitchFamily="49" charset="-122"/>
                <a:ea typeface="KaiTi" panose="02010609060101010101" pitchFamily="49" charset="-122"/>
                <a:cs typeface="Calibri" panose="020F0502020204030204" pitchFamily="34" charset="0"/>
              </a:rPr>
              <a:t>与</a:t>
            </a:r>
            <a:r>
              <a:rPr lang="en-US" sz="3600" b="1" dirty="0">
                <a:solidFill>
                  <a:srgbClr val="8F5C9A"/>
                </a:solidFill>
                <a:latin typeface="KaiTi" panose="02010609060101010101" pitchFamily="49" charset="-122"/>
                <a:ea typeface="KaiTi" panose="02010609060101010101" pitchFamily="49" charset="-122"/>
                <a:cs typeface="Calibri" panose="020F0502020204030204" pitchFamily="34" charset="0"/>
              </a:rPr>
              <a:t> </a:t>
            </a:r>
            <a:r>
              <a:rPr lang="en-US" sz="3600" b="1" dirty="0">
                <a:solidFill>
                  <a:srgbClr val="8F5C9A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GFS</a:t>
            </a:r>
            <a:r>
              <a:rPr lang="en-US" sz="3600" b="1" dirty="0">
                <a:solidFill>
                  <a:srgbClr val="8F5C9A"/>
                </a:solidFill>
                <a:latin typeface="KaiTi" panose="02010609060101010101" pitchFamily="49" charset="-122"/>
                <a:ea typeface="KaiTi" panose="02010609060101010101" pitchFamily="49" charset="-122"/>
                <a:cs typeface="Calibri" panose="020F0502020204030204" pitchFamily="34" charset="0"/>
              </a:rPr>
              <a:t> </a:t>
            </a:r>
            <a:r>
              <a:rPr lang="en-US" sz="3600" b="1" dirty="0" err="1">
                <a:solidFill>
                  <a:srgbClr val="8F5C9A"/>
                </a:solidFill>
                <a:latin typeface="KaiTi" panose="02010609060101010101" pitchFamily="49" charset="-122"/>
                <a:ea typeface="KaiTi" panose="02010609060101010101" pitchFamily="49" charset="-122"/>
                <a:cs typeface="Calibri" panose="020F0502020204030204" pitchFamily="34" charset="0"/>
              </a:rPr>
              <a:t>的协同角色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  <a:cs typeface="Calibri" panose="020F0502020204030204" pitchFamily="34" charset="0"/>
            </a:endParaRPr>
          </a:p>
        </p:txBody>
      </p:sp>
      <p:sp>
        <p:nvSpPr>
          <p:cNvPr id="6" name="Shape 3"/>
          <p:cNvSpPr/>
          <p:nvPr/>
        </p:nvSpPr>
        <p:spPr>
          <a:xfrm>
            <a:off x="254000" y="2489200"/>
            <a:ext cx="5638800" cy="2794000"/>
          </a:xfrm>
          <a:custGeom>
            <a:avLst/>
            <a:gdLst/>
            <a:ahLst/>
            <a:cxnLst/>
            <a:rect l="l" t="t" r="r" b="b"/>
            <a:pathLst>
              <a:path w="5638800" h="2794000">
                <a:moveTo>
                  <a:pt x="101590" y="0"/>
                </a:moveTo>
                <a:lnTo>
                  <a:pt x="5537210" y="0"/>
                </a:lnTo>
                <a:cubicBezTo>
                  <a:pt x="5593317" y="0"/>
                  <a:pt x="5638800" y="45483"/>
                  <a:pt x="5638800" y="101590"/>
                </a:cubicBezTo>
                <a:lnTo>
                  <a:pt x="5638800" y="2692410"/>
                </a:lnTo>
                <a:cubicBezTo>
                  <a:pt x="5638800" y="2748517"/>
                  <a:pt x="5593317" y="2794000"/>
                  <a:pt x="5537210" y="2794000"/>
                </a:cubicBezTo>
                <a:lnTo>
                  <a:pt x="101590" y="2794000"/>
                </a:lnTo>
                <a:cubicBezTo>
                  <a:pt x="45483" y="2794000"/>
                  <a:pt x="0" y="2748517"/>
                  <a:pt x="0" y="2692410"/>
                </a:cubicBezTo>
                <a:lnTo>
                  <a:pt x="0" y="101590"/>
                </a:lnTo>
                <a:cubicBezTo>
                  <a:pt x="0" y="45521"/>
                  <a:pt x="45521" y="0"/>
                  <a:pt x="101590" y="0"/>
                </a:cubicBezTo>
                <a:close/>
              </a:path>
            </a:pathLst>
          </a:custGeom>
          <a:solidFill>
            <a:srgbClr val="D3B9D7">
              <a:alpha val="25098"/>
            </a:srgbClr>
          </a:solidFill>
          <a:ln/>
        </p:spPr>
        <p:txBody>
          <a:bodyPr/>
          <a:lstStyle/>
          <a:p>
            <a:endParaRPr lang="zh-CN" altLang="en-US">
              <a:latin typeface="KaiTi" panose="02010609060101010101" pitchFamily="49" charset="-122"/>
              <a:ea typeface="KaiTi" panose="02010609060101010101" pitchFamily="49" charset="-122"/>
              <a:cs typeface="Calibri" panose="020F0502020204030204" pitchFamily="34" charset="0"/>
            </a:endParaRPr>
          </a:p>
        </p:txBody>
      </p:sp>
      <p:sp>
        <p:nvSpPr>
          <p:cNvPr id="7" name="Shape 4"/>
          <p:cNvSpPr/>
          <p:nvPr/>
        </p:nvSpPr>
        <p:spPr>
          <a:xfrm>
            <a:off x="2844800" y="2794000"/>
            <a:ext cx="457200" cy="609600"/>
          </a:xfrm>
          <a:custGeom>
            <a:avLst/>
            <a:gdLst/>
            <a:ahLst/>
            <a:cxnLst/>
            <a:rect l="l" t="t" r="r" b="b"/>
            <a:pathLst>
              <a:path w="457200" h="609600">
                <a:moveTo>
                  <a:pt x="152400" y="114300"/>
                </a:moveTo>
                <a:lnTo>
                  <a:pt x="152400" y="190500"/>
                </a:lnTo>
                <a:lnTo>
                  <a:pt x="304800" y="190500"/>
                </a:lnTo>
                <a:lnTo>
                  <a:pt x="304800" y="114300"/>
                </a:lnTo>
                <a:cubicBezTo>
                  <a:pt x="304800" y="72271"/>
                  <a:pt x="270629" y="38100"/>
                  <a:pt x="228600" y="38100"/>
                </a:cubicBezTo>
                <a:cubicBezTo>
                  <a:pt x="186571" y="38100"/>
                  <a:pt x="152400" y="72271"/>
                  <a:pt x="152400" y="114300"/>
                </a:cubicBezTo>
                <a:close/>
                <a:moveTo>
                  <a:pt x="76200" y="190500"/>
                </a:moveTo>
                <a:lnTo>
                  <a:pt x="76200" y="114300"/>
                </a:lnTo>
                <a:cubicBezTo>
                  <a:pt x="76200" y="30123"/>
                  <a:pt x="144423" y="-38100"/>
                  <a:pt x="228600" y="-38100"/>
                </a:cubicBezTo>
                <a:cubicBezTo>
                  <a:pt x="312777" y="-38100"/>
                  <a:pt x="381000" y="30123"/>
                  <a:pt x="381000" y="114300"/>
                </a:cubicBezTo>
                <a:lnTo>
                  <a:pt x="381000" y="190500"/>
                </a:lnTo>
                <a:cubicBezTo>
                  <a:pt x="423029" y="190500"/>
                  <a:pt x="457200" y="224671"/>
                  <a:pt x="457200" y="266700"/>
                </a:cubicBezTo>
                <a:lnTo>
                  <a:pt x="457200" y="533400"/>
                </a:lnTo>
                <a:cubicBezTo>
                  <a:pt x="457200" y="575429"/>
                  <a:pt x="423029" y="609600"/>
                  <a:pt x="381000" y="609600"/>
                </a:cubicBezTo>
                <a:lnTo>
                  <a:pt x="76200" y="609600"/>
                </a:lnTo>
                <a:cubicBezTo>
                  <a:pt x="34171" y="609600"/>
                  <a:pt x="0" y="575429"/>
                  <a:pt x="0" y="533400"/>
                </a:cubicBezTo>
                <a:lnTo>
                  <a:pt x="0" y="266700"/>
                </a:lnTo>
                <a:cubicBezTo>
                  <a:pt x="0" y="224671"/>
                  <a:pt x="34171" y="190500"/>
                  <a:pt x="76200" y="190500"/>
                </a:cubicBezTo>
                <a:close/>
              </a:path>
            </a:pathLst>
          </a:custGeom>
          <a:solidFill>
            <a:srgbClr val="A95EAF"/>
          </a:solidFill>
          <a:ln/>
        </p:spPr>
        <p:txBody>
          <a:bodyPr/>
          <a:lstStyle/>
          <a:p>
            <a:endParaRPr lang="zh-CN" altLang="en-US">
              <a:latin typeface="KaiTi" panose="02010609060101010101" pitchFamily="49" charset="-122"/>
              <a:ea typeface="KaiTi" panose="02010609060101010101" pitchFamily="49" charset="-122"/>
              <a:cs typeface="Calibri" panose="020F0502020204030204" pitchFamily="34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2445345" y="3606800"/>
            <a:ext cx="12573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400" b="1" dirty="0">
                <a:solidFill>
                  <a:srgbClr val="3C3542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Chubby</a:t>
            </a:r>
            <a:endParaRPr lang="en-US" sz="1600" dirty="0">
              <a:latin typeface="Calibri" panose="020F0502020204030204" pitchFamily="34" charset="0"/>
              <a:ea typeface="KaiTi" panose="02010609060101010101" pitchFamily="49" charset="-122"/>
              <a:cs typeface="Calibri" panose="020F0502020204030204" pitchFamily="34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2139950" y="4114800"/>
            <a:ext cx="1866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A95EAF"/>
                </a:solidFill>
                <a:latin typeface="KaiTi" panose="02010609060101010101" pitchFamily="49" charset="-122"/>
                <a:ea typeface="KaiTi" panose="02010609060101010101" pitchFamily="49" charset="-122"/>
                <a:cs typeface="Calibri" panose="020F0502020204030204" pitchFamily="34" charset="0"/>
              </a:rPr>
              <a:t>强一致锁与小文件存储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  <a:cs typeface="Calibri" panose="020F0502020204030204" pitchFamily="34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514350" y="4470400"/>
            <a:ext cx="51181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3C3542"/>
                </a:solidFill>
                <a:latin typeface="KaiTi" panose="02010609060101010101" pitchFamily="49" charset="-122"/>
                <a:ea typeface="KaiTi" panose="02010609060101010101" pitchFamily="49" charset="-122"/>
                <a:cs typeface="Calibri" panose="020F0502020204030204" pitchFamily="34" charset="0"/>
              </a:rPr>
              <a:t>用于</a:t>
            </a:r>
            <a:r>
              <a:rPr lang="en-US" sz="1400" dirty="0">
                <a:solidFill>
                  <a:srgbClr val="3C3542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Master</a:t>
            </a:r>
            <a:r>
              <a:rPr lang="en-US" sz="1400" dirty="0">
                <a:solidFill>
                  <a:srgbClr val="3C3542"/>
                </a:solidFill>
                <a:latin typeface="KaiTi" panose="02010609060101010101" pitchFamily="49" charset="-122"/>
                <a:ea typeface="KaiTi" panose="02010609060101010101" pitchFamily="49" charset="-122"/>
                <a:cs typeface="Calibri" panose="020F0502020204030204" pitchFamily="34" charset="0"/>
              </a:rPr>
              <a:t>选举、</a:t>
            </a:r>
            <a:r>
              <a:rPr lang="en-US" sz="1400" dirty="0">
                <a:solidFill>
                  <a:srgbClr val="3C3542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TabletServer</a:t>
            </a:r>
            <a:r>
              <a:rPr lang="en-US" sz="1400" dirty="0">
                <a:solidFill>
                  <a:srgbClr val="3C3542"/>
                </a:solidFill>
                <a:latin typeface="KaiTi" panose="02010609060101010101" pitchFamily="49" charset="-122"/>
                <a:ea typeface="KaiTi" panose="02010609060101010101" pitchFamily="49" charset="-122"/>
                <a:cs typeface="Calibri" panose="020F0502020204030204" pitchFamily="34" charset="0"/>
              </a:rPr>
              <a:t>租约、</a:t>
            </a:r>
            <a:r>
              <a:rPr lang="en-US" sz="1400" dirty="0">
                <a:solidFill>
                  <a:srgbClr val="3C3542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Root Tablet</a:t>
            </a:r>
            <a:r>
              <a:rPr lang="en-US" sz="1400" dirty="0">
                <a:solidFill>
                  <a:srgbClr val="3C3542"/>
                </a:solidFill>
                <a:latin typeface="KaiTi" panose="02010609060101010101" pitchFamily="49" charset="-122"/>
                <a:ea typeface="KaiTi" panose="02010609060101010101" pitchFamily="49" charset="-122"/>
                <a:cs typeface="Calibri" panose="020F0502020204030204" pitchFamily="34" charset="0"/>
              </a:rPr>
              <a:t>指针。抖动时</a:t>
            </a:r>
            <a:r>
              <a:rPr lang="en-US" sz="1400" dirty="0">
                <a:solidFill>
                  <a:srgbClr val="3C3542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TabletServer</a:t>
            </a:r>
            <a:r>
              <a:rPr lang="en-US" sz="1400" dirty="0">
                <a:solidFill>
                  <a:srgbClr val="3C3542"/>
                </a:solidFill>
                <a:latin typeface="KaiTi" panose="02010609060101010101" pitchFamily="49" charset="-122"/>
                <a:ea typeface="KaiTi" panose="02010609060101010101" pitchFamily="49" charset="-122"/>
                <a:cs typeface="Calibri" panose="020F0502020204030204" pitchFamily="34" charset="0"/>
              </a:rPr>
              <a:t>进入</a:t>
            </a:r>
            <a:r>
              <a:rPr lang="en-US" sz="1400" b="1" dirty="0">
                <a:solidFill>
                  <a:srgbClr val="3C3542"/>
                </a:solidFill>
                <a:latin typeface="KaiTi" panose="02010609060101010101" pitchFamily="49" charset="-122"/>
                <a:ea typeface="KaiTi" panose="02010609060101010101" pitchFamily="49" charset="-122"/>
                <a:cs typeface="Calibri" panose="020F0502020204030204" pitchFamily="34" charset="0"/>
              </a:rPr>
              <a:t>“只读”模式</a:t>
            </a:r>
            <a:r>
              <a:rPr lang="en-US" sz="1400" dirty="0">
                <a:solidFill>
                  <a:srgbClr val="3C3542"/>
                </a:solidFill>
                <a:latin typeface="KaiTi" panose="02010609060101010101" pitchFamily="49" charset="-122"/>
                <a:ea typeface="KaiTi" panose="02010609060101010101" pitchFamily="49" charset="-122"/>
                <a:cs typeface="Calibri" panose="020F0502020204030204" pitchFamily="34" charset="0"/>
              </a:rPr>
              <a:t>，保障数据安全。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  <a:cs typeface="Calibri" panose="020F0502020204030204" pitchFamily="34" charset="0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6299200" y="2489200"/>
            <a:ext cx="5638800" cy="2794000"/>
          </a:xfrm>
          <a:custGeom>
            <a:avLst/>
            <a:gdLst/>
            <a:ahLst/>
            <a:cxnLst/>
            <a:rect l="l" t="t" r="r" b="b"/>
            <a:pathLst>
              <a:path w="5638800" h="2794000">
                <a:moveTo>
                  <a:pt x="101590" y="0"/>
                </a:moveTo>
                <a:lnTo>
                  <a:pt x="5537210" y="0"/>
                </a:lnTo>
                <a:cubicBezTo>
                  <a:pt x="5593317" y="0"/>
                  <a:pt x="5638800" y="45483"/>
                  <a:pt x="5638800" y="101590"/>
                </a:cubicBezTo>
                <a:lnTo>
                  <a:pt x="5638800" y="2692410"/>
                </a:lnTo>
                <a:cubicBezTo>
                  <a:pt x="5638800" y="2748517"/>
                  <a:pt x="5593317" y="2794000"/>
                  <a:pt x="5537210" y="2794000"/>
                </a:cubicBezTo>
                <a:lnTo>
                  <a:pt x="101590" y="2794000"/>
                </a:lnTo>
                <a:cubicBezTo>
                  <a:pt x="45483" y="2794000"/>
                  <a:pt x="0" y="2748517"/>
                  <a:pt x="0" y="2692410"/>
                </a:cubicBezTo>
                <a:lnTo>
                  <a:pt x="0" y="101590"/>
                </a:lnTo>
                <a:cubicBezTo>
                  <a:pt x="0" y="45521"/>
                  <a:pt x="45521" y="0"/>
                  <a:pt x="101590" y="0"/>
                </a:cubicBezTo>
                <a:close/>
              </a:path>
            </a:pathLst>
          </a:custGeom>
          <a:solidFill>
            <a:srgbClr val="60A39A">
              <a:alpha val="25098"/>
            </a:srgbClr>
          </a:solidFill>
          <a:ln/>
        </p:spPr>
        <p:txBody>
          <a:bodyPr/>
          <a:lstStyle/>
          <a:p>
            <a:endParaRPr lang="zh-CN" altLang="en-US">
              <a:latin typeface="KaiTi" panose="02010609060101010101" pitchFamily="49" charset="-122"/>
              <a:ea typeface="KaiTi" panose="02010609060101010101" pitchFamily="49" charset="-122"/>
              <a:cs typeface="Calibri" panose="020F0502020204030204" pitchFamily="34" charset="0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8851900" y="2794000"/>
            <a:ext cx="533400" cy="609600"/>
          </a:xfrm>
          <a:custGeom>
            <a:avLst/>
            <a:gdLst/>
            <a:ahLst/>
            <a:cxnLst/>
            <a:rect l="l" t="t" r="r" b="b"/>
            <a:pathLst>
              <a:path w="533400" h="609600">
                <a:moveTo>
                  <a:pt x="76200" y="38100"/>
                </a:moveTo>
                <a:cubicBezTo>
                  <a:pt x="34171" y="38100"/>
                  <a:pt x="0" y="72271"/>
                  <a:pt x="0" y="114300"/>
                </a:cubicBezTo>
                <a:lnTo>
                  <a:pt x="0" y="309682"/>
                </a:lnTo>
                <a:cubicBezTo>
                  <a:pt x="21550" y="294561"/>
                  <a:pt x="47863" y="285750"/>
                  <a:pt x="76200" y="285750"/>
                </a:cubicBezTo>
                <a:lnTo>
                  <a:pt x="457200" y="285750"/>
                </a:lnTo>
                <a:cubicBezTo>
                  <a:pt x="485537" y="285750"/>
                  <a:pt x="511850" y="294561"/>
                  <a:pt x="533400" y="309682"/>
                </a:cubicBezTo>
                <a:lnTo>
                  <a:pt x="533400" y="114300"/>
                </a:lnTo>
                <a:cubicBezTo>
                  <a:pt x="533400" y="72271"/>
                  <a:pt x="499229" y="38100"/>
                  <a:pt x="457200" y="38100"/>
                </a:cubicBezTo>
                <a:lnTo>
                  <a:pt x="76200" y="38100"/>
                </a:lnTo>
                <a:close/>
                <a:moveTo>
                  <a:pt x="533400" y="419100"/>
                </a:moveTo>
                <a:cubicBezTo>
                  <a:pt x="533400" y="377071"/>
                  <a:pt x="499229" y="342900"/>
                  <a:pt x="457200" y="342900"/>
                </a:cubicBezTo>
                <a:lnTo>
                  <a:pt x="76200" y="342900"/>
                </a:lnTo>
                <a:cubicBezTo>
                  <a:pt x="34171" y="342900"/>
                  <a:pt x="0" y="377071"/>
                  <a:pt x="0" y="419100"/>
                </a:cubicBezTo>
                <a:lnTo>
                  <a:pt x="0" y="495300"/>
                </a:lnTo>
                <a:cubicBezTo>
                  <a:pt x="0" y="537329"/>
                  <a:pt x="34171" y="571500"/>
                  <a:pt x="76200" y="571500"/>
                </a:cubicBezTo>
                <a:lnTo>
                  <a:pt x="457200" y="571500"/>
                </a:lnTo>
                <a:cubicBezTo>
                  <a:pt x="499229" y="571500"/>
                  <a:pt x="533400" y="537329"/>
                  <a:pt x="533400" y="495300"/>
                </a:cubicBezTo>
                <a:lnTo>
                  <a:pt x="533400" y="419100"/>
                </a:lnTo>
                <a:close/>
                <a:moveTo>
                  <a:pt x="266700" y="457200"/>
                </a:moveTo>
                <a:cubicBezTo>
                  <a:pt x="266700" y="436172"/>
                  <a:pt x="283772" y="419100"/>
                  <a:pt x="304800" y="419100"/>
                </a:cubicBezTo>
                <a:cubicBezTo>
                  <a:pt x="325828" y="419100"/>
                  <a:pt x="342900" y="436172"/>
                  <a:pt x="342900" y="457200"/>
                </a:cubicBezTo>
                <a:cubicBezTo>
                  <a:pt x="342900" y="478228"/>
                  <a:pt x="325828" y="495300"/>
                  <a:pt x="304800" y="495300"/>
                </a:cubicBezTo>
                <a:cubicBezTo>
                  <a:pt x="283772" y="495300"/>
                  <a:pt x="266700" y="478228"/>
                  <a:pt x="266700" y="457200"/>
                </a:cubicBezTo>
                <a:close/>
                <a:moveTo>
                  <a:pt x="419100" y="419100"/>
                </a:moveTo>
                <a:cubicBezTo>
                  <a:pt x="440128" y="419100"/>
                  <a:pt x="457200" y="436172"/>
                  <a:pt x="457200" y="457200"/>
                </a:cubicBezTo>
                <a:cubicBezTo>
                  <a:pt x="457200" y="478228"/>
                  <a:pt x="440128" y="495300"/>
                  <a:pt x="419100" y="495300"/>
                </a:cubicBezTo>
                <a:cubicBezTo>
                  <a:pt x="398072" y="495300"/>
                  <a:pt x="381000" y="478228"/>
                  <a:pt x="381000" y="457200"/>
                </a:cubicBezTo>
                <a:cubicBezTo>
                  <a:pt x="381000" y="436172"/>
                  <a:pt x="398072" y="419100"/>
                  <a:pt x="419100" y="419100"/>
                </a:cubicBezTo>
                <a:close/>
              </a:path>
            </a:pathLst>
          </a:custGeom>
          <a:solidFill>
            <a:srgbClr val="60A39A"/>
          </a:solidFill>
          <a:ln/>
        </p:spPr>
        <p:txBody>
          <a:bodyPr/>
          <a:lstStyle/>
          <a:p>
            <a:endParaRPr lang="zh-CN" altLang="en-US">
              <a:latin typeface="KaiTi" panose="02010609060101010101" pitchFamily="49" charset="-122"/>
              <a:ea typeface="KaiTi" panose="02010609060101010101" pitchFamily="49" charset="-122"/>
              <a:cs typeface="Calibri" panose="020F0502020204030204" pitchFamily="34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8739188" y="3606800"/>
            <a:ext cx="762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400" b="1" dirty="0">
                <a:solidFill>
                  <a:srgbClr val="3C3542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GFS</a:t>
            </a:r>
            <a:endParaRPr lang="en-US" sz="1600" dirty="0">
              <a:latin typeface="Calibri" panose="020F0502020204030204" pitchFamily="34" charset="0"/>
              <a:ea typeface="KaiTi" panose="02010609060101010101" pitchFamily="49" charset="-122"/>
              <a:cs typeface="Calibri" panose="020F0502020204030204" pitchFamily="34" charset="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8007350" y="4114800"/>
            <a:ext cx="2222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60A39A"/>
                </a:solidFill>
                <a:latin typeface="KaiTi" panose="02010609060101010101" pitchFamily="49" charset="-122"/>
                <a:ea typeface="KaiTi" panose="02010609060101010101" pitchFamily="49" charset="-122"/>
                <a:cs typeface="Calibri" panose="020F0502020204030204" pitchFamily="34" charset="0"/>
              </a:rPr>
              <a:t>高吞吐大文件与三副本容错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  <a:cs typeface="Calibri" panose="020F0502020204030204" pitchFamily="34" charset="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6559550" y="4470400"/>
            <a:ext cx="51181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3C3542"/>
                </a:solidFill>
                <a:latin typeface="KaiTi" panose="02010609060101010101" pitchFamily="49" charset="-122"/>
                <a:ea typeface="KaiTi" panose="02010609060101010101" pitchFamily="49" charset="-122"/>
                <a:cs typeface="Calibri" panose="020F0502020204030204" pitchFamily="34" charset="0"/>
              </a:rPr>
              <a:t>用于</a:t>
            </a:r>
            <a:r>
              <a:rPr lang="en-US" sz="1400" dirty="0">
                <a:solidFill>
                  <a:srgbClr val="3C3542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WAL</a:t>
            </a:r>
            <a:r>
              <a:rPr lang="en-US" sz="1400" dirty="0">
                <a:solidFill>
                  <a:srgbClr val="3C3542"/>
                </a:solidFill>
                <a:latin typeface="KaiTi" panose="02010609060101010101" pitchFamily="49" charset="-122"/>
                <a:ea typeface="KaiTi" panose="02010609060101010101" pitchFamily="49" charset="-122"/>
                <a:cs typeface="Calibri" panose="020F0502020204030204" pitchFamily="34" charset="0"/>
              </a:rPr>
              <a:t>和</a:t>
            </a:r>
            <a:r>
              <a:rPr lang="en-US" sz="1400" dirty="0">
                <a:solidFill>
                  <a:srgbClr val="3C3542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SSTable</a:t>
            </a:r>
            <a:r>
              <a:rPr lang="en-US" sz="1400" dirty="0">
                <a:solidFill>
                  <a:srgbClr val="3C3542"/>
                </a:solidFill>
                <a:latin typeface="KaiTi" panose="02010609060101010101" pitchFamily="49" charset="-122"/>
                <a:ea typeface="KaiTi" panose="02010609060101010101" pitchFamily="49" charset="-122"/>
                <a:cs typeface="Calibri" panose="020F0502020204030204" pitchFamily="34" charset="0"/>
              </a:rPr>
              <a:t>块存储。块丢失触发</a:t>
            </a:r>
            <a:r>
              <a:rPr lang="en-US" sz="1400" dirty="0">
                <a:solidFill>
                  <a:srgbClr val="3C3542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Tablet</a:t>
            </a:r>
            <a:r>
              <a:rPr lang="en-US" sz="1400" dirty="0">
                <a:solidFill>
                  <a:srgbClr val="3C3542"/>
                </a:solidFill>
                <a:latin typeface="KaiTi" panose="02010609060101010101" pitchFamily="49" charset="-122"/>
                <a:ea typeface="KaiTi" panose="02010609060101010101" pitchFamily="49" charset="-122"/>
                <a:cs typeface="Calibri" panose="020F0502020204030204" pitchFamily="34" charset="0"/>
              </a:rPr>
              <a:t>迁移，保障</a:t>
            </a:r>
            <a:r>
              <a:rPr lang="en-US" sz="1400" b="1" dirty="0">
                <a:solidFill>
                  <a:srgbClr val="3C3542"/>
                </a:solidFill>
                <a:latin typeface="KaiTi" panose="02010609060101010101" pitchFamily="49" charset="-122"/>
                <a:ea typeface="KaiTi" panose="02010609060101010101" pitchFamily="49" charset="-122"/>
                <a:cs typeface="Calibri" panose="020F0502020204030204" pitchFamily="34" charset="0"/>
              </a:rPr>
              <a:t>数据持久性</a:t>
            </a:r>
            <a:r>
              <a:rPr lang="en-US" sz="1400" dirty="0">
                <a:solidFill>
                  <a:srgbClr val="3C3542"/>
                </a:solidFill>
                <a:latin typeface="KaiTi" panose="02010609060101010101" pitchFamily="49" charset="-122"/>
                <a:ea typeface="KaiTi" panose="02010609060101010101" pitchFamily="49" charset="-122"/>
                <a:cs typeface="Calibri" panose="020F0502020204030204" pitchFamily="34" charset="0"/>
              </a:rPr>
              <a:t>。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  <a:cs typeface="Calibri" panose="020F0502020204030204" pitchFamily="34" charset="0"/>
            </a:endParaRPr>
          </a:p>
        </p:txBody>
      </p:sp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4445" y="0"/>
            <a:ext cx="12187555" cy="6875780"/>
          </a:xfrm>
          <a:prstGeom prst="rect">
            <a:avLst/>
          </a:prstGeom>
          <a:gradFill flip="none" rotWithShape="1">
            <a:gsLst>
              <a:gs pos="0">
                <a:srgbClr val="D7B1D4"/>
              </a:gs>
              <a:gs pos="34000">
                <a:srgbClr val="BC7DB7"/>
              </a:gs>
              <a:gs pos="100000">
                <a:srgbClr val="30225F"/>
              </a:gs>
            </a:gsLst>
            <a:lin ang="13500000" scaled="1"/>
          </a:gradFill>
          <a:ln/>
        </p:spPr>
        <p:txBody>
          <a:bodyPr/>
          <a:lstStyle/>
          <a:p>
            <a:endParaRPr lang="zh-CN" altLang="en-US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5" name="Text 3"/>
          <p:cNvSpPr/>
          <p:nvPr/>
        </p:nvSpPr>
        <p:spPr>
          <a:xfrm>
            <a:off x="4445" y="0"/>
            <a:ext cx="12187555" cy="68757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1727190" y="6306820"/>
            <a:ext cx="10080000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852805" y="6177280"/>
            <a:ext cx="259080" cy="25908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852805" y="6177280"/>
            <a:ext cx="259080" cy="2590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979805" y="6177280"/>
            <a:ext cx="259080" cy="259080"/>
          </a:xfrm>
          <a:prstGeom prst="ellipse">
            <a:avLst/>
          </a:prstGeom>
          <a:solidFill>
            <a:srgbClr val="000000">
              <a:alpha val="0"/>
            </a:srgbClr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979805" y="6177280"/>
            <a:ext cx="259080" cy="2590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1863725" y="2687320"/>
            <a:ext cx="8464550" cy="230695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zh-CN" altLang="en-US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1863725" y="2687320"/>
            <a:ext cx="8464550" cy="230695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t"/>
          <a:lstStyle/>
          <a:p>
            <a:pPr algn="ctr">
              <a:lnSpc>
                <a:spcPct val="100000"/>
              </a:lnSpc>
            </a:pPr>
            <a:r>
              <a:rPr lang="en-US" sz="7200" b="1" dirty="0">
                <a:solidFill>
                  <a:srgbClr val="FFFFFF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Tablet</a:t>
            </a:r>
            <a:r>
              <a:rPr lang="en-US" sz="7200" b="1" dirty="0">
                <a:solidFill>
                  <a:srgbClr val="FFFFFF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分裂与负载均衡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2515235" y="1350010"/>
            <a:ext cx="7161530" cy="1200329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7200" dirty="0">
                <a:solidFill>
                  <a:srgbClr val="FFFFFF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04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</p:spTree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2"/>
          <p:cNvSpPr/>
          <p:nvPr/>
        </p:nvSpPr>
        <p:spPr>
          <a:xfrm>
            <a:off x="254000" y="1803400"/>
            <a:ext cx="57658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b="1" dirty="0" err="1">
                <a:solidFill>
                  <a:srgbClr val="8F5C9A"/>
                </a:solidFill>
                <a:latin typeface="KaiTi" panose="02010609060101010101" pitchFamily="49" charset="-122"/>
                <a:ea typeface="KaiTi" panose="02010609060101010101" pitchFamily="49" charset="-122"/>
                <a:cs typeface="Noto Sans SC" pitchFamily="34" charset="-120"/>
              </a:rPr>
              <a:t>分裂算法与中间层</a:t>
            </a:r>
            <a:r>
              <a:rPr lang="en-US" sz="3600" b="1" dirty="0">
                <a:solidFill>
                  <a:srgbClr val="8F5C9A"/>
                </a:solidFill>
                <a:latin typeface="KaiTi" panose="02010609060101010101" pitchFamily="49" charset="-122"/>
                <a:ea typeface="KaiTi" panose="02010609060101010101" pitchFamily="49" charset="-122"/>
                <a:cs typeface="Noto Sans SC" pitchFamily="34" charset="-120"/>
              </a:rPr>
              <a:t> </a:t>
            </a:r>
            <a:r>
              <a:rPr lang="en-US" sz="3600" b="1" dirty="0">
                <a:solidFill>
                  <a:srgbClr val="8F5C9A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Key </a:t>
            </a:r>
            <a:r>
              <a:rPr lang="en-US" sz="3600" b="1" dirty="0" err="1">
                <a:solidFill>
                  <a:srgbClr val="8F5C9A"/>
                </a:solidFill>
                <a:latin typeface="KaiTi" panose="02010609060101010101" pitchFamily="49" charset="-122"/>
                <a:ea typeface="KaiTi" panose="02010609060101010101" pitchFamily="49" charset="-122"/>
                <a:cs typeface="Noto Sans SC" pitchFamily="34" charset="-120"/>
              </a:rPr>
              <a:t>选择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6" name="Text 3"/>
          <p:cNvSpPr/>
          <p:nvPr/>
        </p:nvSpPr>
        <p:spPr>
          <a:xfrm>
            <a:off x="254000" y="2514600"/>
            <a:ext cx="5638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 err="1">
                <a:solidFill>
                  <a:srgbClr val="3C3542"/>
                </a:solidFill>
                <a:latin typeface="KaiTi" panose="02010609060101010101" pitchFamily="49" charset="-122"/>
                <a:ea typeface="KaiTi" panose="02010609060101010101" pitchFamily="49" charset="-122"/>
                <a:cs typeface="Noto Sans SC" pitchFamily="34" charset="-120"/>
              </a:rPr>
              <a:t>当</a:t>
            </a:r>
            <a:r>
              <a:rPr lang="en-US" sz="1600" dirty="0">
                <a:solidFill>
                  <a:srgbClr val="3C3542"/>
                </a:solidFill>
                <a:latin typeface="KaiTi" panose="02010609060101010101" pitchFamily="49" charset="-122"/>
                <a:ea typeface="KaiTi" panose="02010609060101010101" pitchFamily="49" charset="-122"/>
                <a:cs typeface="Noto Sans SC" pitchFamily="34" charset="-120"/>
              </a:rPr>
              <a:t> </a:t>
            </a:r>
            <a:r>
              <a:rPr lang="en-US" sz="1600" dirty="0">
                <a:solidFill>
                  <a:srgbClr val="3C3542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Tablet </a:t>
            </a:r>
            <a:r>
              <a:rPr lang="en-US" sz="1600" dirty="0" err="1">
                <a:solidFill>
                  <a:srgbClr val="3C3542"/>
                </a:solidFill>
                <a:latin typeface="KaiTi" panose="02010609060101010101" pitchFamily="49" charset="-122"/>
                <a:ea typeface="KaiTi" panose="02010609060101010101" pitchFamily="49" charset="-122"/>
                <a:cs typeface="Noto Sans SC" pitchFamily="34" charset="-120"/>
              </a:rPr>
              <a:t>达到大小阈值时，系统会触发分裂以实现负载均衡</a:t>
            </a:r>
            <a:r>
              <a:rPr lang="en-US" sz="1600" dirty="0">
                <a:solidFill>
                  <a:srgbClr val="3C3542"/>
                </a:solidFill>
                <a:latin typeface="KaiTi" panose="02010609060101010101" pitchFamily="49" charset="-122"/>
                <a:ea typeface="KaiTi" panose="02010609060101010101" pitchFamily="49" charset="-122"/>
                <a:cs typeface="Noto Sans SC" pitchFamily="34" charset="-120"/>
              </a:rPr>
              <a:t>。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7" name="Text 4"/>
          <p:cNvSpPr/>
          <p:nvPr/>
        </p:nvSpPr>
        <p:spPr>
          <a:xfrm>
            <a:off x="253999" y="3022600"/>
            <a:ext cx="8070193" cy="157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54000" indent="-254000">
              <a:lnSpc>
                <a:spcPct val="120000"/>
              </a:lnSpc>
              <a:spcBef>
                <a:spcPts val="10"/>
              </a:spcBef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3C3542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Server</a:t>
            </a:r>
            <a:r>
              <a:rPr lang="en-US" sz="1400" dirty="0">
                <a:solidFill>
                  <a:srgbClr val="3C3542"/>
                </a:solidFill>
                <a:latin typeface="KaiTi" panose="02010609060101010101" pitchFamily="49" charset="-122"/>
                <a:ea typeface="KaiTi" panose="02010609060101010101" pitchFamily="49" charset="-122"/>
                <a:cs typeface="Noto Sans SC" pitchFamily="34" charset="-120"/>
              </a:rPr>
              <a:t> </a:t>
            </a:r>
            <a:r>
              <a:rPr lang="en-US" sz="1400" dirty="0" err="1">
                <a:solidFill>
                  <a:srgbClr val="3C3542"/>
                </a:solidFill>
                <a:latin typeface="KaiTi" panose="02010609060101010101" pitchFamily="49" charset="-122"/>
                <a:ea typeface="KaiTi" panose="02010609060101010101" pitchFamily="49" charset="-122"/>
                <a:cs typeface="Noto Sans SC" pitchFamily="34" charset="-120"/>
              </a:rPr>
              <a:t>计算行键</a:t>
            </a:r>
            <a:r>
              <a:rPr lang="en-US" sz="1400" b="1" dirty="0" err="1">
                <a:solidFill>
                  <a:srgbClr val="A95EAF"/>
                </a:solidFill>
                <a:latin typeface="KaiTi" panose="02010609060101010101" pitchFamily="49" charset="-122"/>
                <a:ea typeface="KaiTi" panose="02010609060101010101" pitchFamily="49" charset="-122"/>
                <a:cs typeface="Noto Sans SC" pitchFamily="34" charset="-120"/>
              </a:rPr>
              <a:t>中点</a:t>
            </a:r>
            <a:r>
              <a:rPr lang="en-US" sz="1400" dirty="0" err="1">
                <a:solidFill>
                  <a:srgbClr val="3C3542"/>
                </a:solidFill>
                <a:latin typeface="KaiTi" panose="02010609060101010101" pitchFamily="49" charset="-122"/>
                <a:ea typeface="KaiTi" panose="02010609060101010101" pitchFamily="49" charset="-122"/>
                <a:cs typeface="Noto Sans SC" pitchFamily="34" charset="-120"/>
              </a:rPr>
              <a:t>作为分裂点</a:t>
            </a:r>
            <a:r>
              <a:rPr lang="en-US" sz="1400" dirty="0">
                <a:solidFill>
                  <a:srgbClr val="3C3542"/>
                </a:solidFill>
                <a:latin typeface="KaiTi" panose="02010609060101010101" pitchFamily="49" charset="-122"/>
                <a:ea typeface="KaiTi" panose="02010609060101010101" pitchFamily="49" charset="-122"/>
                <a:cs typeface="Noto Sans SC" pitchFamily="34" charset="-120"/>
              </a:rPr>
              <a:t>。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 marL="254000" indent="-254000">
              <a:lnSpc>
                <a:spcPct val="120000"/>
              </a:lnSpc>
              <a:spcBef>
                <a:spcPts val="10"/>
              </a:spcBef>
              <a:buSzPct val="100000"/>
              <a:buFont typeface="+mj-lt"/>
              <a:buAutoNum type="arabicPeriod"/>
            </a:pPr>
            <a:r>
              <a:rPr lang="en-US" sz="1400" dirty="0" err="1">
                <a:solidFill>
                  <a:srgbClr val="3C3542"/>
                </a:solidFill>
                <a:latin typeface="KaiTi" panose="02010609060101010101" pitchFamily="49" charset="-122"/>
                <a:ea typeface="KaiTi" panose="02010609060101010101" pitchFamily="49" charset="-122"/>
                <a:cs typeface="Noto Sans SC" pitchFamily="34" charset="-120"/>
              </a:rPr>
              <a:t>新建两个子</a:t>
            </a:r>
            <a:r>
              <a:rPr lang="en-US" sz="1400" dirty="0">
                <a:solidFill>
                  <a:srgbClr val="3C3542"/>
                </a:solidFill>
                <a:latin typeface="KaiTi" panose="02010609060101010101" pitchFamily="49" charset="-122"/>
                <a:ea typeface="KaiTi" panose="02010609060101010101" pitchFamily="49" charset="-122"/>
                <a:cs typeface="Noto Sans SC" pitchFamily="34" charset="-120"/>
              </a:rPr>
              <a:t> </a:t>
            </a:r>
            <a:r>
              <a:rPr lang="en-US" sz="1400" dirty="0" err="1">
                <a:solidFill>
                  <a:srgbClr val="3C3542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Tablet</a:t>
            </a:r>
            <a:r>
              <a:rPr lang="en-US" sz="1400" dirty="0" err="1">
                <a:solidFill>
                  <a:srgbClr val="3C3542"/>
                </a:solidFill>
                <a:latin typeface="KaiTi" panose="02010609060101010101" pitchFamily="49" charset="-122"/>
                <a:ea typeface="KaiTi" panose="02010609060101010101" pitchFamily="49" charset="-122"/>
                <a:cs typeface="Noto Sans SC" pitchFamily="34" charset="-120"/>
              </a:rPr>
              <a:t>，并在</a:t>
            </a:r>
            <a:r>
              <a:rPr lang="en-US" sz="1400" dirty="0">
                <a:solidFill>
                  <a:srgbClr val="3C3542"/>
                </a:solidFill>
                <a:latin typeface="KaiTi" panose="02010609060101010101" pitchFamily="49" charset="-122"/>
                <a:ea typeface="KaiTi" panose="02010609060101010101" pitchFamily="49" charset="-122"/>
                <a:cs typeface="Noto Sans SC" pitchFamily="34" charset="-120"/>
              </a:rPr>
              <a:t> </a:t>
            </a:r>
            <a:r>
              <a:rPr lang="en-US" sz="1400" dirty="0">
                <a:solidFill>
                  <a:srgbClr val="3C3542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META</a:t>
            </a:r>
            <a:r>
              <a:rPr lang="en-US" sz="1400" dirty="0">
                <a:solidFill>
                  <a:srgbClr val="3C3542"/>
                </a:solidFill>
                <a:latin typeface="KaiTi" panose="02010609060101010101" pitchFamily="49" charset="-122"/>
                <a:ea typeface="KaiTi" panose="02010609060101010101" pitchFamily="49" charset="-122"/>
                <a:cs typeface="Noto Sans SC" pitchFamily="34" charset="-120"/>
              </a:rPr>
              <a:t> </a:t>
            </a:r>
            <a:r>
              <a:rPr lang="en-US" sz="1400" dirty="0" err="1">
                <a:solidFill>
                  <a:srgbClr val="3C3542"/>
                </a:solidFill>
                <a:latin typeface="KaiTi" panose="02010609060101010101" pitchFamily="49" charset="-122"/>
                <a:ea typeface="KaiTi" panose="02010609060101010101" pitchFamily="49" charset="-122"/>
                <a:cs typeface="Noto Sans SC" pitchFamily="34" charset="-120"/>
              </a:rPr>
              <a:t>表中插入两条记录</a:t>
            </a:r>
            <a:r>
              <a:rPr lang="en-US" sz="1400" dirty="0">
                <a:solidFill>
                  <a:srgbClr val="3C3542"/>
                </a:solidFill>
                <a:latin typeface="KaiTi" panose="02010609060101010101" pitchFamily="49" charset="-122"/>
                <a:ea typeface="KaiTi" panose="02010609060101010101" pitchFamily="49" charset="-122"/>
                <a:cs typeface="Noto Sans SC" pitchFamily="34" charset="-120"/>
              </a:rPr>
              <a:t>。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 marL="254000" indent="-254000">
              <a:lnSpc>
                <a:spcPct val="120000"/>
              </a:lnSpc>
              <a:spcBef>
                <a:spcPts val="10"/>
              </a:spcBef>
              <a:buSzPct val="100000"/>
              <a:buFont typeface="+mj-lt"/>
              <a:buAutoNum type="arabicPeriod"/>
            </a:pPr>
            <a:r>
              <a:rPr lang="en-US" sz="1400" dirty="0" err="1">
                <a:solidFill>
                  <a:srgbClr val="3C3542"/>
                </a:solidFill>
                <a:latin typeface="KaiTi" panose="02010609060101010101" pitchFamily="49" charset="-122"/>
                <a:ea typeface="KaiTi" panose="02010609060101010101" pitchFamily="49" charset="-122"/>
                <a:cs typeface="Noto Sans SC" pitchFamily="34" charset="-120"/>
              </a:rPr>
              <a:t>异步通知</a:t>
            </a:r>
            <a:r>
              <a:rPr lang="en-US" sz="1400" dirty="0">
                <a:solidFill>
                  <a:srgbClr val="3C3542"/>
                </a:solidFill>
                <a:latin typeface="KaiTi" panose="02010609060101010101" pitchFamily="49" charset="-122"/>
                <a:ea typeface="KaiTi" panose="02010609060101010101" pitchFamily="49" charset="-122"/>
                <a:cs typeface="Noto Sans SC" pitchFamily="34" charset="-120"/>
              </a:rPr>
              <a:t> </a:t>
            </a:r>
            <a:r>
              <a:rPr lang="en-US" sz="1400" dirty="0">
                <a:solidFill>
                  <a:srgbClr val="3C3542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Master </a:t>
            </a:r>
            <a:r>
              <a:rPr lang="en-US" sz="1400" dirty="0" err="1">
                <a:solidFill>
                  <a:srgbClr val="3C3542"/>
                </a:solidFill>
                <a:latin typeface="KaiTi" panose="02010609060101010101" pitchFamily="49" charset="-122"/>
                <a:ea typeface="KaiTi" panose="02010609060101010101" pitchFamily="49" charset="-122"/>
                <a:cs typeface="Noto Sans SC" pitchFamily="34" charset="-120"/>
              </a:rPr>
              <a:t>更新负载视图</a:t>
            </a:r>
            <a:r>
              <a:rPr lang="en-US" sz="1400" dirty="0">
                <a:solidFill>
                  <a:srgbClr val="3C3542"/>
                </a:solidFill>
                <a:latin typeface="KaiTi" panose="02010609060101010101" pitchFamily="49" charset="-122"/>
                <a:ea typeface="KaiTi" panose="02010609060101010101" pitchFamily="49" charset="-122"/>
                <a:cs typeface="Noto Sans SC" pitchFamily="34" charset="-120"/>
              </a:rPr>
              <a:t>。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 marL="254000" indent="-254000">
              <a:lnSpc>
                <a:spcPct val="120000"/>
              </a:lnSpc>
              <a:spcBef>
                <a:spcPts val="10"/>
              </a:spcBef>
              <a:buSzPct val="100000"/>
              <a:buFont typeface="+mj-lt"/>
              <a:buAutoNum type="arabicPeriod"/>
            </a:pPr>
            <a:r>
              <a:rPr lang="en-US" sz="1400" dirty="0" err="1">
                <a:solidFill>
                  <a:srgbClr val="3C3542"/>
                </a:solidFill>
                <a:latin typeface="KaiTi" panose="02010609060101010101" pitchFamily="49" charset="-122"/>
                <a:ea typeface="KaiTi" panose="02010609060101010101" pitchFamily="49" charset="-122"/>
                <a:cs typeface="Noto Sans SC" pitchFamily="34" charset="-120"/>
              </a:rPr>
              <a:t>分裂过程中，读写请求通过</a:t>
            </a:r>
            <a:r>
              <a:rPr lang="en-US" sz="1400" b="1" dirty="0" err="1">
                <a:solidFill>
                  <a:srgbClr val="A95EAF"/>
                </a:solidFill>
                <a:latin typeface="KaiTi" panose="02010609060101010101" pitchFamily="49" charset="-122"/>
                <a:ea typeface="KaiTi" panose="02010609060101010101" pitchFamily="49" charset="-122"/>
                <a:cs typeface="Noto Sans SC" pitchFamily="34" charset="-120"/>
              </a:rPr>
              <a:t>引用计数共享</a:t>
            </a:r>
            <a:r>
              <a:rPr lang="en-US" sz="1400" b="1" dirty="0">
                <a:solidFill>
                  <a:srgbClr val="A95EAF"/>
                </a:solidFill>
                <a:latin typeface="KaiTi" panose="02010609060101010101" pitchFamily="49" charset="-122"/>
                <a:ea typeface="KaiTi" panose="02010609060101010101" pitchFamily="49" charset="-122"/>
                <a:cs typeface="Noto Sans SC" pitchFamily="34" charset="-120"/>
              </a:rPr>
              <a:t> </a:t>
            </a:r>
            <a:r>
              <a:rPr lang="en-US" sz="1400" b="1" dirty="0" err="1">
                <a:solidFill>
                  <a:srgbClr val="A95EAF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SSTable</a:t>
            </a:r>
            <a:r>
              <a:rPr lang="en-US" sz="1400" dirty="0" err="1">
                <a:solidFill>
                  <a:srgbClr val="3C3542"/>
                </a:solidFill>
                <a:latin typeface="KaiTi" panose="02010609060101010101" pitchFamily="49" charset="-122"/>
                <a:ea typeface="KaiTi" panose="02010609060101010101" pitchFamily="49" charset="-122"/>
                <a:cs typeface="Noto Sans SC" pitchFamily="34" charset="-120"/>
              </a:rPr>
              <a:t>，实现零中断服务</a:t>
            </a:r>
            <a:r>
              <a:rPr lang="en-US" sz="1400" dirty="0">
                <a:solidFill>
                  <a:srgbClr val="3C3542"/>
                </a:solidFill>
                <a:latin typeface="KaiTi" panose="02010609060101010101" pitchFamily="49" charset="-122"/>
                <a:ea typeface="KaiTi" panose="02010609060101010101" pitchFamily="49" charset="-122"/>
                <a:cs typeface="Noto Sans SC" pitchFamily="34" charset="-120"/>
              </a:rPr>
              <a:t>。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8" name="Text 5"/>
          <p:cNvSpPr/>
          <p:nvPr/>
        </p:nvSpPr>
        <p:spPr>
          <a:xfrm>
            <a:off x="254000" y="4800600"/>
            <a:ext cx="56261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3C3542"/>
                </a:solidFill>
                <a:latin typeface="KaiTi" panose="02010609060101010101" pitchFamily="49" charset="-122"/>
                <a:ea typeface="KaiTi" panose="02010609060101010101" pitchFamily="49" charset="-122"/>
                <a:cs typeface="Noto Sans SC" pitchFamily="34" charset="-120"/>
              </a:rPr>
              <a:t>选择中点而非热度中位数，是为了保持算法的简单与确定性。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</p:spTree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2"/>
          <p:cNvSpPr/>
          <p:nvPr/>
        </p:nvSpPr>
        <p:spPr>
          <a:xfrm>
            <a:off x="139700" y="2057400"/>
            <a:ext cx="11912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3600" b="1" dirty="0">
                <a:solidFill>
                  <a:srgbClr val="8F5C9A"/>
                </a:solidFill>
                <a:latin typeface="KaiTi" panose="02010609060101010101" pitchFamily="49" charset="-122"/>
                <a:ea typeface="KaiTi" panose="02010609060101010101" pitchFamily="49" charset="-122"/>
                <a:cs typeface="Noto Sans SC" pitchFamily="34" charset="-120"/>
              </a:rPr>
              <a:t>热点检测与动态迁移策略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6" name="Shape 3"/>
          <p:cNvSpPr/>
          <p:nvPr/>
        </p:nvSpPr>
        <p:spPr>
          <a:xfrm>
            <a:off x="254000" y="2870200"/>
            <a:ext cx="3581400" cy="1930400"/>
          </a:xfrm>
          <a:custGeom>
            <a:avLst/>
            <a:gdLst/>
            <a:ahLst/>
            <a:cxnLst/>
            <a:rect l="l" t="t" r="r" b="b"/>
            <a:pathLst>
              <a:path w="3581400" h="1930400">
                <a:moveTo>
                  <a:pt x="101597" y="0"/>
                </a:moveTo>
                <a:lnTo>
                  <a:pt x="3479803" y="0"/>
                </a:lnTo>
                <a:cubicBezTo>
                  <a:pt x="3535913" y="0"/>
                  <a:pt x="3581400" y="45487"/>
                  <a:pt x="3581400" y="101597"/>
                </a:cubicBezTo>
                <a:lnTo>
                  <a:pt x="3581400" y="1828803"/>
                </a:lnTo>
                <a:cubicBezTo>
                  <a:pt x="3581400" y="1884913"/>
                  <a:pt x="3535913" y="1930400"/>
                  <a:pt x="3479803" y="1930400"/>
                </a:cubicBezTo>
                <a:lnTo>
                  <a:pt x="101597" y="1930400"/>
                </a:lnTo>
                <a:cubicBezTo>
                  <a:pt x="45487" y="1930400"/>
                  <a:pt x="0" y="1884913"/>
                  <a:pt x="0" y="1828803"/>
                </a:cubicBezTo>
                <a:lnTo>
                  <a:pt x="0" y="101597"/>
                </a:lnTo>
                <a:cubicBezTo>
                  <a:pt x="0" y="45487"/>
                  <a:pt x="45487" y="0"/>
                  <a:pt x="101597" y="0"/>
                </a:cubicBezTo>
                <a:close/>
              </a:path>
            </a:pathLst>
          </a:custGeom>
          <a:solidFill>
            <a:srgbClr val="D3B9D7">
              <a:alpha val="25098"/>
            </a:srgbClr>
          </a:solidFill>
          <a:ln/>
        </p:spPr>
        <p:txBody>
          <a:bodyPr/>
          <a:lstStyle/>
          <a:p>
            <a:endParaRPr lang="zh-CN" altLang="en-US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7" name="Text 4"/>
          <p:cNvSpPr/>
          <p:nvPr/>
        </p:nvSpPr>
        <p:spPr>
          <a:xfrm>
            <a:off x="393700" y="3073400"/>
            <a:ext cx="3302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3C3542"/>
                </a:solidFill>
                <a:latin typeface="KaiTi" panose="02010609060101010101" pitchFamily="49" charset="-122"/>
                <a:ea typeface="KaiTi" panose="02010609060101010101" pitchFamily="49" charset="-122"/>
                <a:cs typeface="Noto Sans SC" pitchFamily="34" charset="-120"/>
              </a:rPr>
              <a:t>1. 检测热点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8" name="Text 5"/>
          <p:cNvSpPr/>
          <p:nvPr/>
        </p:nvSpPr>
        <p:spPr>
          <a:xfrm>
            <a:off x="412750" y="3530600"/>
            <a:ext cx="32639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 err="1">
                <a:solidFill>
                  <a:srgbClr val="3C3542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Master</a:t>
            </a:r>
            <a:r>
              <a:rPr lang="en-US" sz="1400" dirty="0" err="1">
                <a:solidFill>
                  <a:srgbClr val="3C3542"/>
                </a:solidFill>
                <a:latin typeface="KaiTi" panose="02010609060101010101" pitchFamily="49" charset="-122"/>
                <a:ea typeface="KaiTi" panose="02010609060101010101" pitchFamily="49" charset="-122"/>
                <a:cs typeface="Noto Sans SC" pitchFamily="34" charset="-120"/>
              </a:rPr>
              <a:t>通过</a:t>
            </a:r>
            <a:r>
              <a:rPr lang="en-US" sz="1400" dirty="0">
                <a:solidFill>
                  <a:srgbClr val="3C3542"/>
                </a:solidFill>
                <a:latin typeface="KaiTi" panose="02010609060101010101" pitchFamily="49" charset="-122"/>
                <a:ea typeface="KaiTi" panose="02010609060101010101" pitchFamily="49" charset="-122"/>
                <a:cs typeface="Noto Sans SC" pitchFamily="34" charset="-120"/>
              </a:rPr>
              <a:t> </a:t>
            </a:r>
            <a:r>
              <a:rPr lang="en-US" sz="1400" dirty="0" err="1">
                <a:solidFill>
                  <a:srgbClr val="3C3542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QPS</a:t>
            </a:r>
            <a:r>
              <a:rPr lang="en-US" sz="1400" dirty="0" err="1">
                <a:solidFill>
                  <a:srgbClr val="3C3542"/>
                </a:solidFill>
                <a:latin typeface="KaiTi" panose="02010609060101010101" pitchFamily="49" charset="-122"/>
                <a:ea typeface="KaiTi" panose="02010609060101010101" pitchFamily="49" charset="-122"/>
                <a:cs typeface="Noto Sans SC" pitchFamily="34" charset="-120"/>
              </a:rPr>
              <a:t>、带宽、</a:t>
            </a:r>
            <a:r>
              <a:rPr lang="en-US" sz="1400" dirty="0" err="1">
                <a:solidFill>
                  <a:srgbClr val="3C3542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CPU</a:t>
            </a:r>
            <a:r>
              <a:rPr lang="en-US" sz="1400" dirty="0">
                <a:solidFill>
                  <a:srgbClr val="3C3542"/>
                </a:solidFill>
                <a:latin typeface="KaiTi" panose="02010609060101010101" pitchFamily="49" charset="-122"/>
                <a:ea typeface="KaiTi" panose="02010609060101010101" pitchFamily="49" charset="-122"/>
                <a:cs typeface="Noto Sans SC" pitchFamily="34" charset="-120"/>
              </a:rPr>
              <a:t> </a:t>
            </a:r>
            <a:r>
              <a:rPr lang="en-US" sz="1400" dirty="0" err="1">
                <a:solidFill>
                  <a:srgbClr val="3C3542"/>
                </a:solidFill>
                <a:latin typeface="KaiTi" panose="02010609060101010101" pitchFamily="49" charset="-122"/>
                <a:ea typeface="KaiTi" panose="02010609060101010101" pitchFamily="49" charset="-122"/>
                <a:cs typeface="Noto Sans SC" pitchFamily="34" charset="-120"/>
              </a:rPr>
              <a:t>等指标识别热点</a:t>
            </a:r>
            <a:r>
              <a:rPr lang="en-US" sz="1400" dirty="0" err="1">
                <a:solidFill>
                  <a:srgbClr val="3C3542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Tablet</a:t>
            </a:r>
            <a:r>
              <a:rPr lang="en-US" sz="1400" dirty="0">
                <a:solidFill>
                  <a:srgbClr val="3C3542"/>
                </a:solidFill>
                <a:latin typeface="KaiTi" panose="02010609060101010101" pitchFamily="49" charset="-122"/>
                <a:ea typeface="KaiTi" panose="02010609060101010101" pitchFamily="49" charset="-122"/>
                <a:cs typeface="Noto Sans SC" pitchFamily="34" charset="-120"/>
              </a:rPr>
              <a:t>。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9" name="Shape 6"/>
          <p:cNvSpPr/>
          <p:nvPr/>
        </p:nvSpPr>
        <p:spPr>
          <a:xfrm>
            <a:off x="1899642" y="4140200"/>
            <a:ext cx="285750" cy="457200"/>
          </a:xfrm>
          <a:custGeom>
            <a:avLst/>
            <a:gdLst/>
            <a:ahLst/>
            <a:cxnLst/>
            <a:rect l="l" t="t" r="r" b="b"/>
            <a:pathLst>
              <a:path w="285750" h="457200">
                <a:moveTo>
                  <a:pt x="142875" y="0"/>
                </a:moveTo>
                <a:cubicBezTo>
                  <a:pt x="95548" y="0"/>
                  <a:pt x="57150" y="38398"/>
                  <a:pt x="57150" y="85725"/>
                </a:cubicBezTo>
                <a:lnTo>
                  <a:pt x="57150" y="232797"/>
                </a:lnTo>
                <a:cubicBezTo>
                  <a:pt x="30807" y="256282"/>
                  <a:pt x="14288" y="290572"/>
                  <a:pt x="14288" y="328613"/>
                </a:cubicBezTo>
                <a:cubicBezTo>
                  <a:pt x="14288" y="399604"/>
                  <a:pt x="71884" y="457200"/>
                  <a:pt x="142875" y="457200"/>
                </a:cubicBezTo>
                <a:cubicBezTo>
                  <a:pt x="213866" y="457200"/>
                  <a:pt x="271463" y="399604"/>
                  <a:pt x="271463" y="328613"/>
                </a:cubicBezTo>
                <a:cubicBezTo>
                  <a:pt x="271463" y="290572"/>
                  <a:pt x="254943" y="256282"/>
                  <a:pt x="228600" y="232797"/>
                </a:cubicBezTo>
                <a:lnTo>
                  <a:pt x="228600" y="85725"/>
                </a:lnTo>
                <a:cubicBezTo>
                  <a:pt x="228600" y="38398"/>
                  <a:pt x="190202" y="0"/>
                  <a:pt x="142875" y="0"/>
                </a:cubicBezTo>
                <a:close/>
                <a:moveTo>
                  <a:pt x="200025" y="328613"/>
                </a:moveTo>
                <a:cubicBezTo>
                  <a:pt x="200025" y="360134"/>
                  <a:pt x="174397" y="385763"/>
                  <a:pt x="142875" y="385763"/>
                </a:cubicBezTo>
                <a:cubicBezTo>
                  <a:pt x="111353" y="385763"/>
                  <a:pt x="85725" y="360134"/>
                  <a:pt x="85725" y="328613"/>
                </a:cubicBezTo>
                <a:cubicBezTo>
                  <a:pt x="85725" y="304592"/>
                  <a:pt x="100459" y="284053"/>
                  <a:pt x="121444" y="275659"/>
                </a:cubicBezTo>
                <a:lnTo>
                  <a:pt x="121444" y="85725"/>
                </a:lnTo>
                <a:cubicBezTo>
                  <a:pt x="121444" y="73849"/>
                  <a:pt x="130999" y="64294"/>
                  <a:pt x="142875" y="64294"/>
                </a:cubicBezTo>
                <a:cubicBezTo>
                  <a:pt x="154751" y="64294"/>
                  <a:pt x="164306" y="73849"/>
                  <a:pt x="164306" y="85725"/>
                </a:cubicBezTo>
                <a:lnTo>
                  <a:pt x="164306" y="275659"/>
                </a:lnTo>
                <a:cubicBezTo>
                  <a:pt x="185291" y="284143"/>
                  <a:pt x="200025" y="304681"/>
                  <a:pt x="200025" y="328613"/>
                </a:cubicBezTo>
                <a:close/>
              </a:path>
            </a:pathLst>
          </a:custGeom>
          <a:solidFill>
            <a:srgbClr val="A95EAF"/>
          </a:solidFill>
          <a:ln/>
        </p:spPr>
        <p:txBody>
          <a:bodyPr/>
          <a:lstStyle/>
          <a:p>
            <a:endParaRPr lang="zh-CN" altLang="en-US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3881934" y="36449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374005" y="207318"/>
                </a:moveTo>
                <a:cubicBezTo>
                  <a:pt x="383307" y="198016"/>
                  <a:pt x="383307" y="182910"/>
                  <a:pt x="374005" y="173608"/>
                </a:cubicBezTo>
                <a:lnTo>
                  <a:pt x="254943" y="54546"/>
                </a:lnTo>
                <a:cubicBezTo>
                  <a:pt x="245641" y="45244"/>
                  <a:pt x="230535" y="45244"/>
                  <a:pt x="221233" y="54546"/>
                </a:cubicBezTo>
                <a:cubicBezTo>
                  <a:pt x="211931" y="63847"/>
                  <a:pt x="211931" y="78953"/>
                  <a:pt x="221233" y="88255"/>
                </a:cubicBezTo>
                <a:lnTo>
                  <a:pt x="299665" y="166688"/>
                </a:lnTo>
                <a:lnTo>
                  <a:pt x="23812" y="166688"/>
                </a:lnTo>
                <a:cubicBezTo>
                  <a:pt x="10641" y="166688"/>
                  <a:pt x="0" y="177329"/>
                  <a:pt x="0" y="190500"/>
                </a:cubicBezTo>
                <a:cubicBezTo>
                  <a:pt x="0" y="203671"/>
                  <a:pt x="10641" y="214313"/>
                  <a:pt x="23812" y="214313"/>
                </a:cubicBezTo>
                <a:lnTo>
                  <a:pt x="299665" y="214313"/>
                </a:lnTo>
                <a:lnTo>
                  <a:pt x="221233" y="292745"/>
                </a:lnTo>
                <a:cubicBezTo>
                  <a:pt x="211931" y="302047"/>
                  <a:pt x="211931" y="317153"/>
                  <a:pt x="221233" y="326454"/>
                </a:cubicBezTo>
                <a:cubicBezTo>
                  <a:pt x="230535" y="335756"/>
                  <a:pt x="245641" y="335756"/>
                  <a:pt x="254943" y="326454"/>
                </a:cubicBezTo>
                <a:lnTo>
                  <a:pt x="374005" y="207392"/>
                </a:lnTo>
                <a:close/>
              </a:path>
            </a:pathLst>
          </a:custGeom>
          <a:solidFill>
            <a:srgbClr val="8F5C9A"/>
          </a:solidFill>
          <a:ln/>
        </p:spPr>
        <p:txBody>
          <a:bodyPr/>
          <a:lstStyle/>
          <a:p>
            <a:endParaRPr lang="zh-CN" altLang="en-US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4307384" y="2870200"/>
            <a:ext cx="3581400" cy="1930400"/>
          </a:xfrm>
          <a:custGeom>
            <a:avLst/>
            <a:gdLst/>
            <a:ahLst/>
            <a:cxnLst/>
            <a:rect l="l" t="t" r="r" b="b"/>
            <a:pathLst>
              <a:path w="3581400" h="1930400">
                <a:moveTo>
                  <a:pt x="101597" y="0"/>
                </a:moveTo>
                <a:lnTo>
                  <a:pt x="3479803" y="0"/>
                </a:lnTo>
                <a:cubicBezTo>
                  <a:pt x="3535913" y="0"/>
                  <a:pt x="3581400" y="45487"/>
                  <a:pt x="3581400" y="101597"/>
                </a:cubicBezTo>
                <a:lnTo>
                  <a:pt x="3581400" y="1828803"/>
                </a:lnTo>
                <a:cubicBezTo>
                  <a:pt x="3581400" y="1884913"/>
                  <a:pt x="3535913" y="1930400"/>
                  <a:pt x="3479803" y="1930400"/>
                </a:cubicBezTo>
                <a:lnTo>
                  <a:pt x="101597" y="1930400"/>
                </a:lnTo>
                <a:cubicBezTo>
                  <a:pt x="45487" y="1930400"/>
                  <a:pt x="0" y="1884913"/>
                  <a:pt x="0" y="1828803"/>
                </a:cubicBezTo>
                <a:lnTo>
                  <a:pt x="0" y="101597"/>
                </a:lnTo>
                <a:cubicBezTo>
                  <a:pt x="0" y="45487"/>
                  <a:pt x="45487" y="0"/>
                  <a:pt x="101597" y="0"/>
                </a:cubicBezTo>
                <a:close/>
              </a:path>
            </a:pathLst>
          </a:custGeom>
          <a:solidFill>
            <a:srgbClr val="D3B9D7">
              <a:alpha val="25098"/>
            </a:srgbClr>
          </a:solidFill>
          <a:ln/>
        </p:spPr>
        <p:txBody>
          <a:bodyPr/>
          <a:lstStyle/>
          <a:p>
            <a:endParaRPr lang="zh-CN" altLang="en-US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12" name="Text 9"/>
          <p:cNvSpPr/>
          <p:nvPr/>
        </p:nvSpPr>
        <p:spPr>
          <a:xfrm>
            <a:off x="4447084" y="3073400"/>
            <a:ext cx="3302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3C3542"/>
                </a:solidFill>
                <a:latin typeface="KaiTi" panose="02010609060101010101" pitchFamily="49" charset="-122"/>
                <a:ea typeface="KaiTi" panose="02010609060101010101" pitchFamily="49" charset="-122"/>
                <a:cs typeface="Noto Sans SC" pitchFamily="34" charset="-120"/>
              </a:rPr>
              <a:t>2. 计算分数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4466134" y="3530600"/>
            <a:ext cx="32639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3C3542"/>
                </a:solidFill>
                <a:latin typeface="KaiTi" panose="02010609060101010101" pitchFamily="49" charset="-122"/>
                <a:ea typeface="KaiTi" panose="02010609060101010101" pitchFamily="49" charset="-122"/>
                <a:cs typeface="Noto Sans SC" pitchFamily="34" charset="-120"/>
              </a:rPr>
              <a:t>“热度分数”加权算法决定迁移目标，并考虑网络拓扑。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5924451" y="4140200"/>
            <a:ext cx="342900" cy="457200"/>
          </a:xfrm>
          <a:custGeom>
            <a:avLst/>
            <a:gdLst/>
            <a:ahLst/>
            <a:cxnLst/>
            <a:rect l="l" t="t" r="r" b="b"/>
            <a:pathLst>
              <a:path w="342900" h="457200">
                <a:moveTo>
                  <a:pt x="57150" y="0"/>
                </a:moveTo>
                <a:cubicBezTo>
                  <a:pt x="25628" y="0"/>
                  <a:pt x="0" y="25628"/>
                  <a:pt x="0" y="57150"/>
                </a:cubicBezTo>
                <a:lnTo>
                  <a:pt x="0" y="400050"/>
                </a:lnTo>
                <a:cubicBezTo>
                  <a:pt x="0" y="431572"/>
                  <a:pt x="25628" y="457200"/>
                  <a:pt x="57150" y="457200"/>
                </a:cubicBezTo>
                <a:lnTo>
                  <a:pt x="285750" y="457200"/>
                </a:lnTo>
                <a:cubicBezTo>
                  <a:pt x="317272" y="457200"/>
                  <a:pt x="342900" y="431572"/>
                  <a:pt x="342900" y="400050"/>
                </a:cubicBezTo>
                <a:lnTo>
                  <a:pt x="342900" y="57150"/>
                </a:lnTo>
                <a:cubicBezTo>
                  <a:pt x="342900" y="25628"/>
                  <a:pt x="317272" y="0"/>
                  <a:pt x="285750" y="0"/>
                </a:cubicBezTo>
                <a:lnTo>
                  <a:pt x="57150" y="0"/>
                </a:lnTo>
                <a:close/>
                <a:moveTo>
                  <a:pt x="85725" y="57150"/>
                </a:moveTo>
                <a:lnTo>
                  <a:pt x="257175" y="57150"/>
                </a:lnTo>
                <a:cubicBezTo>
                  <a:pt x="272981" y="57150"/>
                  <a:pt x="285750" y="69919"/>
                  <a:pt x="285750" y="85725"/>
                </a:cubicBezTo>
                <a:lnTo>
                  <a:pt x="285750" y="114300"/>
                </a:lnTo>
                <a:cubicBezTo>
                  <a:pt x="285750" y="130106"/>
                  <a:pt x="272981" y="142875"/>
                  <a:pt x="257175" y="142875"/>
                </a:cubicBezTo>
                <a:lnTo>
                  <a:pt x="85725" y="142875"/>
                </a:lnTo>
                <a:cubicBezTo>
                  <a:pt x="69919" y="142875"/>
                  <a:pt x="57150" y="130106"/>
                  <a:pt x="57150" y="114300"/>
                </a:cubicBezTo>
                <a:lnTo>
                  <a:pt x="57150" y="85725"/>
                </a:lnTo>
                <a:cubicBezTo>
                  <a:pt x="57150" y="69919"/>
                  <a:pt x="69919" y="57150"/>
                  <a:pt x="85725" y="57150"/>
                </a:cubicBezTo>
                <a:close/>
                <a:moveTo>
                  <a:pt x="100013" y="207169"/>
                </a:moveTo>
                <a:cubicBezTo>
                  <a:pt x="100013" y="218997"/>
                  <a:pt x="90409" y="228600"/>
                  <a:pt x="78581" y="228600"/>
                </a:cubicBezTo>
                <a:cubicBezTo>
                  <a:pt x="66753" y="228600"/>
                  <a:pt x="57150" y="218997"/>
                  <a:pt x="57150" y="207169"/>
                </a:cubicBezTo>
                <a:cubicBezTo>
                  <a:pt x="57150" y="195341"/>
                  <a:pt x="66753" y="185738"/>
                  <a:pt x="78581" y="185738"/>
                </a:cubicBezTo>
                <a:cubicBezTo>
                  <a:pt x="90409" y="185738"/>
                  <a:pt x="100013" y="195341"/>
                  <a:pt x="100013" y="207169"/>
                </a:cubicBezTo>
                <a:close/>
                <a:moveTo>
                  <a:pt x="171450" y="228600"/>
                </a:moveTo>
                <a:cubicBezTo>
                  <a:pt x="159622" y="228600"/>
                  <a:pt x="150019" y="218997"/>
                  <a:pt x="150019" y="207169"/>
                </a:cubicBezTo>
                <a:cubicBezTo>
                  <a:pt x="150019" y="195341"/>
                  <a:pt x="159622" y="185738"/>
                  <a:pt x="171450" y="185738"/>
                </a:cubicBezTo>
                <a:cubicBezTo>
                  <a:pt x="183278" y="185738"/>
                  <a:pt x="192881" y="195341"/>
                  <a:pt x="192881" y="207169"/>
                </a:cubicBezTo>
                <a:cubicBezTo>
                  <a:pt x="192881" y="218997"/>
                  <a:pt x="183278" y="228600"/>
                  <a:pt x="171450" y="228600"/>
                </a:cubicBezTo>
                <a:close/>
                <a:moveTo>
                  <a:pt x="285750" y="207169"/>
                </a:moveTo>
                <a:cubicBezTo>
                  <a:pt x="285750" y="218997"/>
                  <a:pt x="276147" y="228600"/>
                  <a:pt x="264319" y="228600"/>
                </a:cubicBezTo>
                <a:cubicBezTo>
                  <a:pt x="252491" y="228600"/>
                  <a:pt x="242888" y="218997"/>
                  <a:pt x="242888" y="207169"/>
                </a:cubicBezTo>
                <a:cubicBezTo>
                  <a:pt x="242888" y="195341"/>
                  <a:pt x="252491" y="185738"/>
                  <a:pt x="264319" y="185738"/>
                </a:cubicBezTo>
                <a:cubicBezTo>
                  <a:pt x="276147" y="185738"/>
                  <a:pt x="285750" y="195341"/>
                  <a:pt x="285750" y="207169"/>
                </a:cubicBezTo>
                <a:close/>
                <a:moveTo>
                  <a:pt x="78581" y="314325"/>
                </a:moveTo>
                <a:cubicBezTo>
                  <a:pt x="66753" y="314325"/>
                  <a:pt x="57150" y="304722"/>
                  <a:pt x="57150" y="292894"/>
                </a:cubicBezTo>
                <a:cubicBezTo>
                  <a:pt x="57150" y="281066"/>
                  <a:pt x="66753" y="271463"/>
                  <a:pt x="78581" y="271463"/>
                </a:cubicBezTo>
                <a:cubicBezTo>
                  <a:pt x="90409" y="271463"/>
                  <a:pt x="100013" y="281066"/>
                  <a:pt x="100013" y="292894"/>
                </a:cubicBezTo>
                <a:cubicBezTo>
                  <a:pt x="100013" y="304722"/>
                  <a:pt x="90409" y="314325"/>
                  <a:pt x="78581" y="314325"/>
                </a:cubicBezTo>
                <a:close/>
                <a:moveTo>
                  <a:pt x="192881" y="292894"/>
                </a:moveTo>
                <a:cubicBezTo>
                  <a:pt x="192881" y="304722"/>
                  <a:pt x="183278" y="314325"/>
                  <a:pt x="171450" y="314325"/>
                </a:cubicBezTo>
                <a:cubicBezTo>
                  <a:pt x="159622" y="314325"/>
                  <a:pt x="150019" y="304722"/>
                  <a:pt x="150019" y="292894"/>
                </a:cubicBezTo>
                <a:cubicBezTo>
                  <a:pt x="150019" y="281066"/>
                  <a:pt x="159622" y="271463"/>
                  <a:pt x="171450" y="271463"/>
                </a:cubicBezTo>
                <a:cubicBezTo>
                  <a:pt x="183278" y="271463"/>
                  <a:pt x="192881" y="281066"/>
                  <a:pt x="192881" y="292894"/>
                </a:cubicBezTo>
                <a:close/>
                <a:moveTo>
                  <a:pt x="264319" y="314325"/>
                </a:moveTo>
                <a:cubicBezTo>
                  <a:pt x="252491" y="314325"/>
                  <a:pt x="242888" y="304722"/>
                  <a:pt x="242888" y="292894"/>
                </a:cubicBezTo>
                <a:cubicBezTo>
                  <a:pt x="242888" y="281066"/>
                  <a:pt x="252491" y="271463"/>
                  <a:pt x="264319" y="271463"/>
                </a:cubicBezTo>
                <a:cubicBezTo>
                  <a:pt x="276147" y="271463"/>
                  <a:pt x="285750" y="281066"/>
                  <a:pt x="285750" y="292894"/>
                </a:cubicBezTo>
                <a:cubicBezTo>
                  <a:pt x="285750" y="304722"/>
                  <a:pt x="276147" y="314325"/>
                  <a:pt x="264319" y="314325"/>
                </a:cubicBezTo>
                <a:close/>
                <a:moveTo>
                  <a:pt x="57150" y="378619"/>
                </a:moveTo>
                <a:cubicBezTo>
                  <a:pt x="57150" y="366742"/>
                  <a:pt x="66705" y="357188"/>
                  <a:pt x="78581" y="357188"/>
                </a:cubicBezTo>
                <a:lnTo>
                  <a:pt x="178594" y="357188"/>
                </a:lnTo>
                <a:cubicBezTo>
                  <a:pt x="190470" y="357188"/>
                  <a:pt x="200025" y="366742"/>
                  <a:pt x="200025" y="378619"/>
                </a:cubicBezTo>
                <a:cubicBezTo>
                  <a:pt x="200025" y="390495"/>
                  <a:pt x="190470" y="400050"/>
                  <a:pt x="178594" y="400050"/>
                </a:cubicBezTo>
                <a:lnTo>
                  <a:pt x="78581" y="400050"/>
                </a:lnTo>
                <a:cubicBezTo>
                  <a:pt x="66705" y="400050"/>
                  <a:pt x="57150" y="390495"/>
                  <a:pt x="57150" y="378619"/>
                </a:cubicBezTo>
                <a:close/>
                <a:moveTo>
                  <a:pt x="264319" y="357188"/>
                </a:moveTo>
                <a:cubicBezTo>
                  <a:pt x="276195" y="357188"/>
                  <a:pt x="285750" y="366742"/>
                  <a:pt x="285750" y="378619"/>
                </a:cubicBezTo>
                <a:cubicBezTo>
                  <a:pt x="285750" y="390495"/>
                  <a:pt x="276195" y="400050"/>
                  <a:pt x="264319" y="400050"/>
                </a:cubicBezTo>
                <a:cubicBezTo>
                  <a:pt x="252442" y="400050"/>
                  <a:pt x="242888" y="390495"/>
                  <a:pt x="242888" y="378619"/>
                </a:cubicBezTo>
                <a:cubicBezTo>
                  <a:pt x="242888" y="366742"/>
                  <a:pt x="252442" y="357188"/>
                  <a:pt x="264319" y="357188"/>
                </a:cubicBezTo>
                <a:close/>
              </a:path>
            </a:pathLst>
          </a:custGeom>
          <a:solidFill>
            <a:srgbClr val="A95EAF"/>
          </a:solidFill>
          <a:ln/>
        </p:spPr>
        <p:txBody>
          <a:bodyPr/>
          <a:lstStyle/>
          <a:p>
            <a:endParaRPr lang="zh-CN" altLang="en-US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15" name="Shape 12"/>
          <p:cNvSpPr/>
          <p:nvPr/>
        </p:nvSpPr>
        <p:spPr>
          <a:xfrm>
            <a:off x="7935317" y="36449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374005" y="207318"/>
                </a:moveTo>
                <a:cubicBezTo>
                  <a:pt x="383307" y="198016"/>
                  <a:pt x="383307" y="182910"/>
                  <a:pt x="374005" y="173608"/>
                </a:cubicBezTo>
                <a:lnTo>
                  <a:pt x="254943" y="54546"/>
                </a:lnTo>
                <a:cubicBezTo>
                  <a:pt x="245641" y="45244"/>
                  <a:pt x="230535" y="45244"/>
                  <a:pt x="221233" y="54546"/>
                </a:cubicBezTo>
                <a:cubicBezTo>
                  <a:pt x="211931" y="63847"/>
                  <a:pt x="211931" y="78953"/>
                  <a:pt x="221233" y="88255"/>
                </a:cubicBezTo>
                <a:lnTo>
                  <a:pt x="299665" y="166688"/>
                </a:lnTo>
                <a:lnTo>
                  <a:pt x="23812" y="166688"/>
                </a:lnTo>
                <a:cubicBezTo>
                  <a:pt x="10641" y="166688"/>
                  <a:pt x="0" y="177329"/>
                  <a:pt x="0" y="190500"/>
                </a:cubicBezTo>
                <a:cubicBezTo>
                  <a:pt x="0" y="203671"/>
                  <a:pt x="10641" y="214313"/>
                  <a:pt x="23812" y="214313"/>
                </a:cubicBezTo>
                <a:lnTo>
                  <a:pt x="299665" y="214313"/>
                </a:lnTo>
                <a:lnTo>
                  <a:pt x="221233" y="292745"/>
                </a:lnTo>
                <a:cubicBezTo>
                  <a:pt x="211931" y="302047"/>
                  <a:pt x="211931" y="317153"/>
                  <a:pt x="221233" y="326454"/>
                </a:cubicBezTo>
                <a:cubicBezTo>
                  <a:pt x="230535" y="335756"/>
                  <a:pt x="245641" y="335756"/>
                  <a:pt x="254943" y="326454"/>
                </a:cubicBezTo>
                <a:lnTo>
                  <a:pt x="374005" y="207392"/>
                </a:lnTo>
                <a:close/>
              </a:path>
            </a:pathLst>
          </a:custGeom>
          <a:solidFill>
            <a:srgbClr val="8F5C9A"/>
          </a:solidFill>
          <a:ln/>
        </p:spPr>
        <p:txBody>
          <a:bodyPr/>
          <a:lstStyle/>
          <a:p>
            <a:endParaRPr lang="zh-CN" altLang="en-US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16" name="Shape 13"/>
          <p:cNvSpPr/>
          <p:nvPr/>
        </p:nvSpPr>
        <p:spPr>
          <a:xfrm>
            <a:off x="8360767" y="2870200"/>
            <a:ext cx="3581400" cy="1930400"/>
          </a:xfrm>
          <a:custGeom>
            <a:avLst/>
            <a:gdLst/>
            <a:ahLst/>
            <a:cxnLst/>
            <a:rect l="l" t="t" r="r" b="b"/>
            <a:pathLst>
              <a:path w="3581400" h="1930400">
                <a:moveTo>
                  <a:pt x="101597" y="0"/>
                </a:moveTo>
                <a:lnTo>
                  <a:pt x="3479803" y="0"/>
                </a:lnTo>
                <a:cubicBezTo>
                  <a:pt x="3535913" y="0"/>
                  <a:pt x="3581400" y="45487"/>
                  <a:pt x="3581400" y="101597"/>
                </a:cubicBezTo>
                <a:lnTo>
                  <a:pt x="3581400" y="1828803"/>
                </a:lnTo>
                <a:cubicBezTo>
                  <a:pt x="3581400" y="1884913"/>
                  <a:pt x="3535913" y="1930400"/>
                  <a:pt x="3479803" y="1930400"/>
                </a:cubicBezTo>
                <a:lnTo>
                  <a:pt x="101597" y="1930400"/>
                </a:lnTo>
                <a:cubicBezTo>
                  <a:pt x="45487" y="1930400"/>
                  <a:pt x="0" y="1884913"/>
                  <a:pt x="0" y="1828803"/>
                </a:cubicBezTo>
                <a:lnTo>
                  <a:pt x="0" y="101597"/>
                </a:lnTo>
                <a:cubicBezTo>
                  <a:pt x="0" y="45487"/>
                  <a:pt x="45487" y="0"/>
                  <a:pt x="101597" y="0"/>
                </a:cubicBezTo>
                <a:close/>
              </a:path>
            </a:pathLst>
          </a:custGeom>
          <a:solidFill>
            <a:srgbClr val="D3B9D7">
              <a:alpha val="25098"/>
            </a:srgbClr>
          </a:solidFill>
          <a:ln/>
        </p:spPr>
        <p:txBody>
          <a:bodyPr/>
          <a:lstStyle/>
          <a:p>
            <a:endParaRPr lang="zh-CN" altLang="en-US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8500467" y="3073400"/>
            <a:ext cx="3302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3C3542"/>
                </a:solidFill>
                <a:latin typeface="KaiTi" panose="02010609060101010101" pitchFamily="49" charset="-122"/>
                <a:ea typeface="KaiTi" panose="02010609060101010101" pitchFamily="49" charset="-122"/>
                <a:cs typeface="Noto Sans SC" pitchFamily="34" charset="-120"/>
              </a:rPr>
              <a:t>3. 动态迁移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8519517" y="3530600"/>
            <a:ext cx="32639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3C3542"/>
                </a:solidFill>
                <a:latin typeface="KaiTi" panose="02010609060101010101" pitchFamily="49" charset="-122"/>
                <a:ea typeface="KaiTi" panose="02010609060101010101" pitchFamily="49" charset="-122"/>
                <a:cs typeface="Noto Sans SC" pitchFamily="34" charset="-120"/>
              </a:rPr>
              <a:t>自动迁移后，</a:t>
            </a:r>
            <a:r>
              <a:rPr lang="en-US" sz="1400" dirty="0">
                <a:solidFill>
                  <a:srgbClr val="3C3542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P99</a:t>
            </a:r>
            <a:r>
              <a:rPr lang="en-US" sz="1400" dirty="0">
                <a:solidFill>
                  <a:srgbClr val="3C3542"/>
                </a:solidFill>
                <a:latin typeface="KaiTi" panose="02010609060101010101" pitchFamily="49" charset="-122"/>
                <a:ea typeface="KaiTi" panose="02010609060101010101" pitchFamily="49" charset="-122"/>
                <a:cs typeface="Noto Sans SC" pitchFamily="34" charset="-120"/>
              </a:rPr>
              <a:t>延迟可</a:t>
            </a:r>
            <a:r>
              <a:rPr lang="en-US" sz="1400" b="1" dirty="0">
                <a:solidFill>
                  <a:srgbClr val="3C3542"/>
                </a:solidFill>
                <a:latin typeface="KaiTi" panose="02010609060101010101" pitchFamily="49" charset="-122"/>
                <a:ea typeface="KaiTi" panose="02010609060101010101" pitchFamily="49" charset="-122"/>
                <a:cs typeface="Noto Sans SC" pitchFamily="34" charset="-120"/>
              </a:rPr>
              <a:t>下降</a:t>
            </a:r>
            <a:r>
              <a:rPr lang="en-US" sz="1400" b="1" dirty="0">
                <a:solidFill>
                  <a:srgbClr val="3C3542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50%</a:t>
            </a:r>
            <a:r>
              <a:rPr lang="en-US" sz="1400" dirty="0">
                <a:solidFill>
                  <a:srgbClr val="3C3542"/>
                </a:solidFill>
                <a:latin typeface="KaiTi" panose="02010609060101010101" pitchFamily="49" charset="-122"/>
                <a:ea typeface="KaiTi" panose="02010609060101010101" pitchFamily="49" charset="-122"/>
                <a:cs typeface="Noto Sans SC" pitchFamily="34" charset="-120"/>
              </a:rPr>
              <a:t>，有效消除热点。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19" name="Shape 16"/>
          <p:cNvSpPr/>
          <p:nvPr/>
        </p:nvSpPr>
        <p:spPr>
          <a:xfrm>
            <a:off x="9920684" y="41402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57150" y="57150"/>
                </a:moveTo>
                <a:cubicBezTo>
                  <a:pt x="57150" y="41344"/>
                  <a:pt x="44381" y="28575"/>
                  <a:pt x="28575" y="28575"/>
                </a:cubicBezTo>
                <a:cubicBezTo>
                  <a:pt x="12769" y="28575"/>
                  <a:pt x="0" y="41344"/>
                  <a:pt x="0" y="57150"/>
                </a:cubicBezTo>
                <a:lnTo>
                  <a:pt x="0" y="357188"/>
                </a:lnTo>
                <a:cubicBezTo>
                  <a:pt x="0" y="396657"/>
                  <a:pt x="31968" y="428625"/>
                  <a:pt x="71438" y="428625"/>
                </a:cubicBezTo>
                <a:lnTo>
                  <a:pt x="428625" y="428625"/>
                </a:lnTo>
                <a:cubicBezTo>
                  <a:pt x="444431" y="428625"/>
                  <a:pt x="457200" y="415856"/>
                  <a:pt x="457200" y="400050"/>
                </a:cubicBezTo>
                <a:cubicBezTo>
                  <a:pt x="457200" y="384244"/>
                  <a:pt x="444431" y="371475"/>
                  <a:pt x="428625" y="371475"/>
                </a:cubicBezTo>
                <a:lnTo>
                  <a:pt x="71438" y="371475"/>
                </a:lnTo>
                <a:cubicBezTo>
                  <a:pt x="63579" y="371475"/>
                  <a:pt x="57150" y="365046"/>
                  <a:pt x="57150" y="357188"/>
                </a:cubicBezTo>
                <a:lnTo>
                  <a:pt x="57150" y="57150"/>
                </a:lnTo>
                <a:close/>
                <a:moveTo>
                  <a:pt x="420231" y="134481"/>
                </a:moveTo>
                <a:cubicBezTo>
                  <a:pt x="431393" y="123319"/>
                  <a:pt x="431393" y="105192"/>
                  <a:pt x="420231" y="94030"/>
                </a:cubicBezTo>
                <a:cubicBezTo>
                  <a:pt x="409069" y="82867"/>
                  <a:pt x="390942" y="82867"/>
                  <a:pt x="379780" y="94030"/>
                </a:cubicBezTo>
                <a:lnTo>
                  <a:pt x="285750" y="188149"/>
                </a:lnTo>
                <a:lnTo>
                  <a:pt x="234494" y="136981"/>
                </a:lnTo>
                <a:cubicBezTo>
                  <a:pt x="223331" y="125819"/>
                  <a:pt x="205204" y="125819"/>
                  <a:pt x="194042" y="136981"/>
                </a:cubicBezTo>
                <a:lnTo>
                  <a:pt x="108317" y="222706"/>
                </a:lnTo>
                <a:cubicBezTo>
                  <a:pt x="97155" y="233869"/>
                  <a:pt x="97155" y="251996"/>
                  <a:pt x="108317" y="263158"/>
                </a:cubicBezTo>
                <a:cubicBezTo>
                  <a:pt x="119479" y="274320"/>
                  <a:pt x="137606" y="274320"/>
                  <a:pt x="148769" y="263158"/>
                </a:cubicBezTo>
                <a:lnTo>
                  <a:pt x="214313" y="197614"/>
                </a:lnTo>
                <a:lnTo>
                  <a:pt x="265569" y="248870"/>
                </a:lnTo>
                <a:cubicBezTo>
                  <a:pt x="276731" y="260033"/>
                  <a:pt x="294858" y="260033"/>
                  <a:pt x="306020" y="248870"/>
                </a:cubicBezTo>
                <a:lnTo>
                  <a:pt x="420320" y="134570"/>
                </a:lnTo>
                <a:close/>
              </a:path>
            </a:pathLst>
          </a:custGeom>
          <a:solidFill>
            <a:srgbClr val="A95EAF"/>
          </a:solidFill>
          <a:ln/>
        </p:spPr>
        <p:txBody>
          <a:bodyPr/>
          <a:lstStyle/>
          <a:p>
            <a:endParaRPr lang="zh-CN" altLang="en-US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</p:spTree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2"/>
          <p:cNvSpPr/>
          <p:nvPr/>
        </p:nvSpPr>
        <p:spPr>
          <a:xfrm>
            <a:off x="641131" y="1866462"/>
            <a:ext cx="57658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b="1" dirty="0">
                <a:solidFill>
                  <a:srgbClr val="8F5C9A"/>
                </a:solidFill>
                <a:latin typeface="KaiTi" panose="02010609060101010101" pitchFamily="49" charset="-122"/>
                <a:ea typeface="KaiTi" panose="02010609060101010101" pitchFamily="49" charset="-122"/>
                <a:cs typeface="Noto Sans SC" pitchFamily="34" charset="-120"/>
              </a:rPr>
              <a:t>合并小文件与垃圾回收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7" name="Shape 3"/>
          <p:cNvSpPr/>
          <p:nvPr/>
        </p:nvSpPr>
        <p:spPr>
          <a:xfrm>
            <a:off x="641131" y="2577662"/>
            <a:ext cx="9511862" cy="1168400"/>
          </a:xfrm>
          <a:custGeom>
            <a:avLst/>
            <a:gdLst/>
            <a:ahLst/>
            <a:cxnLst/>
            <a:rect l="l" t="t" r="r" b="b"/>
            <a:pathLst>
              <a:path w="5537200" h="1168400">
                <a:moveTo>
                  <a:pt x="101604" y="0"/>
                </a:moveTo>
                <a:lnTo>
                  <a:pt x="5435596" y="0"/>
                </a:lnTo>
                <a:cubicBezTo>
                  <a:pt x="5491710" y="0"/>
                  <a:pt x="5537200" y="45490"/>
                  <a:pt x="5537200" y="101604"/>
                </a:cubicBezTo>
                <a:lnTo>
                  <a:pt x="5537200" y="1066796"/>
                </a:lnTo>
                <a:cubicBezTo>
                  <a:pt x="5537200" y="1122910"/>
                  <a:pt x="5491710" y="1168400"/>
                  <a:pt x="5435596" y="1168400"/>
                </a:cubicBezTo>
                <a:lnTo>
                  <a:pt x="101604" y="1168400"/>
                </a:lnTo>
                <a:cubicBezTo>
                  <a:pt x="45490" y="1168400"/>
                  <a:pt x="0" y="1122910"/>
                  <a:pt x="0" y="1066796"/>
                </a:cubicBezTo>
                <a:lnTo>
                  <a:pt x="0" y="101604"/>
                </a:lnTo>
                <a:cubicBezTo>
                  <a:pt x="0" y="45527"/>
                  <a:pt x="45527" y="0"/>
                  <a:pt x="101604" y="0"/>
                </a:cubicBezTo>
                <a:close/>
              </a:path>
            </a:pathLst>
          </a:custGeom>
          <a:solidFill>
            <a:srgbClr val="D3B9D7">
              <a:alpha val="25098"/>
            </a:srgbClr>
          </a:solidFill>
          <a:ln/>
        </p:spPr>
        <p:txBody>
          <a:bodyPr/>
          <a:lstStyle/>
          <a:p>
            <a:endParaRPr lang="zh-CN" altLang="en-US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8" name="Text 4"/>
          <p:cNvSpPr/>
          <p:nvPr/>
        </p:nvSpPr>
        <p:spPr>
          <a:xfrm>
            <a:off x="793531" y="2730062"/>
            <a:ext cx="53467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A95EAF"/>
                </a:solidFill>
                <a:latin typeface="KaiTi" panose="02010609060101010101" pitchFamily="49" charset="-122"/>
                <a:ea typeface="KaiTi" panose="02010609060101010101" pitchFamily="49" charset="-122"/>
                <a:cs typeface="Noto Sans SC" pitchFamily="34" charset="-120"/>
              </a:rPr>
              <a:t>合并 (</a:t>
            </a:r>
            <a:r>
              <a:rPr lang="en-US" sz="1800" b="1" dirty="0">
                <a:solidFill>
                  <a:srgbClr val="A95EAF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Merge</a:t>
            </a:r>
            <a:r>
              <a:rPr lang="en-US" sz="1800" b="1" dirty="0">
                <a:solidFill>
                  <a:srgbClr val="A95EAF"/>
                </a:solidFill>
                <a:latin typeface="KaiTi" panose="02010609060101010101" pitchFamily="49" charset="-122"/>
                <a:ea typeface="KaiTi" panose="02010609060101010101" pitchFamily="49" charset="-122"/>
                <a:cs typeface="Noto Sans SC" pitchFamily="34" charset="-120"/>
              </a:rPr>
              <a:t>)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9" name="Text 5"/>
          <p:cNvSpPr/>
          <p:nvPr/>
        </p:nvSpPr>
        <p:spPr>
          <a:xfrm>
            <a:off x="793530" y="3085662"/>
            <a:ext cx="8602717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3C3542"/>
                </a:solidFill>
                <a:latin typeface="KaiTi" panose="02010609060101010101" pitchFamily="49" charset="-122"/>
                <a:ea typeface="KaiTi" panose="02010609060101010101" pitchFamily="49" charset="-122"/>
                <a:cs typeface="Noto Sans SC" pitchFamily="34" charset="-120"/>
              </a:rPr>
              <a:t>合并相邻小</a:t>
            </a:r>
            <a:r>
              <a:rPr lang="en-US" sz="1400" dirty="0">
                <a:solidFill>
                  <a:srgbClr val="3C3542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Tablet</a:t>
            </a:r>
            <a:r>
              <a:rPr lang="en-US" sz="1400" dirty="0">
                <a:solidFill>
                  <a:srgbClr val="3C3542"/>
                </a:solidFill>
                <a:latin typeface="KaiTi" panose="02010609060101010101" pitchFamily="49" charset="-122"/>
                <a:ea typeface="KaiTi" panose="02010609060101010101" pitchFamily="49" charset="-122"/>
                <a:cs typeface="Noto Sans SC" pitchFamily="34" charset="-120"/>
              </a:rPr>
              <a:t>，减少META表条目，提高范围扫描效率。与</a:t>
            </a:r>
            <a:r>
              <a:rPr lang="en-US" sz="1400" dirty="0">
                <a:solidFill>
                  <a:srgbClr val="3C3542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Compaction</a:t>
            </a:r>
            <a:r>
              <a:rPr lang="en-US" sz="1400" dirty="0">
                <a:solidFill>
                  <a:srgbClr val="3C3542"/>
                </a:solidFill>
                <a:latin typeface="KaiTi" panose="02010609060101010101" pitchFamily="49" charset="-122"/>
                <a:ea typeface="KaiTi" panose="02010609060101010101" pitchFamily="49" charset="-122"/>
                <a:cs typeface="Noto Sans SC" pitchFamily="34" charset="-120"/>
              </a:rPr>
              <a:t>不同，这是</a:t>
            </a:r>
            <a:r>
              <a:rPr lang="en-US" sz="1400" b="1" dirty="0">
                <a:solidFill>
                  <a:srgbClr val="3C3542"/>
                </a:solidFill>
                <a:latin typeface="KaiTi" panose="02010609060101010101" pitchFamily="49" charset="-122"/>
                <a:ea typeface="KaiTi" panose="02010609060101010101" pitchFamily="49" charset="-122"/>
                <a:cs typeface="Noto Sans SC" pitchFamily="34" charset="-120"/>
              </a:rPr>
              <a:t>元数据层面</a:t>
            </a:r>
            <a:r>
              <a:rPr lang="en-US" sz="1400" dirty="0">
                <a:solidFill>
                  <a:srgbClr val="3C3542"/>
                </a:solidFill>
                <a:latin typeface="KaiTi" panose="02010609060101010101" pitchFamily="49" charset="-122"/>
                <a:ea typeface="KaiTi" panose="02010609060101010101" pitchFamily="49" charset="-122"/>
                <a:cs typeface="Noto Sans SC" pitchFamily="34" charset="-120"/>
              </a:rPr>
              <a:t>的操作。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10" name="Shape 6"/>
          <p:cNvSpPr/>
          <p:nvPr/>
        </p:nvSpPr>
        <p:spPr>
          <a:xfrm>
            <a:off x="641130" y="3949262"/>
            <a:ext cx="9511861" cy="1168400"/>
          </a:xfrm>
          <a:custGeom>
            <a:avLst/>
            <a:gdLst/>
            <a:ahLst/>
            <a:cxnLst/>
            <a:rect l="l" t="t" r="r" b="b"/>
            <a:pathLst>
              <a:path w="5537200" h="1168400">
                <a:moveTo>
                  <a:pt x="101604" y="0"/>
                </a:moveTo>
                <a:lnTo>
                  <a:pt x="5435596" y="0"/>
                </a:lnTo>
                <a:cubicBezTo>
                  <a:pt x="5491710" y="0"/>
                  <a:pt x="5537200" y="45490"/>
                  <a:pt x="5537200" y="101604"/>
                </a:cubicBezTo>
                <a:lnTo>
                  <a:pt x="5537200" y="1066796"/>
                </a:lnTo>
                <a:cubicBezTo>
                  <a:pt x="5537200" y="1122910"/>
                  <a:pt x="5491710" y="1168400"/>
                  <a:pt x="5435596" y="1168400"/>
                </a:cubicBezTo>
                <a:lnTo>
                  <a:pt x="101604" y="1168400"/>
                </a:lnTo>
                <a:cubicBezTo>
                  <a:pt x="45490" y="1168400"/>
                  <a:pt x="0" y="1122910"/>
                  <a:pt x="0" y="1066796"/>
                </a:cubicBezTo>
                <a:lnTo>
                  <a:pt x="0" y="101604"/>
                </a:lnTo>
                <a:cubicBezTo>
                  <a:pt x="0" y="45527"/>
                  <a:pt x="45527" y="0"/>
                  <a:pt x="101604" y="0"/>
                </a:cubicBezTo>
                <a:close/>
              </a:path>
            </a:pathLst>
          </a:custGeom>
          <a:solidFill>
            <a:srgbClr val="D3B9D7">
              <a:alpha val="25098"/>
            </a:srgbClr>
          </a:solidFill>
          <a:ln/>
        </p:spPr>
        <p:txBody>
          <a:bodyPr/>
          <a:lstStyle/>
          <a:p>
            <a:endParaRPr lang="zh-CN" altLang="en-US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11" name="Text 7"/>
          <p:cNvSpPr/>
          <p:nvPr/>
        </p:nvSpPr>
        <p:spPr>
          <a:xfrm>
            <a:off x="793531" y="4101662"/>
            <a:ext cx="53467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A95EAF"/>
                </a:solidFill>
                <a:latin typeface="KaiTi" panose="02010609060101010101" pitchFamily="49" charset="-122"/>
                <a:ea typeface="KaiTi" panose="02010609060101010101" pitchFamily="49" charset="-122"/>
                <a:cs typeface="Noto Sans SC" pitchFamily="34" charset="-120"/>
              </a:rPr>
              <a:t>垃圾回收 (</a:t>
            </a:r>
            <a:r>
              <a:rPr lang="en-US" sz="1800" b="1" dirty="0">
                <a:solidFill>
                  <a:srgbClr val="A95EAF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GC</a:t>
            </a:r>
            <a:r>
              <a:rPr lang="en-US" sz="1800" b="1" dirty="0">
                <a:solidFill>
                  <a:srgbClr val="A95EAF"/>
                </a:solidFill>
                <a:latin typeface="KaiTi" panose="02010609060101010101" pitchFamily="49" charset="-122"/>
                <a:ea typeface="KaiTi" panose="02010609060101010101" pitchFamily="49" charset="-122"/>
                <a:cs typeface="Noto Sans SC" pitchFamily="34" charset="-120"/>
              </a:rPr>
              <a:t>)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12" name="Text 8"/>
          <p:cNvSpPr/>
          <p:nvPr/>
        </p:nvSpPr>
        <p:spPr>
          <a:xfrm>
            <a:off x="793531" y="4457262"/>
            <a:ext cx="8602716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3C3542"/>
                </a:solidFill>
                <a:latin typeface="KaiTi" panose="02010609060101010101" pitchFamily="49" charset="-122"/>
                <a:ea typeface="KaiTi" panose="02010609060101010101" pitchFamily="49" charset="-122"/>
                <a:cs typeface="Noto Sans SC" pitchFamily="34" charset="-120"/>
              </a:rPr>
              <a:t>识别并延迟删除已删除列族对应的</a:t>
            </a:r>
            <a:r>
              <a:rPr lang="en-US" sz="1400" dirty="0">
                <a:solidFill>
                  <a:srgbClr val="3C3542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SSTable</a:t>
            </a:r>
            <a:r>
              <a:rPr lang="en-US" sz="1400" dirty="0">
                <a:solidFill>
                  <a:srgbClr val="3C3542"/>
                </a:solidFill>
                <a:latin typeface="KaiTi" panose="02010609060101010101" pitchFamily="49" charset="-122"/>
                <a:ea typeface="KaiTi" panose="02010609060101010101" pitchFamily="49" charset="-122"/>
                <a:cs typeface="Noto Sans SC" pitchFamily="34" charset="-120"/>
              </a:rPr>
              <a:t>块，避免读请求误命中，保障</a:t>
            </a:r>
            <a:r>
              <a:rPr lang="en-US" sz="1400" b="1" dirty="0">
                <a:solidFill>
                  <a:srgbClr val="3C3542"/>
                </a:solidFill>
                <a:latin typeface="KaiTi" panose="02010609060101010101" pitchFamily="49" charset="-122"/>
                <a:ea typeface="KaiTi" panose="02010609060101010101" pitchFamily="49" charset="-122"/>
                <a:cs typeface="Noto Sans SC" pitchFamily="34" charset="-120"/>
              </a:rPr>
              <a:t>数据一致性</a:t>
            </a:r>
            <a:r>
              <a:rPr lang="en-US" sz="1400" dirty="0">
                <a:solidFill>
                  <a:srgbClr val="3C3542"/>
                </a:solidFill>
                <a:latin typeface="KaiTi" panose="02010609060101010101" pitchFamily="49" charset="-122"/>
                <a:ea typeface="KaiTi" panose="02010609060101010101" pitchFamily="49" charset="-122"/>
                <a:cs typeface="Noto Sans SC" pitchFamily="34" charset="-120"/>
              </a:rPr>
              <a:t>。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</p:spTree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4445" y="0"/>
            <a:ext cx="12187555" cy="6875780"/>
          </a:xfrm>
          <a:prstGeom prst="rect">
            <a:avLst/>
          </a:prstGeom>
          <a:gradFill flip="none" rotWithShape="1">
            <a:gsLst>
              <a:gs pos="0">
                <a:srgbClr val="D7B1D4"/>
              </a:gs>
              <a:gs pos="34000">
                <a:srgbClr val="BC7DB7"/>
              </a:gs>
              <a:gs pos="100000">
                <a:srgbClr val="30225F"/>
              </a:gs>
            </a:gsLst>
            <a:lin ang="13500000" scaled="1"/>
          </a:gradFill>
          <a:ln/>
        </p:spPr>
        <p:txBody>
          <a:bodyPr/>
          <a:lstStyle/>
          <a:p>
            <a:endParaRPr lang="zh-CN" altLang="en-US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5" name="Text 3"/>
          <p:cNvSpPr/>
          <p:nvPr/>
        </p:nvSpPr>
        <p:spPr>
          <a:xfrm>
            <a:off x="4445" y="0"/>
            <a:ext cx="12187555" cy="68757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1727190" y="6306820"/>
            <a:ext cx="10080000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852805" y="6177280"/>
            <a:ext cx="259080" cy="25908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852805" y="6177280"/>
            <a:ext cx="259080" cy="2590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979805" y="6177280"/>
            <a:ext cx="259080" cy="259080"/>
          </a:xfrm>
          <a:prstGeom prst="ellipse">
            <a:avLst/>
          </a:prstGeom>
          <a:solidFill>
            <a:srgbClr val="000000">
              <a:alpha val="0"/>
            </a:srgbClr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979805" y="6177280"/>
            <a:ext cx="259080" cy="2590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1863725" y="2687320"/>
            <a:ext cx="8464550" cy="230695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zh-CN" altLang="en-US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1863725" y="2687320"/>
            <a:ext cx="8464550" cy="230695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t"/>
          <a:lstStyle/>
          <a:p>
            <a:pPr algn="ctr">
              <a:lnSpc>
                <a:spcPct val="100000"/>
              </a:lnSpc>
            </a:pPr>
            <a:r>
              <a:rPr lang="en-US" sz="7200" b="1" dirty="0">
                <a:solidFill>
                  <a:srgbClr val="FFFFFF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LSM</a:t>
            </a:r>
            <a:r>
              <a:rPr lang="en-US" sz="7200" b="1" dirty="0">
                <a:solidFill>
                  <a:srgbClr val="FFFFFF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 </a:t>
            </a:r>
            <a:r>
              <a:rPr lang="en-US" sz="7200" b="1" dirty="0" err="1">
                <a:solidFill>
                  <a:srgbClr val="FFFFFF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树引擎与</a:t>
            </a:r>
            <a:r>
              <a:rPr lang="en-US" sz="7200" b="1" dirty="0" err="1">
                <a:solidFill>
                  <a:srgbClr val="FFFFFF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Compaction</a:t>
            </a:r>
            <a:endParaRPr lang="en-US" sz="1600" dirty="0">
              <a:latin typeface="Calibri" panose="020F0502020204030204" pitchFamily="34" charset="0"/>
              <a:ea typeface="KaiTi" panose="02010609060101010101" pitchFamily="49" charset="-122"/>
              <a:cs typeface="Calibri" panose="020F0502020204030204" pitchFamily="34" charset="0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2515235" y="1350010"/>
            <a:ext cx="7161530" cy="1200329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7200" dirty="0">
                <a:solidFill>
                  <a:srgbClr val="FFFFFF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05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</p:spTree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2"/>
          <p:cNvSpPr/>
          <p:nvPr/>
        </p:nvSpPr>
        <p:spPr>
          <a:xfrm>
            <a:off x="139700" y="1346200"/>
            <a:ext cx="11912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3600" b="1" dirty="0">
                <a:solidFill>
                  <a:srgbClr val="8F5C9A"/>
                </a:solidFill>
                <a:latin typeface="KaiTi" panose="02010609060101010101" pitchFamily="49" charset="-122"/>
                <a:ea typeface="KaiTi" panose="02010609060101010101" pitchFamily="49" charset="-122"/>
                <a:cs typeface="Noto Sans SC" pitchFamily="34" charset="-120"/>
              </a:rPr>
              <a:t>从随机写到顺序写的性能跨越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6" name="Text 3"/>
          <p:cNvSpPr/>
          <p:nvPr/>
        </p:nvSpPr>
        <p:spPr>
          <a:xfrm>
            <a:off x="203200" y="2057400"/>
            <a:ext cx="11785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dirty="0">
                <a:solidFill>
                  <a:srgbClr val="3C3542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LSM </a:t>
            </a:r>
            <a:r>
              <a:rPr lang="en-US" sz="1600" dirty="0" err="1">
                <a:solidFill>
                  <a:srgbClr val="3C3542"/>
                </a:solidFill>
                <a:latin typeface="KaiTi" panose="02010609060101010101" pitchFamily="49" charset="-122"/>
                <a:ea typeface="KaiTi" panose="02010609060101010101" pitchFamily="49" charset="-122"/>
                <a:cs typeface="Noto Sans SC" pitchFamily="34" charset="-120"/>
              </a:rPr>
              <a:t>树的核心权衡：用</a:t>
            </a:r>
            <a:r>
              <a:rPr lang="en-US" sz="1600" dirty="0">
                <a:solidFill>
                  <a:srgbClr val="A95EAF"/>
                </a:solidFill>
                <a:highlight>
                  <a:srgbClr val="A95EAF">
                    <a:alpha val="20000"/>
                  </a:srgbClr>
                </a:highlight>
                <a:latin typeface="KaiTi" panose="02010609060101010101" pitchFamily="49" charset="-122"/>
                <a:ea typeface="KaiTi" panose="02010609060101010101" pitchFamily="49" charset="-122"/>
                <a:cs typeface="Noto Sans SC" pitchFamily="34" charset="-120"/>
              </a:rPr>
              <a:t> 写放大 + 读放大 </a:t>
            </a:r>
            <a:r>
              <a:rPr lang="en-US" sz="1600" dirty="0">
                <a:solidFill>
                  <a:srgbClr val="3C3542"/>
                </a:solidFill>
                <a:latin typeface="KaiTi" panose="02010609060101010101" pitchFamily="49" charset="-122"/>
                <a:ea typeface="KaiTi" panose="02010609060101010101" pitchFamily="49" charset="-122"/>
                <a:cs typeface="Noto Sans SC" pitchFamily="34" charset="-120"/>
              </a:rPr>
              <a:t>换取</a:t>
            </a:r>
            <a:r>
              <a:rPr lang="en-US" sz="1600" dirty="0">
                <a:solidFill>
                  <a:srgbClr val="60A39A"/>
                </a:solidFill>
                <a:highlight>
                  <a:srgbClr val="60A39A">
                    <a:alpha val="20000"/>
                  </a:srgbClr>
                </a:highlight>
                <a:latin typeface="KaiTi" panose="02010609060101010101" pitchFamily="49" charset="-122"/>
                <a:ea typeface="KaiTi" panose="02010609060101010101" pitchFamily="49" charset="-122"/>
                <a:cs typeface="Noto Sans SC" pitchFamily="34" charset="-120"/>
              </a:rPr>
              <a:t> 高吞吐写入 </a:t>
            </a:r>
            <a:r>
              <a:rPr lang="en-US" sz="1600" dirty="0">
                <a:solidFill>
                  <a:srgbClr val="3C3542"/>
                </a:solidFill>
                <a:latin typeface="KaiTi" panose="02010609060101010101" pitchFamily="49" charset="-122"/>
                <a:ea typeface="KaiTi" panose="02010609060101010101" pitchFamily="49" charset="-122"/>
                <a:cs typeface="Noto Sans SC" pitchFamily="34" charset="-120"/>
              </a:rPr>
              <a:t>。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7" name="Shape 4"/>
          <p:cNvSpPr/>
          <p:nvPr/>
        </p:nvSpPr>
        <p:spPr>
          <a:xfrm>
            <a:off x="254000" y="2667000"/>
            <a:ext cx="4673600" cy="2844800"/>
          </a:xfrm>
          <a:custGeom>
            <a:avLst/>
            <a:gdLst/>
            <a:ahLst/>
            <a:cxnLst/>
            <a:rect l="l" t="t" r="r" b="b"/>
            <a:pathLst>
              <a:path w="4673600" h="2844800">
                <a:moveTo>
                  <a:pt x="101588" y="0"/>
                </a:moveTo>
                <a:lnTo>
                  <a:pt x="4572012" y="0"/>
                </a:lnTo>
                <a:cubicBezTo>
                  <a:pt x="4628118" y="0"/>
                  <a:pt x="4673600" y="45482"/>
                  <a:pt x="4673600" y="101588"/>
                </a:cubicBezTo>
                <a:lnTo>
                  <a:pt x="4673600" y="2743212"/>
                </a:lnTo>
                <a:cubicBezTo>
                  <a:pt x="4673600" y="2799318"/>
                  <a:pt x="4628118" y="2844800"/>
                  <a:pt x="4572012" y="2844800"/>
                </a:cubicBezTo>
                <a:lnTo>
                  <a:pt x="101588" y="2844800"/>
                </a:lnTo>
                <a:cubicBezTo>
                  <a:pt x="45482" y="2844800"/>
                  <a:pt x="0" y="2799318"/>
                  <a:pt x="0" y="2743212"/>
                </a:cubicBezTo>
                <a:lnTo>
                  <a:pt x="0" y="101588"/>
                </a:lnTo>
                <a:cubicBezTo>
                  <a:pt x="0" y="45482"/>
                  <a:pt x="45482" y="0"/>
                  <a:pt x="101588" y="0"/>
                </a:cubicBezTo>
                <a:close/>
              </a:path>
            </a:pathLst>
          </a:custGeom>
          <a:solidFill>
            <a:srgbClr val="D3B9D7">
              <a:alpha val="25098"/>
            </a:srgbClr>
          </a:solidFill>
          <a:ln/>
        </p:spPr>
        <p:txBody>
          <a:bodyPr/>
          <a:lstStyle/>
          <a:p>
            <a:endParaRPr lang="zh-CN" altLang="en-US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8" name="Text 5"/>
          <p:cNvSpPr/>
          <p:nvPr/>
        </p:nvSpPr>
        <p:spPr>
          <a:xfrm>
            <a:off x="393700" y="2870200"/>
            <a:ext cx="43942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3C3542"/>
                </a:solidFill>
                <a:latin typeface="KaiTi" panose="02010609060101010101" pitchFamily="49" charset="-122"/>
                <a:ea typeface="KaiTi" panose="02010609060101010101" pitchFamily="49" charset="-122"/>
                <a:cs typeface="Noto Sans SC" pitchFamily="34" charset="-120"/>
              </a:rPr>
              <a:t>随机写 (</a:t>
            </a:r>
            <a:r>
              <a:rPr lang="en-US" sz="2000" b="1" dirty="0">
                <a:solidFill>
                  <a:srgbClr val="3C3542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B+</a:t>
            </a:r>
            <a:r>
              <a:rPr lang="en-US" sz="2000" b="1" dirty="0">
                <a:solidFill>
                  <a:srgbClr val="3C3542"/>
                </a:solidFill>
                <a:latin typeface="KaiTi" panose="02010609060101010101" pitchFamily="49" charset="-122"/>
                <a:ea typeface="KaiTi" panose="02010609060101010101" pitchFamily="49" charset="-122"/>
                <a:cs typeface="Noto Sans SC" pitchFamily="34" charset="-120"/>
              </a:rPr>
              <a:t>树)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10" name="Text 6"/>
          <p:cNvSpPr/>
          <p:nvPr/>
        </p:nvSpPr>
        <p:spPr>
          <a:xfrm>
            <a:off x="412750" y="3976414"/>
            <a:ext cx="43561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 err="1">
                <a:solidFill>
                  <a:srgbClr val="3C3542"/>
                </a:solidFill>
                <a:latin typeface="KaiTi" panose="02010609060101010101" pitchFamily="49" charset="-122"/>
                <a:ea typeface="KaiTi" panose="02010609060101010101" pitchFamily="49" charset="-122"/>
                <a:cs typeface="Noto Sans SC" pitchFamily="34" charset="-120"/>
              </a:rPr>
              <a:t>高</a:t>
            </a:r>
            <a:r>
              <a:rPr lang="en-US" sz="1400" dirty="0" err="1">
                <a:solidFill>
                  <a:srgbClr val="3C3542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IOPS</a:t>
            </a:r>
            <a:r>
              <a:rPr lang="en-US" sz="1400" dirty="0">
                <a:solidFill>
                  <a:srgbClr val="3C3542"/>
                </a:solidFill>
                <a:latin typeface="KaiTi" panose="02010609060101010101" pitchFamily="49" charset="-122"/>
                <a:ea typeface="KaiTi" panose="02010609060101010101" pitchFamily="49" charset="-122"/>
                <a:cs typeface="Noto Sans SC" pitchFamily="34" charset="-120"/>
              </a:rPr>
              <a:t> </a:t>
            </a:r>
            <a:r>
              <a:rPr lang="en-US" sz="1400" dirty="0" err="1">
                <a:solidFill>
                  <a:srgbClr val="3C3542"/>
                </a:solidFill>
                <a:latin typeface="KaiTi" panose="02010609060101010101" pitchFamily="49" charset="-122"/>
                <a:ea typeface="KaiTi" panose="02010609060101010101" pitchFamily="49" charset="-122"/>
                <a:cs typeface="Noto Sans SC" pitchFamily="34" charset="-120"/>
              </a:rPr>
              <a:t>消耗，频繁寻道，写放大严重</a:t>
            </a:r>
            <a:r>
              <a:rPr lang="en-US" sz="1400" dirty="0">
                <a:solidFill>
                  <a:srgbClr val="3C3542"/>
                </a:solidFill>
                <a:latin typeface="KaiTi" panose="02010609060101010101" pitchFamily="49" charset="-122"/>
                <a:ea typeface="KaiTi" panose="02010609060101010101" pitchFamily="49" charset="-122"/>
                <a:cs typeface="Noto Sans SC" pitchFamily="34" charset="-120"/>
              </a:rPr>
              <a:t>。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11" name="Shape 7"/>
          <p:cNvSpPr/>
          <p:nvPr/>
        </p:nvSpPr>
        <p:spPr>
          <a:xfrm rot="-720000">
            <a:off x="5598568" y="3617708"/>
            <a:ext cx="857250" cy="762000"/>
          </a:xfrm>
          <a:custGeom>
            <a:avLst/>
            <a:gdLst/>
            <a:ahLst/>
            <a:cxnLst/>
            <a:rect l="l" t="t" r="r" b="b"/>
            <a:pathLst>
              <a:path w="857250" h="762000">
                <a:moveTo>
                  <a:pt x="843260" y="347365"/>
                </a:moveTo>
                <a:cubicBezTo>
                  <a:pt x="861864" y="365968"/>
                  <a:pt x="861864" y="396180"/>
                  <a:pt x="843260" y="414784"/>
                </a:cubicBezTo>
                <a:lnTo>
                  <a:pt x="652760" y="605284"/>
                </a:lnTo>
                <a:cubicBezTo>
                  <a:pt x="639068" y="618976"/>
                  <a:pt x="618679" y="622995"/>
                  <a:pt x="600819" y="615553"/>
                </a:cubicBezTo>
                <a:cubicBezTo>
                  <a:pt x="582960" y="608112"/>
                  <a:pt x="571500" y="590699"/>
                  <a:pt x="571500" y="571500"/>
                </a:cubicBezTo>
                <a:lnTo>
                  <a:pt x="571500" y="476250"/>
                </a:lnTo>
                <a:lnTo>
                  <a:pt x="71438" y="476250"/>
                </a:lnTo>
                <a:cubicBezTo>
                  <a:pt x="31998" y="476250"/>
                  <a:pt x="0" y="444252"/>
                  <a:pt x="0" y="404813"/>
                </a:cubicBezTo>
                <a:lnTo>
                  <a:pt x="0" y="357188"/>
                </a:lnTo>
                <a:cubicBezTo>
                  <a:pt x="0" y="317748"/>
                  <a:pt x="31998" y="285750"/>
                  <a:pt x="71438" y="285750"/>
                </a:cubicBezTo>
                <a:lnTo>
                  <a:pt x="571500" y="285750"/>
                </a:lnTo>
                <a:lnTo>
                  <a:pt x="571500" y="190500"/>
                </a:lnTo>
                <a:cubicBezTo>
                  <a:pt x="571500" y="171301"/>
                  <a:pt x="583109" y="153888"/>
                  <a:pt x="600968" y="146447"/>
                </a:cubicBezTo>
                <a:cubicBezTo>
                  <a:pt x="618827" y="139005"/>
                  <a:pt x="639217" y="143173"/>
                  <a:pt x="652909" y="156716"/>
                </a:cubicBezTo>
                <a:lnTo>
                  <a:pt x="843409" y="347216"/>
                </a:lnTo>
                <a:close/>
              </a:path>
            </a:pathLst>
          </a:custGeom>
          <a:solidFill>
            <a:srgbClr val="8F5C9A"/>
          </a:solidFill>
          <a:ln/>
        </p:spPr>
        <p:txBody>
          <a:bodyPr/>
          <a:lstStyle/>
          <a:p>
            <a:endParaRPr lang="zh-CN" altLang="en-US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12" name="Shape 8"/>
          <p:cNvSpPr/>
          <p:nvPr/>
        </p:nvSpPr>
        <p:spPr>
          <a:xfrm>
            <a:off x="7264400" y="2667000"/>
            <a:ext cx="4673600" cy="2844800"/>
          </a:xfrm>
          <a:custGeom>
            <a:avLst/>
            <a:gdLst/>
            <a:ahLst/>
            <a:cxnLst/>
            <a:rect l="l" t="t" r="r" b="b"/>
            <a:pathLst>
              <a:path w="4673600" h="2844800">
                <a:moveTo>
                  <a:pt x="101588" y="0"/>
                </a:moveTo>
                <a:lnTo>
                  <a:pt x="4572012" y="0"/>
                </a:lnTo>
                <a:cubicBezTo>
                  <a:pt x="4628118" y="0"/>
                  <a:pt x="4673600" y="45482"/>
                  <a:pt x="4673600" y="101588"/>
                </a:cubicBezTo>
                <a:lnTo>
                  <a:pt x="4673600" y="2743212"/>
                </a:lnTo>
                <a:cubicBezTo>
                  <a:pt x="4673600" y="2799318"/>
                  <a:pt x="4628118" y="2844800"/>
                  <a:pt x="4572012" y="2844800"/>
                </a:cubicBezTo>
                <a:lnTo>
                  <a:pt x="101588" y="2844800"/>
                </a:lnTo>
                <a:cubicBezTo>
                  <a:pt x="45482" y="2844800"/>
                  <a:pt x="0" y="2799318"/>
                  <a:pt x="0" y="2743212"/>
                </a:cubicBezTo>
                <a:lnTo>
                  <a:pt x="0" y="101588"/>
                </a:lnTo>
                <a:cubicBezTo>
                  <a:pt x="0" y="45482"/>
                  <a:pt x="45482" y="0"/>
                  <a:pt x="101588" y="0"/>
                </a:cubicBezTo>
                <a:close/>
              </a:path>
            </a:pathLst>
          </a:custGeom>
          <a:solidFill>
            <a:srgbClr val="60A39A">
              <a:alpha val="25098"/>
            </a:srgbClr>
          </a:solidFill>
          <a:ln/>
        </p:spPr>
        <p:txBody>
          <a:bodyPr/>
          <a:lstStyle/>
          <a:p>
            <a:endParaRPr lang="zh-CN" altLang="en-US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13" name="Text 9"/>
          <p:cNvSpPr/>
          <p:nvPr/>
        </p:nvSpPr>
        <p:spPr>
          <a:xfrm>
            <a:off x="7404100" y="2870200"/>
            <a:ext cx="43942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3C3542"/>
                </a:solidFill>
                <a:latin typeface="KaiTi" panose="02010609060101010101" pitchFamily="49" charset="-122"/>
                <a:ea typeface="KaiTi" panose="02010609060101010101" pitchFamily="49" charset="-122"/>
                <a:cs typeface="Noto Sans SC" pitchFamily="34" charset="-120"/>
              </a:rPr>
              <a:t>顺序写 (</a:t>
            </a:r>
            <a:r>
              <a:rPr lang="en-US" sz="2000" b="1" dirty="0">
                <a:solidFill>
                  <a:srgbClr val="3C3542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LSM</a:t>
            </a:r>
            <a:r>
              <a:rPr lang="en-US" sz="2000" b="1" dirty="0">
                <a:solidFill>
                  <a:srgbClr val="3C3542"/>
                </a:solidFill>
                <a:latin typeface="KaiTi" panose="02010609060101010101" pitchFamily="49" charset="-122"/>
                <a:ea typeface="KaiTi" panose="02010609060101010101" pitchFamily="49" charset="-122"/>
                <a:cs typeface="Noto Sans SC" pitchFamily="34" charset="-120"/>
              </a:rPr>
              <a:t>树)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15" name="Text 10"/>
          <p:cNvSpPr/>
          <p:nvPr/>
        </p:nvSpPr>
        <p:spPr>
          <a:xfrm>
            <a:off x="7423150" y="3871708"/>
            <a:ext cx="43561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3C3542"/>
                </a:solidFill>
                <a:latin typeface="KaiTi" panose="02010609060101010101" pitchFamily="49" charset="-122"/>
                <a:ea typeface="KaiTi" panose="02010609060101010101" pitchFamily="49" charset="-122"/>
                <a:cs typeface="Noto Sans SC" pitchFamily="34" charset="-120"/>
              </a:rPr>
              <a:t>连续追加，充分利用磁盘带宽，吞吐提升数十倍。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</p:spTree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2"/>
          <p:cNvSpPr/>
          <p:nvPr/>
        </p:nvSpPr>
        <p:spPr>
          <a:xfrm>
            <a:off x="3129018" y="1350579"/>
            <a:ext cx="57658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3600" b="1" dirty="0" err="1">
                <a:solidFill>
                  <a:srgbClr val="8F5C9A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MemTable</a:t>
            </a:r>
            <a:r>
              <a:rPr lang="en-US" sz="3600" b="1" dirty="0">
                <a:solidFill>
                  <a:srgbClr val="8F5C9A"/>
                </a:solidFill>
                <a:latin typeface="KaiTi" panose="02010609060101010101" pitchFamily="49" charset="-122"/>
                <a:ea typeface="KaiTi" panose="02010609060101010101" pitchFamily="49" charset="-122"/>
                <a:cs typeface="Noto Sans SC" pitchFamily="34" charset="-120"/>
              </a:rPr>
              <a:t> </a:t>
            </a:r>
            <a:r>
              <a:rPr lang="en-US" sz="3600" b="1" dirty="0" err="1">
                <a:solidFill>
                  <a:srgbClr val="8F5C9A"/>
                </a:solidFill>
                <a:latin typeface="KaiTi" panose="02010609060101010101" pitchFamily="49" charset="-122"/>
                <a:ea typeface="KaiTi" panose="02010609060101010101" pitchFamily="49" charset="-122"/>
                <a:cs typeface="Noto Sans SC" pitchFamily="34" charset="-120"/>
              </a:rPr>
              <a:t>跳表与并发控制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6" name="Text 3"/>
          <p:cNvSpPr/>
          <p:nvPr/>
        </p:nvSpPr>
        <p:spPr>
          <a:xfrm>
            <a:off x="2502338" y="1945290"/>
            <a:ext cx="7187324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dirty="0" err="1">
                <a:solidFill>
                  <a:srgbClr val="3C3542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MemTable</a:t>
            </a:r>
            <a:r>
              <a:rPr lang="en-US" sz="1600" dirty="0">
                <a:solidFill>
                  <a:srgbClr val="3C3542"/>
                </a:solidFill>
                <a:latin typeface="KaiTi" panose="02010609060101010101" pitchFamily="49" charset="-122"/>
                <a:ea typeface="KaiTi" panose="02010609060101010101" pitchFamily="49" charset="-122"/>
                <a:cs typeface="Noto Sans SC" pitchFamily="34" charset="-120"/>
              </a:rPr>
              <a:t> </a:t>
            </a:r>
            <a:r>
              <a:rPr lang="en-US" sz="1600" dirty="0" err="1">
                <a:solidFill>
                  <a:srgbClr val="3C3542"/>
                </a:solidFill>
                <a:latin typeface="KaiTi" panose="02010609060101010101" pitchFamily="49" charset="-122"/>
                <a:ea typeface="KaiTi" panose="02010609060101010101" pitchFamily="49" charset="-122"/>
                <a:cs typeface="Noto Sans SC" pitchFamily="34" charset="-120"/>
              </a:rPr>
              <a:t>采用</a:t>
            </a:r>
            <a:r>
              <a:rPr lang="en-US" sz="1600" b="1" dirty="0" err="1">
                <a:solidFill>
                  <a:srgbClr val="3C3542"/>
                </a:solidFill>
                <a:latin typeface="KaiTi" panose="02010609060101010101" pitchFamily="49" charset="-122"/>
                <a:ea typeface="KaiTi" panose="02010609060101010101" pitchFamily="49" charset="-122"/>
                <a:cs typeface="Noto Sans SC" pitchFamily="34" charset="-120"/>
              </a:rPr>
              <a:t>跳表</a:t>
            </a:r>
            <a:r>
              <a:rPr lang="en-US" sz="1600" dirty="0" err="1">
                <a:solidFill>
                  <a:srgbClr val="3C3542"/>
                </a:solidFill>
                <a:latin typeface="KaiTi" panose="02010609060101010101" pitchFamily="49" charset="-122"/>
                <a:ea typeface="KaiTi" panose="02010609060101010101" pitchFamily="49" charset="-122"/>
                <a:cs typeface="Noto Sans SC" pitchFamily="34" charset="-120"/>
              </a:rPr>
              <a:t>而非红黑树，是为高并发读写而做的关键设计选择</a:t>
            </a:r>
            <a:r>
              <a:rPr lang="en-US" sz="1600" dirty="0">
                <a:solidFill>
                  <a:srgbClr val="3C3542"/>
                </a:solidFill>
                <a:latin typeface="KaiTi" panose="02010609060101010101" pitchFamily="49" charset="-122"/>
                <a:ea typeface="KaiTi" panose="02010609060101010101" pitchFamily="49" charset="-122"/>
                <a:cs typeface="Noto Sans SC" pitchFamily="34" charset="-120"/>
              </a:rPr>
              <a:t>。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7" name="Text 4"/>
          <p:cNvSpPr/>
          <p:nvPr/>
        </p:nvSpPr>
        <p:spPr>
          <a:xfrm>
            <a:off x="254000" y="5257800"/>
            <a:ext cx="8396014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54000" indent="-254000">
              <a:lnSpc>
                <a:spcPct val="120000"/>
              </a:lnSpc>
              <a:spcBef>
                <a:spcPts val="10"/>
              </a:spcBef>
              <a:buSzPct val="100000"/>
              <a:buChar char="•"/>
            </a:pPr>
            <a:r>
              <a:rPr lang="en-US" sz="1400" b="1" dirty="0">
                <a:solidFill>
                  <a:srgbClr val="3C3542"/>
                </a:solidFill>
                <a:latin typeface="KaiTi" panose="02010609060101010101" pitchFamily="49" charset="-122"/>
                <a:ea typeface="KaiTi" panose="02010609060101010101" pitchFamily="49" charset="-122"/>
                <a:cs typeface="Noto Sans SC" pitchFamily="34" charset="-120"/>
              </a:rPr>
              <a:t>无锁并发插入:</a:t>
            </a:r>
            <a:r>
              <a:rPr lang="en-US" sz="1400" dirty="0">
                <a:solidFill>
                  <a:srgbClr val="3C3542"/>
                </a:solidFill>
                <a:latin typeface="KaiTi" panose="02010609060101010101" pitchFamily="49" charset="-122"/>
                <a:ea typeface="KaiTi" panose="02010609060101010101" pitchFamily="49" charset="-122"/>
                <a:cs typeface="Noto Sans SC" pitchFamily="34" charset="-120"/>
              </a:rPr>
              <a:t> </a:t>
            </a:r>
            <a:r>
              <a:rPr lang="en-US" sz="1400" dirty="0" err="1">
                <a:solidFill>
                  <a:srgbClr val="3C3542"/>
                </a:solidFill>
                <a:latin typeface="KaiTi" panose="02010609060101010101" pitchFamily="49" charset="-122"/>
                <a:ea typeface="KaiTi" panose="02010609060101010101" pitchFamily="49" charset="-122"/>
                <a:cs typeface="Noto Sans SC" pitchFamily="34" charset="-120"/>
              </a:rPr>
              <a:t>写入线程通过</a:t>
            </a:r>
            <a:r>
              <a:rPr lang="en-US" sz="1400" dirty="0">
                <a:solidFill>
                  <a:srgbClr val="3C3542"/>
                </a:solidFill>
                <a:latin typeface="KaiTi" panose="02010609060101010101" pitchFamily="49" charset="-122"/>
                <a:ea typeface="KaiTi" panose="02010609060101010101" pitchFamily="49" charset="-122"/>
                <a:cs typeface="Noto Sans SC" pitchFamily="34" charset="-120"/>
              </a:rPr>
              <a:t> </a:t>
            </a:r>
            <a:r>
              <a:rPr lang="en-US" sz="1400" dirty="0">
                <a:solidFill>
                  <a:srgbClr val="3C3542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CAS</a:t>
            </a:r>
            <a:r>
              <a:rPr lang="en-US" sz="1400" dirty="0">
                <a:solidFill>
                  <a:srgbClr val="3C3542"/>
                </a:solidFill>
                <a:latin typeface="KaiTi" panose="02010609060101010101" pitchFamily="49" charset="-122"/>
                <a:ea typeface="KaiTi" panose="02010609060101010101" pitchFamily="49" charset="-122"/>
                <a:cs typeface="Noto Sans SC" pitchFamily="34" charset="-120"/>
              </a:rPr>
              <a:t> </a:t>
            </a:r>
            <a:r>
              <a:rPr lang="en-US" sz="1400" dirty="0" err="1">
                <a:solidFill>
                  <a:srgbClr val="3C3542"/>
                </a:solidFill>
                <a:latin typeface="KaiTi" panose="02010609060101010101" pitchFamily="49" charset="-122"/>
                <a:ea typeface="KaiTi" panose="02010609060101010101" pitchFamily="49" charset="-122"/>
                <a:cs typeface="Noto Sans SC" pitchFamily="34" charset="-120"/>
              </a:rPr>
              <a:t>操作在跳表最底层完成插入，无需全局锁</a:t>
            </a:r>
            <a:r>
              <a:rPr lang="en-US" sz="1400" dirty="0">
                <a:solidFill>
                  <a:srgbClr val="3C3542"/>
                </a:solidFill>
                <a:latin typeface="KaiTi" panose="02010609060101010101" pitchFamily="49" charset="-122"/>
                <a:ea typeface="KaiTi" panose="02010609060101010101" pitchFamily="49" charset="-122"/>
                <a:cs typeface="Noto Sans SC" pitchFamily="34" charset="-120"/>
              </a:rPr>
              <a:t>。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 marL="254000" indent="-254000">
              <a:lnSpc>
                <a:spcPct val="120000"/>
              </a:lnSpc>
              <a:spcBef>
                <a:spcPts val="10"/>
              </a:spcBef>
              <a:buSzPct val="100000"/>
              <a:buChar char="•"/>
            </a:pPr>
            <a:r>
              <a:rPr lang="en-US" sz="1400" b="1" dirty="0">
                <a:solidFill>
                  <a:srgbClr val="3C3542"/>
                </a:solidFill>
                <a:latin typeface="KaiTi" panose="02010609060101010101" pitchFamily="49" charset="-122"/>
                <a:ea typeface="KaiTi" panose="02010609060101010101" pitchFamily="49" charset="-122"/>
                <a:cs typeface="Noto Sans SC" pitchFamily="34" charset="-120"/>
              </a:rPr>
              <a:t>内存局部性好:</a:t>
            </a:r>
            <a:r>
              <a:rPr lang="en-US" sz="1400" dirty="0">
                <a:solidFill>
                  <a:srgbClr val="3C3542"/>
                </a:solidFill>
                <a:latin typeface="KaiTi" panose="02010609060101010101" pitchFamily="49" charset="-122"/>
                <a:ea typeface="KaiTi" panose="02010609060101010101" pitchFamily="49" charset="-122"/>
                <a:cs typeface="Noto Sans SC" pitchFamily="34" charset="-120"/>
              </a:rPr>
              <a:t> </a:t>
            </a:r>
            <a:r>
              <a:rPr lang="en-US" sz="1400" dirty="0" err="1">
                <a:solidFill>
                  <a:srgbClr val="3C3542"/>
                </a:solidFill>
                <a:latin typeface="KaiTi" panose="02010609060101010101" pitchFamily="49" charset="-122"/>
                <a:ea typeface="KaiTi" panose="02010609060101010101" pitchFamily="49" charset="-122"/>
                <a:cs typeface="Noto Sans SC" pitchFamily="34" charset="-120"/>
              </a:rPr>
              <a:t>节点紧凑排列，利于</a:t>
            </a:r>
            <a:r>
              <a:rPr lang="en-US" sz="1400" dirty="0">
                <a:solidFill>
                  <a:srgbClr val="3C3542"/>
                </a:solidFill>
                <a:latin typeface="KaiTi" panose="02010609060101010101" pitchFamily="49" charset="-122"/>
                <a:ea typeface="KaiTi" panose="02010609060101010101" pitchFamily="49" charset="-122"/>
                <a:cs typeface="Noto Sans SC" pitchFamily="34" charset="-120"/>
              </a:rPr>
              <a:t> </a:t>
            </a:r>
            <a:r>
              <a:rPr lang="en-US" sz="1400" dirty="0">
                <a:solidFill>
                  <a:srgbClr val="3C3542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CPU</a:t>
            </a:r>
            <a:r>
              <a:rPr lang="en-US" sz="1400" dirty="0">
                <a:solidFill>
                  <a:srgbClr val="3C3542"/>
                </a:solidFill>
                <a:latin typeface="KaiTi" panose="02010609060101010101" pitchFamily="49" charset="-122"/>
                <a:ea typeface="KaiTi" panose="02010609060101010101" pitchFamily="49" charset="-122"/>
                <a:cs typeface="Noto Sans SC" pitchFamily="34" charset="-120"/>
              </a:rPr>
              <a:t> </a:t>
            </a:r>
            <a:r>
              <a:rPr lang="en-US" sz="1400" dirty="0" err="1">
                <a:solidFill>
                  <a:srgbClr val="3C3542"/>
                </a:solidFill>
                <a:latin typeface="KaiTi" panose="02010609060101010101" pitchFamily="49" charset="-122"/>
                <a:ea typeface="KaiTi" panose="02010609060101010101" pitchFamily="49" charset="-122"/>
                <a:cs typeface="Noto Sans SC" pitchFamily="34" charset="-120"/>
              </a:rPr>
              <a:t>缓存行，提升遍历效率</a:t>
            </a:r>
            <a:r>
              <a:rPr lang="en-US" sz="1400" dirty="0">
                <a:solidFill>
                  <a:srgbClr val="3C3542"/>
                </a:solidFill>
                <a:latin typeface="KaiTi" panose="02010609060101010101" pitchFamily="49" charset="-122"/>
                <a:ea typeface="KaiTi" panose="02010609060101010101" pitchFamily="49" charset="-122"/>
                <a:cs typeface="Noto Sans SC" pitchFamily="34" charset="-120"/>
              </a:rPr>
              <a:t>。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 marL="254000" indent="-254000">
              <a:lnSpc>
                <a:spcPct val="120000"/>
              </a:lnSpc>
              <a:spcBef>
                <a:spcPts val="10"/>
              </a:spcBef>
              <a:buSzPct val="100000"/>
              <a:buChar char="•"/>
            </a:pPr>
            <a:r>
              <a:rPr lang="en-US" sz="1400" b="1" dirty="0">
                <a:solidFill>
                  <a:srgbClr val="3C3542"/>
                </a:solidFill>
                <a:latin typeface="KaiTi" panose="02010609060101010101" pitchFamily="49" charset="-122"/>
                <a:ea typeface="KaiTi" panose="02010609060101010101" pitchFamily="49" charset="-122"/>
                <a:cs typeface="Noto Sans SC" pitchFamily="34" charset="-120"/>
              </a:rPr>
              <a:t>实现简单:</a:t>
            </a:r>
            <a:r>
              <a:rPr lang="en-US" sz="1400" dirty="0">
                <a:solidFill>
                  <a:srgbClr val="3C3542"/>
                </a:solidFill>
                <a:latin typeface="KaiTi" panose="02010609060101010101" pitchFamily="49" charset="-122"/>
                <a:ea typeface="KaiTi" panose="02010609060101010101" pitchFamily="49" charset="-122"/>
                <a:cs typeface="Noto Sans SC" pitchFamily="34" charset="-120"/>
              </a:rPr>
              <a:t> 算法逻辑清晰，易于维护和优化。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8" name="Text 5"/>
          <p:cNvSpPr/>
          <p:nvPr/>
        </p:nvSpPr>
        <p:spPr>
          <a:xfrm>
            <a:off x="6749393" y="3779345"/>
            <a:ext cx="4748924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3C3542"/>
                </a:solidFill>
                <a:latin typeface="KaiTi" panose="02010609060101010101" pitchFamily="49" charset="-122"/>
                <a:ea typeface="KaiTi" panose="02010609060101010101" pitchFamily="49" charset="-122"/>
                <a:cs typeface="Noto Sans SC" pitchFamily="34" charset="-120"/>
              </a:rPr>
              <a:t>层高上限设为12，是为在内存占用与查询效率间取得平衡。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pic>
        <p:nvPicPr>
          <p:cNvPr id="11" name="图片 10" descr="图示, 示意图&#10;&#10;AI 生成的内容可能不正确。">
            <a:extLst>
              <a:ext uri="{FF2B5EF4-FFF2-40B4-BE49-F238E27FC236}">
                <a16:creationId xmlns:a16="http://schemas.microsoft.com/office/drawing/2014/main" id="{6F619B80-8DA3-093B-45FC-D6670C8DE5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2852245"/>
            <a:ext cx="6096000" cy="21082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2"/>
          <p:cNvSpPr/>
          <p:nvPr/>
        </p:nvSpPr>
        <p:spPr>
          <a:xfrm>
            <a:off x="139700" y="2057400"/>
            <a:ext cx="11912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3600" b="1" dirty="0" err="1">
                <a:solidFill>
                  <a:srgbClr val="8F5C9A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SSTable</a:t>
            </a:r>
            <a:r>
              <a:rPr lang="en-US" sz="3600" b="1" dirty="0">
                <a:solidFill>
                  <a:srgbClr val="8F5C9A"/>
                </a:solidFill>
                <a:latin typeface="KaiTi" panose="02010609060101010101" pitchFamily="49" charset="-122"/>
                <a:ea typeface="KaiTi" panose="02010609060101010101" pitchFamily="49" charset="-122"/>
                <a:cs typeface="Noto Sans SC" pitchFamily="34" charset="-120"/>
              </a:rPr>
              <a:t> </a:t>
            </a:r>
            <a:r>
              <a:rPr lang="en-US" sz="3600" b="1" dirty="0" err="1">
                <a:solidFill>
                  <a:srgbClr val="8F5C9A"/>
                </a:solidFill>
                <a:latin typeface="KaiTi" panose="02010609060101010101" pitchFamily="49" charset="-122"/>
                <a:ea typeface="KaiTi" panose="02010609060101010101" pitchFamily="49" charset="-122"/>
                <a:cs typeface="Noto Sans SC" pitchFamily="34" charset="-120"/>
              </a:rPr>
              <a:t>块索引与布隆过滤器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6" name="Shape 3"/>
          <p:cNvSpPr/>
          <p:nvPr/>
        </p:nvSpPr>
        <p:spPr>
          <a:xfrm>
            <a:off x="254000" y="2870200"/>
            <a:ext cx="3898900" cy="1930400"/>
          </a:xfrm>
          <a:custGeom>
            <a:avLst/>
            <a:gdLst/>
            <a:ahLst/>
            <a:cxnLst/>
            <a:rect l="l" t="t" r="r" b="b"/>
            <a:pathLst>
              <a:path w="3898900" h="1930400">
                <a:moveTo>
                  <a:pt x="101597" y="0"/>
                </a:moveTo>
                <a:lnTo>
                  <a:pt x="3797303" y="0"/>
                </a:lnTo>
                <a:cubicBezTo>
                  <a:pt x="3853413" y="0"/>
                  <a:pt x="3898900" y="45487"/>
                  <a:pt x="3898900" y="101597"/>
                </a:cubicBezTo>
                <a:lnTo>
                  <a:pt x="3898900" y="1828803"/>
                </a:lnTo>
                <a:cubicBezTo>
                  <a:pt x="3898900" y="1884913"/>
                  <a:pt x="3853413" y="1930400"/>
                  <a:pt x="3797303" y="1930400"/>
                </a:cubicBezTo>
                <a:lnTo>
                  <a:pt x="101597" y="1930400"/>
                </a:lnTo>
                <a:cubicBezTo>
                  <a:pt x="45487" y="1930400"/>
                  <a:pt x="0" y="1884913"/>
                  <a:pt x="0" y="1828803"/>
                </a:cubicBezTo>
                <a:lnTo>
                  <a:pt x="0" y="101597"/>
                </a:lnTo>
                <a:cubicBezTo>
                  <a:pt x="0" y="45487"/>
                  <a:pt x="45487" y="0"/>
                  <a:pt x="101597" y="0"/>
                </a:cubicBezTo>
                <a:close/>
              </a:path>
            </a:pathLst>
          </a:custGeom>
          <a:solidFill>
            <a:srgbClr val="D3B9D7">
              <a:alpha val="25098"/>
            </a:srgbClr>
          </a:solidFill>
          <a:ln/>
        </p:spPr>
        <p:txBody>
          <a:bodyPr/>
          <a:lstStyle/>
          <a:p>
            <a:endParaRPr lang="zh-CN" altLang="en-US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7" name="Shape 4"/>
          <p:cNvSpPr/>
          <p:nvPr/>
        </p:nvSpPr>
        <p:spPr>
          <a:xfrm>
            <a:off x="2001242" y="3073400"/>
            <a:ext cx="400050" cy="457200"/>
          </a:xfrm>
          <a:custGeom>
            <a:avLst/>
            <a:gdLst/>
            <a:ahLst/>
            <a:cxnLst/>
            <a:rect l="l" t="t" r="r" b="b"/>
            <a:pathLst>
              <a:path w="400050" h="457200">
                <a:moveTo>
                  <a:pt x="342900" y="85725"/>
                </a:moveTo>
                <a:lnTo>
                  <a:pt x="228600" y="85725"/>
                </a:lnTo>
                <a:lnTo>
                  <a:pt x="228600" y="200025"/>
                </a:lnTo>
                <a:lnTo>
                  <a:pt x="342900" y="200025"/>
                </a:lnTo>
                <a:lnTo>
                  <a:pt x="342900" y="85725"/>
                </a:lnTo>
                <a:close/>
                <a:moveTo>
                  <a:pt x="400050" y="200025"/>
                </a:moveTo>
                <a:lnTo>
                  <a:pt x="400050" y="371475"/>
                </a:lnTo>
                <a:cubicBezTo>
                  <a:pt x="400050" y="402997"/>
                  <a:pt x="374422" y="428625"/>
                  <a:pt x="342900" y="428625"/>
                </a:cubicBezTo>
                <a:lnTo>
                  <a:pt x="57150" y="428625"/>
                </a:lnTo>
                <a:cubicBezTo>
                  <a:pt x="25628" y="428625"/>
                  <a:pt x="0" y="402997"/>
                  <a:pt x="0" y="371475"/>
                </a:cubicBezTo>
                <a:lnTo>
                  <a:pt x="0" y="85725"/>
                </a:lnTo>
                <a:cubicBezTo>
                  <a:pt x="0" y="54203"/>
                  <a:pt x="25628" y="28575"/>
                  <a:pt x="57150" y="28575"/>
                </a:cubicBezTo>
                <a:lnTo>
                  <a:pt x="342900" y="28575"/>
                </a:lnTo>
                <a:cubicBezTo>
                  <a:pt x="374422" y="28575"/>
                  <a:pt x="400050" y="54203"/>
                  <a:pt x="400050" y="85725"/>
                </a:cubicBezTo>
                <a:lnTo>
                  <a:pt x="400050" y="200025"/>
                </a:lnTo>
                <a:close/>
                <a:moveTo>
                  <a:pt x="57150" y="257175"/>
                </a:moveTo>
                <a:lnTo>
                  <a:pt x="57150" y="371475"/>
                </a:lnTo>
                <a:lnTo>
                  <a:pt x="171450" y="371475"/>
                </a:lnTo>
                <a:lnTo>
                  <a:pt x="171450" y="257175"/>
                </a:lnTo>
                <a:lnTo>
                  <a:pt x="57150" y="257175"/>
                </a:lnTo>
                <a:close/>
                <a:moveTo>
                  <a:pt x="171450" y="200025"/>
                </a:moveTo>
                <a:lnTo>
                  <a:pt x="171450" y="85725"/>
                </a:lnTo>
                <a:lnTo>
                  <a:pt x="57150" y="85725"/>
                </a:lnTo>
                <a:lnTo>
                  <a:pt x="57150" y="200025"/>
                </a:lnTo>
                <a:lnTo>
                  <a:pt x="171450" y="200025"/>
                </a:lnTo>
                <a:close/>
                <a:moveTo>
                  <a:pt x="228600" y="257175"/>
                </a:moveTo>
                <a:lnTo>
                  <a:pt x="228600" y="371475"/>
                </a:lnTo>
                <a:lnTo>
                  <a:pt x="342900" y="371475"/>
                </a:lnTo>
                <a:lnTo>
                  <a:pt x="342900" y="257175"/>
                </a:lnTo>
                <a:lnTo>
                  <a:pt x="228600" y="257175"/>
                </a:lnTo>
                <a:close/>
              </a:path>
            </a:pathLst>
          </a:custGeom>
          <a:solidFill>
            <a:srgbClr val="A95EAF"/>
          </a:solidFill>
          <a:ln/>
        </p:spPr>
        <p:txBody>
          <a:bodyPr/>
          <a:lstStyle/>
          <a:p>
            <a:endParaRPr lang="zh-CN" altLang="en-US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8" name="Text 5"/>
          <p:cNvSpPr/>
          <p:nvPr/>
        </p:nvSpPr>
        <p:spPr>
          <a:xfrm>
            <a:off x="393700" y="3683000"/>
            <a:ext cx="36195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3C3542"/>
                </a:solidFill>
                <a:latin typeface="KaiTi" panose="02010609060101010101" pitchFamily="49" charset="-122"/>
                <a:ea typeface="KaiTi" panose="02010609060101010101" pitchFamily="49" charset="-122"/>
                <a:cs typeface="Noto Sans SC" pitchFamily="34" charset="-120"/>
              </a:rPr>
              <a:t>数据块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9" name="Text 6"/>
          <p:cNvSpPr/>
          <p:nvPr/>
        </p:nvSpPr>
        <p:spPr>
          <a:xfrm>
            <a:off x="412750" y="4089400"/>
            <a:ext cx="35814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3C3542"/>
                </a:solidFill>
                <a:latin typeface="KaiTi" panose="02010609060101010101" pitchFamily="49" charset="-122"/>
                <a:ea typeface="KaiTi" panose="02010609060101010101" pitchFamily="49" charset="-122"/>
                <a:cs typeface="Noto Sans SC" pitchFamily="34" charset="-120"/>
              </a:rPr>
              <a:t>默认64KB，存储有序键值对，尾部有重启点用于前缀压缩。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4148634" y="2870200"/>
            <a:ext cx="3898900" cy="1930400"/>
          </a:xfrm>
          <a:custGeom>
            <a:avLst/>
            <a:gdLst/>
            <a:ahLst/>
            <a:cxnLst/>
            <a:rect l="l" t="t" r="r" b="b"/>
            <a:pathLst>
              <a:path w="3898900" h="1930400">
                <a:moveTo>
                  <a:pt x="101597" y="0"/>
                </a:moveTo>
                <a:lnTo>
                  <a:pt x="3797303" y="0"/>
                </a:lnTo>
                <a:cubicBezTo>
                  <a:pt x="3853413" y="0"/>
                  <a:pt x="3898900" y="45487"/>
                  <a:pt x="3898900" y="101597"/>
                </a:cubicBezTo>
                <a:lnTo>
                  <a:pt x="3898900" y="1828803"/>
                </a:lnTo>
                <a:cubicBezTo>
                  <a:pt x="3898900" y="1884913"/>
                  <a:pt x="3853413" y="1930400"/>
                  <a:pt x="3797303" y="1930400"/>
                </a:cubicBezTo>
                <a:lnTo>
                  <a:pt x="101597" y="1930400"/>
                </a:lnTo>
                <a:cubicBezTo>
                  <a:pt x="45487" y="1930400"/>
                  <a:pt x="0" y="1884913"/>
                  <a:pt x="0" y="1828803"/>
                </a:cubicBezTo>
                <a:lnTo>
                  <a:pt x="0" y="101597"/>
                </a:lnTo>
                <a:cubicBezTo>
                  <a:pt x="0" y="45487"/>
                  <a:pt x="45487" y="0"/>
                  <a:pt x="101597" y="0"/>
                </a:cubicBezTo>
                <a:close/>
              </a:path>
            </a:pathLst>
          </a:custGeom>
          <a:solidFill>
            <a:srgbClr val="D3B9D7">
              <a:alpha val="25098"/>
            </a:srgbClr>
          </a:solidFill>
          <a:ln/>
        </p:spPr>
        <p:txBody>
          <a:bodyPr/>
          <a:lstStyle/>
          <a:p>
            <a:endParaRPr lang="zh-CN" altLang="en-US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5867301" y="30734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0" y="64294"/>
                </a:moveTo>
                <a:cubicBezTo>
                  <a:pt x="0" y="52507"/>
                  <a:pt x="9555" y="42863"/>
                  <a:pt x="21431" y="42863"/>
                </a:cubicBezTo>
                <a:lnTo>
                  <a:pt x="64294" y="42863"/>
                </a:lnTo>
                <a:cubicBezTo>
                  <a:pt x="76170" y="42863"/>
                  <a:pt x="85725" y="52417"/>
                  <a:pt x="85725" y="64294"/>
                </a:cubicBezTo>
                <a:lnTo>
                  <a:pt x="85725" y="157163"/>
                </a:lnTo>
                <a:lnTo>
                  <a:pt x="107156" y="157163"/>
                </a:lnTo>
                <a:cubicBezTo>
                  <a:pt x="119033" y="157163"/>
                  <a:pt x="128588" y="166717"/>
                  <a:pt x="128588" y="178594"/>
                </a:cubicBezTo>
                <a:cubicBezTo>
                  <a:pt x="128588" y="190470"/>
                  <a:pt x="119033" y="200025"/>
                  <a:pt x="107156" y="200025"/>
                </a:cubicBezTo>
                <a:lnTo>
                  <a:pt x="21431" y="200025"/>
                </a:lnTo>
                <a:cubicBezTo>
                  <a:pt x="9555" y="200025"/>
                  <a:pt x="0" y="190470"/>
                  <a:pt x="0" y="178594"/>
                </a:cubicBezTo>
                <a:cubicBezTo>
                  <a:pt x="0" y="166717"/>
                  <a:pt x="9555" y="157163"/>
                  <a:pt x="21431" y="157163"/>
                </a:cubicBezTo>
                <a:lnTo>
                  <a:pt x="42863" y="157163"/>
                </a:lnTo>
                <a:lnTo>
                  <a:pt x="42863" y="85725"/>
                </a:lnTo>
                <a:lnTo>
                  <a:pt x="21431" y="85725"/>
                </a:lnTo>
                <a:cubicBezTo>
                  <a:pt x="9555" y="85725"/>
                  <a:pt x="0" y="76170"/>
                  <a:pt x="0" y="64294"/>
                </a:cubicBezTo>
                <a:close/>
                <a:moveTo>
                  <a:pt x="27146" y="268962"/>
                </a:moveTo>
                <a:cubicBezTo>
                  <a:pt x="37326" y="261283"/>
                  <a:pt x="49738" y="257175"/>
                  <a:pt x="62508" y="257175"/>
                </a:cubicBezTo>
                <a:lnTo>
                  <a:pt x="66883" y="257175"/>
                </a:lnTo>
                <a:cubicBezTo>
                  <a:pt x="96976" y="257175"/>
                  <a:pt x="121444" y="281642"/>
                  <a:pt x="121444" y="311735"/>
                </a:cubicBezTo>
                <a:cubicBezTo>
                  <a:pt x="121444" y="329238"/>
                  <a:pt x="113050" y="345579"/>
                  <a:pt x="98941" y="355848"/>
                </a:cubicBezTo>
                <a:lnTo>
                  <a:pt x="77510" y="371475"/>
                </a:lnTo>
                <a:lnTo>
                  <a:pt x="107156" y="371475"/>
                </a:lnTo>
                <a:cubicBezTo>
                  <a:pt x="119033" y="371475"/>
                  <a:pt x="128588" y="381030"/>
                  <a:pt x="128588" y="392906"/>
                </a:cubicBezTo>
                <a:cubicBezTo>
                  <a:pt x="128588" y="404783"/>
                  <a:pt x="119033" y="414338"/>
                  <a:pt x="107156" y="414338"/>
                </a:cubicBezTo>
                <a:lnTo>
                  <a:pt x="26164" y="414338"/>
                </a:lnTo>
                <a:cubicBezTo>
                  <a:pt x="11698" y="414338"/>
                  <a:pt x="0" y="402640"/>
                  <a:pt x="0" y="388174"/>
                </a:cubicBezTo>
                <a:cubicBezTo>
                  <a:pt x="0" y="379780"/>
                  <a:pt x="4018" y="371921"/>
                  <a:pt x="10805" y="367010"/>
                </a:cubicBezTo>
                <a:lnTo>
                  <a:pt x="73759" y="321201"/>
                </a:lnTo>
                <a:cubicBezTo>
                  <a:pt x="76795" y="318968"/>
                  <a:pt x="78581" y="315486"/>
                  <a:pt x="78581" y="311735"/>
                </a:cubicBezTo>
                <a:cubicBezTo>
                  <a:pt x="78581" y="305306"/>
                  <a:pt x="73313" y="300037"/>
                  <a:pt x="66883" y="300037"/>
                </a:cubicBezTo>
                <a:lnTo>
                  <a:pt x="62508" y="300038"/>
                </a:lnTo>
                <a:cubicBezTo>
                  <a:pt x="59025" y="300038"/>
                  <a:pt x="55632" y="301198"/>
                  <a:pt x="52864" y="303252"/>
                </a:cubicBezTo>
                <a:lnTo>
                  <a:pt x="34290" y="317183"/>
                </a:lnTo>
                <a:cubicBezTo>
                  <a:pt x="24825" y="324326"/>
                  <a:pt x="11430" y="322362"/>
                  <a:pt x="4286" y="312896"/>
                </a:cubicBezTo>
                <a:cubicBezTo>
                  <a:pt x="-2858" y="303431"/>
                  <a:pt x="-893" y="290036"/>
                  <a:pt x="8573" y="282893"/>
                </a:cubicBezTo>
                <a:lnTo>
                  <a:pt x="27146" y="268962"/>
                </a:lnTo>
                <a:close/>
                <a:moveTo>
                  <a:pt x="200025" y="57150"/>
                </a:moveTo>
                <a:lnTo>
                  <a:pt x="428625" y="57150"/>
                </a:lnTo>
                <a:cubicBezTo>
                  <a:pt x="444431" y="57150"/>
                  <a:pt x="457200" y="69919"/>
                  <a:pt x="457200" y="85725"/>
                </a:cubicBezTo>
                <a:cubicBezTo>
                  <a:pt x="457200" y="101531"/>
                  <a:pt x="444431" y="114300"/>
                  <a:pt x="428625" y="114300"/>
                </a:cubicBezTo>
                <a:lnTo>
                  <a:pt x="200025" y="114300"/>
                </a:lnTo>
                <a:cubicBezTo>
                  <a:pt x="184219" y="114300"/>
                  <a:pt x="171450" y="101531"/>
                  <a:pt x="171450" y="85725"/>
                </a:cubicBezTo>
                <a:cubicBezTo>
                  <a:pt x="171450" y="69919"/>
                  <a:pt x="184219" y="57150"/>
                  <a:pt x="200025" y="57150"/>
                </a:cubicBezTo>
                <a:close/>
                <a:moveTo>
                  <a:pt x="200025" y="200025"/>
                </a:moveTo>
                <a:lnTo>
                  <a:pt x="428625" y="200025"/>
                </a:lnTo>
                <a:cubicBezTo>
                  <a:pt x="444431" y="200025"/>
                  <a:pt x="457200" y="212794"/>
                  <a:pt x="457200" y="228600"/>
                </a:cubicBezTo>
                <a:cubicBezTo>
                  <a:pt x="457200" y="244406"/>
                  <a:pt x="444431" y="257175"/>
                  <a:pt x="428625" y="257175"/>
                </a:cubicBezTo>
                <a:lnTo>
                  <a:pt x="200025" y="257175"/>
                </a:lnTo>
                <a:cubicBezTo>
                  <a:pt x="184219" y="257175"/>
                  <a:pt x="171450" y="244406"/>
                  <a:pt x="171450" y="228600"/>
                </a:cubicBezTo>
                <a:cubicBezTo>
                  <a:pt x="171450" y="212794"/>
                  <a:pt x="184219" y="200025"/>
                  <a:pt x="200025" y="200025"/>
                </a:cubicBezTo>
                <a:close/>
                <a:moveTo>
                  <a:pt x="200025" y="342900"/>
                </a:moveTo>
                <a:lnTo>
                  <a:pt x="428625" y="342900"/>
                </a:lnTo>
                <a:cubicBezTo>
                  <a:pt x="444431" y="342900"/>
                  <a:pt x="457200" y="355669"/>
                  <a:pt x="457200" y="371475"/>
                </a:cubicBezTo>
                <a:cubicBezTo>
                  <a:pt x="457200" y="387281"/>
                  <a:pt x="444431" y="400050"/>
                  <a:pt x="428625" y="400050"/>
                </a:cubicBezTo>
                <a:lnTo>
                  <a:pt x="200025" y="400050"/>
                </a:lnTo>
                <a:cubicBezTo>
                  <a:pt x="184219" y="400050"/>
                  <a:pt x="171450" y="387281"/>
                  <a:pt x="171450" y="371475"/>
                </a:cubicBezTo>
                <a:cubicBezTo>
                  <a:pt x="171450" y="355669"/>
                  <a:pt x="184219" y="342900"/>
                  <a:pt x="200025" y="342900"/>
                </a:cubicBezTo>
                <a:close/>
              </a:path>
            </a:pathLst>
          </a:custGeom>
          <a:solidFill>
            <a:srgbClr val="A95EAF"/>
          </a:solidFill>
          <a:ln/>
        </p:spPr>
        <p:txBody>
          <a:bodyPr/>
          <a:lstStyle/>
          <a:p>
            <a:endParaRPr lang="zh-CN" altLang="en-US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12" name="Text 9"/>
          <p:cNvSpPr/>
          <p:nvPr/>
        </p:nvSpPr>
        <p:spPr>
          <a:xfrm>
            <a:off x="4288334" y="3683000"/>
            <a:ext cx="36195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3C3542"/>
                </a:solidFill>
                <a:latin typeface="KaiTi" panose="02010609060101010101" pitchFamily="49" charset="-122"/>
                <a:ea typeface="KaiTi" panose="02010609060101010101" pitchFamily="49" charset="-122"/>
                <a:cs typeface="Noto Sans SC" pitchFamily="34" charset="-120"/>
              </a:rPr>
              <a:t>稀疏索引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4307384" y="4089400"/>
            <a:ext cx="35814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3C3542"/>
                </a:solidFill>
                <a:latin typeface="KaiTi" panose="02010609060101010101" pitchFamily="49" charset="-122"/>
                <a:ea typeface="KaiTi" panose="02010609060101010101" pitchFamily="49" charset="-122"/>
                <a:cs typeface="Noto Sans SC" pitchFamily="34" charset="-120"/>
              </a:rPr>
              <a:t>每16条记录一个条目，平衡内存占用与定位精度，支持二分查找。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8043267" y="2870200"/>
            <a:ext cx="3898900" cy="1930400"/>
          </a:xfrm>
          <a:custGeom>
            <a:avLst/>
            <a:gdLst/>
            <a:ahLst/>
            <a:cxnLst/>
            <a:rect l="l" t="t" r="r" b="b"/>
            <a:pathLst>
              <a:path w="3898900" h="1930400">
                <a:moveTo>
                  <a:pt x="101597" y="0"/>
                </a:moveTo>
                <a:lnTo>
                  <a:pt x="3797303" y="0"/>
                </a:lnTo>
                <a:cubicBezTo>
                  <a:pt x="3853413" y="0"/>
                  <a:pt x="3898900" y="45487"/>
                  <a:pt x="3898900" y="101597"/>
                </a:cubicBezTo>
                <a:lnTo>
                  <a:pt x="3898900" y="1828803"/>
                </a:lnTo>
                <a:cubicBezTo>
                  <a:pt x="3898900" y="1884913"/>
                  <a:pt x="3853413" y="1930400"/>
                  <a:pt x="3797303" y="1930400"/>
                </a:cubicBezTo>
                <a:lnTo>
                  <a:pt x="101597" y="1930400"/>
                </a:lnTo>
                <a:cubicBezTo>
                  <a:pt x="45487" y="1930400"/>
                  <a:pt x="0" y="1884913"/>
                  <a:pt x="0" y="1828803"/>
                </a:cubicBezTo>
                <a:lnTo>
                  <a:pt x="0" y="101597"/>
                </a:lnTo>
                <a:cubicBezTo>
                  <a:pt x="0" y="45487"/>
                  <a:pt x="45487" y="0"/>
                  <a:pt x="101597" y="0"/>
                </a:cubicBezTo>
                <a:close/>
              </a:path>
            </a:pathLst>
          </a:custGeom>
          <a:solidFill>
            <a:srgbClr val="D3B9D7">
              <a:alpha val="25098"/>
            </a:srgbClr>
          </a:solidFill>
          <a:ln/>
        </p:spPr>
        <p:txBody>
          <a:bodyPr/>
          <a:lstStyle/>
          <a:p>
            <a:endParaRPr lang="zh-CN" altLang="en-US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15" name="Shape 12"/>
          <p:cNvSpPr/>
          <p:nvPr/>
        </p:nvSpPr>
        <p:spPr>
          <a:xfrm>
            <a:off x="9761934" y="30734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8575" y="57150"/>
                </a:moveTo>
                <a:cubicBezTo>
                  <a:pt x="17056" y="57150"/>
                  <a:pt x="6608" y="64115"/>
                  <a:pt x="2143" y="74831"/>
                </a:cubicBezTo>
                <a:cubicBezTo>
                  <a:pt x="-2322" y="85546"/>
                  <a:pt x="179" y="97780"/>
                  <a:pt x="8394" y="105906"/>
                </a:cubicBezTo>
                <a:lnTo>
                  <a:pt x="171450" y="269051"/>
                </a:lnTo>
                <a:lnTo>
                  <a:pt x="171450" y="371475"/>
                </a:lnTo>
                <a:cubicBezTo>
                  <a:pt x="171450" y="379065"/>
                  <a:pt x="174486" y="386298"/>
                  <a:pt x="179844" y="391656"/>
                </a:cubicBezTo>
                <a:lnTo>
                  <a:pt x="236994" y="448806"/>
                </a:lnTo>
                <a:cubicBezTo>
                  <a:pt x="245209" y="457021"/>
                  <a:pt x="257443" y="459432"/>
                  <a:pt x="268159" y="454968"/>
                </a:cubicBezTo>
                <a:cubicBezTo>
                  <a:pt x="278874" y="450503"/>
                  <a:pt x="285750" y="440144"/>
                  <a:pt x="285750" y="428625"/>
                </a:cubicBezTo>
                <a:lnTo>
                  <a:pt x="285750" y="269051"/>
                </a:lnTo>
                <a:lnTo>
                  <a:pt x="448806" y="105995"/>
                </a:lnTo>
                <a:cubicBezTo>
                  <a:pt x="457021" y="97780"/>
                  <a:pt x="459432" y="85546"/>
                  <a:pt x="454968" y="74831"/>
                </a:cubicBezTo>
                <a:cubicBezTo>
                  <a:pt x="450503" y="64115"/>
                  <a:pt x="440144" y="57150"/>
                  <a:pt x="428625" y="57150"/>
                </a:cubicBezTo>
                <a:lnTo>
                  <a:pt x="28575" y="57150"/>
                </a:lnTo>
                <a:close/>
              </a:path>
            </a:pathLst>
          </a:custGeom>
          <a:solidFill>
            <a:srgbClr val="A95EAF"/>
          </a:solidFill>
          <a:ln/>
        </p:spPr>
        <p:txBody>
          <a:bodyPr/>
          <a:lstStyle/>
          <a:p>
            <a:endParaRPr lang="zh-CN" altLang="en-US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8182967" y="3683000"/>
            <a:ext cx="36195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3C3542"/>
                </a:solidFill>
                <a:latin typeface="KaiTi" panose="02010609060101010101" pitchFamily="49" charset="-122"/>
                <a:ea typeface="KaiTi" panose="02010609060101010101" pitchFamily="49" charset="-122"/>
                <a:cs typeface="Noto Sans SC" pitchFamily="34" charset="-120"/>
              </a:rPr>
              <a:t>布隆过滤器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8202017" y="4089400"/>
            <a:ext cx="35814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3C3542"/>
                </a:solidFill>
                <a:latin typeface="KaiTi" panose="02010609060101010101" pitchFamily="49" charset="-122"/>
                <a:ea typeface="KaiTi" panose="02010609060101010101" pitchFamily="49" charset="-122"/>
                <a:cs typeface="Noto Sans SC" pitchFamily="34" charset="-120"/>
              </a:rPr>
              <a:t>1%误判率，常驻内存，可</a:t>
            </a:r>
            <a:r>
              <a:rPr lang="en-US" sz="1400" b="1" dirty="0">
                <a:solidFill>
                  <a:srgbClr val="3C3542"/>
                </a:solidFill>
                <a:latin typeface="KaiTi" panose="02010609060101010101" pitchFamily="49" charset="-122"/>
                <a:ea typeface="KaiTi" panose="02010609060101010101" pitchFamily="49" charset="-122"/>
                <a:cs typeface="Noto Sans SC" pitchFamily="34" charset="-120"/>
              </a:rPr>
              <a:t>减少90%以上</a:t>
            </a:r>
            <a:r>
              <a:rPr lang="en-US" sz="1400" dirty="0">
                <a:solidFill>
                  <a:srgbClr val="3C3542"/>
                </a:solidFill>
                <a:latin typeface="KaiTi" panose="02010609060101010101" pitchFamily="49" charset="-122"/>
                <a:ea typeface="KaiTi" panose="02010609060101010101" pitchFamily="49" charset="-122"/>
                <a:cs typeface="Noto Sans SC" pitchFamily="34" charset="-120"/>
              </a:rPr>
              <a:t>无效磁盘读取。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</p:spTree>
  </p:cSld>
  <p:clrMapOvr>
    <a:masterClrMapping/>
  </p:clrMapOvr>
  <p:transition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2"/>
          <p:cNvSpPr/>
          <p:nvPr/>
        </p:nvSpPr>
        <p:spPr>
          <a:xfrm>
            <a:off x="254000" y="1574800"/>
            <a:ext cx="57658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b="1" dirty="0">
                <a:solidFill>
                  <a:srgbClr val="8F5C9A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Leveled</a:t>
            </a:r>
            <a:r>
              <a:rPr lang="en-US" sz="3600" b="1" dirty="0">
                <a:solidFill>
                  <a:srgbClr val="8F5C9A"/>
                </a:solidFill>
                <a:latin typeface="KaiTi" panose="02010609060101010101" pitchFamily="49" charset="-122"/>
                <a:ea typeface="KaiTi" panose="02010609060101010101" pitchFamily="49" charset="-122"/>
                <a:cs typeface="Noto Sans SC" pitchFamily="34" charset="-120"/>
              </a:rPr>
              <a:t> </a:t>
            </a:r>
            <a:r>
              <a:rPr lang="en-US" sz="3600" b="1" dirty="0">
                <a:solidFill>
                  <a:srgbClr val="8F5C9A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vs. Tiered</a:t>
            </a:r>
            <a:r>
              <a:rPr lang="en-US" sz="3600" b="1" dirty="0">
                <a:solidFill>
                  <a:srgbClr val="8F5C9A"/>
                </a:solidFill>
                <a:latin typeface="KaiTi" panose="02010609060101010101" pitchFamily="49" charset="-122"/>
                <a:ea typeface="KaiTi" panose="02010609060101010101" pitchFamily="49" charset="-122"/>
                <a:cs typeface="Noto Sans SC" pitchFamily="34" charset="-120"/>
              </a:rPr>
              <a:t> 合并策略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6" name="Text 3"/>
          <p:cNvSpPr/>
          <p:nvPr/>
        </p:nvSpPr>
        <p:spPr>
          <a:xfrm>
            <a:off x="254000" y="2794000"/>
            <a:ext cx="5638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3C3542"/>
                </a:solidFill>
                <a:latin typeface="KaiTi" panose="02010609060101010101" pitchFamily="49" charset="-122"/>
                <a:ea typeface="KaiTi" panose="02010609060101010101" pitchFamily="49" charset="-122"/>
                <a:cs typeface="Noto Sans SC" pitchFamily="34" charset="-120"/>
              </a:rPr>
              <a:t>两种合并策略在读写放大之间做出不同权衡。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7" name="Shape 4"/>
          <p:cNvSpPr/>
          <p:nvPr/>
        </p:nvSpPr>
        <p:spPr>
          <a:xfrm>
            <a:off x="254000" y="3302000"/>
            <a:ext cx="5537200" cy="914400"/>
          </a:xfrm>
          <a:custGeom>
            <a:avLst/>
            <a:gdLst/>
            <a:ahLst/>
            <a:cxnLst/>
            <a:rect l="l" t="t" r="r" b="b"/>
            <a:pathLst>
              <a:path w="5537200" h="914400">
                <a:moveTo>
                  <a:pt x="101599" y="0"/>
                </a:moveTo>
                <a:lnTo>
                  <a:pt x="5435601" y="0"/>
                </a:lnTo>
                <a:cubicBezTo>
                  <a:pt x="5491713" y="0"/>
                  <a:pt x="5537200" y="45487"/>
                  <a:pt x="5537200" y="101599"/>
                </a:cubicBezTo>
                <a:lnTo>
                  <a:pt x="5537200" y="812801"/>
                </a:lnTo>
                <a:cubicBezTo>
                  <a:pt x="5537200" y="868913"/>
                  <a:pt x="5491713" y="914400"/>
                  <a:pt x="5435601" y="914400"/>
                </a:cubicBezTo>
                <a:lnTo>
                  <a:pt x="101599" y="914400"/>
                </a:lnTo>
                <a:cubicBezTo>
                  <a:pt x="45487" y="914400"/>
                  <a:pt x="0" y="868913"/>
                  <a:pt x="0" y="812801"/>
                </a:cubicBezTo>
                <a:lnTo>
                  <a:pt x="0" y="101599"/>
                </a:lnTo>
                <a:cubicBezTo>
                  <a:pt x="0" y="45525"/>
                  <a:pt x="45525" y="0"/>
                  <a:pt x="101599" y="0"/>
                </a:cubicBezTo>
                <a:close/>
              </a:path>
            </a:pathLst>
          </a:custGeom>
          <a:solidFill>
            <a:srgbClr val="60A39A">
              <a:alpha val="25098"/>
            </a:srgbClr>
          </a:solidFill>
          <a:ln/>
        </p:spPr>
        <p:txBody>
          <a:bodyPr/>
          <a:lstStyle/>
          <a:p>
            <a:endParaRPr lang="zh-CN" altLang="en-US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8" name="Text 5"/>
          <p:cNvSpPr/>
          <p:nvPr/>
        </p:nvSpPr>
        <p:spPr>
          <a:xfrm>
            <a:off x="406400" y="3454400"/>
            <a:ext cx="53467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60A39A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Leveled</a:t>
            </a:r>
            <a:r>
              <a:rPr lang="en-US" sz="1800" b="1" dirty="0">
                <a:solidFill>
                  <a:srgbClr val="60A39A"/>
                </a:solidFill>
                <a:latin typeface="KaiTi" panose="02010609060101010101" pitchFamily="49" charset="-122"/>
                <a:ea typeface="KaiTi" panose="02010609060101010101" pitchFamily="49" charset="-122"/>
                <a:cs typeface="Noto Sans SC" pitchFamily="34" charset="-120"/>
              </a:rPr>
              <a:t> (</a:t>
            </a:r>
            <a:r>
              <a:rPr lang="en-US" sz="1800" b="1" dirty="0">
                <a:solidFill>
                  <a:srgbClr val="60A39A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Bigtable</a:t>
            </a:r>
            <a:r>
              <a:rPr lang="en-US" sz="1800" b="1" dirty="0">
                <a:solidFill>
                  <a:srgbClr val="60A39A"/>
                </a:solidFill>
                <a:latin typeface="KaiTi" panose="02010609060101010101" pitchFamily="49" charset="-122"/>
                <a:ea typeface="KaiTi" panose="02010609060101010101" pitchFamily="49" charset="-122"/>
                <a:cs typeface="Noto Sans SC" pitchFamily="34" charset="-120"/>
              </a:rPr>
              <a:t>默认)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9" name="Text 6"/>
          <p:cNvSpPr/>
          <p:nvPr/>
        </p:nvSpPr>
        <p:spPr>
          <a:xfrm>
            <a:off x="406400" y="3810000"/>
            <a:ext cx="53213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3C3542"/>
                </a:solidFill>
                <a:latin typeface="KaiTi" panose="02010609060101010101" pitchFamily="49" charset="-122"/>
                <a:ea typeface="KaiTi" panose="02010609060101010101" pitchFamily="49" charset="-122"/>
                <a:cs typeface="Noto Sans SC" pitchFamily="34" charset="-120"/>
              </a:rPr>
              <a:t>每层文件不重叠，</a:t>
            </a:r>
            <a:r>
              <a:rPr lang="en-US" sz="1400" b="1" dirty="0">
                <a:solidFill>
                  <a:srgbClr val="3C3542"/>
                </a:solidFill>
                <a:latin typeface="KaiTi" panose="02010609060101010101" pitchFamily="49" charset="-122"/>
                <a:ea typeface="KaiTi" panose="02010609060101010101" pitchFamily="49" charset="-122"/>
                <a:cs typeface="Noto Sans SC" pitchFamily="34" charset="-120"/>
              </a:rPr>
              <a:t>读放大低</a:t>
            </a:r>
            <a:r>
              <a:rPr lang="en-US" sz="1400" dirty="0">
                <a:solidFill>
                  <a:srgbClr val="3C3542"/>
                </a:solidFill>
                <a:latin typeface="KaiTi" panose="02010609060101010101" pitchFamily="49" charset="-122"/>
                <a:ea typeface="KaiTi" panose="02010609060101010101" pitchFamily="49" charset="-122"/>
                <a:cs typeface="Noto Sans SC" pitchFamily="34" charset="-120"/>
              </a:rPr>
              <a:t>但写放大高，适合读多写少。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254000" y="4368800"/>
            <a:ext cx="5537200" cy="914400"/>
          </a:xfrm>
          <a:custGeom>
            <a:avLst/>
            <a:gdLst/>
            <a:ahLst/>
            <a:cxnLst/>
            <a:rect l="l" t="t" r="r" b="b"/>
            <a:pathLst>
              <a:path w="5537200" h="914400">
                <a:moveTo>
                  <a:pt x="101599" y="0"/>
                </a:moveTo>
                <a:lnTo>
                  <a:pt x="5435601" y="0"/>
                </a:lnTo>
                <a:cubicBezTo>
                  <a:pt x="5491713" y="0"/>
                  <a:pt x="5537200" y="45487"/>
                  <a:pt x="5537200" y="101599"/>
                </a:cubicBezTo>
                <a:lnTo>
                  <a:pt x="5537200" y="812801"/>
                </a:lnTo>
                <a:cubicBezTo>
                  <a:pt x="5537200" y="868913"/>
                  <a:pt x="5491713" y="914400"/>
                  <a:pt x="5435601" y="914400"/>
                </a:cubicBezTo>
                <a:lnTo>
                  <a:pt x="101599" y="914400"/>
                </a:lnTo>
                <a:cubicBezTo>
                  <a:pt x="45487" y="914400"/>
                  <a:pt x="0" y="868913"/>
                  <a:pt x="0" y="812801"/>
                </a:cubicBezTo>
                <a:lnTo>
                  <a:pt x="0" y="101599"/>
                </a:lnTo>
                <a:cubicBezTo>
                  <a:pt x="0" y="45525"/>
                  <a:pt x="45525" y="0"/>
                  <a:pt x="101599" y="0"/>
                </a:cubicBezTo>
                <a:close/>
              </a:path>
            </a:pathLst>
          </a:custGeom>
          <a:solidFill>
            <a:srgbClr val="D3B9D7">
              <a:alpha val="25098"/>
            </a:srgbClr>
          </a:solidFill>
          <a:ln/>
        </p:spPr>
        <p:txBody>
          <a:bodyPr/>
          <a:lstStyle/>
          <a:p>
            <a:endParaRPr lang="zh-CN" altLang="en-US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11" name="Text 8"/>
          <p:cNvSpPr/>
          <p:nvPr/>
        </p:nvSpPr>
        <p:spPr>
          <a:xfrm>
            <a:off x="406400" y="4521200"/>
            <a:ext cx="53467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A95EAF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Tiered</a:t>
            </a:r>
            <a:endParaRPr lang="en-US" sz="1600" dirty="0">
              <a:latin typeface="Calibri" panose="020F0502020204030204" pitchFamily="34" charset="0"/>
              <a:ea typeface="KaiTi" panose="02010609060101010101" pitchFamily="49" charset="-122"/>
              <a:cs typeface="Calibri" panose="020F0502020204030204" pitchFamily="34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406400" y="4876800"/>
            <a:ext cx="53213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3C3542"/>
                </a:solidFill>
                <a:latin typeface="KaiTi" panose="02010609060101010101" pitchFamily="49" charset="-122"/>
                <a:ea typeface="KaiTi" panose="02010609060101010101" pitchFamily="49" charset="-122"/>
                <a:cs typeface="Noto Sans SC" pitchFamily="34" charset="-120"/>
              </a:rPr>
              <a:t>同层多文件重叠，</a:t>
            </a:r>
            <a:r>
              <a:rPr lang="en-US" sz="1400" b="1" dirty="0">
                <a:solidFill>
                  <a:srgbClr val="3C3542"/>
                </a:solidFill>
                <a:latin typeface="KaiTi" panose="02010609060101010101" pitchFamily="49" charset="-122"/>
                <a:ea typeface="KaiTi" panose="02010609060101010101" pitchFamily="49" charset="-122"/>
                <a:cs typeface="Noto Sans SC" pitchFamily="34" charset="-120"/>
              </a:rPr>
              <a:t>写放大低</a:t>
            </a:r>
            <a:r>
              <a:rPr lang="en-US" sz="1400" dirty="0">
                <a:solidFill>
                  <a:srgbClr val="3C3542"/>
                </a:solidFill>
                <a:latin typeface="KaiTi" panose="02010609060101010101" pitchFamily="49" charset="-122"/>
                <a:ea typeface="KaiTi" panose="02010609060101010101" pitchFamily="49" charset="-122"/>
                <a:cs typeface="Noto Sans SC" pitchFamily="34" charset="-120"/>
              </a:rPr>
              <a:t>但读需检查更多文件，适合写多读少。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6E650673-D19E-3F3B-38F5-52B5A79292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2200" y="1978025"/>
            <a:ext cx="5784479" cy="391795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 rot="5940000">
            <a:off x="367665" y="335915"/>
            <a:ext cx="558800" cy="59499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t"/>
          <a:lstStyle/>
          <a:p>
            <a:pPr>
              <a:lnSpc>
                <a:spcPct val="100000"/>
              </a:lnSpc>
            </a:pP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5" name="Text 2"/>
          <p:cNvSpPr/>
          <p:nvPr/>
        </p:nvSpPr>
        <p:spPr>
          <a:xfrm>
            <a:off x="139700" y="2235200"/>
            <a:ext cx="11912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3600" b="1" dirty="0">
                <a:solidFill>
                  <a:srgbClr val="8F5C9A"/>
                </a:solidFill>
                <a:latin typeface="KaiTi" panose="02010609060101010101" pitchFamily="49" charset="-122"/>
                <a:ea typeface="KaiTi" panose="02010609060101010101" pitchFamily="49" charset="-122"/>
                <a:cs typeface="Noto Sans SC" pitchFamily="34" charset="-120"/>
              </a:rPr>
              <a:t>后台</a:t>
            </a:r>
            <a:r>
              <a:rPr lang="en-US" sz="3600" b="1" dirty="0">
                <a:solidFill>
                  <a:srgbClr val="8F5C9A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Compaction</a:t>
            </a:r>
            <a:r>
              <a:rPr lang="en-US" sz="3600" b="1" dirty="0">
                <a:solidFill>
                  <a:srgbClr val="8F5C9A"/>
                </a:solidFill>
                <a:latin typeface="KaiTi" panose="02010609060101010101" pitchFamily="49" charset="-122"/>
                <a:ea typeface="KaiTi" panose="02010609060101010101" pitchFamily="49" charset="-122"/>
                <a:cs typeface="Noto Sans SC" pitchFamily="34" charset="-120"/>
              </a:rPr>
              <a:t>流控与资源隔离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6" name="Shape 3"/>
          <p:cNvSpPr/>
          <p:nvPr/>
        </p:nvSpPr>
        <p:spPr>
          <a:xfrm>
            <a:off x="254000" y="3048000"/>
            <a:ext cx="5689600" cy="1574800"/>
          </a:xfrm>
          <a:custGeom>
            <a:avLst/>
            <a:gdLst/>
            <a:ahLst/>
            <a:cxnLst/>
            <a:rect l="l" t="t" r="r" b="b"/>
            <a:pathLst>
              <a:path w="5689600" h="1574800">
                <a:moveTo>
                  <a:pt x="101606" y="0"/>
                </a:moveTo>
                <a:lnTo>
                  <a:pt x="5587994" y="0"/>
                </a:lnTo>
                <a:cubicBezTo>
                  <a:pt x="5644109" y="0"/>
                  <a:pt x="5689600" y="45491"/>
                  <a:pt x="5689600" y="101606"/>
                </a:cubicBezTo>
                <a:lnTo>
                  <a:pt x="5689600" y="1473194"/>
                </a:lnTo>
                <a:cubicBezTo>
                  <a:pt x="5689600" y="1529309"/>
                  <a:pt x="5644109" y="1574800"/>
                  <a:pt x="5587994" y="1574800"/>
                </a:cubicBezTo>
                <a:lnTo>
                  <a:pt x="101606" y="1574800"/>
                </a:lnTo>
                <a:cubicBezTo>
                  <a:pt x="45491" y="1574800"/>
                  <a:pt x="0" y="1529309"/>
                  <a:pt x="0" y="1473194"/>
                </a:cubicBezTo>
                <a:lnTo>
                  <a:pt x="0" y="101606"/>
                </a:lnTo>
                <a:cubicBezTo>
                  <a:pt x="0" y="45528"/>
                  <a:pt x="45528" y="0"/>
                  <a:pt x="101606" y="0"/>
                </a:cubicBezTo>
                <a:close/>
              </a:path>
            </a:pathLst>
          </a:custGeom>
          <a:solidFill>
            <a:srgbClr val="D3B9D7">
              <a:alpha val="25098"/>
            </a:srgbClr>
          </a:solidFill>
          <a:ln/>
        </p:spPr>
        <p:txBody>
          <a:bodyPr/>
          <a:lstStyle/>
          <a:p>
            <a:endParaRPr lang="zh-CN" altLang="en-US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7" name="Text 4"/>
          <p:cNvSpPr/>
          <p:nvPr/>
        </p:nvSpPr>
        <p:spPr>
          <a:xfrm>
            <a:off x="558800" y="3352800"/>
            <a:ext cx="5207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3C3542"/>
                </a:solidFill>
                <a:latin typeface="KaiTi" panose="02010609060101010101" pitchFamily="49" charset="-122"/>
                <a:ea typeface="KaiTi" panose="02010609060101010101" pitchFamily="49" charset="-122"/>
                <a:cs typeface="Noto Sans SC" pitchFamily="34" charset="-120"/>
              </a:rPr>
              <a:t>动态流控算法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8" name="Text 5"/>
          <p:cNvSpPr/>
          <p:nvPr/>
        </p:nvSpPr>
        <p:spPr>
          <a:xfrm>
            <a:off x="558800" y="3810000"/>
            <a:ext cx="51689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3C3542"/>
                </a:solidFill>
                <a:latin typeface="KaiTi" panose="02010609060101010101" pitchFamily="49" charset="-122"/>
                <a:ea typeface="KaiTi" panose="02010609060101010101" pitchFamily="49" charset="-122"/>
                <a:cs typeface="Noto Sans SC" pitchFamily="34" charset="-120"/>
              </a:rPr>
              <a:t>基于令牌桶算法，当写吞吐下降超阈值时，自动降低</a:t>
            </a:r>
            <a:r>
              <a:rPr lang="en-US" sz="1400" dirty="0">
                <a:solidFill>
                  <a:srgbClr val="3C3542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Compaction</a:t>
            </a:r>
            <a:r>
              <a:rPr lang="en-US" sz="1400" dirty="0">
                <a:solidFill>
                  <a:srgbClr val="3C3542"/>
                </a:solidFill>
                <a:latin typeface="KaiTi" panose="02010609060101010101" pitchFamily="49" charset="-122"/>
                <a:ea typeface="KaiTi" panose="02010609060101010101" pitchFamily="49" charset="-122"/>
                <a:cs typeface="Noto Sans SC" pitchFamily="34" charset="-120"/>
              </a:rPr>
              <a:t>并发，</a:t>
            </a:r>
            <a:r>
              <a:rPr lang="en-US" sz="1400" b="1" dirty="0">
                <a:solidFill>
                  <a:srgbClr val="3C3542"/>
                </a:solidFill>
                <a:latin typeface="KaiTi" panose="02010609060101010101" pitchFamily="49" charset="-122"/>
                <a:ea typeface="KaiTi" panose="02010609060101010101" pitchFamily="49" charset="-122"/>
                <a:cs typeface="Noto Sans SC" pitchFamily="34" charset="-120"/>
              </a:rPr>
              <a:t>避免写入被饿死</a:t>
            </a:r>
            <a:r>
              <a:rPr lang="en-US" sz="1400" dirty="0">
                <a:solidFill>
                  <a:srgbClr val="3C3542"/>
                </a:solidFill>
                <a:latin typeface="KaiTi" panose="02010609060101010101" pitchFamily="49" charset="-122"/>
                <a:ea typeface="KaiTi" panose="02010609060101010101" pitchFamily="49" charset="-122"/>
                <a:cs typeface="Noto Sans SC" pitchFamily="34" charset="-120"/>
              </a:rPr>
              <a:t>。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9" name="Shape 6"/>
          <p:cNvSpPr/>
          <p:nvPr/>
        </p:nvSpPr>
        <p:spPr>
          <a:xfrm>
            <a:off x="6248400" y="3048000"/>
            <a:ext cx="5689600" cy="1574800"/>
          </a:xfrm>
          <a:custGeom>
            <a:avLst/>
            <a:gdLst/>
            <a:ahLst/>
            <a:cxnLst/>
            <a:rect l="l" t="t" r="r" b="b"/>
            <a:pathLst>
              <a:path w="5689600" h="1574800">
                <a:moveTo>
                  <a:pt x="101606" y="0"/>
                </a:moveTo>
                <a:lnTo>
                  <a:pt x="5587994" y="0"/>
                </a:lnTo>
                <a:cubicBezTo>
                  <a:pt x="5644109" y="0"/>
                  <a:pt x="5689600" y="45491"/>
                  <a:pt x="5689600" y="101606"/>
                </a:cubicBezTo>
                <a:lnTo>
                  <a:pt x="5689600" y="1473194"/>
                </a:lnTo>
                <a:cubicBezTo>
                  <a:pt x="5689600" y="1529309"/>
                  <a:pt x="5644109" y="1574800"/>
                  <a:pt x="5587994" y="1574800"/>
                </a:cubicBezTo>
                <a:lnTo>
                  <a:pt x="101606" y="1574800"/>
                </a:lnTo>
                <a:cubicBezTo>
                  <a:pt x="45491" y="1574800"/>
                  <a:pt x="0" y="1529309"/>
                  <a:pt x="0" y="1473194"/>
                </a:cubicBezTo>
                <a:lnTo>
                  <a:pt x="0" y="101606"/>
                </a:lnTo>
                <a:cubicBezTo>
                  <a:pt x="0" y="45528"/>
                  <a:pt x="45528" y="0"/>
                  <a:pt x="101606" y="0"/>
                </a:cubicBezTo>
                <a:close/>
              </a:path>
            </a:pathLst>
          </a:custGeom>
          <a:solidFill>
            <a:srgbClr val="60A39A">
              <a:alpha val="25098"/>
            </a:srgbClr>
          </a:solidFill>
          <a:ln/>
        </p:spPr>
        <p:txBody>
          <a:bodyPr/>
          <a:lstStyle/>
          <a:p>
            <a:endParaRPr lang="zh-CN" altLang="en-US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10" name="Text 7"/>
          <p:cNvSpPr/>
          <p:nvPr/>
        </p:nvSpPr>
        <p:spPr>
          <a:xfrm>
            <a:off x="6553200" y="3352800"/>
            <a:ext cx="5207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3C3542"/>
                </a:solidFill>
                <a:latin typeface="KaiTi" panose="02010609060101010101" pitchFamily="49" charset="-122"/>
                <a:ea typeface="KaiTi" panose="02010609060101010101" pitchFamily="49" charset="-122"/>
                <a:cs typeface="Noto Sans SC" pitchFamily="34" charset="-120"/>
              </a:rPr>
              <a:t>资源隔离 (</a:t>
            </a:r>
            <a:r>
              <a:rPr lang="en-US" sz="2000" b="1" dirty="0">
                <a:solidFill>
                  <a:srgbClr val="3C3542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cgroup</a:t>
            </a:r>
            <a:r>
              <a:rPr lang="en-US" sz="2000" b="1" dirty="0">
                <a:solidFill>
                  <a:srgbClr val="3C3542"/>
                </a:solidFill>
                <a:latin typeface="KaiTi" panose="02010609060101010101" pitchFamily="49" charset="-122"/>
                <a:ea typeface="KaiTi" panose="02010609060101010101" pitchFamily="49" charset="-122"/>
                <a:cs typeface="Noto Sans SC" pitchFamily="34" charset="-120"/>
              </a:rPr>
              <a:t>)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11" name="Text 8"/>
          <p:cNvSpPr/>
          <p:nvPr/>
        </p:nvSpPr>
        <p:spPr>
          <a:xfrm>
            <a:off x="6553200" y="3810000"/>
            <a:ext cx="51689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3C3542"/>
                </a:solidFill>
                <a:latin typeface="KaiTi" panose="02010609060101010101" pitchFamily="49" charset="-122"/>
                <a:ea typeface="KaiTi" panose="02010609060101010101" pitchFamily="49" charset="-122"/>
                <a:cs typeface="Noto Sans SC" pitchFamily="34" charset="-120"/>
              </a:rPr>
              <a:t>限制</a:t>
            </a:r>
            <a:r>
              <a:rPr lang="en-US" sz="1400" dirty="0">
                <a:solidFill>
                  <a:srgbClr val="3C3542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Compaction</a:t>
            </a:r>
            <a:r>
              <a:rPr lang="en-US" sz="1400" dirty="0">
                <a:solidFill>
                  <a:srgbClr val="3C3542"/>
                </a:solidFill>
                <a:latin typeface="KaiTi" panose="02010609060101010101" pitchFamily="49" charset="-122"/>
                <a:ea typeface="KaiTi" panose="02010609060101010101" pitchFamily="49" charset="-122"/>
                <a:cs typeface="Noto Sans SC" pitchFamily="34" charset="-120"/>
              </a:rPr>
              <a:t>线程的</a:t>
            </a:r>
            <a:r>
              <a:rPr lang="en-US" sz="1400" dirty="0">
                <a:solidFill>
                  <a:srgbClr val="3C3542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CPU</a:t>
            </a:r>
            <a:r>
              <a:rPr lang="en-US" sz="1400" dirty="0">
                <a:solidFill>
                  <a:srgbClr val="3C3542"/>
                </a:solidFill>
                <a:latin typeface="KaiTi" panose="02010609060101010101" pitchFamily="49" charset="-122"/>
                <a:ea typeface="KaiTi" panose="02010609060101010101" pitchFamily="49" charset="-122"/>
                <a:cs typeface="Noto Sans SC" pitchFamily="34" charset="-120"/>
              </a:rPr>
              <a:t>和磁盘</a:t>
            </a:r>
            <a:r>
              <a:rPr lang="en-US" sz="1400" dirty="0">
                <a:solidFill>
                  <a:srgbClr val="3C3542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IO</a:t>
            </a:r>
            <a:r>
              <a:rPr lang="en-US" sz="1400" dirty="0">
                <a:solidFill>
                  <a:srgbClr val="3C3542"/>
                </a:solidFill>
                <a:latin typeface="KaiTi" panose="02010609060101010101" pitchFamily="49" charset="-122"/>
                <a:ea typeface="KaiTi" panose="02010609060101010101" pitchFamily="49" charset="-122"/>
                <a:cs typeface="Noto Sans SC" pitchFamily="34" charset="-120"/>
              </a:rPr>
              <a:t>，保障前台请求性能。实测P99写延迟在高负载场景下</a:t>
            </a:r>
            <a:r>
              <a:rPr lang="en-US" sz="1400" b="1" dirty="0">
                <a:solidFill>
                  <a:srgbClr val="3C3542"/>
                </a:solidFill>
                <a:latin typeface="KaiTi" panose="02010609060101010101" pitchFamily="49" charset="-122"/>
                <a:ea typeface="KaiTi" panose="02010609060101010101" pitchFamily="49" charset="-122"/>
                <a:cs typeface="Noto Sans SC" pitchFamily="34" charset="-120"/>
              </a:rPr>
              <a:t>下降30%</a:t>
            </a:r>
            <a:r>
              <a:rPr lang="en-US" sz="1400" dirty="0">
                <a:solidFill>
                  <a:srgbClr val="3C3542"/>
                </a:solidFill>
                <a:latin typeface="KaiTi" panose="02010609060101010101" pitchFamily="49" charset="-122"/>
                <a:ea typeface="KaiTi" panose="02010609060101010101" pitchFamily="49" charset="-122"/>
                <a:cs typeface="Noto Sans SC" pitchFamily="34" charset="-120"/>
              </a:rPr>
              <a:t>。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</p:spTree>
  </p:cSld>
  <p:clrMapOvr>
    <a:masterClrMapping/>
  </p:clrMapOvr>
  <p:transition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4445" y="0"/>
            <a:ext cx="12187555" cy="6875780"/>
          </a:xfrm>
          <a:prstGeom prst="rect">
            <a:avLst/>
          </a:prstGeom>
          <a:gradFill flip="none" rotWithShape="1">
            <a:gsLst>
              <a:gs pos="0">
                <a:srgbClr val="D7B1D4"/>
              </a:gs>
              <a:gs pos="34000">
                <a:srgbClr val="BC7DB7"/>
              </a:gs>
              <a:gs pos="100000">
                <a:srgbClr val="30225F"/>
              </a:gs>
            </a:gsLst>
            <a:lin ang="13500000" scaled="1"/>
          </a:gradFill>
          <a:ln/>
        </p:spPr>
        <p:txBody>
          <a:bodyPr/>
          <a:lstStyle/>
          <a:p>
            <a:endParaRPr lang="zh-CN" altLang="en-US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5" name="Text 3"/>
          <p:cNvSpPr/>
          <p:nvPr/>
        </p:nvSpPr>
        <p:spPr>
          <a:xfrm>
            <a:off x="4445" y="0"/>
            <a:ext cx="12187555" cy="68757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1727190" y="6306820"/>
            <a:ext cx="10080000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852805" y="6177280"/>
            <a:ext cx="259080" cy="25908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852805" y="6177280"/>
            <a:ext cx="259080" cy="2590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979805" y="6177280"/>
            <a:ext cx="259080" cy="259080"/>
          </a:xfrm>
          <a:prstGeom prst="ellipse">
            <a:avLst/>
          </a:prstGeom>
          <a:solidFill>
            <a:srgbClr val="000000">
              <a:alpha val="0"/>
            </a:srgbClr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979805" y="6177280"/>
            <a:ext cx="259080" cy="2590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1863725" y="2687320"/>
            <a:ext cx="8464550" cy="230695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zh-CN" altLang="en-US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1863725" y="2687320"/>
            <a:ext cx="8464550" cy="230695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t"/>
          <a:lstStyle/>
          <a:p>
            <a:pPr algn="ctr">
              <a:lnSpc>
                <a:spcPct val="100000"/>
              </a:lnSpc>
            </a:pPr>
            <a:r>
              <a:rPr lang="en-US" sz="7200" b="1" dirty="0">
                <a:solidFill>
                  <a:srgbClr val="FFFFFF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生产实战：全球网站内容存储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2515235" y="1350010"/>
            <a:ext cx="7161530" cy="1200329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7200" dirty="0">
                <a:solidFill>
                  <a:srgbClr val="FFFFFF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06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</p:spTree>
  </p:cSld>
  <p:clrMapOvr>
    <a:masterClrMapping/>
  </p:clrMapOvr>
  <p:transition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2"/>
          <p:cNvSpPr/>
          <p:nvPr/>
        </p:nvSpPr>
        <p:spPr>
          <a:xfrm>
            <a:off x="2335771" y="1879600"/>
            <a:ext cx="7520459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3600" b="1" dirty="0">
                <a:solidFill>
                  <a:srgbClr val="8F5C9A"/>
                </a:solidFill>
                <a:latin typeface="KaiTi" panose="02010609060101010101" pitchFamily="49" charset="-122"/>
                <a:ea typeface="KaiTi" panose="02010609060101010101" pitchFamily="49" charset="-122"/>
                <a:cs typeface="Noto Sans SC" pitchFamily="34" charset="-120"/>
              </a:rPr>
              <a:t>生产实战：全球网站内容存储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7" name="Text 3"/>
          <p:cNvSpPr/>
          <p:nvPr/>
        </p:nvSpPr>
        <p:spPr>
          <a:xfrm>
            <a:off x="3263900" y="3098800"/>
            <a:ext cx="56642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A95EAF"/>
                </a:solidFill>
                <a:latin typeface="KaiTi" panose="02010609060101010101" pitchFamily="49" charset="-122"/>
                <a:ea typeface="KaiTi" panose="02010609060101010101" pitchFamily="49" charset="-122"/>
                <a:cs typeface="Noto Sans SC" pitchFamily="34" charset="-120"/>
              </a:rPr>
              <a:t>业务场景：PB级网页内容存储与毫秒级查询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8" name="Text 4"/>
          <p:cNvSpPr/>
          <p:nvPr/>
        </p:nvSpPr>
        <p:spPr>
          <a:xfrm>
            <a:off x="3616497" y="3657600"/>
            <a:ext cx="4959007" cy="1705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54000" indent="-25400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600" b="1" dirty="0">
                <a:solidFill>
                  <a:srgbClr val="3C3542"/>
                </a:solidFill>
                <a:latin typeface="KaiTi" panose="02010609060101010101" pitchFamily="49" charset="-122"/>
                <a:ea typeface="KaiTi" panose="02010609060101010101" pitchFamily="49" charset="-122"/>
                <a:cs typeface="Noto Sans SC" pitchFamily="34" charset="-120"/>
              </a:rPr>
              <a:t>海量写入:</a:t>
            </a:r>
            <a:r>
              <a:rPr lang="en-US" sz="1600" dirty="0">
                <a:solidFill>
                  <a:srgbClr val="3C3542"/>
                </a:solidFill>
                <a:latin typeface="KaiTi" panose="02010609060101010101" pitchFamily="49" charset="-122"/>
                <a:ea typeface="KaiTi" panose="02010609060101010101" pitchFamily="49" charset="-122"/>
                <a:cs typeface="Noto Sans SC" pitchFamily="34" charset="-120"/>
              </a:rPr>
              <a:t> 日均120亿网页，峰值15万 writes/s。</a:t>
            </a:r>
            <a:endParaRPr lang="en-US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 marL="254000" indent="-25400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600" b="1" dirty="0">
                <a:solidFill>
                  <a:srgbClr val="3C3542"/>
                </a:solidFill>
                <a:latin typeface="KaiTi" panose="02010609060101010101" pitchFamily="49" charset="-122"/>
                <a:ea typeface="KaiTi" panose="02010609060101010101" pitchFamily="49" charset="-122"/>
                <a:cs typeface="Noto Sans SC" pitchFamily="34" charset="-120"/>
              </a:rPr>
              <a:t>低延迟查询:</a:t>
            </a:r>
            <a:r>
              <a:rPr lang="en-US" sz="1600" dirty="0">
                <a:solidFill>
                  <a:srgbClr val="3C3542"/>
                </a:solidFill>
                <a:latin typeface="KaiTi" panose="02010609060101010101" pitchFamily="49" charset="-122"/>
                <a:ea typeface="KaiTi" panose="02010609060101010101" pitchFamily="49" charset="-122"/>
                <a:cs typeface="Noto Sans SC" pitchFamily="34" charset="-120"/>
              </a:rPr>
              <a:t> P99读延迟 &lt; 80ms，支撑毫秒级搜索。</a:t>
            </a:r>
            <a:endParaRPr lang="en-US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 marL="254000" indent="-25400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600" b="1" dirty="0">
                <a:solidFill>
                  <a:srgbClr val="3C3542"/>
                </a:solidFill>
                <a:latin typeface="KaiTi" panose="02010609060101010101" pitchFamily="49" charset="-122"/>
                <a:ea typeface="KaiTi" panose="02010609060101010101" pitchFamily="49" charset="-122"/>
                <a:cs typeface="Noto Sans SC" pitchFamily="34" charset="-120"/>
              </a:rPr>
              <a:t>数据规模:</a:t>
            </a:r>
            <a:r>
              <a:rPr lang="en-US" sz="1600" dirty="0">
                <a:solidFill>
                  <a:srgbClr val="3C3542"/>
                </a:solidFill>
                <a:latin typeface="KaiTi" panose="02010609060101010101" pitchFamily="49" charset="-122"/>
                <a:ea typeface="KaiTi" panose="02010609060101010101" pitchFamily="49" charset="-122"/>
                <a:cs typeface="Noto Sans SC" pitchFamily="34" charset="-120"/>
              </a:rPr>
              <a:t> 有效数据12PB，存储容量10PB+。</a:t>
            </a:r>
            <a:endParaRPr lang="en-US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 marL="254000" indent="-25400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600" b="1" dirty="0">
                <a:solidFill>
                  <a:srgbClr val="3C3542"/>
                </a:solidFill>
                <a:latin typeface="KaiTi" panose="02010609060101010101" pitchFamily="49" charset="-122"/>
                <a:ea typeface="KaiTi" panose="02010609060101010101" pitchFamily="49" charset="-122"/>
                <a:cs typeface="Noto Sans SC" pitchFamily="34" charset="-120"/>
              </a:rPr>
              <a:t>高可用性:</a:t>
            </a:r>
            <a:r>
              <a:rPr lang="en-US" sz="1600" dirty="0">
                <a:solidFill>
                  <a:srgbClr val="3C3542"/>
                </a:solidFill>
                <a:latin typeface="KaiTi" panose="02010609060101010101" pitchFamily="49" charset="-122"/>
                <a:ea typeface="KaiTi" panose="02010609060101010101" pitchFamily="49" charset="-122"/>
                <a:cs typeface="Noto Sans SC" pitchFamily="34" charset="-120"/>
              </a:rPr>
              <a:t> 全年可用性99.992%，数据持久性100%。</a:t>
            </a:r>
            <a:endParaRPr lang="en-US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</p:spTree>
  </p:cSld>
  <p:clrMapOvr>
    <a:masterClrMapping/>
  </p:clrMapOvr>
  <p:transition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2"/>
          <p:cNvSpPr/>
          <p:nvPr/>
        </p:nvSpPr>
        <p:spPr>
          <a:xfrm>
            <a:off x="139700" y="1320800"/>
            <a:ext cx="11912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3600" b="1" dirty="0">
                <a:solidFill>
                  <a:srgbClr val="8F5C9A"/>
                </a:solidFill>
                <a:latin typeface="KaiTi" panose="02010609060101010101" pitchFamily="49" charset="-122"/>
                <a:ea typeface="KaiTi" panose="02010609060101010101" pitchFamily="49" charset="-122"/>
                <a:cs typeface="Noto Sans SC" pitchFamily="34" charset="-120"/>
              </a:rPr>
              <a:t>数据模型与行键设计落地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6" name="Shape 3"/>
          <p:cNvSpPr/>
          <p:nvPr/>
        </p:nvSpPr>
        <p:spPr>
          <a:xfrm>
            <a:off x="254000" y="2032000"/>
            <a:ext cx="11684000" cy="1574800"/>
          </a:xfrm>
          <a:custGeom>
            <a:avLst/>
            <a:gdLst/>
            <a:ahLst/>
            <a:cxnLst/>
            <a:rect l="l" t="t" r="r" b="b"/>
            <a:pathLst>
              <a:path w="11684000" h="1574800">
                <a:moveTo>
                  <a:pt x="101606" y="0"/>
                </a:moveTo>
                <a:lnTo>
                  <a:pt x="11582394" y="0"/>
                </a:lnTo>
                <a:cubicBezTo>
                  <a:pt x="11638509" y="0"/>
                  <a:pt x="11684000" y="45491"/>
                  <a:pt x="11684000" y="101606"/>
                </a:cubicBezTo>
                <a:lnTo>
                  <a:pt x="11684000" y="1473194"/>
                </a:lnTo>
                <a:cubicBezTo>
                  <a:pt x="11684000" y="1529309"/>
                  <a:pt x="11638509" y="1574800"/>
                  <a:pt x="11582394" y="1574800"/>
                </a:cubicBezTo>
                <a:lnTo>
                  <a:pt x="101606" y="1574800"/>
                </a:lnTo>
                <a:cubicBezTo>
                  <a:pt x="45491" y="1574800"/>
                  <a:pt x="0" y="1529309"/>
                  <a:pt x="0" y="1473194"/>
                </a:cubicBezTo>
                <a:lnTo>
                  <a:pt x="0" y="101606"/>
                </a:lnTo>
                <a:cubicBezTo>
                  <a:pt x="0" y="45528"/>
                  <a:pt x="45528" y="0"/>
                  <a:pt x="101606" y="0"/>
                </a:cubicBezTo>
                <a:close/>
              </a:path>
            </a:pathLst>
          </a:custGeom>
          <a:solidFill>
            <a:srgbClr val="D3B9D7">
              <a:alpha val="25098"/>
            </a:srgbClr>
          </a:solidFill>
          <a:ln/>
        </p:spPr>
        <p:txBody>
          <a:bodyPr/>
          <a:lstStyle/>
          <a:p>
            <a:endParaRPr lang="zh-CN" altLang="en-US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7" name="Text 4"/>
          <p:cNvSpPr/>
          <p:nvPr/>
        </p:nvSpPr>
        <p:spPr>
          <a:xfrm>
            <a:off x="457200" y="2235200"/>
            <a:ext cx="113919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A95EAF"/>
                </a:solidFill>
                <a:latin typeface="KaiTi" panose="02010609060101010101" pitchFamily="49" charset="-122"/>
                <a:ea typeface="KaiTi" panose="02010609060101010101" pitchFamily="49" charset="-122"/>
                <a:cs typeface="Noto Sans SC" pitchFamily="34" charset="-120"/>
              </a:rPr>
              <a:t>表结构设计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8" name="Text 5"/>
          <p:cNvSpPr/>
          <p:nvPr/>
        </p:nvSpPr>
        <p:spPr>
          <a:xfrm>
            <a:off x="457200" y="2692400"/>
            <a:ext cx="37084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3C3542"/>
                </a:solidFill>
                <a:latin typeface="KaiTi" panose="02010609060101010101" pitchFamily="49" charset="-122"/>
                <a:ea typeface="KaiTi" panose="02010609060101010101" pitchFamily="49" charset="-122"/>
                <a:cs typeface="Noto Sans SC" pitchFamily="34" charset="-120"/>
              </a:rPr>
              <a:t>列族: </a:t>
            </a:r>
            <a:r>
              <a:rPr lang="en-US" sz="1400" b="1" dirty="0">
                <a:solidFill>
                  <a:srgbClr val="3C3542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content</a:t>
            </a:r>
            <a:endParaRPr lang="en-US" sz="1600" dirty="0">
              <a:latin typeface="Calibri" panose="020F0502020204030204" pitchFamily="34" charset="0"/>
              <a:ea typeface="KaiTi" panose="02010609060101010101" pitchFamily="49" charset="-122"/>
              <a:cs typeface="Calibri" panose="020F0502020204030204" pitchFamily="34" charset="0"/>
            </a:endParaRPr>
          </a:p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3C3542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html, text, snapshot</a:t>
            </a:r>
            <a:endParaRPr lang="en-US" sz="1600" dirty="0">
              <a:latin typeface="Calibri" panose="020F0502020204030204" pitchFamily="34" charset="0"/>
              <a:ea typeface="KaiTi" panose="02010609060101010101" pitchFamily="49" charset="-122"/>
              <a:cs typeface="Calibri" panose="020F0502020204030204" pitchFamily="34" charset="0"/>
            </a:endParaRPr>
          </a:p>
          <a:p>
            <a:pPr>
              <a:lnSpc>
                <a:spcPct val="120000"/>
              </a:lnSpc>
            </a:pPr>
            <a:r>
              <a:rPr lang="en-US" sz="1200" dirty="0">
                <a:solidFill>
                  <a:srgbClr val="3C3542"/>
                </a:solidFill>
                <a:latin typeface="KaiTi" panose="02010609060101010101" pitchFamily="49" charset="-122"/>
                <a:ea typeface="KaiTi" panose="02010609060101010101" pitchFamily="49" charset="-122"/>
                <a:cs typeface="Noto Sans SC" pitchFamily="34" charset="-120"/>
              </a:rPr>
              <a:t>(</a:t>
            </a:r>
            <a:r>
              <a:rPr lang="en-US" sz="1200" dirty="0">
                <a:solidFill>
                  <a:srgbClr val="3C3542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ZSTD</a:t>
            </a:r>
            <a:r>
              <a:rPr lang="en-US" sz="1200" dirty="0">
                <a:solidFill>
                  <a:srgbClr val="3C3542"/>
                </a:solidFill>
                <a:latin typeface="KaiTi" panose="02010609060101010101" pitchFamily="49" charset="-122"/>
                <a:ea typeface="KaiTi" panose="02010609060101010101" pitchFamily="49" charset="-122"/>
                <a:cs typeface="Noto Sans SC" pitchFamily="34" charset="-120"/>
              </a:rPr>
              <a:t>压缩)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9" name="Text 6"/>
          <p:cNvSpPr/>
          <p:nvPr/>
        </p:nvSpPr>
        <p:spPr>
          <a:xfrm>
            <a:off x="4284067" y="2692400"/>
            <a:ext cx="37084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3C3542"/>
                </a:solidFill>
                <a:latin typeface="KaiTi" panose="02010609060101010101" pitchFamily="49" charset="-122"/>
                <a:ea typeface="KaiTi" panose="02010609060101010101" pitchFamily="49" charset="-122"/>
                <a:cs typeface="Noto Sans SC" pitchFamily="34" charset="-120"/>
              </a:rPr>
              <a:t>列族: </a:t>
            </a:r>
            <a:r>
              <a:rPr lang="en-US" sz="1400" b="1" dirty="0">
                <a:solidFill>
                  <a:srgbClr val="3C3542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metadata</a:t>
            </a:r>
            <a:endParaRPr lang="en-US" sz="1600" dirty="0">
              <a:latin typeface="Calibri" panose="020F0502020204030204" pitchFamily="34" charset="0"/>
              <a:ea typeface="KaiTi" panose="02010609060101010101" pitchFamily="49" charset="-122"/>
              <a:cs typeface="Calibri" panose="020F0502020204030204" pitchFamily="34" charset="0"/>
            </a:endParaRPr>
          </a:p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3C3542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language, charset, last_modified</a:t>
            </a:r>
            <a:endParaRPr lang="en-US" sz="1600" dirty="0">
              <a:latin typeface="Calibri" panose="020F0502020204030204" pitchFamily="34" charset="0"/>
              <a:ea typeface="KaiTi" panose="02010609060101010101" pitchFamily="49" charset="-122"/>
              <a:cs typeface="Calibri" panose="020F0502020204030204" pitchFamily="34" charset="0"/>
            </a:endParaRPr>
          </a:p>
          <a:p>
            <a:pPr>
              <a:lnSpc>
                <a:spcPct val="120000"/>
              </a:lnSpc>
            </a:pPr>
            <a:r>
              <a:rPr lang="en-US" sz="1200" dirty="0">
                <a:solidFill>
                  <a:srgbClr val="3C3542"/>
                </a:solidFill>
                <a:latin typeface="KaiTi" panose="02010609060101010101" pitchFamily="49" charset="-122"/>
                <a:ea typeface="KaiTi" panose="02010609060101010101" pitchFamily="49" charset="-122"/>
                <a:cs typeface="Noto Sans SC" pitchFamily="34" charset="-120"/>
              </a:rPr>
              <a:t>(</a:t>
            </a:r>
            <a:r>
              <a:rPr lang="en-US" sz="1200" dirty="0">
                <a:solidFill>
                  <a:srgbClr val="3C3542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Snappy</a:t>
            </a:r>
            <a:r>
              <a:rPr lang="en-US" sz="1200" dirty="0">
                <a:solidFill>
                  <a:srgbClr val="3C3542"/>
                </a:solidFill>
                <a:latin typeface="KaiTi" panose="02010609060101010101" pitchFamily="49" charset="-122"/>
                <a:ea typeface="KaiTi" panose="02010609060101010101" pitchFamily="49" charset="-122"/>
                <a:cs typeface="Noto Sans SC" pitchFamily="34" charset="-120"/>
              </a:rPr>
              <a:t>压缩)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10" name="Text 7"/>
          <p:cNvSpPr/>
          <p:nvPr/>
        </p:nvSpPr>
        <p:spPr>
          <a:xfrm>
            <a:off x="8111034" y="2692400"/>
            <a:ext cx="37084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3C3542"/>
                </a:solidFill>
                <a:latin typeface="KaiTi" panose="02010609060101010101" pitchFamily="49" charset="-122"/>
                <a:ea typeface="KaiTi" panose="02010609060101010101" pitchFamily="49" charset="-122"/>
                <a:cs typeface="Noto Sans SC" pitchFamily="34" charset="-120"/>
              </a:rPr>
              <a:t>列族: </a:t>
            </a:r>
            <a:r>
              <a:rPr lang="en-US" sz="1400" b="1" dirty="0">
                <a:solidFill>
                  <a:srgbClr val="3C3542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index</a:t>
            </a:r>
            <a:endParaRPr lang="en-US" sz="1600" dirty="0">
              <a:latin typeface="Calibri" panose="020F0502020204030204" pitchFamily="34" charset="0"/>
              <a:ea typeface="KaiTi" panose="02010609060101010101" pitchFamily="49" charset="-122"/>
              <a:cs typeface="Calibri" panose="020F0502020204030204" pitchFamily="34" charset="0"/>
            </a:endParaRPr>
          </a:p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3C3542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title, keywords, entities</a:t>
            </a:r>
            <a:endParaRPr lang="en-US" sz="1600" dirty="0">
              <a:latin typeface="Calibri" panose="020F0502020204030204" pitchFamily="34" charset="0"/>
              <a:ea typeface="KaiTi" panose="02010609060101010101" pitchFamily="49" charset="-122"/>
              <a:cs typeface="Calibri" panose="020F0502020204030204" pitchFamily="34" charset="0"/>
            </a:endParaRPr>
          </a:p>
          <a:p>
            <a:pPr>
              <a:lnSpc>
                <a:spcPct val="120000"/>
              </a:lnSpc>
            </a:pPr>
            <a:r>
              <a:rPr lang="en-US" sz="1200" dirty="0">
                <a:solidFill>
                  <a:srgbClr val="3C3542"/>
                </a:solidFill>
                <a:latin typeface="KaiTi" panose="02010609060101010101" pitchFamily="49" charset="-122"/>
                <a:ea typeface="KaiTi" panose="02010609060101010101" pitchFamily="49" charset="-122"/>
                <a:cs typeface="Noto Sans SC" pitchFamily="34" charset="-120"/>
              </a:rPr>
              <a:t>(</a:t>
            </a:r>
            <a:r>
              <a:rPr lang="en-US" sz="1200" dirty="0">
                <a:solidFill>
                  <a:srgbClr val="3C3542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LZ4</a:t>
            </a:r>
            <a:r>
              <a:rPr lang="en-US" sz="1200" dirty="0">
                <a:solidFill>
                  <a:srgbClr val="3C3542"/>
                </a:solidFill>
                <a:latin typeface="KaiTi" panose="02010609060101010101" pitchFamily="49" charset="-122"/>
                <a:ea typeface="KaiTi" panose="02010609060101010101" pitchFamily="49" charset="-122"/>
                <a:cs typeface="Noto Sans SC" pitchFamily="34" charset="-120"/>
              </a:rPr>
              <a:t>压缩)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254000" y="3810000"/>
            <a:ext cx="11684000" cy="1727200"/>
          </a:xfrm>
          <a:custGeom>
            <a:avLst/>
            <a:gdLst/>
            <a:ahLst/>
            <a:cxnLst/>
            <a:rect l="l" t="t" r="r" b="b"/>
            <a:pathLst>
              <a:path w="11684000" h="1727200">
                <a:moveTo>
                  <a:pt x="101594" y="0"/>
                </a:moveTo>
                <a:lnTo>
                  <a:pt x="11582406" y="0"/>
                </a:lnTo>
                <a:cubicBezTo>
                  <a:pt x="11638515" y="0"/>
                  <a:pt x="11684000" y="45485"/>
                  <a:pt x="11684000" y="101594"/>
                </a:cubicBezTo>
                <a:lnTo>
                  <a:pt x="11684000" y="1625606"/>
                </a:lnTo>
                <a:cubicBezTo>
                  <a:pt x="11684000" y="1681715"/>
                  <a:pt x="11638515" y="1727200"/>
                  <a:pt x="11582406" y="1727200"/>
                </a:cubicBezTo>
                <a:lnTo>
                  <a:pt x="101594" y="1727200"/>
                </a:lnTo>
                <a:cubicBezTo>
                  <a:pt x="45485" y="1727200"/>
                  <a:pt x="0" y="1681715"/>
                  <a:pt x="0" y="1625606"/>
                </a:cubicBezTo>
                <a:lnTo>
                  <a:pt x="0" y="101594"/>
                </a:lnTo>
                <a:cubicBezTo>
                  <a:pt x="0" y="45523"/>
                  <a:pt x="45523" y="0"/>
                  <a:pt x="101594" y="0"/>
                </a:cubicBezTo>
                <a:close/>
              </a:path>
            </a:pathLst>
          </a:custGeom>
          <a:solidFill>
            <a:srgbClr val="D3B9D7">
              <a:alpha val="25098"/>
            </a:srgbClr>
          </a:solidFill>
          <a:ln/>
        </p:spPr>
        <p:txBody>
          <a:bodyPr/>
          <a:lstStyle/>
          <a:p>
            <a:endParaRPr lang="zh-CN" altLang="en-US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12" name="Text 9"/>
          <p:cNvSpPr/>
          <p:nvPr/>
        </p:nvSpPr>
        <p:spPr>
          <a:xfrm>
            <a:off x="457200" y="4013200"/>
            <a:ext cx="113919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A95EAF"/>
                </a:solidFill>
                <a:latin typeface="KaiTi" panose="02010609060101010101" pitchFamily="49" charset="-122"/>
                <a:ea typeface="KaiTi" panose="02010609060101010101" pitchFamily="49" charset="-122"/>
                <a:cs typeface="Noto Sans SC" pitchFamily="34" charset="-120"/>
              </a:rPr>
              <a:t>行键格式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406400" y="4470400"/>
            <a:ext cx="11379200" cy="50800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ctr">
              <a:lnSpc>
                <a:spcPct val="130000"/>
              </a:lnSpc>
            </a:pPr>
            <a:r>
              <a:rPr lang="en-US" sz="1600" dirty="0">
                <a:solidFill>
                  <a:srgbClr val="8F5C9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`[反转域名] + [路径SHA1(前8字节)] + [时间戳(微秒)]`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412750" y="5080000"/>
            <a:ext cx="11366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3C3542"/>
                </a:solidFill>
                <a:latin typeface="KaiTi" panose="02010609060101010101" pitchFamily="49" charset="-122"/>
                <a:ea typeface="KaiTi" panose="02010609060101010101" pitchFamily="49" charset="-122"/>
                <a:cs typeface="Noto Sans SC" pitchFamily="34" charset="-120"/>
              </a:rPr>
              <a:t>确保</a:t>
            </a:r>
            <a:r>
              <a:rPr lang="en-US" sz="1400" b="1" dirty="0">
                <a:solidFill>
                  <a:srgbClr val="3C3542"/>
                </a:solidFill>
                <a:latin typeface="KaiTi" panose="02010609060101010101" pitchFamily="49" charset="-122"/>
                <a:ea typeface="KaiTi" panose="02010609060101010101" pitchFamily="49" charset="-122"/>
                <a:cs typeface="Noto Sans SC" pitchFamily="34" charset="-120"/>
              </a:rPr>
              <a:t>同一站点数据相邻</a:t>
            </a:r>
            <a:r>
              <a:rPr lang="en-US" sz="1400" dirty="0">
                <a:solidFill>
                  <a:srgbClr val="3C3542"/>
                </a:solidFill>
                <a:latin typeface="KaiTi" panose="02010609060101010101" pitchFamily="49" charset="-122"/>
                <a:ea typeface="KaiTi" panose="02010609060101010101" pitchFamily="49" charset="-122"/>
                <a:cs typeface="Noto Sans SC" pitchFamily="34" charset="-120"/>
              </a:rPr>
              <a:t>，支持多版本与范围扫描，兼顾局部性与分散性。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</p:spTree>
  </p:cSld>
  <p:clrMapOvr>
    <a:masterClrMapping/>
  </p:clrMapOvr>
  <p:transition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2"/>
          <p:cNvSpPr/>
          <p:nvPr/>
        </p:nvSpPr>
        <p:spPr>
          <a:xfrm>
            <a:off x="139700" y="1612900"/>
            <a:ext cx="11912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3600" b="1" dirty="0">
                <a:solidFill>
                  <a:srgbClr val="8F5C9A"/>
                </a:solidFill>
                <a:latin typeface="KaiTi" panose="02010609060101010101" pitchFamily="49" charset="-122"/>
                <a:ea typeface="KaiTi" panose="02010609060101010101" pitchFamily="49" charset="-122"/>
                <a:cs typeface="Noto Sans SC" pitchFamily="34" charset="-120"/>
              </a:rPr>
              <a:t>写入管道：高吞吐实践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6" name="Shape 3"/>
          <p:cNvSpPr/>
          <p:nvPr/>
        </p:nvSpPr>
        <p:spPr>
          <a:xfrm>
            <a:off x="1316335" y="25273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274811" y="-23068"/>
                </a:moveTo>
                <a:cubicBezTo>
                  <a:pt x="283666" y="-25673"/>
                  <a:pt x="292968" y="-21059"/>
                  <a:pt x="296391" y="-12725"/>
                </a:cubicBezTo>
                <a:lnTo>
                  <a:pt x="296987" y="-11013"/>
                </a:lnTo>
                <a:lnTo>
                  <a:pt x="326752" y="90190"/>
                </a:lnTo>
                <a:cubicBezTo>
                  <a:pt x="328613" y="96441"/>
                  <a:pt x="326827" y="103212"/>
                  <a:pt x="322213" y="107826"/>
                </a:cubicBezTo>
                <a:lnTo>
                  <a:pt x="274513" y="155525"/>
                </a:lnTo>
                <a:lnTo>
                  <a:pt x="331366" y="140047"/>
                </a:lnTo>
                <a:lnTo>
                  <a:pt x="346174" y="95548"/>
                </a:lnTo>
                <a:lnTo>
                  <a:pt x="346844" y="93836"/>
                </a:lnTo>
                <a:cubicBezTo>
                  <a:pt x="350565" y="85576"/>
                  <a:pt x="360015" y="81335"/>
                  <a:pt x="368796" y="84237"/>
                </a:cubicBezTo>
                <a:cubicBezTo>
                  <a:pt x="377577" y="87139"/>
                  <a:pt x="382563" y="96217"/>
                  <a:pt x="380554" y="105073"/>
                </a:cubicBezTo>
                <a:lnTo>
                  <a:pt x="380033" y="106859"/>
                </a:lnTo>
                <a:lnTo>
                  <a:pt x="362173" y="160437"/>
                </a:lnTo>
                <a:cubicBezTo>
                  <a:pt x="360313" y="166092"/>
                  <a:pt x="355699" y="170408"/>
                  <a:pt x="349895" y="172045"/>
                </a:cubicBezTo>
                <a:lnTo>
                  <a:pt x="282104" y="190500"/>
                </a:lnTo>
                <a:lnTo>
                  <a:pt x="349895" y="208955"/>
                </a:lnTo>
                <a:cubicBezTo>
                  <a:pt x="355625" y="210517"/>
                  <a:pt x="360238" y="214908"/>
                  <a:pt x="362173" y="220563"/>
                </a:cubicBezTo>
                <a:lnTo>
                  <a:pt x="380033" y="274141"/>
                </a:lnTo>
                <a:lnTo>
                  <a:pt x="380554" y="275927"/>
                </a:lnTo>
                <a:cubicBezTo>
                  <a:pt x="382563" y="284783"/>
                  <a:pt x="377503" y="293861"/>
                  <a:pt x="368796" y="296763"/>
                </a:cubicBezTo>
                <a:cubicBezTo>
                  <a:pt x="360015" y="299665"/>
                  <a:pt x="350565" y="295424"/>
                  <a:pt x="346844" y="287164"/>
                </a:cubicBezTo>
                <a:lnTo>
                  <a:pt x="346174" y="285452"/>
                </a:lnTo>
                <a:lnTo>
                  <a:pt x="331366" y="240953"/>
                </a:lnTo>
                <a:lnTo>
                  <a:pt x="274513" y="225475"/>
                </a:lnTo>
                <a:lnTo>
                  <a:pt x="322213" y="273174"/>
                </a:lnTo>
                <a:cubicBezTo>
                  <a:pt x="326752" y="277713"/>
                  <a:pt x="328538" y="284411"/>
                  <a:pt x="326827" y="290587"/>
                </a:cubicBezTo>
                <a:lnTo>
                  <a:pt x="297061" y="397743"/>
                </a:lnTo>
                <a:lnTo>
                  <a:pt x="296466" y="399455"/>
                </a:lnTo>
                <a:cubicBezTo>
                  <a:pt x="293191" y="407863"/>
                  <a:pt x="283964" y="412626"/>
                  <a:pt x="275034" y="410170"/>
                </a:cubicBezTo>
                <a:cubicBezTo>
                  <a:pt x="266105" y="407715"/>
                  <a:pt x="260672" y="398859"/>
                  <a:pt x="262235" y="389930"/>
                </a:cubicBezTo>
                <a:lnTo>
                  <a:pt x="262607" y="388144"/>
                </a:lnTo>
                <a:lnTo>
                  <a:pt x="289545" y="291033"/>
                </a:lnTo>
                <a:lnTo>
                  <a:pt x="261863" y="263351"/>
                </a:lnTo>
                <a:cubicBezTo>
                  <a:pt x="261193" y="302121"/>
                  <a:pt x="229493" y="333375"/>
                  <a:pt x="190500" y="333375"/>
                </a:cubicBezTo>
                <a:cubicBezTo>
                  <a:pt x="151507" y="333375"/>
                  <a:pt x="119807" y="302121"/>
                  <a:pt x="119063" y="263351"/>
                </a:cubicBezTo>
                <a:lnTo>
                  <a:pt x="91529" y="290885"/>
                </a:lnTo>
                <a:lnTo>
                  <a:pt x="118318" y="381893"/>
                </a:lnTo>
                <a:lnTo>
                  <a:pt x="118765" y="383679"/>
                </a:lnTo>
                <a:cubicBezTo>
                  <a:pt x="120402" y="392534"/>
                  <a:pt x="115119" y="401464"/>
                  <a:pt x="106263" y="404068"/>
                </a:cubicBezTo>
                <a:cubicBezTo>
                  <a:pt x="97408" y="406673"/>
                  <a:pt x="88106" y="402059"/>
                  <a:pt x="84683" y="393725"/>
                </a:cubicBezTo>
                <a:lnTo>
                  <a:pt x="84088" y="392013"/>
                </a:lnTo>
                <a:lnTo>
                  <a:pt x="54322" y="290810"/>
                </a:lnTo>
                <a:cubicBezTo>
                  <a:pt x="52462" y="284559"/>
                  <a:pt x="54248" y="277788"/>
                  <a:pt x="58862" y="273100"/>
                </a:cubicBezTo>
                <a:lnTo>
                  <a:pt x="106561" y="225400"/>
                </a:lnTo>
                <a:lnTo>
                  <a:pt x="49709" y="240878"/>
                </a:lnTo>
                <a:lnTo>
                  <a:pt x="34900" y="285378"/>
                </a:lnTo>
                <a:lnTo>
                  <a:pt x="34230" y="287089"/>
                </a:lnTo>
                <a:cubicBezTo>
                  <a:pt x="30510" y="295349"/>
                  <a:pt x="21059" y="299591"/>
                  <a:pt x="12278" y="296689"/>
                </a:cubicBezTo>
                <a:cubicBezTo>
                  <a:pt x="3497" y="293787"/>
                  <a:pt x="-1488" y="284708"/>
                  <a:pt x="521" y="275853"/>
                </a:cubicBezTo>
                <a:lnTo>
                  <a:pt x="1042" y="274067"/>
                </a:lnTo>
                <a:lnTo>
                  <a:pt x="18901" y="220489"/>
                </a:lnTo>
                <a:cubicBezTo>
                  <a:pt x="20762" y="214833"/>
                  <a:pt x="25375" y="210517"/>
                  <a:pt x="31179" y="208880"/>
                </a:cubicBezTo>
                <a:lnTo>
                  <a:pt x="98971" y="190426"/>
                </a:lnTo>
                <a:lnTo>
                  <a:pt x="31179" y="171971"/>
                </a:lnTo>
                <a:cubicBezTo>
                  <a:pt x="25450" y="170408"/>
                  <a:pt x="20836" y="166018"/>
                  <a:pt x="18901" y="160362"/>
                </a:cubicBezTo>
                <a:lnTo>
                  <a:pt x="1042" y="106784"/>
                </a:lnTo>
                <a:lnTo>
                  <a:pt x="521" y="104998"/>
                </a:lnTo>
                <a:cubicBezTo>
                  <a:pt x="-1488" y="96143"/>
                  <a:pt x="3572" y="87064"/>
                  <a:pt x="12278" y="84162"/>
                </a:cubicBezTo>
                <a:cubicBezTo>
                  <a:pt x="20985" y="81260"/>
                  <a:pt x="30510" y="85502"/>
                  <a:pt x="34230" y="93762"/>
                </a:cubicBezTo>
                <a:lnTo>
                  <a:pt x="34900" y="95473"/>
                </a:lnTo>
                <a:lnTo>
                  <a:pt x="49709" y="139973"/>
                </a:lnTo>
                <a:lnTo>
                  <a:pt x="106561" y="155451"/>
                </a:lnTo>
                <a:lnTo>
                  <a:pt x="58862" y="107752"/>
                </a:lnTo>
                <a:cubicBezTo>
                  <a:pt x="54248" y="103138"/>
                  <a:pt x="52536" y="96366"/>
                  <a:pt x="54322" y="90115"/>
                </a:cubicBezTo>
                <a:lnTo>
                  <a:pt x="84088" y="-11088"/>
                </a:lnTo>
                <a:lnTo>
                  <a:pt x="84683" y="-12799"/>
                </a:lnTo>
                <a:cubicBezTo>
                  <a:pt x="88106" y="-21208"/>
                  <a:pt x="97408" y="-25747"/>
                  <a:pt x="106263" y="-23143"/>
                </a:cubicBezTo>
                <a:cubicBezTo>
                  <a:pt x="115119" y="-20538"/>
                  <a:pt x="120402" y="-11609"/>
                  <a:pt x="118765" y="-2753"/>
                </a:cubicBezTo>
                <a:lnTo>
                  <a:pt x="118318" y="-967"/>
                </a:lnTo>
                <a:lnTo>
                  <a:pt x="91529" y="90041"/>
                </a:lnTo>
                <a:lnTo>
                  <a:pt x="130969" y="129480"/>
                </a:lnTo>
                <a:cubicBezTo>
                  <a:pt x="131713" y="97259"/>
                  <a:pt x="158055" y="71363"/>
                  <a:pt x="190426" y="71363"/>
                </a:cubicBezTo>
                <a:cubicBezTo>
                  <a:pt x="222796" y="71363"/>
                  <a:pt x="249138" y="97259"/>
                  <a:pt x="249882" y="129555"/>
                </a:cubicBezTo>
                <a:lnTo>
                  <a:pt x="289396" y="90041"/>
                </a:lnTo>
                <a:lnTo>
                  <a:pt x="262607" y="-967"/>
                </a:lnTo>
                <a:lnTo>
                  <a:pt x="262161" y="-2753"/>
                </a:lnTo>
                <a:cubicBezTo>
                  <a:pt x="260524" y="-11683"/>
                  <a:pt x="265807" y="-20538"/>
                  <a:pt x="274662" y="-23143"/>
                </a:cubicBezTo>
                <a:close/>
              </a:path>
            </a:pathLst>
          </a:custGeom>
          <a:solidFill>
            <a:srgbClr val="A95EAF"/>
          </a:solidFill>
          <a:ln/>
        </p:spPr>
        <p:txBody>
          <a:bodyPr/>
          <a:lstStyle/>
          <a:p>
            <a:endParaRPr lang="zh-CN" altLang="en-US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7" name="Text 4"/>
          <p:cNvSpPr/>
          <p:nvPr/>
        </p:nvSpPr>
        <p:spPr>
          <a:xfrm>
            <a:off x="1249660" y="3009900"/>
            <a:ext cx="508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b="1" dirty="0">
                <a:solidFill>
                  <a:srgbClr val="3C3542"/>
                </a:solidFill>
                <a:latin typeface="KaiTi" panose="02010609060101010101" pitchFamily="49" charset="-122"/>
                <a:ea typeface="KaiTi" panose="02010609060101010101" pitchFamily="49" charset="-122"/>
                <a:cs typeface="Noto Sans SC" pitchFamily="34" charset="-120"/>
              </a:rPr>
              <a:t>爬虫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8" name="Text 5"/>
          <p:cNvSpPr/>
          <p:nvPr/>
        </p:nvSpPr>
        <p:spPr>
          <a:xfrm>
            <a:off x="1160760" y="3314700"/>
            <a:ext cx="6858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200" dirty="0">
                <a:solidFill>
                  <a:srgbClr val="3C3542"/>
                </a:solidFill>
                <a:latin typeface="KaiTi" panose="02010609060101010101" pitchFamily="49" charset="-122"/>
                <a:ea typeface="KaiTi" panose="02010609060101010101" pitchFamily="49" charset="-122"/>
                <a:cs typeface="Noto Sans SC" pitchFamily="34" charset="-120"/>
              </a:rPr>
              <a:t>原始数据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9" name="Shape 6"/>
          <p:cNvSpPr/>
          <p:nvPr/>
        </p:nvSpPr>
        <p:spPr>
          <a:xfrm>
            <a:off x="2939157" y="2870200"/>
            <a:ext cx="190500" cy="304800"/>
          </a:xfrm>
          <a:custGeom>
            <a:avLst/>
            <a:gdLst/>
            <a:ahLst/>
            <a:cxnLst/>
            <a:rect l="l" t="t" r="r" b="b"/>
            <a:pathLst>
              <a:path w="190500" h="304800">
                <a:moveTo>
                  <a:pt x="185202" y="138946"/>
                </a:moveTo>
                <a:cubicBezTo>
                  <a:pt x="192643" y="146387"/>
                  <a:pt x="192643" y="158472"/>
                  <a:pt x="185202" y="165914"/>
                </a:cubicBezTo>
                <a:lnTo>
                  <a:pt x="70902" y="280214"/>
                </a:lnTo>
                <a:cubicBezTo>
                  <a:pt x="63460" y="287655"/>
                  <a:pt x="51375" y="287655"/>
                  <a:pt x="43934" y="280214"/>
                </a:cubicBezTo>
                <a:cubicBezTo>
                  <a:pt x="36493" y="272772"/>
                  <a:pt x="36493" y="260687"/>
                  <a:pt x="43934" y="253246"/>
                </a:cubicBezTo>
                <a:lnTo>
                  <a:pt x="144780" y="152400"/>
                </a:lnTo>
                <a:lnTo>
                  <a:pt x="43994" y="51554"/>
                </a:lnTo>
                <a:cubicBezTo>
                  <a:pt x="36552" y="44113"/>
                  <a:pt x="36552" y="32028"/>
                  <a:pt x="43994" y="24586"/>
                </a:cubicBezTo>
                <a:cubicBezTo>
                  <a:pt x="51435" y="17145"/>
                  <a:pt x="63520" y="17145"/>
                  <a:pt x="70961" y="24586"/>
                </a:cubicBezTo>
                <a:lnTo>
                  <a:pt x="185261" y="138886"/>
                </a:lnTo>
                <a:close/>
              </a:path>
            </a:pathLst>
          </a:custGeom>
          <a:solidFill>
            <a:srgbClr val="99A1AF"/>
          </a:solidFill>
          <a:ln/>
        </p:spPr>
        <p:txBody>
          <a:bodyPr/>
          <a:lstStyle/>
          <a:p>
            <a:endParaRPr lang="zh-CN" altLang="en-US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4377928" y="25273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0" y="71438"/>
                </a:moveTo>
                <a:cubicBezTo>
                  <a:pt x="0" y="58266"/>
                  <a:pt x="10641" y="47625"/>
                  <a:pt x="23812" y="47625"/>
                </a:cubicBezTo>
                <a:lnTo>
                  <a:pt x="309563" y="47625"/>
                </a:lnTo>
                <a:cubicBezTo>
                  <a:pt x="322734" y="47625"/>
                  <a:pt x="333375" y="58266"/>
                  <a:pt x="333375" y="71438"/>
                </a:cubicBezTo>
                <a:cubicBezTo>
                  <a:pt x="333375" y="84609"/>
                  <a:pt x="322734" y="95250"/>
                  <a:pt x="309563" y="95250"/>
                </a:cubicBezTo>
                <a:lnTo>
                  <a:pt x="23812" y="95250"/>
                </a:lnTo>
                <a:cubicBezTo>
                  <a:pt x="10641" y="95250"/>
                  <a:pt x="0" y="84609"/>
                  <a:pt x="0" y="71438"/>
                </a:cubicBezTo>
                <a:close/>
                <a:moveTo>
                  <a:pt x="47625" y="190500"/>
                </a:moveTo>
                <a:cubicBezTo>
                  <a:pt x="47625" y="177329"/>
                  <a:pt x="58266" y="166688"/>
                  <a:pt x="71438" y="166688"/>
                </a:cubicBezTo>
                <a:lnTo>
                  <a:pt x="357188" y="166688"/>
                </a:lnTo>
                <a:cubicBezTo>
                  <a:pt x="370359" y="166688"/>
                  <a:pt x="381000" y="177329"/>
                  <a:pt x="381000" y="190500"/>
                </a:cubicBezTo>
                <a:cubicBezTo>
                  <a:pt x="381000" y="203671"/>
                  <a:pt x="370359" y="214313"/>
                  <a:pt x="357188" y="214313"/>
                </a:cubicBezTo>
                <a:lnTo>
                  <a:pt x="71438" y="214313"/>
                </a:lnTo>
                <a:cubicBezTo>
                  <a:pt x="58266" y="214313"/>
                  <a:pt x="47625" y="203671"/>
                  <a:pt x="47625" y="190500"/>
                </a:cubicBezTo>
                <a:close/>
                <a:moveTo>
                  <a:pt x="333375" y="309563"/>
                </a:moveTo>
                <a:cubicBezTo>
                  <a:pt x="333375" y="322734"/>
                  <a:pt x="322734" y="333375"/>
                  <a:pt x="309563" y="333375"/>
                </a:cubicBezTo>
                <a:lnTo>
                  <a:pt x="23812" y="333375"/>
                </a:lnTo>
                <a:cubicBezTo>
                  <a:pt x="10641" y="333375"/>
                  <a:pt x="0" y="322734"/>
                  <a:pt x="0" y="309563"/>
                </a:cubicBezTo>
                <a:cubicBezTo>
                  <a:pt x="0" y="296391"/>
                  <a:pt x="10641" y="285750"/>
                  <a:pt x="23812" y="285750"/>
                </a:cubicBezTo>
                <a:lnTo>
                  <a:pt x="309563" y="285750"/>
                </a:lnTo>
                <a:cubicBezTo>
                  <a:pt x="322734" y="285750"/>
                  <a:pt x="333375" y="296391"/>
                  <a:pt x="333375" y="309563"/>
                </a:cubicBezTo>
                <a:close/>
              </a:path>
            </a:pathLst>
          </a:custGeom>
          <a:solidFill>
            <a:srgbClr val="A95EAF"/>
          </a:solidFill>
          <a:ln/>
        </p:spPr>
        <p:txBody>
          <a:bodyPr/>
          <a:lstStyle/>
          <a:p>
            <a:endParaRPr lang="zh-CN" altLang="en-US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11" name="Text 8"/>
          <p:cNvSpPr/>
          <p:nvPr/>
        </p:nvSpPr>
        <p:spPr>
          <a:xfrm>
            <a:off x="4064595" y="3009900"/>
            <a:ext cx="1003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b="1" dirty="0">
                <a:solidFill>
                  <a:srgbClr val="3C3542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ETL</a:t>
            </a:r>
            <a:endParaRPr lang="en-US" sz="1600" dirty="0">
              <a:latin typeface="Calibri" panose="020F0502020204030204" pitchFamily="34" charset="0"/>
              <a:ea typeface="KaiTi" panose="02010609060101010101" pitchFamily="49" charset="-122"/>
              <a:cs typeface="Calibri" panose="020F0502020204030204" pitchFamily="34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4222353" y="3314700"/>
            <a:ext cx="6858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200" dirty="0">
                <a:solidFill>
                  <a:srgbClr val="3C3542"/>
                </a:solidFill>
                <a:latin typeface="KaiTi" panose="02010609060101010101" pitchFamily="49" charset="-122"/>
                <a:ea typeface="KaiTi" panose="02010609060101010101" pitchFamily="49" charset="-122"/>
                <a:cs typeface="Noto Sans SC" pitchFamily="34" charset="-120"/>
              </a:rPr>
              <a:t>窗口聚合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6000750" y="2870200"/>
            <a:ext cx="190500" cy="304800"/>
          </a:xfrm>
          <a:custGeom>
            <a:avLst/>
            <a:gdLst/>
            <a:ahLst/>
            <a:cxnLst/>
            <a:rect l="l" t="t" r="r" b="b"/>
            <a:pathLst>
              <a:path w="190500" h="304800">
                <a:moveTo>
                  <a:pt x="185202" y="138946"/>
                </a:moveTo>
                <a:cubicBezTo>
                  <a:pt x="192643" y="146387"/>
                  <a:pt x="192643" y="158472"/>
                  <a:pt x="185202" y="165914"/>
                </a:cubicBezTo>
                <a:lnTo>
                  <a:pt x="70902" y="280214"/>
                </a:lnTo>
                <a:cubicBezTo>
                  <a:pt x="63460" y="287655"/>
                  <a:pt x="51375" y="287655"/>
                  <a:pt x="43934" y="280214"/>
                </a:cubicBezTo>
                <a:cubicBezTo>
                  <a:pt x="36493" y="272772"/>
                  <a:pt x="36493" y="260687"/>
                  <a:pt x="43934" y="253246"/>
                </a:cubicBezTo>
                <a:lnTo>
                  <a:pt x="144780" y="152400"/>
                </a:lnTo>
                <a:lnTo>
                  <a:pt x="43994" y="51554"/>
                </a:lnTo>
                <a:cubicBezTo>
                  <a:pt x="36552" y="44113"/>
                  <a:pt x="36552" y="32028"/>
                  <a:pt x="43994" y="24586"/>
                </a:cubicBezTo>
                <a:cubicBezTo>
                  <a:pt x="51435" y="17145"/>
                  <a:pt x="63520" y="17145"/>
                  <a:pt x="70961" y="24586"/>
                </a:cubicBezTo>
                <a:lnTo>
                  <a:pt x="185261" y="138886"/>
                </a:lnTo>
                <a:close/>
              </a:path>
            </a:pathLst>
          </a:custGeom>
          <a:solidFill>
            <a:srgbClr val="99A1AF"/>
          </a:solidFill>
          <a:ln/>
        </p:spPr>
        <p:txBody>
          <a:bodyPr/>
          <a:lstStyle/>
          <a:p>
            <a:endParaRPr lang="zh-CN" altLang="en-US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7415709" y="2527300"/>
            <a:ext cx="428625" cy="381000"/>
          </a:xfrm>
          <a:custGeom>
            <a:avLst/>
            <a:gdLst/>
            <a:ahLst/>
            <a:cxnLst/>
            <a:rect l="l" t="t" r="r" b="b"/>
            <a:pathLst>
              <a:path w="428625" h="381000">
                <a:moveTo>
                  <a:pt x="399157" y="-19571"/>
                </a:moveTo>
                <a:cubicBezTo>
                  <a:pt x="406450" y="-22175"/>
                  <a:pt x="414486" y="-20315"/>
                  <a:pt x="419993" y="-14883"/>
                </a:cubicBezTo>
                <a:cubicBezTo>
                  <a:pt x="425500" y="-9451"/>
                  <a:pt x="427286" y="-1339"/>
                  <a:pt x="424681" y="5953"/>
                </a:cubicBezTo>
                <a:lnTo>
                  <a:pt x="292224" y="375717"/>
                </a:lnTo>
                <a:cubicBezTo>
                  <a:pt x="288503" y="386060"/>
                  <a:pt x="278755" y="392906"/>
                  <a:pt x="267816" y="392906"/>
                </a:cubicBezTo>
                <a:cubicBezTo>
                  <a:pt x="257249" y="392906"/>
                  <a:pt x="247724" y="386507"/>
                  <a:pt x="243780" y="376758"/>
                </a:cubicBezTo>
                <a:lnTo>
                  <a:pt x="196007" y="259184"/>
                </a:lnTo>
                <a:cubicBezTo>
                  <a:pt x="192658" y="250999"/>
                  <a:pt x="194146" y="241622"/>
                  <a:pt x="199876" y="234925"/>
                </a:cubicBezTo>
                <a:lnTo>
                  <a:pt x="270197" y="151284"/>
                </a:lnTo>
                <a:cubicBezTo>
                  <a:pt x="273993" y="146745"/>
                  <a:pt x="273695" y="140122"/>
                  <a:pt x="269528" y="135954"/>
                </a:cubicBezTo>
                <a:cubicBezTo>
                  <a:pt x="265361" y="131787"/>
                  <a:pt x="258663" y="131490"/>
                  <a:pt x="254198" y="135285"/>
                </a:cubicBezTo>
                <a:lnTo>
                  <a:pt x="170557" y="205457"/>
                </a:lnTo>
                <a:cubicBezTo>
                  <a:pt x="163785" y="211113"/>
                  <a:pt x="154484" y="212601"/>
                  <a:pt x="146298" y="209327"/>
                </a:cubicBezTo>
                <a:lnTo>
                  <a:pt x="28352" y="161330"/>
                </a:lnTo>
                <a:cubicBezTo>
                  <a:pt x="18604" y="157386"/>
                  <a:pt x="12204" y="147861"/>
                  <a:pt x="12204" y="137294"/>
                </a:cubicBezTo>
                <a:cubicBezTo>
                  <a:pt x="12204" y="126355"/>
                  <a:pt x="19050" y="116607"/>
                  <a:pt x="29394" y="112886"/>
                </a:cubicBezTo>
                <a:lnTo>
                  <a:pt x="399157" y="-19571"/>
                </a:lnTo>
                <a:close/>
              </a:path>
            </a:pathLst>
          </a:custGeom>
          <a:solidFill>
            <a:srgbClr val="8F5C9A"/>
          </a:solidFill>
          <a:ln/>
        </p:spPr>
        <p:txBody>
          <a:bodyPr/>
          <a:lstStyle/>
          <a:p>
            <a:endParaRPr lang="zh-CN" altLang="en-US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6966446" y="3009900"/>
            <a:ext cx="1320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b="1" dirty="0">
                <a:solidFill>
                  <a:srgbClr val="3C3542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Batch Writer</a:t>
            </a:r>
            <a:endParaRPr lang="en-US" sz="1600" dirty="0">
              <a:latin typeface="Calibri" panose="020F0502020204030204" pitchFamily="34" charset="0"/>
              <a:ea typeface="KaiTi" panose="02010609060101010101" pitchFamily="49" charset="-122"/>
              <a:cs typeface="Calibri" panose="020F0502020204030204" pitchFamily="34" charset="0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7122914" y="3314700"/>
            <a:ext cx="10033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200" dirty="0">
                <a:solidFill>
                  <a:srgbClr val="3C3542"/>
                </a:solidFill>
                <a:latin typeface="KaiTi" panose="02010609060101010101" pitchFamily="49" charset="-122"/>
                <a:ea typeface="KaiTi" panose="02010609060101010101" pitchFamily="49" charset="-122"/>
                <a:cs typeface="Noto Sans SC" pitchFamily="34" charset="-120"/>
              </a:rPr>
              <a:t>批量</a:t>
            </a:r>
            <a:r>
              <a:rPr lang="en-US" sz="1200" dirty="0">
                <a:solidFill>
                  <a:srgbClr val="3C3542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Mutation</a:t>
            </a:r>
            <a:endParaRPr lang="en-US" sz="1600" dirty="0">
              <a:latin typeface="Calibri" panose="020F0502020204030204" pitchFamily="34" charset="0"/>
              <a:ea typeface="KaiTi" panose="02010609060101010101" pitchFamily="49" charset="-122"/>
              <a:cs typeface="Calibri" panose="020F0502020204030204" pitchFamily="34" charset="0"/>
            </a:endParaRPr>
          </a:p>
        </p:txBody>
      </p:sp>
      <p:sp>
        <p:nvSpPr>
          <p:cNvPr id="17" name="Shape 14"/>
          <p:cNvSpPr/>
          <p:nvPr/>
        </p:nvSpPr>
        <p:spPr>
          <a:xfrm>
            <a:off x="9062343" y="2870200"/>
            <a:ext cx="190500" cy="304800"/>
          </a:xfrm>
          <a:custGeom>
            <a:avLst/>
            <a:gdLst/>
            <a:ahLst/>
            <a:cxnLst/>
            <a:rect l="l" t="t" r="r" b="b"/>
            <a:pathLst>
              <a:path w="190500" h="304800">
                <a:moveTo>
                  <a:pt x="185202" y="138946"/>
                </a:moveTo>
                <a:cubicBezTo>
                  <a:pt x="192643" y="146387"/>
                  <a:pt x="192643" y="158472"/>
                  <a:pt x="185202" y="165914"/>
                </a:cubicBezTo>
                <a:lnTo>
                  <a:pt x="70902" y="280214"/>
                </a:lnTo>
                <a:cubicBezTo>
                  <a:pt x="63460" y="287655"/>
                  <a:pt x="51375" y="287655"/>
                  <a:pt x="43934" y="280214"/>
                </a:cubicBezTo>
                <a:cubicBezTo>
                  <a:pt x="36493" y="272772"/>
                  <a:pt x="36493" y="260687"/>
                  <a:pt x="43934" y="253246"/>
                </a:cubicBezTo>
                <a:lnTo>
                  <a:pt x="144780" y="152400"/>
                </a:lnTo>
                <a:lnTo>
                  <a:pt x="43994" y="51554"/>
                </a:lnTo>
                <a:cubicBezTo>
                  <a:pt x="36552" y="44113"/>
                  <a:pt x="36552" y="32028"/>
                  <a:pt x="43994" y="24586"/>
                </a:cubicBezTo>
                <a:cubicBezTo>
                  <a:pt x="51435" y="17145"/>
                  <a:pt x="63520" y="17145"/>
                  <a:pt x="70961" y="24586"/>
                </a:cubicBezTo>
                <a:lnTo>
                  <a:pt x="185261" y="138886"/>
                </a:lnTo>
                <a:close/>
              </a:path>
            </a:pathLst>
          </a:custGeom>
          <a:solidFill>
            <a:srgbClr val="99A1AF"/>
          </a:solidFill>
          <a:ln/>
        </p:spPr>
        <p:txBody>
          <a:bodyPr/>
          <a:lstStyle/>
          <a:p>
            <a:endParaRPr lang="zh-CN" altLang="en-US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18" name="Shape 15"/>
          <p:cNvSpPr/>
          <p:nvPr/>
        </p:nvSpPr>
        <p:spPr>
          <a:xfrm>
            <a:off x="10524927" y="2527300"/>
            <a:ext cx="333375" cy="381000"/>
          </a:xfrm>
          <a:custGeom>
            <a:avLst/>
            <a:gdLst/>
            <a:ahLst/>
            <a:cxnLst/>
            <a:rect l="l" t="t" r="r" b="b"/>
            <a:pathLst>
              <a:path w="333375" h="381000">
                <a:moveTo>
                  <a:pt x="333375" y="153144"/>
                </a:moveTo>
                <a:cubicBezTo>
                  <a:pt x="322362" y="160437"/>
                  <a:pt x="309711" y="166315"/>
                  <a:pt x="296540" y="171004"/>
                </a:cubicBezTo>
                <a:cubicBezTo>
                  <a:pt x="261565" y="183505"/>
                  <a:pt x="215652" y="190500"/>
                  <a:pt x="166688" y="190500"/>
                </a:cubicBezTo>
                <a:cubicBezTo>
                  <a:pt x="117723" y="190500"/>
                  <a:pt x="71735" y="183431"/>
                  <a:pt x="36835" y="171004"/>
                </a:cubicBezTo>
                <a:cubicBezTo>
                  <a:pt x="23738" y="166315"/>
                  <a:pt x="11013" y="160437"/>
                  <a:pt x="0" y="153144"/>
                </a:cubicBezTo>
                <a:lnTo>
                  <a:pt x="0" y="214313"/>
                </a:lnTo>
                <a:cubicBezTo>
                  <a:pt x="0" y="247204"/>
                  <a:pt x="74637" y="273844"/>
                  <a:pt x="166688" y="273844"/>
                </a:cubicBezTo>
                <a:cubicBezTo>
                  <a:pt x="258738" y="273844"/>
                  <a:pt x="333375" y="247204"/>
                  <a:pt x="333375" y="214313"/>
                </a:cubicBezTo>
                <a:lnTo>
                  <a:pt x="333375" y="153144"/>
                </a:lnTo>
                <a:close/>
                <a:moveTo>
                  <a:pt x="333375" y="95250"/>
                </a:moveTo>
                <a:lnTo>
                  <a:pt x="333375" y="59531"/>
                </a:lnTo>
                <a:cubicBezTo>
                  <a:pt x="333375" y="26640"/>
                  <a:pt x="258738" y="0"/>
                  <a:pt x="166688" y="0"/>
                </a:cubicBezTo>
                <a:cubicBezTo>
                  <a:pt x="74637" y="0"/>
                  <a:pt x="0" y="26640"/>
                  <a:pt x="0" y="59531"/>
                </a:cubicBezTo>
                <a:lnTo>
                  <a:pt x="0" y="95250"/>
                </a:lnTo>
                <a:cubicBezTo>
                  <a:pt x="0" y="128141"/>
                  <a:pt x="74637" y="154781"/>
                  <a:pt x="166688" y="154781"/>
                </a:cubicBezTo>
                <a:cubicBezTo>
                  <a:pt x="258738" y="154781"/>
                  <a:pt x="333375" y="128141"/>
                  <a:pt x="333375" y="95250"/>
                </a:cubicBezTo>
                <a:close/>
                <a:moveTo>
                  <a:pt x="296540" y="290066"/>
                </a:moveTo>
                <a:cubicBezTo>
                  <a:pt x="261640" y="302493"/>
                  <a:pt x="215726" y="309563"/>
                  <a:pt x="166688" y="309563"/>
                </a:cubicBezTo>
                <a:cubicBezTo>
                  <a:pt x="117649" y="309563"/>
                  <a:pt x="71735" y="302493"/>
                  <a:pt x="36835" y="290066"/>
                </a:cubicBezTo>
                <a:cubicBezTo>
                  <a:pt x="23738" y="285378"/>
                  <a:pt x="11013" y="279499"/>
                  <a:pt x="0" y="272207"/>
                </a:cubicBezTo>
                <a:lnTo>
                  <a:pt x="0" y="321469"/>
                </a:lnTo>
                <a:cubicBezTo>
                  <a:pt x="0" y="354360"/>
                  <a:pt x="74637" y="381000"/>
                  <a:pt x="166688" y="381000"/>
                </a:cubicBezTo>
                <a:cubicBezTo>
                  <a:pt x="258738" y="381000"/>
                  <a:pt x="333375" y="354360"/>
                  <a:pt x="333375" y="321469"/>
                </a:cubicBezTo>
                <a:lnTo>
                  <a:pt x="333375" y="272207"/>
                </a:lnTo>
                <a:cubicBezTo>
                  <a:pt x="322362" y="279499"/>
                  <a:pt x="309711" y="285378"/>
                  <a:pt x="296540" y="290066"/>
                </a:cubicBezTo>
                <a:close/>
              </a:path>
            </a:pathLst>
          </a:custGeom>
          <a:solidFill>
            <a:srgbClr val="A95EAF"/>
          </a:solidFill>
          <a:ln/>
        </p:spPr>
        <p:txBody>
          <a:bodyPr/>
          <a:lstStyle/>
          <a:p>
            <a:endParaRPr lang="zh-CN" altLang="en-US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10238879" y="3009900"/>
            <a:ext cx="901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b="1" dirty="0">
                <a:solidFill>
                  <a:srgbClr val="3C3542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Bigtable</a:t>
            </a:r>
            <a:endParaRPr lang="en-US" sz="1600" dirty="0">
              <a:latin typeface="Calibri" panose="020F0502020204030204" pitchFamily="34" charset="0"/>
              <a:ea typeface="KaiTi" panose="02010609060101010101" pitchFamily="49" charset="-122"/>
              <a:cs typeface="Calibri" panose="020F0502020204030204" pitchFamily="34" charset="0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10009188" y="3314700"/>
            <a:ext cx="13589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200" dirty="0">
                <a:solidFill>
                  <a:srgbClr val="3C3542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WAL &amp; MemTable</a:t>
            </a:r>
            <a:endParaRPr lang="en-US" sz="1600" dirty="0">
              <a:latin typeface="Calibri" panose="020F0502020204030204" pitchFamily="34" charset="0"/>
              <a:ea typeface="KaiTi" panose="02010609060101010101" pitchFamily="49" charset="-122"/>
              <a:cs typeface="Calibri" panose="020F0502020204030204" pitchFamily="34" charset="0"/>
            </a:endParaRPr>
          </a:p>
        </p:txBody>
      </p:sp>
      <p:sp>
        <p:nvSpPr>
          <p:cNvPr id="21" name="Shape 18"/>
          <p:cNvSpPr/>
          <p:nvPr/>
        </p:nvSpPr>
        <p:spPr>
          <a:xfrm>
            <a:off x="254000" y="3822700"/>
            <a:ext cx="11684000" cy="50800"/>
          </a:xfrm>
          <a:custGeom>
            <a:avLst/>
            <a:gdLst/>
            <a:ahLst/>
            <a:cxnLst/>
            <a:rect l="l" t="t" r="r" b="b"/>
            <a:pathLst>
              <a:path w="11684000" h="50800">
                <a:moveTo>
                  <a:pt x="25400" y="0"/>
                </a:moveTo>
                <a:lnTo>
                  <a:pt x="11658600" y="0"/>
                </a:lnTo>
                <a:cubicBezTo>
                  <a:pt x="11672619" y="0"/>
                  <a:pt x="11684000" y="11381"/>
                  <a:pt x="11684000" y="25400"/>
                </a:cubicBezTo>
                <a:lnTo>
                  <a:pt x="11684000" y="25400"/>
                </a:lnTo>
                <a:cubicBezTo>
                  <a:pt x="11684000" y="39419"/>
                  <a:pt x="11672619" y="50800"/>
                  <a:pt x="11658600" y="50800"/>
                </a:cubicBezTo>
                <a:lnTo>
                  <a:pt x="25400" y="50800"/>
                </a:lnTo>
                <a:cubicBezTo>
                  <a:pt x="11381" y="50800"/>
                  <a:pt x="0" y="39419"/>
                  <a:pt x="0" y="25400"/>
                </a:cubicBezTo>
                <a:lnTo>
                  <a:pt x="0" y="25400"/>
                </a:lnTo>
                <a:cubicBezTo>
                  <a:pt x="0" y="11381"/>
                  <a:pt x="11381" y="0"/>
                  <a:pt x="25400" y="0"/>
                </a:cubicBezTo>
                <a:close/>
              </a:path>
            </a:pathLst>
          </a:custGeom>
          <a:gradFill flip="none" rotWithShape="1">
            <a:gsLst>
              <a:gs pos="0">
                <a:srgbClr val="D3B9D7"/>
              </a:gs>
              <a:gs pos="100000">
                <a:srgbClr val="8F5C9A"/>
              </a:gs>
            </a:gsLst>
            <a:lin ang="0" scaled="1"/>
          </a:gradFill>
          <a:ln/>
        </p:spPr>
        <p:txBody>
          <a:bodyPr/>
          <a:lstStyle/>
          <a:p>
            <a:endParaRPr lang="zh-CN" altLang="en-US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22" name="Text 19"/>
          <p:cNvSpPr/>
          <p:nvPr/>
        </p:nvSpPr>
        <p:spPr>
          <a:xfrm>
            <a:off x="203200" y="4076700"/>
            <a:ext cx="3860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b="1" dirty="0">
                <a:solidFill>
                  <a:srgbClr val="3C3542"/>
                </a:solidFill>
                <a:latin typeface="KaiTi" panose="02010609060101010101" pitchFamily="49" charset="-122"/>
                <a:ea typeface="KaiTi" panose="02010609060101010101" pitchFamily="49" charset="-122"/>
                <a:cs typeface="Noto Sans SC" pitchFamily="34" charset="-120"/>
              </a:rPr>
              <a:t>批处理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23" name="Text 20"/>
          <p:cNvSpPr/>
          <p:nvPr/>
        </p:nvSpPr>
        <p:spPr>
          <a:xfrm>
            <a:off x="209550" y="4381500"/>
            <a:ext cx="38481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3C3542"/>
                </a:solidFill>
                <a:latin typeface="KaiTi" panose="02010609060101010101" pitchFamily="49" charset="-122"/>
                <a:ea typeface="KaiTi" panose="02010609060101010101" pitchFamily="49" charset="-122"/>
                <a:cs typeface="Noto Sans SC" pitchFamily="34" charset="-120"/>
              </a:rPr>
              <a:t>聚合1000条/批，Snappy压缩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24" name="Text 21"/>
          <p:cNvSpPr/>
          <p:nvPr/>
        </p:nvSpPr>
        <p:spPr>
          <a:xfrm>
            <a:off x="4165600" y="4076700"/>
            <a:ext cx="3860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b="1" dirty="0">
                <a:solidFill>
                  <a:srgbClr val="3C3542"/>
                </a:solidFill>
                <a:latin typeface="KaiTi" panose="02010609060101010101" pitchFamily="49" charset="-122"/>
                <a:ea typeface="KaiTi" panose="02010609060101010101" pitchFamily="49" charset="-122"/>
                <a:cs typeface="Noto Sans SC" pitchFamily="34" charset="-120"/>
              </a:rPr>
              <a:t>连接池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25" name="Text 22"/>
          <p:cNvSpPr/>
          <p:nvPr/>
        </p:nvSpPr>
        <p:spPr>
          <a:xfrm>
            <a:off x="4171950" y="4381500"/>
            <a:ext cx="38481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3C3542"/>
                </a:solidFill>
                <a:latin typeface="KaiTi" panose="02010609060101010101" pitchFamily="49" charset="-122"/>
                <a:ea typeface="KaiTi" panose="02010609060101010101" pitchFamily="49" charset="-122"/>
                <a:cs typeface="Noto Sans SC" pitchFamily="34" charset="-120"/>
              </a:rPr>
              <a:t>复用50通道，减少开销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26" name="Text 23"/>
          <p:cNvSpPr/>
          <p:nvPr/>
        </p:nvSpPr>
        <p:spPr>
          <a:xfrm>
            <a:off x="8128000" y="4076700"/>
            <a:ext cx="3860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b="1" dirty="0">
                <a:solidFill>
                  <a:srgbClr val="3C3542"/>
                </a:solidFill>
                <a:latin typeface="KaiTi" panose="02010609060101010101" pitchFamily="49" charset="-122"/>
                <a:ea typeface="KaiTi" panose="02010609060101010101" pitchFamily="49" charset="-122"/>
                <a:cs typeface="Noto Sans SC" pitchFamily="34" charset="-120"/>
              </a:rPr>
              <a:t>调优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27" name="Text 24"/>
          <p:cNvSpPr/>
          <p:nvPr/>
        </p:nvSpPr>
        <p:spPr>
          <a:xfrm>
            <a:off x="8134350" y="4381500"/>
            <a:ext cx="38481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3C3542"/>
                </a:solidFill>
                <a:latin typeface="KaiTi" panose="02010609060101010101" pitchFamily="49" charset="-122"/>
                <a:ea typeface="KaiTi" panose="02010609060101010101" pitchFamily="49" charset="-122"/>
                <a:cs typeface="Noto Sans SC" pitchFamily="34" charset="-120"/>
              </a:rPr>
              <a:t>增大</a:t>
            </a:r>
            <a:r>
              <a:rPr lang="en-US" sz="1400" dirty="0">
                <a:solidFill>
                  <a:srgbClr val="3C3542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write-buffer-size</a:t>
            </a:r>
            <a:r>
              <a:rPr lang="en-US" sz="1400" dirty="0">
                <a:solidFill>
                  <a:srgbClr val="3C3542"/>
                </a:solidFill>
                <a:latin typeface="KaiTi" panose="02010609060101010101" pitchFamily="49" charset="-122"/>
                <a:ea typeface="KaiTi" panose="02010609060101010101" pitchFamily="49" charset="-122"/>
                <a:cs typeface="Noto Sans SC" pitchFamily="34" charset="-120"/>
              </a:rPr>
              <a:t>至</a:t>
            </a:r>
            <a:r>
              <a:rPr lang="en-US" sz="1400" dirty="0">
                <a:solidFill>
                  <a:srgbClr val="3C3542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256MB</a:t>
            </a:r>
            <a:endParaRPr lang="en-US" sz="1600" dirty="0">
              <a:latin typeface="Calibri" panose="020F0502020204030204" pitchFamily="34" charset="0"/>
              <a:ea typeface="KaiTi" panose="02010609060101010101" pitchFamily="49" charset="-122"/>
              <a:cs typeface="Calibri" panose="020F0502020204030204" pitchFamily="34" charset="0"/>
            </a:endParaRPr>
          </a:p>
        </p:txBody>
      </p:sp>
      <p:sp>
        <p:nvSpPr>
          <p:cNvPr id="28" name="Text 25"/>
          <p:cNvSpPr/>
          <p:nvPr/>
        </p:nvSpPr>
        <p:spPr>
          <a:xfrm>
            <a:off x="203200" y="4838700"/>
            <a:ext cx="117856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dirty="0">
                <a:solidFill>
                  <a:srgbClr val="3C3542"/>
                </a:solidFill>
                <a:latin typeface="KaiTi" panose="02010609060101010101" pitchFamily="49" charset="-122"/>
                <a:ea typeface="KaiTi" panose="02010609060101010101" pitchFamily="49" charset="-122"/>
                <a:cs typeface="Noto Sans SC" pitchFamily="34" charset="-120"/>
              </a:rPr>
              <a:t>吞吐：</a:t>
            </a:r>
            <a:r>
              <a:rPr lang="en-US" sz="2400" b="1" dirty="0">
                <a:solidFill>
                  <a:srgbClr val="8F5C9A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120,000+</a:t>
            </a:r>
            <a:r>
              <a:rPr lang="en-US" sz="1600" dirty="0">
                <a:solidFill>
                  <a:srgbClr val="3C3542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 writes/s</a:t>
            </a:r>
            <a:endParaRPr lang="en-US" sz="1600" dirty="0">
              <a:latin typeface="Calibri" panose="020F0502020204030204" pitchFamily="34" charset="0"/>
              <a:ea typeface="KaiTi" panose="02010609060101010101" pitchFamily="49" charset="-122"/>
              <a:cs typeface="Calibri" panose="020F0502020204030204" pitchFamily="34" charset="0"/>
            </a:endParaRPr>
          </a:p>
        </p:txBody>
      </p:sp>
    </p:spTree>
  </p:cSld>
  <p:clrMapOvr>
    <a:masterClrMapping/>
  </p:clrMapOvr>
  <p:transition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2"/>
          <p:cNvSpPr/>
          <p:nvPr/>
        </p:nvSpPr>
        <p:spPr>
          <a:xfrm>
            <a:off x="139700" y="2019300"/>
            <a:ext cx="11912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3600" b="1" dirty="0">
                <a:solidFill>
                  <a:srgbClr val="8F5C9A"/>
                </a:solidFill>
                <a:latin typeface="KaiTi" panose="02010609060101010101" pitchFamily="49" charset="-122"/>
                <a:ea typeface="KaiTi" panose="02010609060101010101" pitchFamily="49" charset="-122"/>
                <a:cs typeface="Noto Sans SC" pitchFamily="34" charset="-120"/>
              </a:rPr>
              <a:t>读取管道：毫秒级响应实践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6" name="Shape 3"/>
          <p:cNvSpPr/>
          <p:nvPr/>
        </p:nvSpPr>
        <p:spPr>
          <a:xfrm>
            <a:off x="469900" y="2832100"/>
            <a:ext cx="2921000" cy="1193800"/>
          </a:xfrm>
          <a:custGeom>
            <a:avLst/>
            <a:gdLst/>
            <a:ahLst/>
            <a:cxnLst/>
            <a:rect l="l" t="t" r="r" b="b"/>
            <a:pathLst>
              <a:path w="2921000" h="1193800">
                <a:moveTo>
                  <a:pt x="101604" y="0"/>
                </a:moveTo>
                <a:lnTo>
                  <a:pt x="2819396" y="0"/>
                </a:lnTo>
                <a:cubicBezTo>
                  <a:pt x="2875510" y="0"/>
                  <a:pt x="2921000" y="45490"/>
                  <a:pt x="2921000" y="101604"/>
                </a:cubicBezTo>
                <a:lnTo>
                  <a:pt x="2921000" y="1092196"/>
                </a:lnTo>
                <a:cubicBezTo>
                  <a:pt x="2921000" y="1148310"/>
                  <a:pt x="2875510" y="1193800"/>
                  <a:pt x="2819396" y="1193800"/>
                </a:cubicBezTo>
                <a:lnTo>
                  <a:pt x="101604" y="1193800"/>
                </a:lnTo>
                <a:cubicBezTo>
                  <a:pt x="45490" y="1193800"/>
                  <a:pt x="0" y="1148310"/>
                  <a:pt x="0" y="1092196"/>
                </a:cubicBezTo>
                <a:lnTo>
                  <a:pt x="0" y="101604"/>
                </a:lnTo>
                <a:cubicBezTo>
                  <a:pt x="0" y="45527"/>
                  <a:pt x="45527" y="0"/>
                  <a:pt x="101604" y="0"/>
                </a:cubicBezTo>
                <a:close/>
              </a:path>
            </a:pathLst>
          </a:custGeom>
          <a:solidFill>
            <a:srgbClr val="D3B9D7">
              <a:alpha val="25098"/>
            </a:srgbClr>
          </a:solidFill>
          <a:ln/>
        </p:spPr>
        <p:txBody>
          <a:bodyPr/>
          <a:lstStyle/>
          <a:p>
            <a:endParaRPr lang="zh-CN" altLang="en-US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7" name="Shape 4"/>
          <p:cNvSpPr/>
          <p:nvPr/>
        </p:nvSpPr>
        <p:spPr>
          <a:xfrm>
            <a:off x="1743075" y="29337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309563" y="154781"/>
                </a:moveTo>
                <a:cubicBezTo>
                  <a:pt x="309563" y="188937"/>
                  <a:pt x="298475" y="220489"/>
                  <a:pt x="279797" y="246087"/>
                </a:cubicBezTo>
                <a:lnTo>
                  <a:pt x="374005" y="340370"/>
                </a:lnTo>
                <a:cubicBezTo>
                  <a:pt x="383307" y="349672"/>
                  <a:pt x="383307" y="364778"/>
                  <a:pt x="374005" y="374079"/>
                </a:cubicBezTo>
                <a:cubicBezTo>
                  <a:pt x="364703" y="383381"/>
                  <a:pt x="349597" y="383381"/>
                  <a:pt x="340296" y="374079"/>
                </a:cubicBezTo>
                <a:lnTo>
                  <a:pt x="246087" y="279797"/>
                </a:lnTo>
                <a:cubicBezTo>
                  <a:pt x="220489" y="298475"/>
                  <a:pt x="188937" y="309563"/>
                  <a:pt x="154781" y="309563"/>
                </a:cubicBezTo>
                <a:cubicBezTo>
                  <a:pt x="69279" y="309563"/>
                  <a:pt x="0" y="240283"/>
                  <a:pt x="0" y="154781"/>
                </a:cubicBezTo>
                <a:cubicBezTo>
                  <a:pt x="0" y="69279"/>
                  <a:pt x="69279" y="0"/>
                  <a:pt x="154781" y="0"/>
                </a:cubicBezTo>
                <a:cubicBezTo>
                  <a:pt x="240283" y="0"/>
                  <a:pt x="309563" y="69279"/>
                  <a:pt x="309563" y="154781"/>
                </a:cubicBezTo>
                <a:close/>
                <a:moveTo>
                  <a:pt x="154781" y="261938"/>
                </a:moveTo>
                <a:cubicBezTo>
                  <a:pt x="213922" y="261938"/>
                  <a:pt x="261938" y="213922"/>
                  <a:pt x="261938" y="154781"/>
                </a:cubicBezTo>
                <a:cubicBezTo>
                  <a:pt x="261938" y="95640"/>
                  <a:pt x="213922" y="47625"/>
                  <a:pt x="154781" y="47625"/>
                </a:cubicBezTo>
                <a:cubicBezTo>
                  <a:pt x="95640" y="47625"/>
                  <a:pt x="47625" y="95640"/>
                  <a:pt x="47625" y="154781"/>
                </a:cubicBezTo>
                <a:cubicBezTo>
                  <a:pt x="47625" y="213922"/>
                  <a:pt x="95640" y="261938"/>
                  <a:pt x="154781" y="261938"/>
                </a:cubicBezTo>
                <a:close/>
              </a:path>
            </a:pathLst>
          </a:custGeom>
          <a:solidFill>
            <a:srgbClr val="A95EAF"/>
          </a:solidFill>
          <a:ln/>
        </p:spPr>
        <p:txBody>
          <a:bodyPr/>
          <a:lstStyle/>
          <a:p>
            <a:endParaRPr lang="zh-CN" altLang="en-US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8" name="Text 5"/>
          <p:cNvSpPr/>
          <p:nvPr/>
        </p:nvSpPr>
        <p:spPr>
          <a:xfrm>
            <a:off x="1473200" y="3416300"/>
            <a:ext cx="914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b="1" dirty="0">
                <a:solidFill>
                  <a:srgbClr val="3C3542"/>
                </a:solidFill>
                <a:latin typeface="KaiTi" panose="02010609060101010101" pitchFamily="49" charset="-122"/>
                <a:ea typeface="KaiTi" panose="02010609060101010101" pitchFamily="49" charset="-122"/>
                <a:cs typeface="Noto Sans SC" pitchFamily="34" charset="-120"/>
              </a:rPr>
              <a:t>查询解析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9" name="Text 6"/>
          <p:cNvSpPr/>
          <p:nvPr/>
        </p:nvSpPr>
        <p:spPr>
          <a:xfrm>
            <a:off x="1587500" y="3721100"/>
            <a:ext cx="6858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200" dirty="0">
                <a:solidFill>
                  <a:srgbClr val="3C3542"/>
                </a:solidFill>
                <a:latin typeface="KaiTi" panose="02010609060101010101" pitchFamily="49" charset="-122"/>
                <a:ea typeface="KaiTi" panose="02010609060101010101" pitchFamily="49" charset="-122"/>
                <a:cs typeface="Noto Sans SC" pitchFamily="34" charset="-120"/>
              </a:rPr>
              <a:t>结果缓存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3917950" y="3276600"/>
            <a:ext cx="190500" cy="304800"/>
          </a:xfrm>
          <a:custGeom>
            <a:avLst/>
            <a:gdLst/>
            <a:ahLst/>
            <a:cxnLst/>
            <a:rect l="l" t="t" r="r" b="b"/>
            <a:pathLst>
              <a:path w="190500" h="304800">
                <a:moveTo>
                  <a:pt x="185202" y="138946"/>
                </a:moveTo>
                <a:cubicBezTo>
                  <a:pt x="192643" y="146387"/>
                  <a:pt x="192643" y="158472"/>
                  <a:pt x="185202" y="165914"/>
                </a:cubicBezTo>
                <a:lnTo>
                  <a:pt x="70902" y="280214"/>
                </a:lnTo>
                <a:cubicBezTo>
                  <a:pt x="63460" y="287655"/>
                  <a:pt x="51375" y="287655"/>
                  <a:pt x="43934" y="280214"/>
                </a:cubicBezTo>
                <a:cubicBezTo>
                  <a:pt x="36493" y="272772"/>
                  <a:pt x="36493" y="260687"/>
                  <a:pt x="43934" y="253246"/>
                </a:cubicBezTo>
                <a:lnTo>
                  <a:pt x="144780" y="152400"/>
                </a:lnTo>
                <a:lnTo>
                  <a:pt x="43994" y="51554"/>
                </a:lnTo>
                <a:cubicBezTo>
                  <a:pt x="36552" y="44113"/>
                  <a:pt x="36552" y="32028"/>
                  <a:pt x="43994" y="24586"/>
                </a:cubicBezTo>
                <a:cubicBezTo>
                  <a:pt x="51435" y="17145"/>
                  <a:pt x="63520" y="17145"/>
                  <a:pt x="70961" y="24586"/>
                </a:cubicBezTo>
                <a:lnTo>
                  <a:pt x="185261" y="138886"/>
                </a:lnTo>
                <a:close/>
              </a:path>
            </a:pathLst>
          </a:custGeom>
          <a:solidFill>
            <a:srgbClr val="99A1AF"/>
          </a:solidFill>
          <a:ln/>
        </p:spPr>
        <p:txBody>
          <a:bodyPr/>
          <a:lstStyle/>
          <a:p>
            <a:endParaRPr lang="zh-CN" altLang="en-US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4635500" y="2832100"/>
            <a:ext cx="2921000" cy="1193800"/>
          </a:xfrm>
          <a:custGeom>
            <a:avLst/>
            <a:gdLst/>
            <a:ahLst/>
            <a:cxnLst/>
            <a:rect l="l" t="t" r="r" b="b"/>
            <a:pathLst>
              <a:path w="2921000" h="1193800">
                <a:moveTo>
                  <a:pt x="101604" y="0"/>
                </a:moveTo>
                <a:lnTo>
                  <a:pt x="2819396" y="0"/>
                </a:lnTo>
                <a:cubicBezTo>
                  <a:pt x="2875510" y="0"/>
                  <a:pt x="2921000" y="45490"/>
                  <a:pt x="2921000" y="101604"/>
                </a:cubicBezTo>
                <a:lnTo>
                  <a:pt x="2921000" y="1092196"/>
                </a:lnTo>
                <a:cubicBezTo>
                  <a:pt x="2921000" y="1148310"/>
                  <a:pt x="2875510" y="1193800"/>
                  <a:pt x="2819396" y="1193800"/>
                </a:cubicBezTo>
                <a:lnTo>
                  <a:pt x="101604" y="1193800"/>
                </a:lnTo>
                <a:cubicBezTo>
                  <a:pt x="45490" y="1193800"/>
                  <a:pt x="0" y="1148310"/>
                  <a:pt x="0" y="1092196"/>
                </a:cubicBezTo>
                <a:lnTo>
                  <a:pt x="0" y="101604"/>
                </a:lnTo>
                <a:cubicBezTo>
                  <a:pt x="0" y="45527"/>
                  <a:pt x="45527" y="0"/>
                  <a:pt x="101604" y="0"/>
                </a:cubicBezTo>
                <a:close/>
              </a:path>
            </a:pathLst>
          </a:custGeom>
          <a:solidFill>
            <a:srgbClr val="D3B9D7">
              <a:alpha val="25098"/>
            </a:srgbClr>
          </a:solidFill>
          <a:ln/>
        </p:spPr>
        <p:txBody>
          <a:bodyPr/>
          <a:lstStyle/>
          <a:p>
            <a:endParaRPr lang="zh-CN" altLang="en-US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5908675" y="29337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73013" y="3870"/>
                </a:moveTo>
                <a:cubicBezTo>
                  <a:pt x="184100" y="-1265"/>
                  <a:pt x="196900" y="-1265"/>
                  <a:pt x="207987" y="3870"/>
                </a:cubicBezTo>
                <a:lnTo>
                  <a:pt x="370656" y="79028"/>
                </a:lnTo>
                <a:cubicBezTo>
                  <a:pt x="376982" y="81930"/>
                  <a:pt x="381000" y="88255"/>
                  <a:pt x="381000" y="95250"/>
                </a:cubicBezTo>
                <a:cubicBezTo>
                  <a:pt x="381000" y="102245"/>
                  <a:pt x="376982" y="108570"/>
                  <a:pt x="370656" y="111472"/>
                </a:cubicBezTo>
                <a:lnTo>
                  <a:pt x="207987" y="186630"/>
                </a:lnTo>
                <a:cubicBezTo>
                  <a:pt x="196900" y="191765"/>
                  <a:pt x="184100" y="191765"/>
                  <a:pt x="173013" y="186630"/>
                </a:cubicBezTo>
                <a:lnTo>
                  <a:pt x="10344" y="111472"/>
                </a:lnTo>
                <a:cubicBezTo>
                  <a:pt x="4018" y="108496"/>
                  <a:pt x="0" y="102171"/>
                  <a:pt x="0" y="95250"/>
                </a:cubicBezTo>
                <a:cubicBezTo>
                  <a:pt x="0" y="88329"/>
                  <a:pt x="4018" y="81930"/>
                  <a:pt x="10344" y="79028"/>
                </a:cubicBezTo>
                <a:lnTo>
                  <a:pt x="173013" y="3870"/>
                </a:lnTo>
                <a:close/>
                <a:moveTo>
                  <a:pt x="35793" y="162520"/>
                </a:moveTo>
                <a:lnTo>
                  <a:pt x="158055" y="219001"/>
                </a:lnTo>
                <a:cubicBezTo>
                  <a:pt x="178668" y="228526"/>
                  <a:pt x="202406" y="228526"/>
                  <a:pt x="223019" y="219001"/>
                </a:cubicBezTo>
                <a:lnTo>
                  <a:pt x="345281" y="162520"/>
                </a:lnTo>
                <a:lnTo>
                  <a:pt x="370656" y="174278"/>
                </a:lnTo>
                <a:cubicBezTo>
                  <a:pt x="376982" y="177180"/>
                  <a:pt x="381000" y="183505"/>
                  <a:pt x="381000" y="190500"/>
                </a:cubicBezTo>
                <a:cubicBezTo>
                  <a:pt x="381000" y="197495"/>
                  <a:pt x="376982" y="203820"/>
                  <a:pt x="370656" y="206722"/>
                </a:cubicBezTo>
                <a:lnTo>
                  <a:pt x="207987" y="281880"/>
                </a:lnTo>
                <a:cubicBezTo>
                  <a:pt x="196900" y="287015"/>
                  <a:pt x="184100" y="287015"/>
                  <a:pt x="173013" y="281880"/>
                </a:cubicBezTo>
                <a:lnTo>
                  <a:pt x="10344" y="206722"/>
                </a:lnTo>
                <a:cubicBezTo>
                  <a:pt x="4018" y="203746"/>
                  <a:pt x="0" y="197421"/>
                  <a:pt x="0" y="190500"/>
                </a:cubicBezTo>
                <a:cubicBezTo>
                  <a:pt x="0" y="183579"/>
                  <a:pt x="4018" y="177180"/>
                  <a:pt x="10344" y="174278"/>
                </a:cubicBezTo>
                <a:lnTo>
                  <a:pt x="35719" y="162520"/>
                </a:lnTo>
                <a:close/>
                <a:moveTo>
                  <a:pt x="10344" y="269528"/>
                </a:moveTo>
                <a:lnTo>
                  <a:pt x="35719" y="257770"/>
                </a:lnTo>
                <a:lnTo>
                  <a:pt x="157981" y="314251"/>
                </a:lnTo>
                <a:cubicBezTo>
                  <a:pt x="178594" y="323776"/>
                  <a:pt x="202332" y="323776"/>
                  <a:pt x="222945" y="314251"/>
                </a:cubicBezTo>
                <a:lnTo>
                  <a:pt x="345207" y="257770"/>
                </a:lnTo>
                <a:lnTo>
                  <a:pt x="370582" y="269528"/>
                </a:lnTo>
                <a:cubicBezTo>
                  <a:pt x="376907" y="272430"/>
                  <a:pt x="380926" y="278755"/>
                  <a:pt x="380926" y="285750"/>
                </a:cubicBezTo>
                <a:cubicBezTo>
                  <a:pt x="380926" y="292745"/>
                  <a:pt x="376907" y="299070"/>
                  <a:pt x="370582" y="301972"/>
                </a:cubicBezTo>
                <a:lnTo>
                  <a:pt x="207913" y="377130"/>
                </a:lnTo>
                <a:cubicBezTo>
                  <a:pt x="196825" y="382265"/>
                  <a:pt x="184026" y="382265"/>
                  <a:pt x="172938" y="377130"/>
                </a:cubicBezTo>
                <a:lnTo>
                  <a:pt x="10344" y="301972"/>
                </a:lnTo>
                <a:cubicBezTo>
                  <a:pt x="4018" y="298996"/>
                  <a:pt x="0" y="292671"/>
                  <a:pt x="0" y="285750"/>
                </a:cubicBezTo>
                <a:cubicBezTo>
                  <a:pt x="0" y="278829"/>
                  <a:pt x="4018" y="272430"/>
                  <a:pt x="10344" y="269528"/>
                </a:cubicBezTo>
                <a:close/>
              </a:path>
            </a:pathLst>
          </a:custGeom>
          <a:solidFill>
            <a:srgbClr val="A95EAF"/>
          </a:solidFill>
          <a:ln/>
        </p:spPr>
        <p:txBody>
          <a:bodyPr/>
          <a:lstStyle/>
          <a:p>
            <a:endParaRPr lang="zh-CN" altLang="en-US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5638800" y="3416300"/>
            <a:ext cx="914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b="1" dirty="0">
                <a:solidFill>
                  <a:srgbClr val="3C3542"/>
                </a:solidFill>
                <a:latin typeface="KaiTi" panose="02010609060101010101" pitchFamily="49" charset="-122"/>
                <a:ea typeface="KaiTi" panose="02010609060101010101" pitchFamily="49" charset="-122"/>
                <a:cs typeface="Noto Sans SC" pitchFamily="34" charset="-120"/>
              </a:rPr>
              <a:t>多级缓存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5438279" y="3721100"/>
            <a:ext cx="13208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200" dirty="0">
                <a:solidFill>
                  <a:srgbClr val="3C3542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RowCache (92%)</a:t>
            </a:r>
            <a:endParaRPr lang="en-US" sz="1600" dirty="0">
              <a:latin typeface="Calibri" panose="020F0502020204030204" pitchFamily="34" charset="0"/>
              <a:ea typeface="KaiTi" panose="02010609060101010101" pitchFamily="49" charset="-122"/>
              <a:cs typeface="Calibri" panose="020F0502020204030204" pitchFamily="34" charset="0"/>
            </a:endParaRPr>
          </a:p>
        </p:txBody>
      </p:sp>
      <p:sp>
        <p:nvSpPr>
          <p:cNvPr id="15" name="Shape 12"/>
          <p:cNvSpPr/>
          <p:nvPr/>
        </p:nvSpPr>
        <p:spPr>
          <a:xfrm>
            <a:off x="8083550" y="3276600"/>
            <a:ext cx="190500" cy="304800"/>
          </a:xfrm>
          <a:custGeom>
            <a:avLst/>
            <a:gdLst/>
            <a:ahLst/>
            <a:cxnLst/>
            <a:rect l="l" t="t" r="r" b="b"/>
            <a:pathLst>
              <a:path w="190500" h="304800">
                <a:moveTo>
                  <a:pt x="185202" y="138946"/>
                </a:moveTo>
                <a:cubicBezTo>
                  <a:pt x="192643" y="146387"/>
                  <a:pt x="192643" y="158472"/>
                  <a:pt x="185202" y="165914"/>
                </a:cubicBezTo>
                <a:lnTo>
                  <a:pt x="70902" y="280214"/>
                </a:lnTo>
                <a:cubicBezTo>
                  <a:pt x="63460" y="287655"/>
                  <a:pt x="51375" y="287655"/>
                  <a:pt x="43934" y="280214"/>
                </a:cubicBezTo>
                <a:cubicBezTo>
                  <a:pt x="36493" y="272772"/>
                  <a:pt x="36493" y="260687"/>
                  <a:pt x="43934" y="253246"/>
                </a:cubicBezTo>
                <a:lnTo>
                  <a:pt x="144780" y="152400"/>
                </a:lnTo>
                <a:lnTo>
                  <a:pt x="43994" y="51554"/>
                </a:lnTo>
                <a:cubicBezTo>
                  <a:pt x="36552" y="44113"/>
                  <a:pt x="36552" y="32028"/>
                  <a:pt x="43994" y="24586"/>
                </a:cubicBezTo>
                <a:cubicBezTo>
                  <a:pt x="51435" y="17145"/>
                  <a:pt x="63520" y="17145"/>
                  <a:pt x="70961" y="24586"/>
                </a:cubicBezTo>
                <a:lnTo>
                  <a:pt x="185261" y="138886"/>
                </a:lnTo>
                <a:close/>
              </a:path>
            </a:pathLst>
          </a:custGeom>
          <a:solidFill>
            <a:srgbClr val="99A1AF"/>
          </a:solidFill>
          <a:ln/>
        </p:spPr>
        <p:txBody>
          <a:bodyPr/>
          <a:lstStyle/>
          <a:p>
            <a:endParaRPr lang="zh-CN" altLang="en-US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16" name="Shape 13"/>
          <p:cNvSpPr/>
          <p:nvPr/>
        </p:nvSpPr>
        <p:spPr>
          <a:xfrm>
            <a:off x="8801100" y="2832100"/>
            <a:ext cx="2921000" cy="1193800"/>
          </a:xfrm>
          <a:custGeom>
            <a:avLst/>
            <a:gdLst/>
            <a:ahLst/>
            <a:cxnLst/>
            <a:rect l="l" t="t" r="r" b="b"/>
            <a:pathLst>
              <a:path w="2921000" h="1193800">
                <a:moveTo>
                  <a:pt x="101604" y="0"/>
                </a:moveTo>
                <a:lnTo>
                  <a:pt x="2819396" y="0"/>
                </a:lnTo>
                <a:cubicBezTo>
                  <a:pt x="2875510" y="0"/>
                  <a:pt x="2921000" y="45490"/>
                  <a:pt x="2921000" y="101604"/>
                </a:cubicBezTo>
                <a:lnTo>
                  <a:pt x="2921000" y="1092196"/>
                </a:lnTo>
                <a:cubicBezTo>
                  <a:pt x="2921000" y="1148310"/>
                  <a:pt x="2875510" y="1193800"/>
                  <a:pt x="2819396" y="1193800"/>
                </a:cubicBezTo>
                <a:lnTo>
                  <a:pt x="101604" y="1193800"/>
                </a:lnTo>
                <a:cubicBezTo>
                  <a:pt x="45490" y="1193800"/>
                  <a:pt x="0" y="1148310"/>
                  <a:pt x="0" y="1092196"/>
                </a:cubicBezTo>
                <a:lnTo>
                  <a:pt x="0" y="101604"/>
                </a:lnTo>
                <a:cubicBezTo>
                  <a:pt x="0" y="45527"/>
                  <a:pt x="45527" y="0"/>
                  <a:pt x="101604" y="0"/>
                </a:cubicBezTo>
                <a:close/>
              </a:path>
            </a:pathLst>
          </a:custGeom>
          <a:solidFill>
            <a:srgbClr val="D3B9D7">
              <a:alpha val="25098"/>
            </a:srgbClr>
          </a:solidFill>
          <a:ln/>
        </p:spPr>
        <p:txBody>
          <a:bodyPr/>
          <a:lstStyle/>
          <a:p>
            <a:endParaRPr lang="zh-CN" altLang="en-US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17" name="Shape 14"/>
          <p:cNvSpPr/>
          <p:nvPr/>
        </p:nvSpPr>
        <p:spPr>
          <a:xfrm>
            <a:off x="10098088" y="2933700"/>
            <a:ext cx="333375" cy="381000"/>
          </a:xfrm>
          <a:custGeom>
            <a:avLst/>
            <a:gdLst/>
            <a:ahLst/>
            <a:cxnLst/>
            <a:rect l="l" t="t" r="r" b="b"/>
            <a:pathLst>
              <a:path w="333375" h="381000">
                <a:moveTo>
                  <a:pt x="333375" y="153144"/>
                </a:moveTo>
                <a:cubicBezTo>
                  <a:pt x="322362" y="160437"/>
                  <a:pt x="309711" y="166315"/>
                  <a:pt x="296540" y="171004"/>
                </a:cubicBezTo>
                <a:cubicBezTo>
                  <a:pt x="261565" y="183505"/>
                  <a:pt x="215652" y="190500"/>
                  <a:pt x="166688" y="190500"/>
                </a:cubicBezTo>
                <a:cubicBezTo>
                  <a:pt x="117723" y="190500"/>
                  <a:pt x="71735" y="183431"/>
                  <a:pt x="36835" y="171004"/>
                </a:cubicBezTo>
                <a:cubicBezTo>
                  <a:pt x="23738" y="166315"/>
                  <a:pt x="11013" y="160437"/>
                  <a:pt x="0" y="153144"/>
                </a:cubicBezTo>
                <a:lnTo>
                  <a:pt x="0" y="214313"/>
                </a:lnTo>
                <a:cubicBezTo>
                  <a:pt x="0" y="247204"/>
                  <a:pt x="74637" y="273844"/>
                  <a:pt x="166688" y="273844"/>
                </a:cubicBezTo>
                <a:cubicBezTo>
                  <a:pt x="258738" y="273844"/>
                  <a:pt x="333375" y="247204"/>
                  <a:pt x="333375" y="214313"/>
                </a:cubicBezTo>
                <a:lnTo>
                  <a:pt x="333375" y="153144"/>
                </a:lnTo>
                <a:close/>
                <a:moveTo>
                  <a:pt x="333375" y="95250"/>
                </a:moveTo>
                <a:lnTo>
                  <a:pt x="333375" y="59531"/>
                </a:lnTo>
                <a:cubicBezTo>
                  <a:pt x="333375" y="26640"/>
                  <a:pt x="258738" y="0"/>
                  <a:pt x="166688" y="0"/>
                </a:cubicBezTo>
                <a:cubicBezTo>
                  <a:pt x="74637" y="0"/>
                  <a:pt x="0" y="26640"/>
                  <a:pt x="0" y="59531"/>
                </a:cubicBezTo>
                <a:lnTo>
                  <a:pt x="0" y="95250"/>
                </a:lnTo>
                <a:cubicBezTo>
                  <a:pt x="0" y="128141"/>
                  <a:pt x="74637" y="154781"/>
                  <a:pt x="166688" y="154781"/>
                </a:cubicBezTo>
                <a:cubicBezTo>
                  <a:pt x="258738" y="154781"/>
                  <a:pt x="333375" y="128141"/>
                  <a:pt x="333375" y="95250"/>
                </a:cubicBezTo>
                <a:close/>
                <a:moveTo>
                  <a:pt x="296540" y="290066"/>
                </a:moveTo>
                <a:cubicBezTo>
                  <a:pt x="261640" y="302493"/>
                  <a:pt x="215726" y="309563"/>
                  <a:pt x="166688" y="309563"/>
                </a:cubicBezTo>
                <a:cubicBezTo>
                  <a:pt x="117649" y="309563"/>
                  <a:pt x="71735" y="302493"/>
                  <a:pt x="36835" y="290066"/>
                </a:cubicBezTo>
                <a:cubicBezTo>
                  <a:pt x="23738" y="285378"/>
                  <a:pt x="11013" y="279499"/>
                  <a:pt x="0" y="272207"/>
                </a:cubicBezTo>
                <a:lnTo>
                  <a:pt x="0" y="321469"/>
                </a:lnTo>
                <a:cubicBezTo>
                  <a:pt x="0" y="354360"/>
                  <a:pt x="74637" y="381000"/>
                  <a:pt x="166688" y="381000"/>
                </a:cubicBezTo>
                <a:cubicBezTo>
                  <a:pt x="258738" y="381000"/>
                  <a:pt x="333375" y="354360"/>
                  <a:pt x="333375" y="321469"/>
                </a:cubicBezTo>
                <a:lnTo>
                  <a:pt x="333375" y="272207"/>
                </a:lnTo>
                <a:cubicBezTo>
                  <a:pt x="322362" y="279499"/>
                  <a:pt x="309711" y="285378"/>
                  <a:pt x="296540" y="290066"/>
                </a:cubicBezTo>
                <a:close/>
              </a:path>
            </a:pathLst>
          </a:custGeom>
          <a:solidFill>
            <a:srgbClr val="A95EAF"/>
          </a:solidFill>
          <a:ln/>
        </p:spPr>
        <p:txBody>
          <a:bodyPr/>
          <a:lstStyle/>
          <a:p>
            <a:endParaRPr lang="zh-CN" altLang="en-US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9813330" y="3416300"/>
            <a:ext cx="901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b="1" dirty="0">
                <a:solidFill>
                  <a:srgbClr val="3C3542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SSTable</a:t>
            </a:r>
            <a:endParaRPr lang="en-US" sz="1600" dirty="0">
              <a:latin typeface="Calibri" panose="020F0502020204030204" pitchFamily="34" charset="0"/>
              <a:ea typeface="KaiTi" panose="02010609060101010101" pitchFamily="49" charset="-122"/>
              <a:cs typeface="Calibri" panose="020F0502020204030204" pitchFamily="34" charset="0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9842500" y="3721100"/>
            <a:ext cx="8382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200" dirty="0">
                <a:solidFill>
                  <a:srgbClr val="3C3542"/>
                </a:solidFill>
                <a:latin typeface="KaiTi" panose="02010609060101010101" pitchFamily="49" charset="-122"/>
                <a:ea typeface="KaiTi" panose="02010609060101010101" pitchFamily="49" charset="-122"/>
                <a:cs typeface="Noto Sans SC" pitchFamily="34" charset="-120"/>
              </a:rPr>
              <a:t>布隆过滤器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20" name="Shape 17"/>
          <p:cNvSpPr/>
          <p:nvPr/>
        </p:nvSpPr>
        <p:spPr>
          <a:xfrm>
            <a:off x="254000" y="4229100"/>
            <a:ext cx="11684000" cy="50800"/>
          </a:xfrm>
          <a:custGeom>
            <a:avLst/>
            <a:gdLst/>
            <a:ahLst/>
            <a:cxnLst/>
            <a:rect l="l" t="t" r="r" b="b"/>
            <a:pathLst>
              <a:path w="11684000" h="50800">
                <a:moveTo>
                  <a:pt x="25400" y="0"/>
                </a:moveTo>
                <a:lnTo>
                  <a:pt x="11658600" y="0"/>
                </a:lnTo>
                <a:cubicBezTo>
                  <a:pt x="11672619" y="0"/>
                  <a:pt x="11684000" y="11381"/>
                  <a:pt x="11684000" y="25400"/>
                </a:cubicBezTo>
                <a:lnTo>
                  <a:pt x="11684000" y="25400"/>
                </a:lnTo>
                <a:cubicBezTo>
                  <a:pt x="11684000" y="39419"/>
                  <a:pt x="11672619" y="50800"/>
                  <a:pt x="11658600" y="50800"/>
                </a:cubicBezTo>
                <a:lnTo>
                  <a:pt x="25400" y="50800"/>
                </a:lnTo>
                <a:cubicBezTo>
                  <a:pt x="11381" y="50800"/>
                  <a:pt x="0" y="39419"/>
                  <a:pt x="0" y="25400"/>
                </a:cubicBezTo>
                <a:lnTo>
                  <a:pt x="0" y="25400"/>
                </a:lnTo>
                <a:cubicBezTo>
                  <a:pt x="0" y="11381"/>
                  <a:pt x="11381" y="0"/>
                  <a:pt x="25400" y="0"/>
                </a:cubicBezTo>
                <a:close/>
              </a:path>
            </a:pathLst>
          </a:custGeom>
          <a:gradFill flip="none" rotWithShape="1">
            <a:gsLst>
              <a:gs pos="0">
                <a:srgbClr val="D3B9D7"/>
              </a:gs>
              <a:gs pos="100000">
                <a:srgbClr val="8F5C9A"/>
              </a:gs>
            </a:gsLst>
            <a:lin ang="0" scaled="1"/>
          </a:gradFill>
          <a:ln/>
        </p:spPr>
        <p:txBody>
          <a:bodyPr/>
          <a:lstStyle/>
          <a:p>
            <a:endParaRPr lang="zh-CN" altLang="en-US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457200" y="4483100"/>
            <a:ext cx="20447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3C3542"/>
                </a:solidFill>
                <a:latin typeface="KaiTi" panose="02010609060101010101" pitchFamily="49" charset="-122"/>
                <a:ea typeface="KaiTi" panose="02010609060101010101" pitchFamily="49" charset="-122"/>
                <a:cs typeface="Noto Sans SC" pitchFamily="34" charset="-120"/>
              </a:rPr>
              <a:t>线上P99延迟: </a:t>
            </a:r>
            <a:r>
              <a:rPr lang="en-US" sz="1800" b="1" dirty="0">
                <a:solidFill>
                  <a:srgbClr val="8F5C9A"/>
                </a:solidFill>
                <a:latin typeface="KaiTi" panose="02010609060101010101" pitchFamily="49" charset="-122"/>
                <a:ea typeface="KaiTi" panose="02010609060101010101" pitchFamily="49" charset="-122"/>
                <a:cs typeface="Noto Sans SC" pitchFamily="34" charset="-120"/>
              </a:rPr>
              <a:t>&lt; 80ms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22" name="Text 19"/>
          <p:cNvSpPr/>
          <p:nvPr/>
        </p:nvSpPr>
        <p:spPr>
          <a:xfrm>
            <a:off x="10003036" y="4483100"/>
            <a:ext cx="18161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3C3542"/>
                </a:solidFill>
                <a:latin typeface="KaiTi" panose="02010609060101010101" pitchFamily="49" charset="-122"/>
                <a:ea typeface="KaiTi" panose="02010609060101010101" pitchFamily="49" charset="-122"/>
                <a:cs typeface="Noto Sans SC" pitchFamily="34" charset="-120"/>
              </a:rPr>
              <a:t>缓存预热: </a:t>
            </a:r>
            <a:r>
              <a:rPr lang="en-US" sz="1800" b="1" dirty="0">
                <a:solidFill>
                  <a:srgbClr val="8F5C9A"/>
                </a:solidFill>
                <a:latin typeface="KaiTi" panose="02010609060101010101" pitchFamily="49" charset="-122"/>
                <a:ea typeface="KaiTi" panose="02010609060101010101" pitchFamily="49" charset="-122"/>
                <a:cs typeface="Noto Sans SC" pitchFamily="34" charset="-120"/>
              </a:rPr>
              <a:t>热点域名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</p:spTree>
  </p:cSld>
  <p:clrMapOvr>
    <a:masterClrMapping/>
  </p:clrMapOvr>
  <p:transition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2"/>
          <p:cNvSpPr/>
          <p:nvPr/>
        </p:nvSpPr>
        <p:spPr>
          <a:xfrm>
            <a:off x="3213100" y="2209800"/>
            <a:ext cx="57658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3600" b="1" dirty="0">
                <a:solidFill>
                  <a:srgbClr val="8F5C9A"/>
                </a:solidFill>
                <a:latin typeface="KaiTi" panose="02010609060101010101" pitchFamily="49" charset="-122"/>
                <a:ea typeface="KaiTi" panose="02010609060101010101" pitchFamily="49" charset="-122"/>
                <a:cs typeface="Noto Sans SC" pitchFamily="34" charset="-120"/>
              </a:rPr>
              <a:t>跨地域复制与故障演练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6" name="Text 3"/>
          <p:cNvSpPr/>
          <p:nvPr/>
        </p:nvSpPr>
        <p:spPr>
          <a:xfrm>
            <a:off x="3158181" y="2921000"/>
            <a:ext cx="587563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dirty="0">
                <a:solidFill>
                  <a:srgbClr val="3C3542"/>
                </a:solidFill>
                <a:latin typeface="KaiTi" panose="02010609060101010101" pitchFamily="49" charset="-122"/>
                <a:ea typeface="KaiTi" panose="02010609060101010101" pitchFamily="49" charset="-122"/>
                <a:cs typeface="Noto Sans SC" pitchFamily="34" charset="-120"/>
              </a:rPr>
              <a:t>为保障全球服务可用性，采用跨洲三集群异步复制架构。</a:t>
            </a:r>
            <a:endParaRPr lang="en-US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7" name="Text 4"/>
          <p:cNvSpPr/>
          <p:nvPr/>
        </p:nvSpPr>
        <p:spPr>
          <a:xfrm>
            <a:off x="2659835" y="3429000"/>
            <a:ext cx="6872330" cy="15137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54000" indent="-25400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600" b="1" dirty="0">
                <a:solidFill>
                  <a:srgbClr val="3C3542"/>
                </a:solidFill>
                <a:latin typeface="KaiTi" panose="02010609060101010101" pitchFamily="49" charset="-122"/>
                <a:ea typeface="KaiTi" panose="02010609060101010101" pitchFamily="49" charset="-122"/>
                <a:cs typeface="Noto Sans SC" pitchFamily="34" charset="-120"/>
              </a:rPr>
              <a:t>异步复制:</a:t>
            </a:r>
            <a:r>
              <a:rPr lang="en-US" sz="1600" dirty="0">
                <a:solidFill>
                  <a:srgbClr val="3C3542"/>
                </a:solidFill>
                <a:latin typeface="KaiTi" panose="02010609060101010101" pitchFamily="49" charset="-122"/>
                <a:ea typeface="KaiTi" panose="02010609060101010101" pitchFamily="49" charset="-122"/>
                <a:cs typeface="Noto Sans SC" pitchFamily="34" charset="-120"/>
              </a:rPr>
              <a:t> </a:t>
            </a:r>
            <a:r>
              <a:rPr lang="en-US" sz="1600" dirty="0" err="1">
                <a:solidFill>
                  <a:srgbClr val="3C3542"/>
                </a:solidFill>
                <a:latin typeface="KaiTi" panose="02010609060101010101" pitchFamily="49" charset="-122"/>
                <a:ea typeface="KaiTi" panose="02010609060101010101" pitchFamily="49" charset="-122"/>
                <a:cs typeface="Noto Sans SC" pitchFamily="34" charset="-120"/>
              </a:rPr>
              <a:t>主集群落</a:t>
            </a:r>
            <a:r>
              <a:rPr lang="zh-CN" altLang="en-US" sz="1600" dirty="0">
                <a:solidFill>
                  <a:srgbClr val="3C3542"/>
                </a:solidFill>
                <a:latin typeface="KaiTi" panose="02010609060101010101" pitchFamily="49" charset="-122"/>
                <a:ea typeface="KaiTi" panose="02010609060101010101" pitchFamily="49" charset="-122"/>
                <a:cs typeface="Noto Sans SC" pitchFamily="34" charset="-120"/>
              </a:rPr>
              <a:t> </a:t>
            </a:r>
            <a:r>
              <a:rPr lang="en-US" sz="1600" dirty="0">
                <a:solidFill>
                  <a:srgbClr val="3C3542"/>
                </a:solidFill>
                <a:latin typeface="KaiTi" panose="02010609060101010101" pitchFamily="49" charset="-122"/>
                <a:ea typeface="KaiTi" panose="02010609060101010101" pitchFamily="49" charset="-122"/>
                <a:cs typeface="Noto Sans SC" pitchFamily="34" charset="-120"/>
              </a:rPr>
              <a:t>WAL</a:t>
            </a:r>
            <a:r>
              <a:rPr lang="zh-CN" altLang="en-US" sz="1600" dirty="0">
                <a:solidFill>
                  <a:srgbClr val="3C3542"/>
                </a:solidFill>
                <a:latin typeface="KaiTi" panose="02010609060101010101" pitchFamily="49" charset="-122"/>
                <a:ea typeface="KaiTi" panose="02010609060101010101" pitchFamily="49" charset="-122"/>
                <a:cs typeface="Noto Sans SC" pitchFamily="34" charset="-120"/>
              </a:rPr>
              <a:t> </a:t>
            </a:r>
            <a:r>
              <a:rPr lang="en-US" sz="1600" dirty="0" err="1">
                <a:solidFill>
                  <a:srgbClr val="3C3542"/>
                </a:solidFill>
                <a:latin typeface="KaiTi" panose="02010609060101010101" pitchFamily="49" charset="-122"/>
                <a:ea typeface="KaiTi" panose="02010609060101010101" pitchFamily="49" charset="-122"/>
                <a:cs typeface="Noto Sans SC" pitchFamily="34" charset="-120"/>
              </a:rPr>
              <a:t>即返回，通过</a:t>
            </a:r>
            <a:r>
              <a:rPr lang="zh-CN" altLang="en-US" sz="1600" dirty="0">
                <a:solidFill>
                  <a:srgbClr val="3C3542"/>
                </a:solidFill>
                <a:latin typeface="KaiTi" panose="02010609060101010101" pitchFamily="49" charset="-122"/>
                <a:ea typeface="KaiTi" panose="02010609060101010101" pitchFamily="49" charset="-122"/>
                <a:cs typeface="Noto Sans SC" pitchFamily="34" charset="-120"/>
              </a:rPr>
              <a:t> </a:t>
            </a:r>
            <a:r>
              <a:rPr lang="en-US" sz="1600" dirty="0">
                <a:solidFill>
                  <a:srgbClr val="3C3542"/>
                </a:solidFill>
                <a:latin typeface="KaiTi" panose="02010609060101010101" pitchFamily="49" charset="-122"/>
                <a:ea typeface="KaiTi" panose="02010609060101010101" pitchFamily="49" charset="-122"/>
                <a:cs typeface="Noto Sans SC" pitchFamily="34" charset="-120"/>
              </a:rPr>
              <a:t>Replicator</a:t>
            </a:r>
            <a:r>
              <a:rPr lang="zh-CN" altLang="en-US" sz="1600" dirty="0">
                <a:solidFill>
                  <a:srgbClr val="3C3542"/>
                </a:solidFill>
                <a:latin typeface="KaiTi" panose="02010609060101010101" pitchFamily="49" charset="-122"/>
                <a:ea typeface="KaiTi" panose="02010609060101010101" pitchFamily="49" charset="-122"/>
                <a:cs typeface="Noto Sans SC" pitchFamily="34" charset="-120"/>
              </a:rPr>
              <a:t> </a:t>
            </a:r>
            <a:r>
              <a:rPr lang="en-US" sz="1600" dirty="0" err="1">
                <a:solidFill>
                  <a:srgbClr val="3C3542"/>
                </a:solidFill>
                <a:latin typeface="KaiTi" panose="02010609060101010101" pitchFamily="49" charset="-122"/>
                <a:ea typeface="KaiTi" panose="02010609060101010101" pitchFamily="49" charset="-122"/>
                <a:cs typeface="Noto Sans SC" pitchFamily="34" charset="-120"/>
              </a:rPr>
              <a:t>线程写入备集群</a:t>
            </a:r>
            <a:r>
              <a:rPr lang="en-US" sz="1600" dirty="0">
                <a:solidFill>
                  <a:srgbClr val="3C3542"/>
                </a:solidFill>
                <a:latin typeface="KaiTi" panose="02010609060101010101" pitchFamily="49" charset="-122"/>
                <a:ea typeface="KaiTi" panose="02010609060101010101" pitchFamily="49" charset="-122"/>
                <a:cs typeface="Noto Sans SC" pitchFamily="34" charset="-120"/>
              </a:rPr>
              <a:t>。</a:t>
            </a:r>
            <a:endParaRPr lang="en-US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 marL="254000" indent="-25400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600" b="1" dirty="0">
                <a:solidFill>
                  <a:srgbClr val="3C3542"/>
                </a:solidFill>
                <a:latin typeface="KaiTi" panose="02010609060101010101" pitchFamily="49" charset="-122"/>
                <a:ea typeface="KaiTi" panose="02010609060101010101" pitchFamily="49" charset="-122"/>
                <a:cs typeface="Noto Sans SC" pitchFamily="34" charset="-120"/>
              </a:rPr>
              <a:t>最终一致:</a:t>
            </a:r>
            <a:r>
              <a:rPr lang="en-US" sz="1600" dirty="0">
                <a:solidFill>
                  <a:srgbClr val="3C3542"/>
                </a:solidFill>
                <a:latin typeface="KaiTi" panose="02010609060101010101" pitchFamily="49" charset="-122"/>
                <a:ea typeface="KaiTi" panose="02010609060101010101" pitchFamily="49" charset="-122"/>
                <a:cs typeface="Noto Sans SC" pitchFamily="34" charset="-120"/>
              </a:rPr>
              <a:t> 容忍网络分区，备集群读需容忍短暂延迟。</a:t>
            </a:r>
            <a:endParaRPr lang="en-US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 marL="254000" indent="-25400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600" b="1" dirty="0">
                <a:solidFill>
                  <a:srgbClr val="3C3542"/>
                </a:solidFill>
                <a:latin typeface="KaiTi" panose="02010609060101010101" pitchFamily="49" charset="-122"/>
                <a:ea typeface="KaiTi" panose="02010609060101010101" pitchFamily="49" charset="-122"/>
                <a:cs typeface="Noto Sans SC" pitchFamily="34" charset="-120"/>
              </a:rPr>
              <a:t>自动切换:</a:t>
            </a:r>
            <a:r>
              <a:rPr lang="en-US" sz="1600" dirty="0">
                <a:solidFill>
                  <a:srgbClr val="3C3542"/>
                </a:solidFill>
                <a:latin typeface="KaiTi" panose="02010609060101010101" pitchFamily="49" charset="-122"/>
                <a:ea typeface="KaiTi" panose="02010609060101010101" pitchFamily="49" charset="-122"/>
                <a:cs typeface="Noto Sans SC" pitchFamily="34" charset="-120"/>
              </a:rPr>
              <a:t> </a:t>
            </a:r>
            <a:r>
              <a:rPr lang="en-US" sz="1600" dirty="0">
                <a:solidFill>
                  <a:srgbClr val="3C3542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Chubby</a:t>
            </a:r>
            <a:r>
              <a:rPr lang="zh-CN" altLang="en-US" sz="1600" dirty="0">
                <a:solidFill>
                  <a:srgbClr val="3C3542"/>
                </a:solidFill>
                <a:latin typeface="KaiTi" panose="02010609060101010101" pitchFamily="49" charset="-122"/>
                <a:ea typeface="KaiTi" panose="02010609060101010101" pitchFamily="49" charset="-122"/>
                <a:cs typeface="Noto Sans SC" pitchFamily="34" charset="-120"/>
              </a:rPr>
              <a:t> </a:t>
            </a:r>
            <a:r>
              <a:rPr lang="en-US" sz="1600" dirty="0" err="1">
                <a:solidFill>
                  <a:srgbClr val="3C3542"/>
                </a:solidFill>
                <a:latin typeface="KaiTi" panose="02010609060101010101" pitchFamily="49" charset="-122"/>
                <a:ea typeface="KaiTi" panose="02010609060101010101" pitchFamily="49" charset="-122"/>
                <a:cs typeface="Noto Sans SC" pitchFamily="34" charset="-120"/>
              </a:rPr>
              <a:t>租约失效→备集群提升→</a:t>
            </a:r>
            <a:r>
              <a:rPr lang="en-US" sz="1600" dirty="0" err="1">
                <a:solidFill>
                  <a:srgbClr val="3C3542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DNS</a:t>
            </a:r>
            <a:r>
              <a:rPr lang="zh-CN" altLang="en-US" sz="1600" dirty="0">
                <a:solidFill>
                  <a:srgbClr val="3C3542"/>
                </a:solidFill>
                <a:latin typeface="KaiTi" panose="02010609060101010101" pitchFamily="49" charset="-122"/>
                <a:ea typeface="KaiTi" panose="02010609060101010101" pitchFamily="49" charset="-122"/>
                <a:cs typeface="Noto Sans SC" pitchFamily="34" charset="-120"/>
              </a:rPr>
              <a:t> </a:t>
            </a:r>
            <a:r>
              <a:rPr lang="en-US" sz="1600" dirty="0" err="1">
                <a:solidFill>
                  <a:srgbClr val="3C3542"/>
                </a:solidFill>
                <a:latin typeface="KaiTi" panose="02010609060101010101" pitchFamily="49" charset="-122"/>
                <a:ea typeface="KaiTi" panose="02010609060101010101" pitchFamily="49" charset="-122"/>
                <a:cs typeface="Noto Sans SC" pitchFamily="34" charset="-120"/>
              </a:rPr>
              <a:t>重定向，全程</a:t>
            </a:r>
            <a:r>
              <a:rPr lang="en-US" sz="1600" b="1" dirty="0">
                <a:solidFill>
                  <a:srgbClr val="3C3542"/>
                </a:solidFill>
                <a:latin typeface="KaiTi" panose="02010609060101010101" pitchFamily="49" charset="-122"/>
                <a:ea typeface="KaiTi" panose="02010609060101010101" pitchFamily="49" charset="-122"/>
                <a:cs typeface="Noto Sans SC" pitchFamily="34" charset="-120"/>
              </a:rPr>
              <a:t>&lt;60秒</a:t>
            </a:r>
            <a:r>
              <a:rPr lang="en-US" sz="1600" dirty="0">
                <a:solidFill>
                  <a:srgbClr val="3C3542"/>
                </a:solidFill>
                <a:latin typeface="KaiTi" panose="02010609060101010101" pitchFamily="49" charset="-122"/>
                <a:ea typeface="KaiTi" panose="02010609060101010101" pitchFamily="49" charset="-122"/>
                <a:cs typeface="Noto Sans SC" pitchFamily="34" charset="-120"/>
              </a:rPr>
              <a:t>。</a:t>
            </a:r>
            <a:endParaRPr lang="en-US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</p:spTree>
  </p:cSld>
  <p:clrMapOvr>
    <a:masterClrMapping/>
  </p:clrMapOvr>
  <p:transition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4445" y="0"/>
            <a:ext cx="12187555" cy="6875780"/>
          </a:xfrm>
          <a:prstGeom prst="rect">
            <a:avLst/>
          </a:prstGeom>
          <a:gradFill flip="none" rotWithShape="1">
            <a:gsLst>
              <a:gs pos="0">
                <a:srgbClr val="D7B1D4"/>
              </a:gs>
              <a:gs pos="34000">
                <a:srgbClr val="BC7DB7"/>
              </a:gs>
              <a:gs pos="100000">
                <a:srgbClr val="30225F"/>
              </a:gs>
            </a:gsLst>
            <a:lin ang="13500000" scaled="1"/>
          </a:gradFill>
          <a:ln/>
        </p:spPr>
        <p:txBody>
          <a:bodyPr/>
          <a:lstStyle/>
          <a:p>
            <a:endParaRPr lang="zh-CN" altLang="en-US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5" name="Text 3"/>
          <p:cNvSpPr/>
          <p:nvPr/>
        </p:nvSpPr>
        <p:spPr>
          <a:xfrm>
            <a:off x="4445" y="0"/>
            <a:ext cx="12187555" cy="68757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1727190" y="6306820"/>
            <a:ext cx="10080000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852805" y="6177280"/>
            <a:ext cx="259080" cy="25908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852805" y="6177280"/>
            <a:ext cx="259080" cy="2590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979805" y="6177280"/>
            <a:ext cx="259080" cy="259080"/>
          </a:xfrm>
          <a:prstGeom prst="ellipse">
            <a:avLst/>
          </a:prstGeom>
          <a:solidFill>
            <a:srgbClr val="000000">
              <a:alpha val="0"/>
            </a:srgbClr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979805" y="6177280"/>
            <a:ext cx="259080" cy="2590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1863725" y="2687320"/>
            <a:ext cx="8464550" cy="230695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zh-CN" altLang="en-US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1863725" y="2687320"/>
            <a:ext cx="8464550" cy="230695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t"/>
          <a:lstStyle/>
          <a:p>
            <a:pPr algn="ctr">
              <a:lnSpc>
                <a:spcPct val="100000"/>
              </a:lnSpc>
            </a:pPr>
            <a:r>
              <a:rPr lang="en-US" sz="7200" b="1" dirty="0">
                <a:solidFill>
                  <a:srgbClr val="FFFFFF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总结与启示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2515235" y="1350010"/>
            <a:ext cx="7161530" cy="1200329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7200" dirty="0">
                <a:solidFill>
                  <a:srgbClr val="FFFFFF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07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</p:spTree>
  </p:cSld>
  <p:clrMapOvr>
    <a:masterClrMapping/>
  </p:clrMapOvr>
  <p:transition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2"/>
          <p:cNvSpPr/>
          <p:nvPr/>
        </p:nvSpPr>
        <p:spPr>
          <a:xfrm>
            <a:off x="139700" y="2006600"/>
            <a:ext cx="11912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3600" b="1" dirty="0">
                <a:solidFill>
                  <a:srgbClr val="8F5C9A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Bigtable</a:t>
            </a:r>
            <a:r>
              <a:rPr lang="zh-CN" altLang="en-US" sz="3600" b="1" dirty="0">
                <a:solidFill>
                  <a:srgbClr val="8F5C9A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 </a:t>
            </a:r>
            <a:r>
              <a:rPr lang="en-US" sz="3600" b="1" dirty="0" err="1">
                <a:solidFill>
                  <a:srgbClr val="8F5C9A"/>
                </a:solidFill>
                <a:latin typeface="KaiTi" panose="02010609060101010101" pitchFamily="49" charset="-122"/>
                <a:ea typeface="KaiTi" panose="02010609060101010101" pitchFamily="49" charset="-122"/>
                <a:cs typeface="Noto Sans SC" pitchFamily="34" charset="-120"/>
              </a:rPr>
              <a:t>的技术遗产与开源生态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6" name="Text 3"/>
          <p:cNvSpPr/>
          <p:nvPr/>
        </p:nvSpPr>
        <p:spPr>
          <a:xfrm>
            <a:off x="203200" y="2819400"/>
            <a:ext cx="11785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dirty="0">
                <a:solidFill>
                  <a:srgbClr val="3C3542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Bigtable</a:t>
            </a:r>
            <a:r>
              <a:rPr lang="en-US" sz="1600" dirty="0">
                <a:solidFill>
                  <a:srgbClr val="3C3542"/>
                </a:solidFill>
                <a:latin typeface="KaiTi" panose="02010609060101010101" pitchFamily="49" charset="-122"/>
                <a:ea typeface="KaiTi" panose="02010609060101010101" pitchFamily="49" charset="-122"/>
                <a:cs typeface="Noto Sans SC" pitchFamily="34" charset="-120"/>
              </a:rPr>
              <a:t>不仅是一个系统，更是一个技术范式的起点，催生了繁荣的开源生态。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7" name="Shape 4"/>
          <p:cNvSpPr/>
          <p:nvPr/>
        </p:nvSpPr>
        <p:spPr>
          <a:xfrm>
            <a:off x="1972667" y="3429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0" y="71438"/>
                </a:moveTo>
                <a:cubicBezTo>
                  <a:pt x="0" y="47774"/>
                  <a:pt x="19199" y="28575"/>
                  <a:pt x="42863" y="28575"/>
                </a:cubicBezTo>
                <a:lnTo>
                  <a:pt x="128588" y="28575"/>
                </a:lnTo>
                <a:cubicBezTo>
                  <a:pt x="152251" y="28575"/>
                  <a:pt x="171450" y="47774"/>
                  <a:pt x="171450" y="71438"/>
                </a:cubicBezTo>
                <a:lnTo>
                  <a:pt x="171450" y="85725"/>
                </a:lnTo>
                <a:lnTo>
                  <a:pt x="285750" y="85725"/>
                </a:lnTo>
                <a:lnTo>
                  <a:pt x="285750" y="71438"/>
                </a:lnTo>
                <a:cubicBezTo>
                  <a:pt x="285750" y="47774"/>
                  <a:pt x="304949" y="28575"/>
                  <a:pt x="328613" y="28575"/>
                </a:cubicBezTo>
                <a:lnTo>
                  <a:pt x="414338" y="28575"/>
                </a:lnTo>
                <a:cubicBezTo>
                  <a:pt x="438001" y="28575"/>
                  <a:pt x="457200" y="47774"/>
                  <a:pt x="457200" y="71438"/>
                </a:cubicBezTo>
                <a:lnTo>
                  <a:pt x="457200" y="157163"/>
                </a:lnTo>
                <a:cubicBezTo>
                  <a:pt x="457200" y="180826"/>
                  <a:pt x="438001" y="200025"/>
                  <a:pt x="414338" y="200025"/>
                </a:cubicBezTo>
                <a:lnTo>
                  <a:pt x="328613" y="200025"/>
                </a:lnTo>
                <a:cubicBezTo>
                  <a:pt x="304949" y="200025"/>
                  <a:pt x="285750" y="180826"/>
                  <a:pt x="285750" y="157163"/>
                </a:cubicBezTo>
                <a:lnTo>
                  <a:pt x="285750" y="142875"/>
                </a:lnTo>
                <a:lnTo>
                  <a:pt x="171450" y="142875"/>
                </a:lnTo>
                <a:lnTo>
                  <a:pt x="171450" y="157163"/>
                </a:lnTo>
                <a:cubicBezTo>
                  <a:pt x="171450" y="163681"/>
                  <a:pt x="169932" y="169932"/>
                  <a:pt x="167342" y="175468"/>
                </a:cubicBezTo>
                <a:lnTo>
                  <a:pt x="228600" y="257175"/>
                </a:lnTo>
                <a:lnTo>
                  <a:pt x="300038" y="257175"/>
                </a:lnTo>
                <a:cubicBezTo>
                  <a:pt x="323701" y="257175"/>
                  <a:pt x="342900" y="276374"/>
                  <a:pt x="342900" y="300038"/>
                </a:cubicBezTo>
                <a:lnTo>
                  <a:pt x="342900" y="385763"/>
                </a:lnTo>
                <a:cubicBezTo>
                  <a:pt x="342900" y="409426"/>
                  <a:pt x="323701" y="428625"/>
                  <a:pt x="300038" y="428625"/>
                </a:cubicBezTo>
                <a:lnTo>
                  <a:pt x="214313" y="428625"/>
                </a:lnTo>
                <a:cubicBezTo>
                  <a:pt x="190649" y="428625"/>
                  <a:pt x="171450" y="409426"/>
                  <a:pt x="171450" y="385763"/>
                </a:cubicBezTo>
                <a:lnTo>
                  <a:pt x="171450" y="300038"/>
                </a:lnTo>
                <a:cubicBezTo>
                  <a:pt x="171450" y="293519"/>
                  <a:pt x="172968" y="287268"/>
                  <a:pt x="175558" y="281732"/>
                </a:cubicBezTo>
                <a:lnTo>
                  <a:pt x="114300" y="200025"/>
                </a:lnTo>
                <a:lnTo>
                  <a:pt x="42863" y="200025"/>
                </a:lnTo>
                <a:cubicBezTo>
                  <a:pt x="19199" y="200025"/>
                  <a:pt x="0" y="180826"/>
                  <a:pt x="0" y="157163"/>
                </a:cubicBezTo>
                <a:lnTo>
                  <a:pt x="0" y="71438"/>
                </a:lnTo>
                <a:close/>
              </a:path>
            </a:pathLst>
          </a:custGeom>
          <a:solidFill>
            <a:srgbClr val="A95EAF"/>
          </a:solidFill>
          <a:ln/>
        </p:spPr>
        <p:txBody>
          <a:bodyPr/>
          <a:lstStyle/>
          <a:p>
            <a:endParaRPr lang="zh-CN" altLang="en-US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8" name="Text 5"/>
          <p:cNvSpPr/>
          <p:nvPr/>
        </p:nvSpPr>
        <p:spPr>
          <a:xfrm>
            <a:off x="1790898" y="4038600"/>
            <a:ext cx="8255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b="1" dirty="0">
                <a:solidFill>
                  <a:srgbClr val="3C3542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HBase</a:t>
            </a:r>
            <a:endParaRPr lang="en-US" sz="1600" dirty="0">
              <a:latin typeface="Calibri" panose="020F0502020204030204" pitchFamily="34" charset="0"/>
              <a:ea typeface="KaiTi" panose="02010609060101010101" pitchFamily="49" charset="-122"/>
              <a:cs typeface="Calibri" panose="020F0502020204030204" pitchFamily="34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702667" y="4445000"/>
            <a:ext cx="29972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200" dirty="0">
                <a:solidFill>
                  <a:srgbClr val="3C3542"/>
                </a:solidFill>
                <a:latin typeface="KaiTi" panose="02010609060101010101" pitchFamily="49" charset="-122"/>
                <a:ea typeface="KaiTi" panose="02010609060101010101" pitchFamily="49" charset="-122"/>
                <a:cs typeface="Noto Sans SC" pitchFamily="34" charset="-120"/>
              </a:rPr>
              <a:t>直接继承列族、</a:t>
            </a:r>
            <a:r>
              <a:rPr lang="en-US" sz="1200" dirty="0">
                <a:solidFill>
                  <a:srgbClr val="3C3542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Region</a:t>
            </a:r>
            <a:r>
              <a:rPr lang="en-US" sz="1200" dirty="0">
                <a:solidFill>
                  <a:srgbClr val="3C3542"/>
                </a:solidFill>
                <a:latin typeface="KaiTi" panose="02010609060101010101" pitchFamily="49" charset="-122"/>
                <a:ea typeface="KaiTi" panose="02010609060101010101" pitchFamily="49" charset="-122"/>
                <a:cs typeface="Noto Sans SC" pitchFamily="34" charset="-120"/>
              </a:rPr>
              <a:t>、</a:t>
            </a:r>
            <a:r>
              <a:rPr lang="en-US" sz="1200" dirty="0">
                <a:solidFill>
                  <a:srgbClr val="3C3542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Compaction</a:t>
            </a:r>
            <a:r>
              <a:rPr lang="en-US" sz="1200" dirty="0">
                <a:solidFill>
                  <a:srgbClr val="3C3542"/>
                </a:solidFill>
                <a:latin typeface="KaiTi" panose="02010609060101010101" pitchFamily="49" charset="-122"/>
                <a:ea typeface="KaiTi" panose="02010609060101010101" pitchFamily="49" charset="-122"/>
                <a:cs typeface="Noto Sans SC" pitchFamily="34" charset="-120"/>
              </a:rPr>
              <a:t>等核心概念。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5881588" y="3429000"/>
            <a:ext cx="400050" cy="457200"/>
          </a:xfrm>
          <a:custGeom>
            <a:avLst/>
            <a:gdLst/>
            <a:ahLst/>
            <a:cxnLst/>
            <a:rect l="l" t="t" r="r" b="b"/>
            <a:pathLst>
              <a:path w="400050" h="457200">
                <a:moveTo>
                  <a:pt x="400050" y="183773"/>
                </a:moveTo>
                <a:cubicBezTo>
                  <a:pt x="386834" y="192524"/>
                  <a:pt x="371654" y="199579"/>
                  <a:pt x="355848" y="205204"/>
                </a:cubicBezTo>
                <a:cubicBezTo>
                  <a:pt x="313879" y="220206"/>
                  <a:pt x="258782" y="228600"/>
                  <a:pt x="200025" y="228600"/>
                </a:cubicBezTo>
                <a:cubicBezTo>
                  <a:pt x="141268" y="228600"/>
                  <a:pt x="86082" y="220117"/>
                  <a:pt x="44202" y="205204"/>
                </a:cubicBezTo>
                <a:cubicBezTo>
                  <a:pt x="28486" y="199579"/>
                  <a:pt x="13216" y="192524"/>
                  <a:pt x="0" y="183773"/>
                </a:cubicBezTo>
                <a:lnTo>
                  <a:pt x="0" y="257175"/>
                </a:lnTo>
                <a:cubicBezTo>
                  <a:pt x="0" y="296644"/>
                  <a:pt x="89565" y="328613"/>
                  <a:pt x="200025" y="328613"/>
                </a:cubicBezTo>
                <a:cubicBezTo>
                  <a:pt x="310485" y="328613"/>
                  <a:pt x="400050" y="296644"/>
                  <a:pt x="400050" y="257175"/>
                </a:cubicBezTo>
                <a:lnTo>
                  <a:pt x="400050" y="183773"/>
                </a:lnTo>
                <a:close/>
                <a:moveTo>
                  <a:pt x="400050" y="114300"/>
                </a:moveTo>
                <a:lnTo>
                  <a:pt x="400050" y="71438"/>
                </a:lnTo>
                <a:cubicBezTo>
                  <a:pt x="400050" y="31968"/>
                  <a:pt x="310485" y="0"/>
                  <a:pt x="200025" y="0"/>
                </a:cubicBezTo>
                <a:cubicBezTo>
                  <a:pt x="89565" y="0"/>
                  <a:pt x="0" y="31968"/>
                  <a:pt x="0" y="71438"/>
                </a:cubicBezTo>
                <a:lnTo>
                  <a:pt x="0" y="114300"/>
                </a:lnTo>
                <a:cubicBezTo>
                  <a:pt x="0" y="153769"/>
                  <a:pt x="89565" y="185738"/>
                  <a:pt x="200025" y="185738"/>
                </a:cubicBezTo>
                <a:cubicBezTo>
                  <a:pt x="310485" y="185738"/>
                  <a:pt x="400050" y="153769"/>
                  <a:pt x="400050" y="114300"/>
                </a:cubicBezTo>
                <a:close/>
                <a:moveTo>
                  <a:pt x="355848" y="348079"/>
                </a:moveTo>
                <a:cubicBezTo>
                  <a:pt x="313968" y="362992"/>
                  <a:pt x="258872" y="371475"/>
                  <a:pt x="200025" y="371475"/>
                </a:cubicBezTo>
                <a:cubicBezTo>
                  <a:pt x="141178" y="371475"/>
                  <a:pt x="86082" y="362992"/>
                  <a:pt x="44202" y="348079"/>
                </a:cubicBezTo>
                <a:cubicBezTo>
                  <a:pt x="28486" y="342454"/>
                  <a:pt x="13216" y="335399"/>
                  <a:pt x="0" y="326648"/>
                </a:cubicBezTo>
                <a:lnTo>
                  <a:pt x="0" y="385763"/>
                </a:lnTo>
                <a:cubicBezTo>
                  <a:pt x="0" y="425232"/>
                  <a:pt x="89565" y="457200"/>
                  <a:pt x="200025" y="457200"/>
                </a:cubicBezTo>
                <a:cubicBezTo>
                  <a:pt x="310485" y="457200"/>
                  <a:pt x="400050" y="425232"/>
                  <a:pt x="400050" y="385763"/>
                </a:cubicBezTo>
                <a:lnTo>
                  <a:pt x="400050" y="326648"/>
                </a:lnTo>
                <a:cubicBezTo>
                  <a:pt x="386834" y="335399"/>
                  <a:pt x="371654" y="342454"/>
                  <a:pt x="355848" y="348079"/>
                </a:cubicBezTo>
                <a:close/>
              </a:path>
            </a:pathLst>
          </a:custGeom>
          <a:solidFill>
            <a:srgbClr val="A95EAF"/>
          </a:solidFill>
          <a:ln/>
        </p:spPr>
        <p:txBody>
          <a:bodyPr/>
          <a:lstStyle/>
          <a:p>
            <a:endParaRPr lang="zh-CN" altLang="en-US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11" name="Text 8"/>
          <p:cNvSpPr/>
          <p:nvPr/>
        </p:nvSpPr>
        <p:spPr>
          <a:xfrm>
            <a:off x="5446613" y="4038600"/>
            <a:ext cx="1270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b="1" dirty="0">
                <a:solidFill>
                  <a:srgbClr val="3C3542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Cassandra</a:t>
            </a:r>
            <a:endParaRPr lang="en-US" sz="1600" dirty="0">
              <a:latin typeface="Calibri" panose="020F0502020204030204" pitchFamily="34" charset="0"/>
              <a:ea typeface="KaiTi" panose="02010609060101010101" pitchFamily="49" charset="-122"/>
              <a:cs typeface="Calibri" panose="020F0502020204030204" pitchFamily="34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4547580" y="4445000"/>
            <a:ext cx="3096642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200" dirty="0">
                <a:solidFill>
                  <a:srgbClr val="3C3542"/>
                </a:solidFill>
                <a:latin typeface="KaiTi" panose="02010609060101010101" pitchFamily="49" charset="-122"/>
                <a:ea typeface="KaiTi" panose="02010609060101010101" pitchFamily="49" charset="-122"/>
                <a:cs typeface="Noto Sans SC" pitchFamily="34" charset="-120"/>
              </a:rPr>
              <a:t>融合</a:t>
            </a:r>
            <a:r>
              <a:rPr lang="en-US" sz="1200" dirty="0">
                <a:solidFill>
                  <a:srgbClr val="3C3542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Bigtable</a:t>
            </a:r>
            <a:r>
              <a:rPr lang="en-US" sz="1200" dirty="0">
                <a:solidFill>
                  <a:srgbClr val="3C3542"/>
                </a:solidFill>
                <a:latin typeface="KaiTi" panose="02010609060101010101" pitchFamily="49" charset="-122"/>
                <a:ea typeface="KaiTi" panose="02010609060101010101" pitchFamily="49" charset="-122"/>
                <a:cs typeface="Noto Sans SC" pitchFamily="34" charset="-120"/>
              </a:rPr>
              <a:t>数据模型与</a:t>
            </a:r>
            <a:r>
              <a:rPr lang="en-US" sz="1200" dirty="0">
                <a:solidFill>
                  <a:srgbClr val="3C3542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Dynamo</a:t>
            </a:r>
            <a:r>
              <a:rPr lang="en-US" sz="1200" dirty="0">
                <a:solidFill>
                  <a:srgbClr val="3C3542"/>
                </a:solidFill>
                <a:latin typeface="KaiTi" panose="02010609060101010101" pitchFamily="49" charset="-122"/>
                <a:ea typeface="KaiTi" panose="02010609060101010101" pitchFamily="49" charset="-122"/>
                <a:cs typeface="Noto Sans SC" pitchFamily="34" charset="-120"/>
              </a:rPr>
              <a:t>分布式架构。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9733359" y="3429000"/>
            <a:ext cx="514350" cy="457200"/>
          </a:xfrm>
          <a:custGeom>
            <a:avLst/>
            <a:gdLst/>
            <a:ahLst/>
            <a:cxnLst/>
            <a:rect l="l" t="t" r="r" b="b"/>
            <a:pathLst>
              <a:path w="514350" h="457200">
                <a:moveTo>
                  <a:pt x="0" y="300038"/>
                </a:moveTo>
                <a:cubicBezTo>
                  <a:pt x="0" y="371029"/>
                  <a:pt x="57596" y="428625"/>
                  <a:pt x="128588" y="428625"/>
                </a:cubicBezTo>
                <a:lnTo>
                  <a:pt x="400050" y="428625"/>
                </a:lnTo>
                <a:cubicBezTo>
                  <a:pt x="463183" y="428625"/>
                  <a:pt x="514350" y="377458"/>
                  <a:pt x="514350" y="314325"/>
                </a:cubicBezTo>
                <a:cubicBezTo>
                  <a:pt x="514350" y="268248"/>
                  <a:pt x="487114" y="228511"/>
                  <a:pt x="447824" y="210473"/>
                </a:cubicBezTo>
                <a:cubicBezTo>
                  <a:pt x="453807" y="198775"/>
                  <a:pt x="457200" y="185470"/>
                  <a:pt x="457200" y="171450"/>
                </a:cubicBezTo>
                <a:cubicBezTo>
                  <a:pt x="457200" y="124123"/>
                  <a:pt x="418802" y="85725"/>
                  <a:pt x="371475" y="85725"/>
                </a:cubicBezTo>
                <a:cubicBezTo>
                  <a:pt x="355669" y="85725"/>
                  <a:pt x="340935" y="90011"/>
                  <a:pt x="328255" y="97423"/>
                </a:cubicBezTo>
                <a:cubicBezTo>
                  <a:pt x="306735" y="56525"/>
                  <a:pt x="263783" y="28575"/>
                  <a:pt x="214313" y="28575"/>
                </a:cubicBezTo>
                <a:cubicBezTo>
                  <a:pt x="143321" y="28575"/>
                  <a:pt x="85725" y="86171"/>
                  <a:pt x="85725" y="157163"/>
                </a:cubicBezTo>
                <a:cubicBezTo>
                  <a:pt x="85725" y="164306"/>
                  <a:pt x="86350" y="171361"/>
                  <a:pt x="87422" y="178147"/>
                </a:cubicBezTo>
                <a:cubicBezTo>
                  <a:pt x="36612" y="195292"/>
                  <a:pt x="0" y="243423"/>
                  <a:pt x="0" y="300038"/>
                </a:cubicBezTo>
                <a:close/>
              </a:path>
            </a:pathLst>
          </a:custGeom>
          <a:solidFill>
            <a:srgbClr val="A95EAF"/>
          </a:solidFill>
          <a:ln/>
        </p:spPr>
        <p:txBody>
          <a:bodyPr/>
          <a:lstStyle/>
          <a:p>
            <a:endParaRPr lang="zh-CN" altLang="en-US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9133284" y="4038600"/>
            <a:ext cx="17145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b="1" dirty="0">
                <a:solidFill>
                  <a:srgbClr val="3C3542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Cloud Bigtable</a:t>
            </a:r>
            <a:endParaRPr lang="en-US" sz="1600" dirty="0">
              <a:latin typeface="Calibri" panose="020F0502020204030204" pitchFamily="34" charset="0"/>
              <a:ea typeface="KaiTi" panose="02010609060101010101" pitchFamily="49" charset="-122"/>
              <a:cs typeface="Calibri" panose="020F0502020204030204" pitchFamily="34" charset="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8491934" y="4445000"/>
            <a:ext cx="29972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200" dirty="0">
                <a:solidFill>
                  <a:srgbClr val="3C3542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Google</a:t>
            </a:r>
            <a:r>
              <a:rPr lang="en-US" sz="1200" dirty="0">
                <a:solidFill>
                  <a:srgbClr val="3C3542"/>
                </a:solidFill>
                <a:latin typeface="KaiTi" panose="02010609060101010101" pitchFamily="49" charset="-122"/>
                <a:ea typeface="KaiTi" panose="02010609060101010101" pitchFamily="49" charset="-122"/>
                <a:cs typeface="Noto Sans SC" pitchFamily="34" charset="-120"/>
              </a:rPr>
              <a:t>将技术成果转化为可复制的云产品。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</p:spTree>
  </p:cSld>
  <p:clrMapOvr>
    <a:masterClrMapping/>
  </p:clrMapOvr>
  <p:transition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2"/>
          <p:cNvSpPr/>
          <p:nvPr/>
        </p:nvSpPr>
        <p:spPr>
          <a:xfrm>
            <a:off x="2558192" y="2082800"/>
            <a:ext cx="7075616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3600" b="1" dirty="0">
                <a:solidFill>
                  <a:srgbClr val="8F5C9A"/>
                </a:solidFill>
                <a:latin typeface="KaiTi" panose="02010609060101010101" pitchFamily="49" charset="-122"/>
                <a:ea typeface="KaiTi" panose="02010609060101010101" pitchFamily="49" charset="-122"/>
                <a:cs typeface="Noto Sans SC" pitchFamily="34" charset="-120"/>
              </a:rPr>
              <a:t>设计哲学：实用主义与量化权衡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7" name="Text 3"/>
          <p:cNvSpPr/>
          <p:nvPr/>
        </p:nvSpPr>
        <p:spPr>
          <a:xfrm>
            <a:off x="3276600" y="3302000"/>
            <a:ext cx="5638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dirty="0">
                <a:solidFill>
                  <a:srgbClr val="3C3542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Bigtable</a:t>
            </a:r>
            <a:r>
              <a:rPr lang="zh-CN" altLang="en-US" dirty="0">
                <a:solidFill>
                  <a:srgbClr val="3C3542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 </a:t>
            </a:r>
            <a:r>
              <a:rPr lang="en-US" dirty="0" err="1">
                <a:solidFill>
                  <a:srgbClr val="3C3542"/>
                </a:solidFill>
                <a:latin typeface="KaiTi" panose="02010609060101010101" pitchFamily="49" charset="-122"/>
                <a:ea typeface="KaiTi" panose="02010609060101010101" pitchFamily="49" charset="-122"/>
                <a:cs typeface="Noto Sans SC" pitchFamily="34" charset="-120"/>
              </a:rPr>
              <a:t>留给架构师的核心价值观</a:t>
            </a:r>
            <a:r>
              <a:rPr lang="en-US" dirty="0">
                <a:solidFill>
                  <a:srgbClr val="3C3542"/>
                </a:solidFill>
                <a:latin typeface="KaiTi" panose="02010609060101010101" pitchFamily="49" charset="-122"/>
                <a:ea typeface="KaiTi" panose="02010609060101010101" pitchFamily="49" charset="-122"/>
                <a:cs typeface="Noto Sans SC" pitchFamily="34" charset="-120"/>
              </a:rPr>
              <a:t>：</a:t>
            </a:r>
            <a:endParaRPr lang="en-US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8" name="Text 4"/>
          <p:cNvSpPr/>
          <p:nvPr/>
        </p:nvSpPr>
        <p:spPr>
          <a:xfrm>
            <a:off x="3130550" y="3933567"/>
            <a:ext cx="5930900" cy="12068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54000" indent="-25400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400" b="1" dirty="0">
                <a:solidFill>
                  <a:srgbClr val="3C3542"/>
                </a:solidFill>
                <a:latin typeface="KaiTi" panose="02010609060101010101" pitchFamily="49" charset="-122"/>
                <a:ea typeface="KaiTi" panose="02010609060101010101" pitchFamily="49" charset="-122"/>
                <a:cs typeface="Noto Sans SC" pitchFamily="34" charset="-120"/>
              </a:rPr>
              <a:t>先解决规模:</a:t>
            </a:r>
            <a:r>
              <a:rPr lang="en-US" sz="1400" dirty="0">
                <a:solidFill>
                  <a:srgbClr val="3C3542"/>
                </a:solidFill>
                <a:latin typeface="KaiTi" panose="02010609060101010101" pitchFamily="49" charset="-122"/>
                <a:ea typeface="KaiTi" panose="02010609060101010101" pitchFamily="49" charset="-122"/>
                <a:cs typeface="Noto Sans SC" pitchFamily="34" charset="-120"/>
              </a:rPr>
              <a:t> 用</a:t>
            </a:r>
            <a:r>
              <a:rPr lang="en-US" sz="1400" dirty="0">
                <a:solidFill>
                  <a:srgbClr val="A95EAF"/>
                </a:solidFill>
                <a:highlight>
                  <a:srgbClr val="A95EAF">
                    <a:alpha val="20000"/>
                  </a:srgbClr>
                </a:highlight>
                <a:latin typeface="KaiTi" panose="02010609060101010101" pitchFamily="49" charset="-122"/>
                <a:ea typeface="KaiTi" panose="02010609060101010101" pitchFamily="49" charset="-122"/>
                <a:cs typeface="Noto Sans SC" pitchFamily="34" charset="-120"/>
              </a:rPr>
              <a:t> 去中心化 </a:t>
            </a:r>
            <a:r>
              <a:rPr lang="en-US" sz="1400" dirty="0">
                <a:solidFill>
                  <a:srgbClr val="3C3542"/>
                </a:solidFill>
                <a:latin typeface="KaiTi" panose="02010609060101010101" pitchFamily="49" charset="-122"/>
                <a:ea typeface="KaiTi" panose="02010609060101010101" pitchFamily="49" charset="-122"/>
                <a:cs typeface="Noto Sans SC" pitchFamily="34" charset="-120"/>
              </a:rPr>
              <a:t>和</a:t>
            </a:r>
            <a:r>
              <a:rPr lang="en-US" sz="1400" dirty="0">
                <a:solidFill>
                  <a:srgbClr val="A95EAF"/>
                </a:solidFill>
                <a:highlight>
                  <a:srgbClr val="A95EAF">
                    <a:alpha val="20000"/>
                  </a:srgbClr>
                </a:highlight>
                <a:latin typeface="KaiTi" panose="02010609060101010101" pitchFamily="49" charset="-122"/>
                <a:ea typeface="KaiTi" panose="02010609060101010101" pitchFamily="49" charset="-122"/>
                <a:cs typeface="Noto Sans SC" pitchFamily="34" charset="-120"/>
              </a:rPr>
              <a:t> 顺序写 </a:t>
            </a:r>
            <a:r>
              <a:rPr lang="en-US" sz="1400" dirty="0">
                <a:solidFill>
                  <a:srgbClr val="3C3542"/>
                </a:solidFill>
                <a:latin typeface="KaiTi" panose="02010609060101010101" pitchFamily="49" charset="-122"/>
                <a:ea typeface="KaiTi" panose="02010609060101010101" pitchFamily="49" charset="-122"/>
                <a:cs typeface="Noto Sans SC" pitchFamily="34" charset="-120"/>
              </a:rPr>
              <a:t>优先解决海量数据问题。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 marL="254000" indent="-25400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400" b="1" dirty="0">
                <a:solidFill>
                  <a:srgbClr val="3C3542"/>
                </a:solidFill>
                <a:latin typeface="KaiTi" panose="02010609060101010101" pitchFamily="49" charset="-122"/>
                <a:ea typeface="KaiTi" panose="02010609060101010101" pitchFamily="49" charset="-122"/>
                <a:cs typeface="Noto Sans SC" pitchFamily="34" charset="-120"/>
              </a:rPr>
              <a:t>量化权衡:</a:t>
            </a:r>
            <a:r>
              <a:rPr lang="en-US" sz="1400" dirty="0">
                <a:solidFill>
                  <a:srgbClr val="3C3542"/>
                </a:solidFill>
                <a:latin typeface="KaiTi" panose="02010609060101010101" pitchFamily="49" charset="-122"/>
                <a:ea typeface="KaiTi" panose="02010609060101010101" pitchFamily="49" charset="-122"/>
                <a:cs typeface="Noto Sans SC" pitchFamily="34" charset="-120"/>
              </a:rPr>
              <a:t> 以</a:t>
            </a:r>
            <a:r>
              <a:rPr lang="en-US" sz="1400" dirty="0">
                <a:solidFill>
                  <a:srgbClr val="3C3542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SLA</a:t>
            </a:r>
            <a:r>
              <a:rPr lang="en-US" sz="1400" dirty="0">
                <a:solidFill>
                  <a:srgbClr val="3C3542"/>
                </a:solidFill>
                <a:latin typeface="KaiTi" panose="02010609060101010101" pitchFamily="49" charset="-122"/>
                <a:ea typeface="KaiTi" panose="02010609060101010101" pitchFamily="49" charset="-122"/>
                <a:cs typeface="Noto Sans SC" pitchFamily="34" charset="-120"/>
              </a:rPr>
              <a:t>为导向，用</a:t>
            </a:r>
            <a:r>
              <a:rPr lang="en-US" sz="1400" dirty="0">
                <a:solidFill>
                  <a:srgbClr val="60A39A"/>
                </a:solidFill>
                <a:highlight>
                  <a:srgbClr val="60A39A">
                    <a:alpha val="20000"/>
                  </a:srgbClr>
                </a:highlight>
                <a:latin typeface="KaiTi" panose="02010609060101010101" pitchFamily="49" charset="-122"/>
                <a:ea typeface="KaiTi" panose="02010609060101010101" pitchFamily="49" charset="-122"/>
                <a:cs typeface="Noto Sans SC" pitchFamily="34" charset="-120"/>
              </a:rPr>
              <a:t> 可量化指标 </a:t>
            </a:r>
            <a:r>
              <a:rPr lang="en-US" sz="1400" dirty="0">
                <a:solidFill>
                  <a:srgbClr val="3C3542"/>
                </a:solidFill>
                <a:latin typeface="KaiTi" panose="02010609060101010101" pitchFamily="49" charset="-122"/>
                <a:ea typeface="KaiTi" panose="02010609060101010101" pitchFamily="49" charset="-122"/>
                <a:cs typeface="Noto Sans SC" pitchFamily="34" charset="-120"/>
              </a:rPr>
              <a:t>驱动算法选择。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 marL="254000" indent="-25400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400" b="1" dirty="0">
                <a:solidFill>
                  <a:srgbClr val="3C3542"/>
                </a:solidFill>
                <a:latin typeface="KaiTi" panose="02010609060101010101" pitchFamily="49" charset="-122"/>
                <a:ea typeface="KaiTi" panose="02010609060101010101" pitchFamily="49" charset="-122"/>
                <a:cs typeface="Noto Sans SC" pitchFamily="34" charset="-120"/>
              </a:rPr>
              <a:t>依赖成熟设施:</a:t>
            </a:r>
            <a:r>
              <a:rPr lang="en-US" sz="1400" dirty="0">
                <a:solidFill>
                  <a:srgbClr val="3C3542"/>
                </a:solidFill>
                <a:latin typeface="KaiTi" panose="02010609060101010101" pitchFamily="49" charset="-122"/>
                <a:ea typeface="KaiTi" panose="02010609060101010101" pitchFamily="49" charset="-122"/>
                <a:cs typeface="Noto Sans SC" pitchFamily="34" charset="-120"/>
              </a:rPr>
              <a:t> 站在</a:t>
            </a:r>
            <a:r>
              <a:rPr lang="en-US" sz="1400" dirty="0">
                <a:solidFill>
                  <a:srgbClr val="3C3542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GFS</a:t>
            </a:r>
            <a:r>
              <a:rPr lang="en-US" sz="1400" dirty="0">
                <a:solidFill>
                  <a:srgbClr val="3C3542"/>
                </a:solidFill>
                <a:latin typeface="KaiTi" panose="02010609060101010101" pitchFamily="49" charset="-122"/>
                <a:ea typeface="KaiTi" panose="02010609060101010101" pitchFamily="49" charset="-122"/>
                <a:cs typeface="Noto Sans SC" pitchFamily="34" charset="-120"/>
              </a:rPr>
              <a:t>和</a:t>
            </a:r>
            <a:r>
              <a:rPr lang="en-US" sz="1400" dirty="0">
                <a:solidFill>
                  <a:srgbClr val="3C3542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Chubby</a:t>
            </a:r>
            <a:r>
              <a:rPr lang="en-US" sz="1400" dirty="0">
                <a:solidFill>
                  <a:srgbClr val="3C3542"/>
                </a:solidFill>
                <a:latin typeface="KaiTi" panose="02010609060101010101" pitchFamily="49" charset="-122"/>
                <a:ea typeface="KaiTi" panose="02010609060101010101" pitchFamily="49" charset="-122"/>
                <a:cs typeface="Noto Sans SC" pitchFamily="34" charset="-120"/>
              </a:rPr>
              <a:t>等巨人肩膀上，而非重造轮子。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1E1C0D"/>
      </a:dk1>
      <a:lt1>
        <a:srgbClr val="FFFFFF"/>
      </a:lt1>
      <a:dk2>
        <a:srgbClr val="DC62FA"/>
      </a:dk2>
      <a:lt2>
        <a:srgbClr val="E8DBCE"/>
      </a:lt2>
      <a:accent1>
        <a:srgbClr val="402E7F"/>
      </a:accent1>
      <a:accent2>
        <a:srgbClr val="BC7DB7"/>
      </a:accent2>
      <a:accent3>
        <a:srgbClr val="AF9DCD"/>
      </a:accent3>
      <a:accent4>
        <a:srgbClr val="FFFFFF"/>
      </a:accent4>
      <a:accent5>
        <a:srgbClr val="1E1C0D"/>
      </a:accent5>
      <a:accent6>
        <a:srgbClr val="00B0F0"/>
      </a:accent6>
      <a:hlink>
        <a:srgbClr val="0563C1"/>
      </a:hlink>
      <a:folHlink>
        <a:srgbClr val="954F72"/>
      </a:folHlink>
    </a:clrScheme>
    <a:fontScheme name="Candara">
      <a:majorFont>
        <a:latin typeface="Candara" panose="020E0502030303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ndara" panose="020E0502030303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1199</TotalTime>
  <Words>989</Words>
  <Application>Microsoft Macintosh PowerPoint</Application>
  <PresentationFormat>宽屏</PresentationFormat>
  <Paragraphs>262</Paragraphs>
  <Slides>34</Slides>
  <Notes>34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34</vt:i4>
      </vt:variant>
    </vt:vector>
  </HeadingPairs>
  <TitlesOfParts>
    <vt:vector size="39" baseType="lpstr">
      <vt:lpstr>Calibri</vt:lpstr>
      <vt:lpstr>KaiTi</vt:lpstr>
      <vt:lpstr>MiSans</vt:lpstr>
      <vt:lpstr>Arial</vt:lpstr>
      <vt:lpstr>Custom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Bigtable全景解构：从理论到实战的分布式存储之旅</dc:title>
  <dc:subject>Bigtable全景解构：从理论到实战的分布式存储之旅</dc:subject>
  <dc:creator>Kimi</dc:creator>
  <cp:lastModifiedBy>王 天青</cp:lastModifiedBy>
  <cp:revision>41</cp:revision>
  <dcterms:created xsi:type="dcterms:W3CDTF">2025-11-26T06:32:19Z</dcterms:created>
  <dcterms:modified xsi:type="dcterms:W3CDTF">2025-11-27T02:38:54Z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Bigtable全景解构：从理论到实战的分布式存储之旅","ContentProducer":"001191110108MACG2KBH8F10000","ProduceID":"d4j9rqgh947c7luk7a7g","ReservedCode1":"","ContentPropagator":"001191110108MACG2KBH8F20000","PropagateID":"d4j9rqgh947c7luk7a7g","ReservedCode2":""}</vt:lpwstr>
  </property>
</Properties>
</file>