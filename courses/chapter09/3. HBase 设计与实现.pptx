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6256000" cy="9144000"/>
  <p:notesSz cx="9144000" cy="16256000"/>
  <p:embeddedFontLst>
    <p:embeddedFont>
      <p:font typeface="KaiTi" panose="02010609060101010101" pitchFamily="49" charset="-122"/>
      <p:regular r:id="rId32"/>
    </p:embeddedFont>
    <p:embeddedFont>
      <p:font typeface="MiSans" pitchFamily="2" charset="-122"/>
      <p:regular r:id="rId33"/>
    </p:embeddedFont>
    <p:embeddedFont>
      <p:font typeface="Liter" panose="02000503030000020004" pitchFamily="2" charset="0"/>
      <p:regular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>
        <p:scale>
          <a:sx n="70" d="100"/>
          <a:sy n="70" d="100"/>
        </p:scale>
        <p:origin x="148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922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617692" y="1130300"/>
            <a:ext cx="3022600" cy="685800"/>
          </a:xfrm>
          <a:custGeom>
            <a:avLst/>
            <a:gdLst/>
            <a:ahLst/>
            <a:cxnLst/>
            <a:rect l="l" t="t" r="r" b="b"/>
            <a:pathLst>
              <a:path w="3022600" h="685800">
                <a:moveTo>
                  <a:pt x="342900" y="0"/>
                </a:moveTo>
                <a:lnTo>
                  <a:pt x="2679700" y="0"/>
                </a:lnTo>
                <a:cubicBezTo>
                  <a:pt x="2868952" y="0"/>
                  <a:pt x="3022600" y="153648"/>
                  <a:pt x="3022600" y="342900"/>
                </a:cubicBezTo>
                <a:lnTo>
                  <a:pt x="3022600" y="342900"/>
                </a:lnTo>
                <a:cubicBezTo>
                  <a:pt x="3022600" y="532152"/>
                  <a:pt x="2868952" y="685800"/>
                  <a:pt x="2679700" y="685800"/>
                </a:cubicBezTo>
                <a:lnTo>
                  <a:pt x="342900" y="685800"/>
                </a:lnTo>
                <a:cubicBezTo>
                  <a:pt x="153648" y="685800"/>
                  <a:pt x="0" y="532152"/>
                  <a:pt x="0" y="342900"/>
                </a:cubicBezTo>
                <a:lnTo>
                  <a:pt x="0" y="342900"/>
                </a:lnTo>
                <a:cubicBezTo>
                  <a:pt x="0" y="153648"/>
                  <a:pt x="153648" y="0"/>
                  <a:pt x="342900" y="0"/>
                </a:cubicBezTo>
                <a:close/>
              </a:path>
            </a:pathLst>
          </a:custGeom>
          <a:solidFill>
            <a:srgbClr val="E07A5F">
              <a:alpha val="14902"/>
            </a:srgbClr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973292" y="1289050"/>
            <a:ext cx="230941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kern="0" spc="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HBASE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28119" y="2336800"/>
            <a:ext cx="1079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HBase 设计与实现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4267200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3D4A5C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908550" y="4851400"/>
            <a:ext cx="643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kern="0" spc="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分布式列族存储系统核心原理与实践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383334" y="613410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203202" y="0"/>
                </a:moveTo>
                <a:lnTo>
                  <a:pt x="787398" y="0"/>
                </a:lnTo>
                <a:cubicBezTo>
                  <a:pt x="899623" y="0"/>
                  <a:pt x="990600" y="90977"/>
                  <a:pt x="990600" y="203202"/>
                </a:cubicBezTo>
                <a:lnTo>
                  <a:pt x="990600" y="787398"/>
                </a:lnTo>
                <a:cubicBezTo>
                  <a:pt x="990600" y="899623"/>
                  <a:pt x="899623" y="990600"/>
                  <a:pt x="787398" y="990600"/>
                </a:cubicBezTo>
                <a:lnTo>
                  <a:pt x="203202" y="990600"/>
                </a:lnTo>
                <a:cubicBezTo>
                  <a:pt x="90977" y="990600"/>
                  <a:pt x="0" y="899623"/>
                  <a:pt x="0" y="7873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2715121" y="6438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50850" y="7391400"/>
            <a:ext cx="485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列族存储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78486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 Family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32601" y="613410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203202" y="0"/>
                </a:moveTo>
                <a:lnTo>
                  <a:pt x="787398" y="0"/>
                </a:lnTo>
                <a:cubicBezTo>
                  <a:pt x="899623" y="0"/>
                  <a:pt x="990600" y="90977"/>
                  <a:pt x="990600" y="203202"/>
                </a:cubicBezTo>
                <a:lnTo>
                  <a:pt x="990600" y="787398"/>
                </a:lnTo>
                <a:cubicBezTo>
                  <a:pt x="990600" y="899623"/>
                  <a:pt x="899623" y="990600"/>
                  <a:pt x="787398" y="990600"/>
                </a:cubicBezTo>
                <a:lnTo>
                  <a:pt x="203202" y="990600"/>
                </a:lnTo>
                <a:cubicBezTo>
                  <a:pt x="90977" y="990600"/>
                  <a:pt x="0" y="899623"/>
                  <a:pt x="0" y="7873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964388" y="6438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25016" y="23812"/>
                </a:moveTo>
                <a:lnTo>
                  <a:pt x="17859" y="23812"/>
                </a:lnTo>
                <a:cubicBezTo>
                  <a:pt x="7962" y="23812"/>
                  <a:pt x="0" y="31775"/>
                  <a:pt x="0" y="41672"/>
                </a:cubicBezTo>
                <a:lnTo>
                  <a:pt x="0" y="148828"/>
                </a:lnTo>
                <a:cubicBezTo>
                  <a:pt x="0" y="156046"/>
                  <a:pt x="4316" y="162595"/>
                  <a:pt x="11013" y="165348"/>
                </a:cubicBezTo>
                <a:cubicBezTo>
                  <a:pt x="17711" y="168101"/>
                  <a:pt x="25375" y="166539"/>
                  <a:pt x="30510" y="161479"/>
                </a:cubicBezTo>
                <a:lnTo>
                  <a:pt x="60275" y="131713"/>
                </a:lnTo>
                <a:lnTo>
                  <a:pt x="119063" y="190500"/>
                </a:lnTo>
                <a:lnTo>
                  <a:pt x="60275" y="249287"/>
                </a:lnTo>
                <a:lnTo>
                  <a:pt x="30510" y="219521"/>
                </a:lnTo>
                <a:cubicBezTo>
                  <a:pt x="25375" y="214387"/>
                  <a:pt x="17711" y="212899"/>
                  <a:pt x="11013" y="215652"/>
                </a:cubicBezTo>
                <a:cubicBezTo>
                  <a:pt x="4316" y="218405"/>
                  <a:pt x="0" y="224954"/>
                  <a:pt x="0" y="232172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lnTo>
                  <a:pt x="125016" y="357188"/>
                </a:lnTo>
                <a:cubicBezTo>
                  <a:pt x="132234" y="357188"/>
                  <a:pt x="138782" y="352871"/>
                  <a:pt x="141536" y="346174"/>
                </a:cubicBezTo>
                <a:cubicBezTo>
                  <a:pt x="144289" y="339477"/>
                  <a:pt x="142801" y="331812"/>
                  <a:pt x="137666" y="326678"/>
                </a:cubicBezTo>
                <a:lnTo>
                  <a:pt x="107900" y="296912"/>
                </a:lnTo>
                <a:lnTo>
                  <a:pt x="166688" y="238125"/>
                </a:lnTo>
                <a:lnTo>
                  <a:pt x="225475" y="296912"/>
                </a:lnTo>
                <a:lnTo>
                  <a:pt x="195709" y="326678"/>
                </a:lnTo>
                <a:cubicBezTo>
                  <a:pt x="190574" y="331812"/>
                  <a:pt x="189086" y="339477"/>
                  <a:pt x="191839" y="346174"/>
                </a:cubicBezTo>
                <a:cubicBezTo>
                  <a:pt x="194593" y="352871"/>
                  <a:pt x="201141" y="357188"/>
                  <a:pt x="208359" y="357188"/>
                </a:cubicBezTo>
                <a:lnTo>
                  <a:pt x="315516" y="357188"/>
                </a:lnTo>
                <a:cubicBezTo>
                  <a:pt x="325413" y="357188"/>
                  <a:pt x="333375" y="349225"/>
                  <a:pt x="333375" y="339328"/>
                </a:cubicBezTo>
                <a:lnTo>
                  <a:pt x="333375" y="232172"/>
                </a:lnTo>
                <a:cubicBezTo>
                  <a:pt x="333375" y="224954"/>
                  <a:pt x="329059" y="218405"/>
                  <a:pt x="322362" y="215652"/>
                </a:cubicBezTo>
                <a:cubicBezTo>
                  <a:pt x="315664" y="212899"/>
                  <a:pt x="308000" y="214387"/>
                  <a:pt x="302865" y="219521"/>
                </a:cubicBezTo>
                <a:lnTo>
                  <a:pt x="273100" y="249287"/>
                </a:lnTo>
                <a:lnTo>
                  <a:pt x="214313" y="190500"/>
                </a:lnTo>
                <a:lnTo>
                  <a:pt x="273100" y="131713"/>
                </a:lnTo>
                <a:lnTo>
                  <a:pt x="302865" y="161479"/>
                </a:lnTo>
                <a:cubicBezTo>
                  <a:pt x="308000" y="166613"/>
                  <a:pt x="315664" y="168101"/>
                  <a:pt x="322362" y="165348"/>
                </a:cubicBezTo>
                <a:cubicBezTo>
                  <a:pt x="329059" y="162595"/>
                  <a:pt x="333375" y="156046"/>
                  <a:pt x="333375" y="148828"/>
                </a:cubicBezTo>
                <a:lnTo>
                  <a:pt x="333375" y="41672"/>
                </a:lnTo>
                <a:cubicBezTo>
                  <a:pt x="333375" y="31775"/>
                  <a:pt x="325413" y="23812"/>
                  <a:pt x="315516" y="23812"/>
                </a:cubicBezTo>
                <a:lnTo>
                  <a:pt x="208359" y="23812"/>
                </a:lnTo>
                <a:cubicBezTo>
                  <a:pt x="201141" y="23812"/>
                  <a:pt x="194593" y="28129"/>
                  <a:pt x="191839" y="34826"/>
                </a:cubicBezTo>
                <a:cubicBezTo>
                  <a:pt x="189086" y="41523"/>
                  <a:pt x="190649" y="49188"/>
                  <a:pt x="195709" y="54322"/>
                </a:cubicBezTo>
                <a:lnTo>
                  <a:pt x="225475" y="84088"/>
                </a:lnTo>
                <a:lnTo>
                  <a:pt x="166688" y="142875"/>
                </a:lnTo>
                <a:lnTo>
                  <a:pt x="107900" y="84088"/>
                </a:lnTo>
                <a:lnTo>
                  <a:pt x="137666" y="54322"/>
                </a:lnTo>
                <a:cubicBezTo>
                  <a:pt x="142801" y="49188"/>
                  <a:pt x="144289" y="41523"/>
                  <a:pt x="141536" y="34826"/>
                </a:cubicBezTo>
                <a:cubicBezTo>
                  <a:pt x="138782" y="28129"/>
                  <a:pt x="132234" y="23812"/>
                  <a:pt x="125016" y="2381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700117" y="7391400"/>
            <a:ext cx="485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06467" y="78486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Horizontal Scale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881967" y="6134100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203202" y="0"/>
                </a:moveTo>
                <a:lnTo>
                  <a:pt x="787398" y="0"/>
                </a:lnTo>
                <a:cubicBezTo>
                  <a:pt x="899623" y="0"/>
                  <a:pt x="990600" y="90977"/>
                  <a:pt x="990600" y="203202"/>
                </a:cubicBezTo>
                <a:lnTo>
                  <a:pt x="990600" y="787398"/>
                </a:lnTo>
                <a:cubicBezTo>
                  <a:pt x="990600" y="899623"/>
                  <a:pt x="899623" y="990600"/>
                  <a:pt x="787398" y="990600"/>
                </a:cubicBezTo>
                <a:lnTo>
                  <a:pt x="203202" y="990600"/>
                </a:lnTo>
                <a:cubicBezTo>
                  <a:pt x="90977" y="990600"/>
                  <a:pt x="0" y="899623"/>
                  <a:pt x="0" y="787398"/>
                </a:cubicBezTo>
                <a:lnTo>
                  <a:pt x="0" y="203202"/>
                </a:lnTo>
                <a:cubicBezTo>
                  <a:pt x="0" y="91052"/>
                  <a:pt x="91052" y="0"/>
                  <a:pt x="203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3213755" y="6438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949484" y="7391400"/>
            <a:ext cx="485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55834" y="78486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701800" cy="508000"/>
          </a:xfrm>
          <a:custGeom>
            <a:avLst/>
            <a:gdLst/>
            <a:ahLst/>
            <a:cxnLst/>
            <a:rect l="l" t="t" r="r" b="b"/>
            <a:pathLst>
              <a:path w="1701800" h="508000">
                <a:moveTo>
                  <a:pt x="0" y="0"/>
                </a:moveTo>
                <a:lnTo>
                  <a:pt x="1701800" y="0"/>
                </a:lnTo>
                <a:lnTo>
                  <a:pt x="1701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12800" y="628650"/>
            <a:ext cx="1265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192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2235200"/>
            <a:ext cx="7442200" cy="2578100"/>
          </a:xfrm>
          <a:custGeom>
            <a:avLst/>
            <a:gdLst/>
            <a:ahLst/>
            <a:cxnLst/>
            <a:rect l="l" t="t" r="r" b="b"/>
            <a:pathLst>
              <a:path w="7442200" h="25781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2476497"/>
                </a:lnTo>
                <a:cubicBezTo>
                  <a:pt x="7442200" y="2532611"/>
                  <a:pt x="7396711" y="2578100"/>
                  <a:pt x="7340597" y="2578100"/>
                </a:cubicBezTo>
                <a:lnTo>
                  <a:pt x="50800" y="2578100"/>
                </a:lnTo>
                <a:cubicBezTo>
                  <a:pt x="22763" y="2578100"/>
                  <a:pt x="0" y="2555337"/>
                  <a:pt x="0" y="2527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2235200"/>
            <a:ext cx="50800" cy="2578100"/>
          </a:xfrm>
          <a:custGeom>
            <a:avLst/>
            <a:gdLst/>
            <a:ahLst/>
            <a:cxnLst/>
            <a:rect l="l" t="t" r="r" b="b"/>
            <a:pathLst>
              <a:path w="50800" h="2578100">
                <a:moveTo>
                  <a:pt x="50800" y="0"/>
                </a:moveTo>
                <a:lnTo>
                  <a:pt x="50800" y="0"/>
                </a:lnTo>
                <a:lnTo>
                  <a:pt x="50800" y="2578100"/>
                </a:lnTo>
                <a:lnTo>
                  <a:pt x="50800" y="2578100"/>
                </a:lnTo>
                <a:cubicBezTo>
                  <a:pt x="22763" y="2578100"/>
                  <a:pt x="0" y="2555337"/>
                  <a:pt x="0" y="2527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63600" y="2540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90116" y="2743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0400" y="25400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HBase概览与核心概念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30400" y="30480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理解HBase的技术演进、核心优势和生态系统,掌握列族存储、RowKey设计、版本控制等基础概念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05800" y="2235200"/>
            <a:ext cx="7442200" cy="2578100"/>
          </a:xfrm>
          <a:custGeom>
            <a:avLst/>
            <a:gdLst/>
            <a:ahLst/>
            <a:cxnLst/>
            <a:rect l="l" t="t" r="r" b="b"/>
            <a:pathLst>
              <a:path w="7442200" h="2578100">
                <a:moveTo>
                  <a:pt x="50800" y="0"/>
                </a:moveTo>
                <a:lnTo>
                  <a:pt x="7340597" y="0"/>
                </a:lnTo>
                <a:cubicBezTo>
                  <a:pt x="7396711" y="0"/>
                  <a:pt x="7442200" y="45489"/>
                  <a:pt x="7442200" y="101603"/>
                </a:cubicBezTo>
                <a:lnTo>
                  <a:pt x="7442200" y="2476497"/>
                </a:lnTo>
                <a:cubicBezTo>
                  <a:pt x="7442200" y="2532611"/>
                  <a:pt x="7396711" y="2578100"/>
                  <a:pt x="7340597" y="2578100"/>
                </a:cubicBezTo>
                <a:lnTo>
                  <a:pt x="50800" y="2578100"/>
                </a:lnTo>
                <a:cubicBezTo>
                  <a:pt x="22763" y="2578100"/>
                  <a:pt x="0" y="2555337"/>
                  <a:pt x="0" y="2527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305800" y="2235200"/>
            <a:ext cx="50800" cy="2578100"/>
          </a:xfrm>
          <a:custGeom>
            <a:avLst/>
            <a:gdLst/>
            <a:ahLst/>
            <a:cxnLst/>
            <a:rect l="l" t="t" r="r" b="b"/>
            <a:pathLst>
              <a:path w="50800" h="2578100">
                <a:moveTo>
                  <a:pt x="50800" y="0"/>
                </a:moveTo>
                <a:lnTo>
                  <a:pt x="50800" y="0"/>
                </a:lnTo>
                <a:lnTo>
                  <a:pt x="50800" y="2578100"/>
                </a:lnTo>
                <a:lnTo>
                  <a:pt x="50800" y="2578100"/>
                </a:lnTo>
                <a:cubicBezTo>
                  <a:pt x="22763" y="2578100"/>
                  <a:pt x="0" y="2555337"/>
                  <a:pt x="0" y="25273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36000" y="2540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62516" y="2743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02800" y="25400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数据模型设计与模式实践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02800" y="30480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掌握RowKey设计原则、列族规划策略、版本控制机制,熟练运用Java API和Shell进行数据操作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5118100"/>
            <a:ext cx="7442200" cy="2908300"/>
          </a:xfrm>
          <a:custGeom>
            <a:avLst/>
            <a:gdLst/>
            <a:ahLst/>
            <a:cxnLst/>
            <a:rect l="l" t="t" r="r" b="b"/>
            <a:pathLst>
              <a:path w="7442200" h="2908300">
                <a:moveTo>
                  <a:pt x="50800" y="0"/>
                </a:moveTo>
                <a:lnTo>
                  <a:pt x="7340613" y="0"/>
                </a:lnTo>
                <a:cubicBezTo>
                  <a:pt x="7396718" y="0"/>
                  <a:pt x="7442200" y="45482"/>
                  <a:pt x="7442200" y="101587"/>
                </a:cubicBezTo>
                <a:lnTo>
                  <a:pt x="7442200" y="2806713"/>
                </a:lnTo>
                <a:cubicBezTo>
                  <a:pt x="7442200" y="2862818"/>
                  <a:pt x="7396718" y="2908300"/>
                  <a:pt x="7340613" y="2908300"/>
                </a:cubicBezTo>
                <a:lnTo>
                  <a:pt x="50800" y="2908300"/>
                </a:lnTo>
                <a:cubicBezTo>
                  <a:pt x="22763" y="2908300"/>
                  <a:pt x="0" y="2885537"/>
                  <a:pt x="0" y="28575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33400" y="5118100"/>
            <a:ext cx="50800" cy="2908300"/>
          </a:xfrm>
          <a:custGeom>
            <a:avLst/>
            <a:gdLst/>
            <a:ahLst/>
            <a:cxnLst/>
            <a:rect l="l" t="t" r="r" b="b"/>
            <a:pathLst>
              <a:path w="50800" h="2908300">
                <a:moveTo>
                  <a:pt x="50800" y="0"/>
                </a:moveTo>
                <a:lnTo>
                  <a:pt x="50800" y="0"/>
                </a:lnTo>
                <a:lnTo>
                  <a:pt x="50800" y="2908300"/>
                </a:lnTo>
                <a:lnTo>
                  <a:pt x="50800" y="2908300"/>
                </a:lnTo>
                <a:cubicBezTo>
                  <a:pt x="22763" y="2908300"/>
                  <a:pt x="0" y="2885537"/>
                  <a:pt x="0" y="28575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3600" y="5422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90116" y="56261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30400" y="54229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体系架构与端到端读写路径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30400" y="5930900"/>
            <a:ext cx="584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深入理解HMaster、RegionServer、ZooKeeper的职责分工,掌握写路径(WAL/MemStore/HFile)和读路径(BlockCache/BloomFilter)的完整流程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5800" y="5118100"/>
            <a:ext cx="7442200" cy="2908300"/>
          </a:xfrm>
          <a:custGeom>
            <a:avLst/>
            <a:gdLst/>
            <a:ahLst/>
            <a:cxnLst/>
            <a:rect l="l" t="t" r="r" b="b"/>
            <a:pathLst>
              <a:path w="7442200" h="2908300">
                <a:moveTo>
                  <a:pt x="50800" y="0"/>
                </a:moveTo>
                <a:lnTo>
                  <a:pt x="7340613" y="0"/>
                </a:lnTo>
                <a:cubicBezTo>
                  <a:pt x="7396718" y="0"/>
                  <a:pt x="7442200" y="45482"/>
                  <a:pt x="7442200" y="101587"/>
                </a:cubicBezTo>
                <a:lnTo>
                  <a:pt x="7442200" y="2806713"/>
                </a:lnTo>
                <a:cubicBezTo>
                  <a:pt x="7442200" y="2862818"/>
                  <a:pt x="7396718" y="2908300"/>
                  <a:pt x="7340613" y="2908300"/>
                </a:cubicBezTo>
                <a:lnTo>
                  <a:pt x="50800" y="2908300"/>
                </a:lnTo>
                <a:cubicBezTo>
                  <a:pt x="22763" y="2908300"/>
                  <a:pt x="0" y="2885537"/>
                  <a:pt x="0" y="28575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305800" y="5118100"/>
            <a:ext cx="50800" cy="2908300"/>
          </a:xfrm>
          <a:custGeom>
            <a:avLst/>
            <a:gdLst/>
            <a:ahLst/>
            <a:cxnLst/>
            <a:rect l="l" t="t" r="r" b="b"/>
            <a:pathLst>
              <a:path w="50800" h="2908300">
                <a:moveTo>
                  <a:pt x="50800" y="0"/>
                </a:moveTo>
                <a:lnTo>
                  <a:pt x="50800" y="0"/>
                </a:lnTo>
                <a:lnTo>
                  <a:pt x="50800" y="2908300"/>
                </a:lnTo>
                <a:lnTo>
                  <a:pt x="50800" y="2908300"/>
                </a:lnTo>
                <a:cubicBezTo>
                  <a:pt x="22763" y="2908300"/>
                  <a:pt x="0" y="2885537"/>
                  <a:pt x="0" y="28575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36000" y="54229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62516" y="56261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02800" y="5422900"/>
            <a:ext cx="589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存储引擎与性能优化实践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02800" y="59309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精通HFile存储结构、BlockCache内存管理、Compaction策略、Region管理机制,掌握关键参数调优与监控运维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92141" y="8382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52400" y="203200"/>
                </a:moveTo>
                <a:lnTo>
                  <a:pt x="38100" y="203200"/>
                </a:lnTo>
                <a:cubicBezTo>
                  <a:pt x="17066" y="203200"/>
                  <a:pt x="0" y="186134"/>
                  <a:pt x="0" y="165100"/>
                </a:cubicBezTo>
                <a:lnTo>
                  <a:pt x="0" y="38100"/>
                </a:lnTo>
                <a:cubicBezTo>
                  <a:pt x="0" y="17066"/>
                  <a:pt x="17066" y="0"/>
                  <a:pt x="38100" y="0"/>
                </a:cubicBezTo>
                <a:lnTo>
                  <a:pt x="158750" y="0"/>
                </a:lnTo>
                <a:cubicBezTo>
                  <a:pt x="169267" y="0"/>
                  <a:pt x="177800" y="8533"/>
                  <a:pt x="177800" y="19050"/>
                </a:cubicBezTo>
                <a:lnTo>
                  <a:pt x="177800" y="133350"/>
                </a:lnTo>
                <a:cubicBezTo>
                  <a:pt x="177800" y="141645"/>
                  <a:pt x="172482" y="148709"/>
                  <a:pt x="165100" y="151328"/>
                </a:cubicBezTo>
                <a:lnTo>
                  <a:pt x="165100" y="177800"/>
                </a:lnTo>
                <a:cubicBezTo>
                  <a:pt x="172125" y="177800"/>
                  <a:pt x="177800" y="183475"/>
                  <a:pt x="177800" y="190500"/>
                </a:cubicBezTo>
                <a:cubicBezTo>
                  <a:pt x="177800" y="197525"/>
                  <a:pt x="172125" y="203200"/>
                  <a:pt x="165100" y="203200"/>
                </a:cubicBezTo>
                <a:lnTo>
                  <a:pt x="152400" y="203200"/>
                </a:lnTo>
                <a:close/>
                <a:moveTo>
                  <a:pt x="38100" y="152400"/>
                </a:moveTo>
                <a:cubicBezTo>
                  <a:pt x="31075" y="152400"/>
                  <a:pt x="25400" y="158075"/>
                  <a:pt x="25400" y="165100"/>
                </a:cubicBezTo>
                <a:cubicBezTo>
                  <a:pt x="25400" y="172125"/>
                  <a:pt x="31075" y="177800"/>
                  <a:pt x="38100" y="177800"/>
                </a:cubicBezTo>
                <a:lnTo>
                  <a:pt x="139700" y="177800"/>
                </a:lnTo>
                <a:lnTo>
                  <a:pt x="139700" y="152400"/>
                </a:lnTo>
                <a:lnTo>
                  <a:pt x="38100" y="152400"/>
                </a:lnTo>
                <a:close/>
                <a:moveTo>
                  <a:pt x="50800" y="60325"/>
                </a:moveTo>
                <a:cubicBezTo>
                  <a:pt x="50800" y="65603"/>
                  <a:pt x="55047" y="69850"/>
                  <a:pt x="60325" y="69850"/>
                </a:cubicBezTo>
                <a:lnTo>
                  <a:pt x="130175" y="69850"/>
                </a:lnTo>
                <a:cubicBezTo>
                  <a:pt x="135453" y="69850"/>
                  <a:pt x="139700" y="65603"/>
                  <a:pt x="139700" y="60325"/>
                </a:cubicBezTo>
                <a:cubicBezTo>
                  <a:pt x="139700" y="55047"/>
                  <a:pt x="135453" y="50800"/>
                  <a:pt x="130175" y="50800"/>
                </a:cubicBezTo>
                <a:lnTo>
                  <a:pt x="60325" y="50800"/>
                </a:lnTo>
                <a:cubicBezTo>
                  <a:pt x="55047" y="50800"/>
                  <a:pt x="50800" y="55047"/>
                  <a:pt x="50800" y="60325"/>
                </a:cubicBezTo>
                <a:close/>
                <a:moveTo>
                  <a:pt x="60325" y="88900"/>
                </a:moveTo>
                <a:cubicBezTo>
                  <a:pt x="55047" y="88900"/>
                  <a:pt x="50800" y="93147"/>
                  <a:pt x="50800" y="98425"/>
                </a:cubicBezTo>
                <a:cubicBezTo>
                  <a:pt x="50800" y="103703"/>
                  <a:pt x="55047" y="107950"/>
                  <a:pt x="60325" y="107950"/>
                </a:cubicBezTo>
                <a:lnTo>
                  <a:pt x="130175" y="107950"/>
                </a:lnTo>
                <a:cubicBezTo>
                  <a:pt x="135453" y="107950"/>
                  <a:pt x="139700" y="103703"/>
                  <a:pt x="139700" y="98425"/>
                </a:cubicBezTo>
                <a:cubicBezTo>
                  <a:pt x="139700" y="93147"/>
                  <a:pt x="135453" y="88900"/>
                  <a:pt x="130175" y="88900"/>
                </a:cubicBezTo>
                <a:lnTo>
                  <a:pt x="60325" y="889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09641" y="8331200"/>
            <a:ext cx="123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4大核心章节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54403" y="83566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302103" y="838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632303" y="8331200"/>
            <a:ext cx="135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30个知识模块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04859" y="8356600"/>
            <a:ext cx="12700" cy="254000"/>
          </a:xfrm>
          <a:custGeom>
            <a:avLst/>
            <a:gdLst/>
            <a:ahLst/>
            <a:cxnLst/>
            <a:rect l="l" t="t" r="r" b="b"/>
            <a:pathLst>
              <a:path w="12700" h="254000">
                <a:moveTo>
                  <a:pt x="0" y="0"/>
                </a:moveTo>
                <a:lnTo>
                  <a:pt x="12700" y="0"/>
                </a:lnTo>
                <a:lnTo>
                  <a:pt x="127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139859" y="8382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482759" y="83312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完整工程实践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143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 anchor="ctr"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60400" y="1346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236220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HBase概览与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50546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08000" y="5638800"/>
            <a:ext cx="9296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理解HBase的技术演进、核心优势和生态系统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掌握列族存储、RowKey设计、版本控制等基础概念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3400" y="72390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63600" y="72390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技术演进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76962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从BigTable到Apache顶级项目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57800" y="72390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588000" y="72390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88000" y="76962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水平扩展与高吞吐写入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346200" cy="508000"/>
          </a:xfrm>
          <a:custGeom>
            <a:avLst/>
            <a:gdLst/>
            <a:ahLst/>
            <a:cxnLst/>
            <a:rect l="l" t="t" r="r" b="b"/>
            <a:pathLst>
              <a:path w="1346200" h="508000">
                <a:moveTo>
                  <a:pt x="0" y="0"/>
                </a:moveTo>
                <a:lnTo>
                  <a:pt x="1346200" y="0"/>
                </a:lnTo>
                <a:lnTo>
                  <a:pt x="13462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628650"/>
            <a:ext cx="10215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HBase发展历程:从BigTable到Apache顶级项目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1987550"/>
            <a:ext cx="9055100" cy="2349500"/>
          </a:xfrm>
          <a:custGeom>
            <a:avLst/>
            <a:gdLst/>
            <a:ahLst/>
            <a:cxnLst/>
            <a:rect l="l" t="t" r="r" b="b"/>
            <a:pathLst>
              <a:path w="9055100" h="2349500">
                <a:moveTo>
                  <a:pt x="101592" y="0"/>
                </a:moveTo>
                <a:lnTo>
                  <a:pt x="8953508" y="0"/>
                </a:lnTo>
                <a:cubicBezTo>
                  <a:pt x="9009616" y="0"/>
                  <a:pt x="9055100" y="45484"/>
                  <a:pt x="9055100" y="101592"/>
                </a:cubicBezTo>
                <a:lnTo>
                  <a:pt x="9055100" y="2247908"/>
                </a:lnTo>
                <a:cubicBezTo>
                  <a:pt x="9055100" y="2304016"/>
                  <a:pt x="9009616" y="2349500"/>
                  <a:pt x="8953508" y="2349500"/>
                </a:cubicBezTo>
                <a:lnTo>
                  <a:pt x="101592" y="2349500"/>
                </a:lnTo>
                <a:cubicBezTo>
                  <a:pt x="45484" y="2349500"/>
                  <a:pt x="0" y="2304016"/>
                  <a:pt x="0" y="22479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8200" y="2298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93800" y="2247900"/>
            <a:ext cx="358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BigTable核心创新理念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1213" y="2857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0" y="33337"/>
                </a:moveTo>
                <a:cubicBezTo>
                  <a:pt x="0" y="21079"/>
                  <a:pt x="9967" y="11112"/>
                  <a:pt x="22225" y="11112"/>
                </a:cubicBezTo>
                <a:lnTo>
                  <a:pt x="133350" y="11112"/>
                </a:lnTo>
                <a:cubicBezTo>
                  <a:pt x="145608" y="11112"/>
                  <a:pt x="155575" y="21079"/>
                  <a:pt x="155575" y="33337"/>
                </a:cubicBezTo>
                <a:lnTo>
                  <a:pt x="155575" y="144463"/>
                </a:lnTo>
                <a:cubicBezTo>
                  <a:pt x="155575" y="156721"/>
                  <a:pt x="145608" y="166688"/>
                  <a:pt x="133350" y="166688"/>
                </a:cubicBezTo>
                <a:lnTo>
                  <a:pt x="22225" y="166688"/>
                </a:lnTo>
                <a:cubicBezTo>
                  <a:pt x="9967" y="166688"/>
                  <a:pt x="0" y="156721"/>
                  <a:pt x="0" y="144463"/>
                </a:cubicBezTo>
                <a:lnTo>
                  <a:pt x="0" y="33337"/>
                </a:lnTo>
                <a:close/>
                <a:moveTo>
                  <a:pt x="22225" y="55563"/>
                </a:moveTo>
                <a:lnTo>
                  <a:pt x="22225" y="144463"/>
                </a:lnTo>
                <a:lnTo>
                  <a:pt x="66675" y="144463"/>
                </a:lnTo>
                <a:lnTo>
                  <a:pt x="66675" y="55563"/>
                </a:lnTo>
                <a:lnTo>
                  <a:pt x="22225" y="55563"/>
                </a:lnTo>
                <a:close/>
                <a:moveTo>
                  <a:pt x="133350" y="55563"/>
                </a:moveTo>
                <a:lnTo>
                  <a:pt x="88900" y="55563"/>
                </a:lnTo>
                <a:lnTo>
                  <a:pt x="88900" y="144463"/>
                </a:lnTo>
                <a:lnTo>
                  <a:pt x="133350" y="144463"/>
                </a:lnTo>
                <a:lnTo>
                  <a:pt x="133350" y="5556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098550" y="28067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列族存储模型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3111500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相关列分组存储,提高查询效率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2033" y="2857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33350" y="33337"/>
                </a:moveTo>
                <a:lnTo>
                  <a:pt x="133350" y="55563"/>
                </a:lnTo>
                <a:lnTo>
                  <a:pt x="111125" y="55563"/>
                </a:lnTo>
                <a:lnTo>
                  <a:pt x="111125" y="33337"/>
                </a:lnTo>
                <a:lnTo>
                  <a:pt x="133350" y="33337"/>
                </a:lnTo>
                <a:close/>
                <a:moveTo>
                  <a:pt x="133350" y="77788"/>
                </a:moveTo>
                <a:lnTo>
                  <a:pt x="133350" y="100013"/>
                </a:lnTo>
                <a:lnTo>
                  <a:pt x="111125" y="100013"/>
                </a:lnTo>
                <a:lnTo>
                  <a:pt x="111125" y="77788"/>
                </a:lnTo>
                <a:lnTo>
                  <a:pt x="133350" y="77788"/>
                </a:lnTo>
                <a:close/>
                <a:moveTo>
                  <a:pt x="133350" y="122238"/>
                </a:moveTo>
                <a:lnTo>
                  <a:pt x="133350" y="144463"/>
                </a:lnTo>
                <a:lnTo>
                  <a:pt x="111125" y="144463"/>
                </a:lnTo>
                <a:lnTo>
                  <a:pt x="111125" y="122238"/>
                </a:lnTo>
                <a:lnTo>
                  <a:pt x="133350" y="122238"/>
                </a:lnTo>
                <a:close/>
                <a:moveTo>
                  <a:pt x="88900" y="100013"/>
                </a:moveTo>
                <a:lnTo>
                  <a:pt x="66675" y="100013"/>
                </a:lnTo>
                <a:lnTo>
                  <a:pt x="66675" y="77788"/>
                </a:lnTo>
                <a:lnTo>
                  <a:pt x="88900" y="77788"/>
                </a:lnTo>
                <a:lnTo>
                  <a:pt x="88900" y="100013"/>
                </a:lnTo>
                <a:close/>
                <a:moveTo>
                  <a:pt x="66675" y="122238"/>
                </a:moveTo>
                <a:lnTo>
                  <a:pt x="88900" y="122238"/>
                </a:lnTo>
                <a:lnTo>
                  <a:pt x="88900" y="144463"/>
                </a:lnTo>
                <a:lnTo>
                  <a:pt x="66675" y="144463"/>
                </a:lnTo>
                <a:lnTo>
                  <a:pt x="66675" y="122238"/>
                </a:lnTo>
                <a:close/>
                <a:moveTo>
                  <a:pt x="44450" y="100013"/>
                </a:moveTo>
                <a:lnTo>
                  <a:pt x="22225" y="100013"/>
                </a:lnTo>
                <a:lnTo>
                  <a:pt x="22225" y="77788"/>
                </a:lnTo>
                <a:lnTo>
                  <a:pt x="44450" y="77788"/>
                </a:lnTo>
                <a:lnTo>
                  <a:pt x="44450" y="100013"/>
                </a:lnTo>
                <a:close/>
                <a:moveTo>
                  <a:pt x="22225" y="122238"/>
                </a:moveTo>
                <a:lnTo>
                  <a:pt x="44450" y="122238"/>
                </a:lnTo>
                <a:lnTo>
                  <a:pt x="44450" y="144463"/>
                </a:lnTo>
                <a:lnTo>
                  <a:pt x="22225" y="144463"/>
                </a:lnTo>
                <a:lnTo>
                  <a:pt x="22225" y="122238"/>
                </a:lnTo>
                <a:close/>
                <a:moveTo>
                  <a:pt x="22225" y="55563"/>
                </a:moveTo>
                <a:lnTo>
                  <a:pt x="22225" y="33337"/>
                </a:lnTo>
                <a:lnTo>
                  <a:pt x="44450" y="33337"/>
                </a:lnTo>
                <a:lnTo>
                  <a:pt x="44450" y="55563"/>
                </a:lnTo>
                <a:lnTo>
                  <a:pt x="22225" y="55563"/>
                </a:lnTo>
                <a:close/>
                <a:moveTo>
                  <a:pt x="66675" y="55563"/>
                </a:moveTo>
                <a:lnTo>
                  <a:pt x="66675" y="33337"/>
                </a:lnTo>
                <a:lnTo>
                  <a:pt x="88900" y="33337"/>
                </a:lnTo>
                <a:lnTo>
                  <a:pt x="88900" y="55563"/>
                </a:lnTo>
                <a:lnTo>
                  <a:pt x="66675" y="55563"/>
                </a:lnTo>
                <a:close/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33350" y="166688"/>
                </a:lnTo>
                <a:cubicBezTo>
                  <a:pt x="145608" y="166688"/>
                  <a:pt x="155575" y="156721"/>
                  <a:pt x="155575" y="144463"/>
                </a:cubicBezTo>
                <a:lnTo>
                  <a:pt x="155575" y="33337"/>
                </a:lnTo>
                <a:cubicBezTo>
                  <a:pt x="155575" y="21079"/>
                  <a:pt x="145608" y="11112"/>
                  <a:pt x="133350" y="11112"/>
                </a:cubicBezTo>
                <a:lnTo>
                  <a:pt x="22225" y="1111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39370" y="28067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稀疏矩阵结构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39370" y="3111500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动态添加列,适合半结构化数据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" y="3568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77892" y="-868"/>
                </a:moveTo>
                <a:cubicBezTo>
                  <a:pt x="84768" y="-4827"/>
                  <a:pt x="93241" y="-4827"/>
                  <a:pt x="100117" y="-868"/>
                </a:cubicBezTo>
                <a:lnTo>
                  <a:pt x="161201" y="34379"/>
                </a:lnTo>
                <a:cubicBezTo>
                  <a:pt x="168077" y="38338"/>
                  <a:pt x="172313" y="45700"/>
                  <a:pt x="172313" y="53618"/>
                </a:cubicBezTo>
                <a:lnTo>
                  <a:pt x="172313" y="124113"/>
                </a:lnTo>
                <a:cubicBezTo>
                  <a:pt x="172313" y="132065"/>
                  <a:pt x="168077" y="139392"/>
                  <a:pt x="161201" y="143351"/>
                </a:cubicBezTo>
                <a:lnTo>
                  <a:pt x="100117" y="178668"/>
                </a:lnTo>
                <a:cubicBezTo>
                  <a:pt x="93241" y="182627"/>
                  <a:pt x="84768" y="182627"/>
                  <a:pt x="77892" y="178668"/>
                </a:cubicBezTo>
                <a:lnTo>
                  <a:pt x="16842" y="143421"/>
                </a:lnTo>
                <a:cubicBezTo>
                  <a:pt x="9967" y="139462"/>
                  <a:pt x="5730" y="132100"/>
                  <a:pt x="5730" y="124182"/>
                </a:cubicBezTo>
                <a:lnTo>
                  <a:pt x="5730" y="53687"/>
                </a:lnTo>
                <a:cubicBezTo>
                  <a:pt x="5730" y="45735"/>
                  <a:pt x="9967" y="38408"/>
                  <a:pt x="16842" y="34449"/>
                </a:cubicBezTo>
                <a:lnTo>
                  <a:pt x="77892" y="-868"/>
                </a:lnTo>
                <a:close/>
                <a:moveTo>
                  <a:pt x="150053" y="124147"/>
                </a:moveTo>
                <a:lnTo>
                  <a:pt x="150053" y="66467"/>
                </a:lnTo>
                <a:lnTo>
                  <a:pt x="100117" y="95290"/>
                </a:lnTo>
                <a:lnTo>
                  <a:pt x="100117" y="152971"/>
                </a:lnTo>
                <a:lnTo>
                  <a:pt x="150053" y="124147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98550" y="3517900"/>
            <a:ext cx="267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多维数据组织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8550" y="382270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RowKey+列族+列限定符+时间戳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40920" y="3568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6675" y="22225"/>
                </a:moveTo>
                <a:cubicBezTo>
                  <a:pt x="66675" y="16078"/>
                  <a:pt x="71641" y="11112"/>
                  <a:pt x="77788" y="11112"/>
                </a:cubicBezTo>
                <a:lnTo>
                  <a:pt x="100013" y="11112"/>
                </a:lnTo>
                <a:cubicBezTo>
                  <a:pt x="106159" y="11112"/>
                  <a:pt x="111125" y="16078"/>
                  <a:pt x="111125" y="22225"/>
                </a:cubicBezTo>
                <a:lnTo>
                  <a:pt x="111125" y="44450"/>
                </a:lnTo>
                <a:cubicBezTo>
                  <a:pt x="111125" y="50597"/>
                  <a:pt x="106159" y="55563"/>
                  <a:pt x="100013" y="55563"/>
                </a:cubicBezTo>
                <a:lnTo>
                  <a:pt x="97234" y="55563"/>
                </a:lnTo>
                <a:lnTo>
                  <a:pt x="97234" y="77788"/>
                </a:lnTo>
                <a:lnTo>
                  <a:pt x="138906" y="77788"/>
                </a:lnTo>
                <a:cubicBezTo>
                  <a:pt x="152727" y="77788"/>
                  <a:pt x="163909" y="88969"/>
                  <a:pt x="163909" y="102791"/>
                </a:cubicBezTo>
                <a:lnTo>
                  <a:pt x="163909" y="122238"/>
                </a:lnTo>
                <a:lnTo>
                  <a:pt x="166688" y="122238"/>
                </a:lnTo>
                <a:cubicBezTo>
                  <a:pt x="172834" y="122238"/>
                  <a:pt x="177800" y="127203"/>
                  <a:pt x="177800" y="133350"/>
                </a:cubicBezTo>
                <a:lnTo>
                  <a:pt x="177800" y="155575"/>
                </a:lnTo>
                <a:cubicBezTo>
                  <a:pt x="177800" y="161722"/>
                  <a:pt x="172834" y="166688"/>
                  <a:pt x="166688" y="166688"/>
                </a:cubicBezTo>
                <a:lnTo>
                  <a:pt x="144463" y="166688"/>
                </a:lnTo>
                <a:cubicBezTo>
                  <a:pt x="138316" y="166688"/>
                  <a:pt x="133350" y="161722"/>
                  <a:pt x="133350" y="155575"/>
                </a:cubicBezTo>
                <a:lnTo>
                  <a:pt x="133350" y="133350"/>
                </a:lnTo>
                <a:cubicBezTo>
                  <a:pt x="133350" y="127203"/>
                  <a:pt x="138316" y="122238"/>
                  <a:pt x="144463" y="122238"/>
                </a:cubicBezTo>
                <a:lnTo>
                  <a:pt x="147241" y="122238"/>
                </a:lnTo>
                <a:lnTo>
                  <a:pt x="147241" y="102791"/>
                </a:lnTo>
                <a:cubicBezTo>
                  <a:pt x="147241" y="98172"/>
                  <a:pt x="143525" y="94456"/>
                  <a:pt x="138906" y="94456"/>
                </a:cubicBezTo>
                <a:lnTo>
                  <a:pt x="97234" y="94456"/>
                </a:lnTo>
                <a:lnTo>
                  <a:pt x="97234" y="122238"/>
                </a:lnTo>
                <a:lnTo>
                  <a:pt x="100013" y="122238"/>
                </a:lnTo>
                <a:cubicBezTo>
                  <a:pt x="106159" y="122238"/>
                  <a:pt x="111125" y="127203"/>
                  <a:pt x="111125" y="133350"/>
                </a:cubicBezTo>
                <a:lnTo>
                  <a:pt x="111125" y="155575"/>
                </a:lnTo>
                <a:cubicBezTo>
                  <a:pt x="111125" y="161722"/>
                  <a:pt x="106159" y="166688"/>
                  <a:pt x="100013" y="166688"/>
                </a:cubicBezTo>
                <a:lnTo>
                  <a:pt x="77788" y="166688"/>
                </a:lnTo>
                <a:cubicBezTo>
                  <a:pt x="71641" y="166688"/>
                  <a:pt x="66675" y="161722"/>
                  <a:pt x="66675" y="155575"/>
                </a:cubicBezTo>
                <a:lnTo>
                  <a:pt x="66675" y="133350"/>
                </a:lnTo>
                <a:cubicBezTo>
                  <a:pt x="66675" y="127203"/>
                  <a:pt x="71641" y="122238"/>
                  <a:pt x="77788" y="122238"/>
                </a:cubicBezTo>
                <a:lnTo>
                  <a:pt x="80566" y="122238"/>
                </a:lnTo>
                <a:lnTo>
                  <a:pt x="80566" y="94456"/>
                </a:lnTo>
                <a:lnTo>
                  <a:pt x="38894" y="94456"/>
                </a:lnTo>
                <a:cubicBezTo>
                  <a:pt x="34275" y="94456"/>
                  <a:pt x="30559" y="98172"/>
                  <a:pt x="30559" y="102791"/>
                </a:cubicBezTo>
                <a:lnTo>
                  <a:pt x="30559" y="122238"/>
                </a:lnTo>
                <a:lnTo>
                  <a:pt x="33337" y="122238"/>
                </a:lnTo>
                <a:cubicBezTo>
                  <a:pt x="39484" y="122238"/>
                  <a:pt x="44450" y="127203"/>
                  <a:pt x="44450" y="133350"/>
                </a:cubicBezTo>
                <a:lnTo>
                  <a:pt x="44450" y="155575"/>
                </a:lnTo>
                <a:cubicBezTo>
                  <a:pt x="44450" y="161722"/>
                  <a:pt x="39484" y="166688"/>
                  <a:pt x="33337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33350"/>
                </a:lnTo>
                <a:cubicBezTo>
                  <a:pt x="0" y="127203"/>
                  <a:pt x="4966" y="122238"/>
                  <a:pt x="11112" y="122238"/>
                </a:cubicBezTo>
                <a:lnTo>
                  <a:pt x="13891" y="122238"/>
                </a:lnTo>
                <a:lnTo>
                  <a:pt x="13891" y="102791"/>
                </a:lnTo>
                <a:cubicBezTo>
                  <a:pt x="13891" y="88969"/>
                  <a:pt x="25073" y="77788"/>
                  <a:pt x="38894" y="77788"/>
                </a:cubicBezTo>
                <a:lnTo>
                  <a:pt x="80566" y="77788"/>
                </a:lnTo>
                <a:lnTo>
                  <a:pt x="80566" y="55563"/>
                </a:lnTo>
                <a:lnTo>
                  <a:pt x="77788" y="55563"/>
                </a:lnTo>
                <a:cubicBezTo>
                  <a:pt x="71641" y="55563"/>
                  <a:pt x="66675" y="50597"/>
                  <a:pt x="66675" y="44450"/>
                </a:cubicBezTo>
                <a:lnTo>
                  <a:pt x="66675" y="2222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439370" y="35179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LSM-tree存储引擎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39370" y="3822700"/>
            <a:ext cx="227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日志结构合并树,高吞吐写入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4552950"/>
            <a:ext cx="9055100" cy="1841500"/>
          </a:xfrm>
          <a:custGeom>
            <a:avLst/>
            <a:gdLst/>
            <a:ahLst/>
            <a:cxnLst/>
            <a:rect l="l" t="t" r="r" b="b"/>
            <a:pathLst>
              <a:path w="9055100" h="1841500">
                <a:moveTo>
                  <a:pt x="101596" y="0"/>
                </a:moveTo>
                <a:lnTo>
                  <a:pt x="8953504" y="0"/>
                </a:lnTo>
                <a:cubicBezTo>
                  <a:pt x="9009614" y="0"/>
                  <a:pt x="9055100" y="45486"/>
                  <a:pt x="9055100" y="101596"/>
                </a:cubicBezTo>
                <a:lnTo>
                  <a:pt x="9055100" y="1739904"/>
                </a:lnTo>
                <a:cubicBezTo>
                  <a:pt x="9055100" y="1796014"/>
                  <a:pt x="9009614" y="1841500"/>
                  <a:pt x="8953504" y="1841500"/>
                </a:cubicBezTo>
                <a:lnTo>
                  <a:pt x="101596" y="1841500"/>
                </a:lnTo>
                <a:cubicBezTo>
                  <a:pt x="45486" y="1841500"/>
                  <a:pt x="0" y="1796014"/>
                  <a:pt x="0" y="17399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4700" y="4813300"/>
            <a:ext cx="866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BigTable对现代系统的深远影响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0100" y="5422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30300" y="5372100"/>
            <a:ext cx="345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开创列族存储范式,建立NoSQL新标准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0920" y="5422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71120" y="5372100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定义Master-TabletServer经典架构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0100" y="5880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30300" y="5829300"/>
            <a:ext cx="321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推动LSM-tree成为大数据主流选择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0920" y="5880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471120" y="5829300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建立技术论文文化,推动行业进步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80191" y="1987550"/>
            <a:ext cx="5956300" cy="6184900"/>
          </a:xfrm>
          <a:custGeom>
            <a:avLst/>
            <a:gdLst/>
            <a:ahLst/>
            <a:cxnLst/>
            <a:rect l="l" t="t" r="r" b="b"/>
            <a:pathLst>
              <a:path w="5956300" h="6184900">
                <a:moveTo>
                  <a:pt x="101614" y="0"/>
                </a:moveTo>
                <a:lnTo>
                  <a:pt x="5854686" y="0"/>
                </a:lnTo>
                <a:cubicBezTo>
                  <a:pt x="5910806" y="0"/>
                  <a:pt x="5956300" y="45494"/>
                  <a:pt x="5956300" y="101614"/>
                </a:cubicBezTo>
                <a:lnTo>
                  <a:pt x="5956300" y="6083286"/>
                </a:lnTo>
                <a:cubicBezTo>
                  <a:pt x="5956300" y="6139406"/>
                  <a:pt x="5910806" y="6184900"/>
                  <a:pt x="5854686" y="6184900"/>
                </a:cubicBezTo>
                <a:lnTo>
                  <a:pt x="101614" y="6184900"/>
                </a:lnTo>
                <a:cubicBezTo>
                  <a:pt x="45494" y="6184900"/>
                  <a:pt x="0" y="6139406"/>
                  <a:pt x="0" y="60832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040541" y="2247900"/>
            <a:ext cx="556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核心术语映射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40541" y="3321050"/>
            <a:ext cx="5435600" cy="12700"/>
          </a:xfrm>
          <a:custGeom>
            <a:avLst/>
            <a:gdLst/>
            <a:ahLst/>
            <a:cxnLst/>
            <a:rect l="l" t="t" r="r" b="b"/>
            <a:pathLst>
              <a:path w="5435600" h="12700">
                <a:moveTo>
                  <a:pt x="0" y="0"/>
                </a:moveTo>
                <a:lnTo>
                  <a:pt x="5435600" y="0"/>
                </a:lnTo>
                <a:lnTo>
                  <a:pt x="5435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040541" y="2908300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 Server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658626" y="2959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4232632" y="2908300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040541" y="3994150"/>
            <a:ext cx="5435600" cy="12700"/>
          </a:xfrm>
          <a:custGeom>
            <a:avLst/>
            <a:gdLst/>
            <a:ahLst/>
            <a:cxnLst/>
            <a:rect l="l" t="t" r="r" b="b"/>
            <a:pathLst>
              <a:path w="5435600" h="12700">
                <a:moveTo>
                  <a:pt x="0" y="0"/>
                </a:moveTo>
                <a:lnTo>
                  <a:pt x="5435600" y="0"/>
                </a:lnTo>
                <a:lnTo>
                  <a:pt x="5435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040541" y="3581400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629257" y="3632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4835485" y="3581400"/>
            <a:ext cx="74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040541" y="4667250"/>
            <a:ext cx="5435600" cy="12700"/>
          </a:xfrm>
          <a:custGeom>
            <a:avLst/>
            <a:gdLst/>
            <a:ahLst/>
            <a:cxnLst/>
            <a:rect l="l" t="t" r="r" b="b"/>
            <a:pathLst>
              <a:path w="5435600" h="12700">
                <a:moveTo>
                  <a:pt x="0" y="0"/>
                </a:moveTo>
                <a:lnTo>
                  <a:pt x="5435600" y="0"/>
                </a:lnTo>
                <a:lnTo>
                  <a:pt x="5435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040541" y="4254500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802691" y="4305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5008225" y="42545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040541" y="5340350"/>
            <a:ext cx="5435600" cy="12700"/>
          </a:xfrm>
          <a:custGeom>
            <a:avLst/>
            <a:gdLst/>
            <a:ahLst/>
            <a:cxnLst/>
            <a:rect l="l" t="t" r="r" b="b"/>
            <a:pathLst>
              <a:path w="5435600" h="12700">
                <a:moveTo>
                  <a:pt x="0" y="0"/>
                </a:moveTo>
                <a:lnTo>
                  <a:pt x="5435600" y="0"/>
                </a:lnTo>
                <a:lnTo>
                  <a:pt x="5435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040541" y="49276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666960" y="4978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4512230" y="4927600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040541" y="6013450"/>
            <a:ext cx="5435600" cy="12700"/>
          </a:xfrm>
          <a:custGeom>
            <a:avLst/>
            <a:gdLst/>
            <a:ahLst/>
            <a:cxnLst/>
            <a:rect l="l" t="t" r="r" b="b"/>
            <a:pathLst>
              <a:path w="5435600" h="12700">
                <a:moveTo>
                  <a:pt x="0" y="0"/>
                </a:moveTo>
                <a:lnTo>
                  <a:pt x="5435600" y="0"/>
                </a:lnTo>
                <a:lnTo>
                  <a:pt x="5435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040541" y="5600700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2586097" y="5651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4947305" y="56007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40541" y="62738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Chubby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509599" y="632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4460240" y="62738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33400" y="8420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31850" y="8382000"/>
            <a:ext cx="600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HBase于2008年成为Apache顶级项目,2010年成为大数据生态系统核心组件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692856" y="8382000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来源: Apache HBase Reference Guide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182" y="498268"/>
            <a:ext cx="1993073" cy="498268"/>
          </a:xfrm>
          <a:custGeom>
            <a:avLst/>
            <a:gdLst/>
            <a:ahLst/>
            <a:cxnLst/>
            <a:rect l="l" t="t" r="r" b="b"/>
            <a:pathLst>
              <a:path w="1993073" h="498268">
                <a:moveTo>
                  <a:pt x="0" y="0"/>
                </a:moveTo>
                <a:lnTo>
                  <a:pt x="1993073" y="0"/>
                </a:lnTo>
                <a:lnTo>
                  <a:pt x="1993073" y="498268"/>
                </a:lnTo>
                <a:lnTo>
                  <a:pt x="0" y="498268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23182" y="498268"/>
            <a:ext cx="49827" cy="498268"/>
          </a:xfrm>
          <a:custGeom>
            <a:avLst/>
            <a:gdLst/>
            <a:ahLst/>
            <a:cxnLst/>
            <a:rect l="l" t="t" r="r" b="b"/>
            <a:pathLst>
              <a:path w="49827" h="498268">
                <a:moveTo>
                  <a:pt x="0" y="0"/>
                </a:moveTo>
                <a:lnTo>
                  <a:pt x="49827" y="0"/>
                </a:lnTo>
                <a:lnTo>
                  <a:pt x="49827" y="498268"/>
                </a:lnTo>
                <a:lnTo>
                  <a:pt x="0" y="498268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47402" y="616607"/>
            <a:ext cx="1666279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kern="0" spc="78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8268" y="1146017"/>
            <a:ext cx="15483684" cy="49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31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设计目标:为何需要HBase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497" y="1752836"/>
            <a:ext cx="7511393" cy="2055356"/>
          </a:xfrm>
          <a:custGeom>
            <a:avLst/>
            <a:gdLst/>
            <a:ahLst/>
            <a:cxnLst/>
            <a:rect l="l" t="t" r="r" b="b"/>
            <a:pathLst>
              <a:path w="7511393" h="2055356">
                <a:moveTo>
                  <a:pt x="99644" y="0"/>
                </a:moveTo>
                <a:lnTo>
                  <a:pt x="7411749" y="0"/>
                </a:lnTo>
                <a:cubicBezTo>
                  <a:pt x="7466781" y="0"/>
                  <a:pt x="7511393" y="44612"/>
                  <a:pt x="7511393" y="99644"/>
                </a:cubicBezTo>
                <a:lnTo>
                  <a:pt x="7511393" y="1955713"/>
                </a:lnTo>
                <a:cubicBezTo>
                  <a:pt x="7511393" y="2010744"/>
                  <a:pt x="7466781" y="2055356"/>
                  <a:pt x="7411749" y="2055356"/>
                </a:cubicBezTo>
                <a:lnTo>
                  <a:pt x="99644" y="2055356"/>
                </a:lnTo>
                <a:cubicBezTo>
                  <a:pt x="44612" y="2055356"/>
                  <a:pt x="0" y="2010744"/>
                  <a:pt x="0" y="1955713"/>
                </a:cubicBezTo>
                <a:lnTo>
                  <a:pt x="0" y="99644"/>
                </a:lnTo>
                <a:cubicBezTo>
                  <a:pt x="0" y="44649"/>
                  <a:pt x="44649" y="0"/>
                  <a:pt x="9964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0032" y="2481553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99997" y="2655947"/>
            <a:ext cx="217992" cy="249134"/>
          </a:xfrm>
          <a:custGeom>
            <a:avLst/>
            <a:gdLst/>
            <a:ahLst/>
            <a:cxnLst/>
            <a:rect l="l" t="t" r="r" b="b"/>
            <a:pathLst>
              <a:path w="217992" h="249134">
                <a:moveTo>
                  <a:pt x="81747" y="15571"/>
                </a:moveTo>
                <a:lnTo>
                  <a:pt x="11678" y="15571"/>
                </a:lnTo>
                <a:cubicBezTo>
                  <a:pt x="5207" y="15571"/>
                  <a:pt x="0" y="20777"/>
                  <a:pt x="0" y="27249"/>
                </a:cubicBezTo>
                <a:lnTo>
                  <a:pt x="0" y="97318"/>
                </a:lnTo>
                <a:cubicBezTo>
                  <a:pt x="0" y="102038"/>
                  <a:pt x="2822" y="106320"/>
                  <a:pt x="7202" y="108120"/>
                </a:cubicBezTo>
                <a:cubicBezTo>
                  <a:pt x="11581" y="109921"/>
                  <a:pt x="16593" y="108899"/>
                  <a:pt x="19950" y="105590"/>
                </a:cubicBezTo>
                <a:lnTo>
                  <a:pt x="39414" y="86126"/>
                </a:lnTo>
                <a:lnTo>
                  <a:pt x="77854" y="124567"/>
                </a:lnTo>
                <a:lnTo>
                  <a:pt x="39414" y="163008"/>
                </a:lnTo>
                <a:lnTo>
                  <a:pt x="19950" y="143544"/>
                </a:lnTo>
                <a:cubicBezTo>
                  <a:pt x="16593" y="140187"/>
                  <a:pt x="11581" y="139213"/>
                  <a:pt x="7202" y="141014"/>
                </a:cubicBezTo>
                <a:cubicBezTo>
                  <a:pt x="2822" y="142814"/>
                  <a:pt x="0" y="147096"/>
                  <a:pt x="0" y="151816"/>
                </a:cubicBezTo>
                <a:lnTo>
                  <a:pt x="0" y="221885"/>
                </a:lnTo>
                <a:cubicBezTo>
                  <a:pt x="0" y="228357"/>
                  <a:pt x="5207" y="233563"/>
                  <a:pt x="11678" y="233563"/>
                </a:cubicBezTo>
                <a:lnTo>
                  <a:pt x="81747" y="233563"/>
                </a:lnTo>
                <a:cubicBezTo>
                  <a:pt x="86467" y="233563"/>
                  <a:pt x="90749" y="230741"/>
                  <a:pt x="92549" y="226362"/>
                </a:cubicBezTo>
                <a:cubicBezTo>
                  <a:pt x="94350" y="221982"/>
                  <a:pt x="93377" y="216970"/>
                  <a:pt x="90019" y="213613"/>
                </a:cubicBezTo>
                <a:lnTo>
                  <a:pt x="70556" y="194149"/>
                </a:lnTo>
                <a:lnTo>
                  <a:pt x="108996" y="155709"/>
                </a:lnTo>
                <a:lnTo>
                  <a:pt x="147437" y="194149"/>
                </a:lnTo>
                <a:lnTo>
                  <a:pt x="127973" y="213613"/>
                </a:lnTo>
                <a:cubicBezTo>
                  <a:pt x="124616" y="216970"/>
                  <a:pt x="123643" y="221982"/>
                  <a:pt x="125443" y="226362"/>
                </a:cubicBezTo>
                <a:cubicBezTo>
                  <a:pt x="127243" y="230741"/>
                  <a:pt x="131525" y="233563"/>
                  <a:pt x="136245" y="233563"/>
                </a:cubicBezTo>
                <a:lnTo>
                  <a:pt x="206314" y="233563"/>
                </a:lnTo>
                <a:cubicBezTo>
                  <a:pt x="212786" y="233563"/>
                  <a:pt x="217992" y="228357"/>
                  <a:pt x="217992" y="221885"/>
                </a:cubicBezTo>
                <a:lnTo>
                  <a:pt x="217992" y="151816"/>
                </a:lnTo>
                <a:cubicBezTo>
                  <a:pt x="217992" y="147096"/>
                  <a:pt x="215170" y="142814"/>
                  <a:pt x="210791" y="141014"/>
                </a:cubicBezTo>
                <a:cubicBezTo>
                  <a:pt x="206411" y="139213"/>
                  <a:pt x="201400" y="140187"/>
                  <a:pt x="198042" y="143544"/>
                </a:cubicBezTo>
                <a:lnTo>
                  <a:pt x="178579" y="163008"/>
                </a:lnTo>
                <a:lnTo>
                  <a:pt x="140138" y="124567"/>
                </a:lnTo>
                <a:lnTo>
                  <a:pt x="178579" y="86126"/>
                </a:lnTo>
                <a:lnTo>
                  <a:pt x="198042" y="105590"/>
                </a:lnTo>
                <a:cubicBezTo>
                  <a:pt x="201400" y="108948"/>
                  <a:pt x="206411" y="109921"/>
                  <a:pt x="210791" y="108120"/>
                </a:cubicBezTo>
                <a:cubicBezTo>
                  <a:pt x="215170" y="106320"/>
                  <a:pt x="217992" y="102038"/>
                  <a:pt x="217992" y="97318"/>
                </a:cubicBezTo>
                <a:lnTo>
                  <a:pt x="217992" y="27249"/>
                </a:lnTo>
                <a:cubicBezTo>
                  <a:pt x="217992" y="20777"/>
                  <a:pt x="212786" y="15571"/>
                  <a:pt x="206314" y="15571"/>
                </a:cubicBezTo>
                <a:lnTo>
                  <a:pt x="136245" y="15571"/>
                </a:lnTo>
                <a:cubicBezTo>
                  <a:pt x="131525" y="15571"/>
                  <a:pt x="127243" y="18393"/>
                  <a:pt x="125443" y="22772"/>
                </a:cubicBezTo>
                <a:cubicBezTo>
                  <a:pt x="123643" y="27152"/>
                  <a:pt x="124664" y="32164"/>
                  <a:pt x="127973" y="35521"/>
                </a:cubicBezTo>
                <a:lnTo>
                  <a:pt x="147437" y="54985"/>
                </a:lnTo>
                <a:lnTo>
                  <a:pt x="108996" y="93425"/>
                </a:lnTo>
                <a:lnTo>
                  <a:pt x="70556" y="54985"/>
                </a:lnTo>
                <a:lnTo>
                  <a:pt x="90019" y="35521"/>
                </a:lnTo>
                <a:cubicBezTo>
                  <a:pt x="93377" y="32164"/>
                  <a:pt x="94350" y="27152"/>
                  <a:pt x="92549" y="22772"/>
                </a:cubicBezTo>
                <a:cubicBezTo>
                  <a:pt x="90749" y="18393"/>
                  <a:pt x="86467" y="15571"/>
                  <a:pt x="81747" y="1557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07261" y="1958371"/>
            <a:ext cx="6427660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水平扩展能力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7261" y="2356986"/>
            <a:ext cx="6402746" cy="89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通过Region分片架构实现线性扩展,支持从几个节点到数千节点的集群规模。</a:t>
            </a:r>
            <a:r>
              <a:rPr lang="en-US" sz="1569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自动化Region分裂和负载均衡</a:t>
            </a: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为海量数据存储带来革命性扩展体验。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7261" y="3353522"/>
            <a:ext cx="6390290" cy="24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37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用户行为数据存储,从GB级增长到PB级,无需停机即可扩展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497" y="4019956"/>
            <a:ext cx="7511393" cy="2055356"/>
          </a:xfrm>
          <a:custGeom>
            <a:avLst/>
            <a:gdLst/>
            <a:ahLst/>
            <a:cxnLst/>
            <a:rect l="l" t="t" r="r" b="b"/>
            <a:pathLst>
              <a:path w="7511393" h="2055356">
                <a:moveTo>
                  <a:pt x="99644" y="0"/>
                </a:moveTo>
                <a:lnTo>
                  <a:pt x="7411749" y="0"/>
                </a:lnTo>
                <a:cubicBezTo>
                  <a:pt x="7466781" y="0"/>
                  <a:pt x="7511393" y="44612"/>
                  <a:pt x="7511393" y="99644"/>
                </a:cubicBezTo>
                <a:lnTo>
                  <a:pt x="7511393" y="1955713"/>
                </a:lnTo>
                <a:cubicBezTo>
                  <a:pt x="7511393" y="2010744"/>
                  <a:pt x="7466781" y="2055356"/>
                  <a:pt x="7411749" y="2055356"/>
                </a:cubicBezTo>
                <a:lnTo>
                  <a:pt x="99644" y="2055356"/>
                </a:lnTo>
                <a:cubicBezTo>
                  <a:pt x="44612" y="2055356"/>
                  <a:pt x="0" y="2010744"/>
                  <a:pt x="0" y="1955713"/>
                </a:cubicBezTo>
                <a:lnTo>
                  <a:pt x="0" y="99644"/>
                </a:lnTo>
                <a:cubicBezTo>
                  <a:pt x="0" y="44649"/>
                  <a:pt x="44649" y="0"/>
                  <a:pt x="9964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10032" y="4748673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99997" y="4923067"/>
            <a:ext cx="217992" cy="249134"/>
          </a:xfrm>
          <a:custGeom>
            <a:avLst/>
            <a:gdLst/>
            <a:ahLst/>
            <a:cxnLst/>
            <a:rect l="l" t="t" r="r" b="b"/>
            <a:pathLst>
              <a:path w="217992" h="249134">
                <a:moveTo>
                  <a:pt x="164857" y="-4817"/>
                </a:moveTo>
                <a:cubicBezTo>
                  <a:pt x="170647" y="-633"/>
                  <a:pt x="172788" y="6958"/>
                  <a:pt x="170161" y="13576"/>
                </a:cubicBezTo>
                <a:lnTo>
                  <a:pt x="132012" y="108996"/>
                </a:lnTo>
                <a:lnTo>
                  <a:pt x="202421" y="108996"/>
                </a:lnTo>
                <a:cubicBezTo>
                  <a:pt x="208990" y="108996"/>
                  <a:pt x="214830" y="113084"/>
                  <a:pt x="217068" y="119263"/>
                </a:cubicBezTo>
                <a:cubicBezTo>
                  <a:pt x="219306" y="125443"/>
                  <a:pt x="217408" y="132352"/>
                  <a:pt x="212397" y="136537"/>
                </a:cubicBezTo>
                <a:lnTo>
                  <a:pt x="72259" y="253319"/>
                </a:lnTo>
                <a:cubicBezTo>
                  <a:pt x="66760" y="257893"/>
                  <a:pt x="58926" y="258136"/>
                  <a:pt x="53136" y="253951"/>
                </a:cubicBezTo>
                <a:cubicBezTo>
                  <a:pt x="47345" y="249767"/>
                  <a:pt x="45204" y="242176"/>
                  <a:pt x="47832" y="235558"/>
                </a:cubicBezTo>
                <a:lnTo>
                  <a:pt x="85980" y="140138"/>
                </a:lnTo>
                <a:lnTo>
                  <a:pt x="15571" y="140138"/>
                </a:lnTo>
                <a:cubicBezTo>
                  <a:pt x="9002" y="140138"/>
                  <a:pt x="3163" y="136051"/>
                  <a:pt x="925" y="129871"/>
                </a:cubicBezTo>
                <a:cubicBezTo>
                  <a:pt x="-1314" y="123691"/>
                  <a:pt x="584" y="116782"/>
                  <a:pt x="5596" y="112597"/>
                </a:cubicBezTo>
                <a:lnTo>
                  <a:pt x="145734" y="-4185"/>
                </a:lnTo>
                <a:cubicBezTo>
                  <a:pt x="151232" y="-8759"/>
                  <a:pt x="159066" y="-9002"/>
                  <a:pt x="164857" y="-481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507261" y="4374972"/>
            <a:ext cx="6427660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高吞吐写入性能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7261" y="4773587"/>
            <a:ext cx="6402746" cy="59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569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LSM-tree存储结构</a:t>
            </a: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,通过顺序写入和批量合并实现极高写入吞吐量。支持每秒百万级写入操作,显著超越传统关系数据库。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7261" y="5471162"/>
            <a:ext cx="6390290" cy="24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37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实时日志收集、物联网传感器数据写入、消息系统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497" y="6287076"/>
            <a:ext cx="7511393" cy="2055356"/>
          </a:xfrm>
          <a:custGeom>
            <a:avLst/>
            <a:gdLst/>
            <a:ahLst/>
            <a:cxnLst/>
            <a:rect l="l" t="t" r="r" b="b"/>
            <a:pathLst>
              <a:path w="7511393" h="2055356">
                <a:moveTo>
                  <a:pt x="99644" y="0"/>
                </a:moveTo>
                <a:lnTo>
                  <a:pt x="7411749" y="0"/>
                </a:lnTo>
                <a:cubicBezTo>
                  <a:pt x="7466781" y="0"/>
                  <a:pt x="7511393" y="44612"/>
                  <a:pt x="7511393" y="99644"/>
                </a:cubicBezTo>
                <a:lnTo>
                  <a:pt x="7511393" y="1955713"/>
                </a:lnTo>
                <a:cubicBezTo>
                  <a:pt x="7511393" y="2010744"/>
                  <a:pt x="7466781" y="2055356"/>
                  <a:pt x="7411749" y="2055356"/>
                </a:cubicBezTo>
                <a:lnTo>
                  <a:pt x="99644" y="2055356"/>
                </a:lnTo>
                <a:cubicBezTo>
                  <a:pt x="44612" y="2055356"/>
                  <a:pt x="0" y="2010744"/>
                  <a:pt x="0" y="1955713"/>
                </a:cubicBezTo>
                <a:lnTo>
                  <a:pt x="0" y="99644"/>
                </a:lnTo>
                <a:cubicBezTo>
                  <a:pt x="0" y="44649"/>
                  <a:pt x="44649" y="0"/>
                  <a:pt x="9964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10032" y="7015794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84426" y="7190187"/>
            <a:ext cx="249134" cy="24913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24567" y="0"/>
                </a:moveTo>
                <a:cubicBezTo>
                  <a:pt x="126805" y="0"/>
                  <a:pt x="129044" y="487"/>
                  <a:pt x="131087" y="1411"/>
                </a:cubicBezTo>
                <a:lnTo>
                  <a:pt x="222761" y="40290"/>
                </a:lnTo>
                <a:cubicBezTo>
                  <a:pt x="233466" y="44815"/>
                  <a:pt x="241446" y="55374"/>
                  <a:pt x="241397" y="68123"/>
                </a:cubicBezTo>
                <a:cubicBezTo>
                  <a:pt x="241154" y="116392"/>
                  <a:pt x="221301" y="204708"/>
                  <a:pt x="137462" y="244852"/>
                </a:cubicBezTo>
                <a:cubicBezTo>
                  <a:pt x="129336" y="248745"/>
                  <a:pt x="119896" y="248745"/>
                  <a:pt x="111770" y="244852"/>
                </a:cubicBezTo>
                <a:cubicBezTo>
                  <a:pt x="27882" y="204708"/>
                  <a:pt x="8077" y="116392"/>
                  <a:pt x="7834" y="68123"/>
                </a:cubicBezTo>
                <a:cubicBezTo>
                  <a:pt x="7785" y="55374"/>
                  <a:pt x="15766" y="44815"/>
                  <a:pt x="26470" y="40290"/>
                </a:cubicBezTo>
                <a:lnTo>
                  <a:pt x="118095" y="1411"/>
                </a:lnTo>
                <a:cubicBezTo>
                  <a:pt x="120139" y="487"/>
                  <a:pt x="122329" y="0"/>
                  <a:pt x="124567" y="0"/>
                </a:cubicBezTo>
                <a:close/>
                <a:moveTo>
                  <a:pt x="124567" y="32504"/>
                </a:moveTo>
                <a:lnTo>
                  <a:pt x="124567" y="216484"/>
                </a:lnTo>
                <a:cubicBezTo>
                  <a:pt x="191716" y="183980"/>
                  <a:pt x="209769" y="111964"/>
                  <a:pt x="210207" y="68852"/>
                </a:cubicBezTo>
                <a:lnTo>
                  <a:pt x="124567" y="32553"/>
                </a:lnTo>
                <a:lnTo>
                  <a:pt x="124567" y="3255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507261" y="6642092"/>
            <a:ext cx="6427660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一致性模型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7261" y="7040707"/>
            <a:ext cx="6402746" cy="59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</a:t>
            </a:r>
            <a:r>
              <a:rPr lang="en-US" sz="1569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行级原子性</a:t>
            </a: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,同一行操作具备ACID特性。跨行操作需应用层保证一致性,在数据正确性和灵活性间取得平衡。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7261" y="7738282"/>
            <a:ext cx="6390290" cy="24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37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用户画像更新、订单状态变更、库存管理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33201" y="1752836"/>
            <a:ext cx="7511393" cy="2055356"/>
          </a:xfrm>
          <a:custGeom>
            <a:avLst/>
            <a:gdLst/>
            <a:ahLst/>
            <a:cxnLst/>
            <a:rect l="l" t="t" r="r" b="b"/>
            <a:pathLst>
              <a:path w="7511393" h="2055356">
                <a:moveTo>
                  <a:pt x="99644" y="0"/>
                </a:moveTo>
                <a:lnTo>
                  <a:pt x="7411749" y="0"/>
                </a:lnTo>
                <a:cubicBezTo>
                  <a:pt x="7466781" y="0"/>
                  <a:pt x="7511393" y="44612"/>
                  <a:pt x="7511393" y="99644"/>
                </a:cubicBezTo>
                <a:lnTo>
                  <a:pt x="7511393" y="1955713"/>
                </a:lnTo>
                <a:cubicBezTo>
                  <a:pt x="7511393" y="2010744"/>
                  <a:pt x="7466781" y="2055356"/>
                  <a:pt x="7411749" y="2055356"/>
                </a:cubicBezTo>
                <a:lnTo>
                  <a:pt x="99644" y="2055356"/>
                </a:lnTo>
                <a:cubicBezTo>
                  <a:pt x="44612" y="2055356"/>
                  <a:pt x="0" y="2010744"/>
                  <a:pt x="0" y="1955713"/>
                </a:cubicBezTo>
                <a:lnTo>
                  <a:pt x="0" y="99644"/>
                </a:lnTo>
                <a:cubicBezTo>
                  <a:pt x="0" y="44649"/>
                  <a:pt x="44649" y="0"/>
                  <a:pt x="9964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38736" y="2481553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613130" y="2655947"/>
            <a:ext cx="249134" cy="24913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13132" y="2530"/>
                </a:moveTo>
                <a:cubicBezTo>
                  <a:pt x="120382" y="-827"/>
                  <a:pt x="128752" y="-827"/>
                  <a:pt x="136002" y="2530"/>
                </a:cubicBezTo>
                <a:lnTo>
                  <a:pt x="242370" y="51676"/>
                </a:lnTo>
                <a:cubicBezTo>
                  <a:pt x="246507" y="53574"/>
                  <a:pt x="249134" y="57710"/>
                  <a:pt x="249134" y="62284"/>
                </a:cubicBezTo>
                <a:cubicBezTo>
                  <a:pt x="249134" y="66857"/>
                  <a:pt x="246507" y="70993"/>
                  <a:pt x="242370" y="72891"/>
                </a:cubicBezTo>
                <a:lnTo>
                  <a:pt x="136002" y="122037"/>
                </a:lnTo>
                <a:cubicBezTo>
                  <a:pt x="128752" y="125394"/>
                  <a:pt x="120382" y="125394"/>
                  <a:pt x="113132" y="122037"/>
                </a:cubicBezTo>
                <a:lnTo>
                  <a:pt x="6764" y="72891"/>
                </a:lnTo>
                <a:cubicBezTo>
                  <a:pt x="2628" y="70945"/>
                  <a:pt x="0" y="66809"/>
                  <a:pt x="0" y="62284"/>
                </a:cubicBezTo>
                <a:cubicBezTo>
                  <a:pt x="0" y="57758"/>
                  <a:pt x="2628" y="53574"/>
                  <a:pt x="6764" y="51676"/>
                </a:cubicBezTo>
                <a:lnTo>
                  <a:pt x="113132" y="2530"/>
                </a:lnTo>
                <a:close/>
                <a:moveTo>
                  <a:pt x="23405" y="106271"/>
                </a:moveTo>
                <a:lnTo>
                  <a:pt x="103352" y="143203"/>
                </a:lnTo>
                <a:cubicBezTo>
                  <a:pt x="116830" y="149432"/>
                  <a:pt x="132352" y="149432"/>
                  <a:pt x="145831" y="143203"/>
                </a:cubicBezTo>
                <a:lnTo>
                  <a:pt x="225778" y="106271"/>
                </a:lnTo>
                <a:lnTo>
                  <a:pt x="242370" y="113959"/>
                </a:lnTo>
                <a:cubicBezTo>
                  <a:pt x="246507" y="115857"/>
                  <a:pt x="249134" y="119993"/>
                  <a:pt x="249134" y="124567"/>
                </a:cubicBezTo>
                <a:cubicBezTo>
                  <a:pt x="249134" y="129141"/>
                  <a:pt x="246507" y="133277"/>
                  <a:pt x="242370" y="135175"/>
                </a:cubicBezTo>
                <a:lnTo>
                  <a:pt x="136002" y="184320"/>
                </a:lnTo>
                <a:cubicBezTo>
                  <a:pt x="128752" y="187678"/>
                  <a:pt x="120382" y="187678"/>
                  <a:pt x="113132" y="184320"/>
                </a:cubicBezTo>
                <a:lnTo>
                  <a:pt x="6764" y="135175"/>
                </a:lnTo>
                <a:cubicBezTo>
                  <a:pt x="2628" y="133228"/>
                  <a:pt x="0" y="129092"/>
                  <a:pt x="0" y="124567"/>
                </a:cubicBezTo>
                <a:cubicBezTo>
                  <a:pt x="0" y="120042"/>
                  <a:pt x="2628" y="115857"/>
                  <a:pt x="6764" y="113959"/>
                </a:cubicBezTo>
                <a:lnTo>
                  <a:pt x="23356" y="106271"/>
                </a:lnTo>
                <a:close/>
                <a:moveTo>
                  <a:pt x="6764" y="176243"/>
                </a:moveTo>
                <a:lnTo>
                  <a:pt x="23356" y="168555"/>
                </a:lnTo>
                <a:lnTo>
                  <a:pt x="103303" y="205487"/>
                </a:lnTo>
                <a:cubicBezTo>
                  <a:pt x="116782" y="211715"/>
                  <a:pt x="132304" y="211715"/>
                  <a:pt x="145782" y="205487"/>
                </a:cubicBezTo>
                <a:lnTo>
                  <a:pt x="225729" y="168555"/>
                </a:lnTo>
                <a:lnTo>
                  <a:pt x="242322" y="176243"/>
                </a:lnTo>
                <a:cubicBezTo>
                  <a:pt x="246458" y="178141"/>
                  <a:pt x="249085" y="182277"/>
                  <a:pt x="249085" y="186851"/>
                </a:cubicBezTo>
                <a:cubicBezTo>
                  <a:pt x="249085" y="191425"/>
                  <a:pt x="246458" y="195561"/>
                  <a:pt x="242322" y="197458"/>
                </a:cubicBezTo>
                <a:lnTo>
                  <a:pt x="135953" y="246604"/>
                </a:lnTo>
                <a:cubicBezTo>
                  <a:pt x="128703" y="249961"/>
                  <a:pt x="120334" y="249961"/>
                  <a:pt x="113084" y="246604"/>
                </a:cubicBezTo>
                <a:lnTo>
                  <a:pt x="6764" y="197458"/>
                </a:lnTo>
                <a:cubicBezTo>
                  <a:pt x="2628" y="195512"/>
                  <a:pt x="0" y="191376"/>
                  <a:pt x="0" y="186851"/>
                </a:cubicBezTo>
                <a:cubicBezTo>
                  <a:pt x="0" y="182325"/>
                  <a:pt x="2628" y="178141"/>
                  <a:pt x="6764" y="17624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235966" y="2107852"/>
            <a:ext cx="6427660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稀疏数据存储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5966" y="2506466"/>
            <a:ext cx="6402746" cy="59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支持动态列和稀疏数据存储。列是动态的,每行可有不同列集合,</a:t>
            </a:r>
            <a:r>
              <a:rPr lang="en-US" sz="1569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NULL值不占用存储空间</a:t>
            </a: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。特别适合日志、用户行为等稀疏数据。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35966" y="3204042"/>
            <a:ext cx="6390290" cy="24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37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用户画像(不同用户有不同属性)、物联网设备数据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33201" y="4019956"/>
            <a:ext cx="7511393" cy="2055356"/>
          </a:xfrm>
          <a:custGeom>
            <a:avLst/>
            <a:gdLst/>
            <a:ahLst/>
            <a:cxnLst/>
            <a:rect l="l" t="t" r="r" b="b"/>
            <a:pathLst>
              <a:path w="7511393" h="2055356">
                <a:moveTo>
                  <a:pt x="99644" y="0"/>
                </a:moveTo>
                <a:lnTo>
                  <a:pt x="7411749" y="0"/>
                </a:lnTo>
                <a:cubicBezTo>
                  <a:pt x="7466781" y="0"/>
                  <a:pt x="7511393" y="44612"/>
                  <a:pt x="7511393" y="99644"/>
                </a:cubicBezTo>
                <a:lnTo>
                  <a:pt x="7511393" y="1955713"/>
                </a:lnTo>
                <a:cubicBezTo>
                  <a:pt x="7511393" y="2010744"/>
                  <a:pt x="7466781" y="2055356"/>
                  <a:pt x="7411749" y="2055356"/>
                </a:cubicBezTo>
                <a:lnTo>
                  <a:pt x="99644" y="2055356"/>
                </a:lnTo>
                <a:cubicBezTo>
                  <a:pt x="44612" y="2055356"/>
                  <a:pt x="0" y="2010744"/>
                  <a:pt x="0" y="1955713"/>
                </a:cubicBezTo>
                <a:lnTo>
                  <a:pt x="0" y="99644"/>
                </a:lnTo>
                <a:cubicBezTo>
                  <a:pt x="0" y="44649"/>
                  <a:pt x="44649" y="0"/>
                  <a:pt x="9964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38736" y="4748673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13130" y="4923067"/>
            <a:ext cx="249134" cy="24913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24567" y="52503"/>
                </a:moveTo>
                <a:lnTo>
                  <a:pt x="117268" y="42382"/>
                </a:lnTo>
                <a:cubicBezTo>
                  <a:pt x="105103" y="25546"/>
                  <a:pt x="85591" y="15571"/>
                  <a:pt x="64765" y="15571"/>
                </a:cubicBezTo>
                <a:cubicBezTo>
                  <a:pt x="29001" y="15571"/>
                  <a:pt x="0" y="44572"/>
                  <a:pt x="0" y="80336"/>
                </a:cubicBezTo>
                <a:lnTo>
                  <a:pt x="0" y="81601"/>
                </a:lnTo>
                <a:cubicBezTo>
                  <a:pt x="0" y="93085"/>
                  <a:pt x="3017" y="104957"/>
                  <a:pt x="8077" y="116782"/>
                </a:cubicBezTo>
                <a:lnTo>
                  <a:pt x="59656" y="116782"/>
                </a:lnTo>
                <a:cubicBezTo>
                  <a:pt x="61213" y="116782"/>
                  <a:pt x="62624" y="115857"/>
                  <a:pt x="63257" y="114397"/>
                </a:cubicBezTo>
                <a:lnTo>
                  <a:pt x="78730" y="77270"/>
                </a:lnTo>
                <a:cubicBezTo>
                  <a:pt x="80531" y="72989"/>
                  <a:pt x="84715" y="70166"/>
                  <a:pt x="89338" y="70069"/>
                </a:cubicBezTo>
                <a:cubicBezTo>
                  <a:pt x="93961" y="69972"/>
                  <a:pt x="98243" y="72697"/>
                  <a:pt x="100140" y="76930"/>
                </a:cubicBezTo>
                <a:lnTo>
                  <a:pt x="125102" y="132352"/>
                </a:lnTo>
                <a:lnTo>
                  <a:pt x="145247" y="92063"/>
                </a:lnTo>
                <a:cubicBezTo>
                  <a:pt x="147242" y="88121"/>
                  <a:pt x="151281" y="85591"/>
                  <a:pt x="155709" y="85591"/>
                </a:cubicBezTo>
                <a:cubicBezTo>
                  <a:pt x="160137" y="85591"/>
                  <a:pt x="164175" y="88073"/>
                  <a:pt x="166170" y="92063"/>
                </a:cubicBezTo>
                <a:lnTo>
                  <a:pt x="177459" y="114592"/>
                </a:lnTo>
                <a:cubicBezTo>
                  <a:pt x="178141" y="115906"/>
                  <a:pt x="179454" y="116733"/>
                  <a:pt x="180963" y="116733"/>
                </a:cubicBezTo>
                <a:lnTo>
                  <a:pt x="241105" y="116733"/>
                </a:lnTo>
                <a:cubicBezTo>
                  <a:pt x="246215" y="104909"/>
                  <a:pt x="249183" y="93036"/>
                  <a:pt x="249183" y="81552"/>
                </a:cubicBezTo>
                <a:lnTo>
                  <a:pt x="249183" y="80287"/>
                </a:lnTo>
                <a:cubicBezTo>
                  <a:pt x="249134" y="44572"/>
                  <a:pt x="220133" y="15571"/>
                  <a:pt x="184369" y="15571"/>
                </a:cubicBezTo>
                <a:cubicBezTo>
                  <a:pt x="163592" y="15571"/>
                  <a:pt x="144031" y="25546"/>
                  <a:pt x="131866" y="42382"/>
                </a:cubicBezTo>
                <a:lnTo>
                  <a:pt x="124567" y="52454"/>
                </a:lnTo>
                <a:close/>
                <a:moveTo>
                  <a:pt x="228503" y="140138"/>
                </a:moveTo>
                <a:lnTo>
                  <a:pt x="180914" y="140138"/>
                </a:lnTo>
                <a:cubicBezTo>
                  <a:pt x="170598" y="140138"/>
                  <a:pt x="161159" y="134299"/>
                  <a:pt x="156536" y="125054"/>
                </a:cubicBezTo>
                <a:lnTo>
                  <a:pt x="155709" y="123399"/>
                </a:lnTo>
                <a:lnTo>
                  <a:pt x="135029" y="164808"/>
                </a:lnTo>
                <a:cubicBezTo>
                  <a:pt x="133034" y="168847"/>
                  <a:pt x="128849" y="171377"/>
                  <a:pt x="124324" y="171280"/>
                </a:cubicBezTo>
                <a:cubicBezTo>
                  <a:pt x="119798" y="171182"/>
                  <a:pt x="115760" y="168506"/>
                  <a:pt x="113911" y="164419"/>
                </a:cubicBezTo>
                <a:lnTo>
                  <a:pt x="89922" y="111137"/>
                </a:lnTo>
                <a:lnTo>
                  <a:pt x="84813" y="123399"/>
                </a:lnTo>
                <a:cubicBezTo>
                  <a:pt x="80579" y="133569"/>
                  <a:pt x="70653" y="140187"/>
                  <a:pt x="59656" y="140187"/>
                </a:cubicBezTo>
                <a:lnTo>
                  <a:pt x="20631" y="140187"/>
                </a:lnTo>
                <a:cubicBezTo>
                  <a:pt x="43598" y="176097"/>
                  <a:pt x="80482" y="209136"/>
                  <a:pt x="103546" y="226751"/>
                </a:cubicBezTo>
                <a:cubicBezTo>
                  <a:pt x="109580" y="231325"/>
                  <a:pt x="116976" y="233612"/>
                  <a:pt x="124518" y="233612"/>
                </a:cubicBezTo>
                <a:cubicBezTo>
                  <a:pt x="132061" y="233612"/>
                  <a:pt x="139505" y="231374"/>
                  <a:pt x="145490" y="226751"/>
                </a:cubicBezTo>
                <a:cubicBezTo>
                  <a:pt x="168652" y="209088"/>
                  <a:pt x="205536" y="176048"/>
                  <a:pt x="228503" y="1401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235966" y="4374972"/>
            <a:ext cx="6427660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自动故障恢复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35966" y="4773587"/>
            <a:ext cx="6402746" cy="59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基于HDFS副本和ZooKeeper协调实现高可用。</a:t>
            </a:r>
            <a:r>
              <a:rPr lang="en-US" sz="1569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节点故障时自动检测并重分配Region</a:t>
            </a: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,实现快速故障转移,最大程度减少影响。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35966" y="5471162"/>
            <a:ext cx="6390290" cy="24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37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7×24小时在线服务、金融交易系统、实时推荐平台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33201" y="6287076"/>
            <a:ext cx="7511393" cy="2055356"/>
          </a:xfrm>
          <a:custGeom>
            <a:avLst/>
            <a:gdLst/>
            <a:ahLst/>
            <a:cxnLst/>
            <a:rect l="l" t="t" r="r" b="b"/>
            <a:pathLst>
              <a:path w="7511393" h="2055356">
                <a:moveTo>
                  <a:pt x="99644" y="0"/>
                </a:moveTo>
                <a:lnTo>
                  <a:pt x="7411749" y="0"/>
                </a:lnTo>
                <a:cubicBezTo>
                  <a:pt x="7466781" y="0"/>
                  <a:pt x="7511393" y="44612"/>
                  <a:pt x="7511393" y="99644"/>
                </a:cubicBezTo>
                <a:lnTo>
                  <a:pt x="7511393" y="1955713"/>
                </a:lnTo>
                <a:cubicBezTo>
                  <a:pt x="7511393" y="2010744"/>
                  <a:pt x="7466781" y="2055356"/>
                  <a:pt x="7411749" y="2055356"/>
                </a:cubicBezTo>
                <a:lnTo>
                  <a:pt x="99644" y="2055356"/>
                </a:lnTo>
                <a:cubicBezTo>
                  <a:pt x="44612" y="2055356"/>
                  <a:pt x="0" y="2010744"/>
                  <a:pt x="0" y="1955713"/>
                </a:cubicBezTo>
                <a:lnTo>
                  <a:pt x="0" y="99644"/>
                </a:lnTo>
                <a:cubicBezTo>
                  <a:pt x="0" y="44649"/>
                  <a:pt x="44649" y="0"/>
                  <a:pt x="9964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38736" y="7015794"/>
            <a:ext cx="597922" cy="597922"/>
          </a:xfrm>
          <a:custGeom>
            <a:avLst/>
            <a:gdLst/>
            <a:ahLst/>
            <a:cxnLst/>
            <a:rect l="l" t="t" r="r" b="b"/>
            <a:pathLst>
              <a:path w="597922" h="597922">
                <a:moveTo>
                  <a:pt x="149480" y="0"/>
                </a:moveTo>
                <a:lnTo>
                  <a:pt x="448441" y="0"/>
                </a:lnTo>
                <a:cubicBezTo>
                  <a:pt x="530942" y="0"/>
                  <a:pt x="597922" y="66980"/>
                  <a:pt x="597922" y="149480"/>
                </a:cubicBezTo>
                <a:lnTo>
                  <a:pt x="597922" y="448441"/>
                </a:lnTo>
                <a:cubicBezTo>
                  <a:pt x="597922" y="530942"/>
                  <a:pt x="530942" y="597922"/>
                  <a:pt x="448441" y="597922"/>
                </a:cubicBezTo>
                <a:lnTo>
                  <a:pt x="149480" y="597922"/>
                </a:lnTo>
                <a:cubicBezTo>
                  <a:pt x="66980" y="597922"/>
                  <a:pt x="0" y="530942"/>
                  <a:pt x="0" y="448441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97559" y="7190187"/>
            <a:ext cx="280276" cy="249134"/>
          </a:xfrm>
          <a:custGeom>
            <a:avLst/>
            <a:gdLst/>
            <a:ahLst/>
            <a:cxnLst/>
            <a:rect l="l" t="t" r="r" b="b"/>
            <a:pathLst>
              <a:path w="280276" h="249134">
                <a:moveTo>
                  <a:pt x="109045" y="47248"/>
                </a:moveTo>
                <a:lnTo>
                  <a:pt x="109045" y="71383"/>
                </a:lnTo>
                <a:lnTo>
                  <a:pt x="109288" y="71626"/>
                </a:lnTo>
                <a:cubicBezTo>
                  <a:pt x="112451" y="31531"/>
                  <a:pt x="145977" y="0"/>
                  <a:pt x="186899" y="0"/>
                </a:cubicBezTo>
                <a:cubicBezTo>
                  <a:pt x="196680" y="0"/>
                  <a:pt x="206071" y="1800"/>
                  <a:pt x="214684" y="5109"/>
                </a:cubicBezTo>
                <a:cubicBezTo>
                  <a:pt x="219549" y="6958"/>
                  <a:pt x="220425" y="13138"/>
                  <a:pt x="216776" y="16836"/>
                </a:cubicBezTo>
                <a:lnTo>
                  <a:pt x="173615" y="59997"/>
                </a:lnTo>
                <a:cubicBezTo>
                  <a:pt x="172156" y="61456"/>
                  <a:pt x="171328" y="63451"/>
                  <a:pt x="171328" y="65495"/>
                </a:cubicBezTo>
                <a:lnTo>
                  <a:pt x="171328" y="85640"/>
                </a:lnTo>
                <a:cubicBezTo>
                  <a:pt x="171328" y="89922"/>
                  <a:pt x="174832" y="93425"/>
                  <a:pt x="179114" y="93425"/>
                </a:cubicBezTo>
                <a:lnTo>
                  <a:pt x="199259" y="93425"/>
                </a:lnTo>
                <a:cubicBezTo>
                  <a:pt x="201302" y="93425"/>
                  <a:pt x="203297" y="92598"/>
                  <a:pt x="204757" y="91138"/>
                </a:cubicBezTo>
                <a:lnTo>
                  <a:pt x="247918" y="47978"/>
                </a:lnTo>
                <a:cubicBezTo>
                  <a:pt x="251616" y="44280"/>
                  <a:pt x="257795" y="45204"/>
                  <a:pt x="259644" y="50070"/>
                </a:cubicBezTo>
                <a:cubicBezTo>
                  <a:pt x="262953" y="58683"/>
                  <a:pt x="264754" y="68074"/>
                  <a:pt x="264754" y="77854"/>
                </a:cubicBezTo>
                <a:cubicBezTo>
                  <a:pt x="264754" y="107342"/>
                  <a:pt x="248356" y="133034"/>
                  <a:pt x="224123" y="146220"/>
                </a:cubicBezTo>
                <a:lnTo>
                  <a:pt x="263780" y="185877"/>
                </a:lnTo>
                <a:cubicBezTo>
                  <a:pt x="272880" y="194977"/>
                  <a:pt x="272880" y="209769"/>
                  <a:pt x="263780" y="218917"/>
                </a:cubicBezTo>
                <a:lnTo>
                  <a:pt x="234536" y="248161"/>
                </a:lnTo>
                <a:cubicBezTo>
                  <a:pt x="225437" y="257260"/>
                  <a:pt x="210645" y="257260"/>
                  <a:pt x="201497" y="248161"/>
                </a:cubicBezTo>
                <a:lnTo>
                  <a:pt x="140187" y="186851"/>
                </a:lnTo>
                <a:cubicBezTo>
                  <a:pt x="126854" y="173518"/>
                  <a:pt x="123837" y="153811"/>
                  <a:pt x="131185" y="137559"/>
                </a:cubicBezTo>
                <a:lnTo>
                  <a:pt x="87051" y="93425"/>
                </a:lnTo>
                <a:lnTo>
                  <a:pt x="62916" y="93425"/>
                </a:lnTo>
                <a:cubicBezTo>
                  <a:pt x="57710" y="93425"/>
                  <a:pt x="52844" y="90846"/>
                  <a:pt x="49973" y="86516"/>
                </a:cubicBezTo>
                <a:lnTo>
                  <a:pt x="11386" y="28660"/>
                </a:lnTo>
                <a:cubicBezTo>
                  <a:pt x="9343" y="25595"/>
                  <a:pt x="9732" y="21459"/>
                  <a:pt x="12359" y="18831"/>
                </a:cubicBezTo>
                <a:lnTo>
                  <a:pt x="34451" y="-3260"/>
                </a:lnTo>
                <a:cubicBezTo>
                  <a:pt x="37078" y="-5888"/>
                  <a:pt x="41166" y="-6277"/>
                  <a:pt x="44280" y="-4233"/>
                </a:cubicBezTo>
                <a:lnTo>
                  <a:pt x="102135" y="34305"/>
                </a:lnTo>
                <a:cubicBezTo>
                  <a:pt x="106466" y="37175"/>
                  <a:pt x="109045" y="42041"/>
                  <a:pt x="109045" y="47248"/>
                </a:cubicBezTo>
                <a:close/>
                <a:moveTo>
                  <a:pt x="104909" y="144323"/>
                </a:moveTo>
                <a:cubicBezTo>
                  <a:pt x="101843" y="162326"/>
                  <a:pt x="106077" y="181352"/>
                  <a:pt x="117755" y="196582"/>
                </a:cubicBezTo>
                <a:lnTo>
                  <a:pt x="71529" y="242760"/>
                </a:lnTo>
                <a:cubicBezTo>
                  <a:pt x="57856" y="256433"/>
                  <a:pt x="35667" y="256433"/>
                  <a:pt x="21994" y="242760"/>
                </a:cubicBezTo>
                <a:cubicBezTo>
                  <a:pt x="8321" y="229087"/>
                  <a:pt x="8321" y="206898"/>
                  <a:pt x="21994" y="193225"/>
                </a:cubicBezTo>
                <a:lnTo>
                  <a:pt x="87878" y="127341"/>
                </a:lnTo>
                <a:lnTo>
                  <a:pt x="104909" y="14437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235966" y="6642092"/>
            <a:ext cx="6427660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灵活数据模型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35966" y="7040707"/>
            <a:ext cx="6402746" cy="59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支持多种数据访问模式:精确查询(Get)、范围扫描(Scan)、过滤器、计数器、原子操作等。</a:t>
            </a:r>
            <a:r>
              <a:rPr lang="en-US" sz="1569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丰富的编程接口</a:t>
            </a:r>
            <a:r>
              <a:rPr lang="en-US" sz="156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适应不同场景。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35966" y="7738282"/>
            <a:ext cx="6390290" cy="24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应用场景:</a:t>
            </a:r>
            <a:r>
              <a:rPr lang="en-US" sz="137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实时推荐、时序数据分析、内容管理系统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23182" y="8547968"/>
            <a:ext cx="49827" cy="498268"/>
          </a:xfrm>
          <a:custGeom>
            <a:avLst/>
            <a:gdLst/>
            <a:ahLst/>
            <a:cxnLst/>
            <a:rect l="l" t="t" r="r" b="b"/>
            <a:pathLst>
              <a:path w="49827" h="498268">
                <a:moveTo>
                  <a:pt x="0" y="0"/>
                </a:moveTo>
                <a:lnTo>
                  <a:pt x="49827" y="0"/>
                </a:lnTo>
                <a:lnTo>
                  <a:pt x="49827" y="498268"/>
                </a:lnTo>
                <a:lnTo>
                  <a:pt x="0" y="498268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97229" y="8703677"/>
            <a:ext cx="149480" cy="199307"/>
          </a:xfrm>
          <a:custGeom>
            <a:avLst/>
            <a:gdLst/>
            <a:ahLst/>
            <a:cxnLst/>
            <a:rect l="l" t="t" r="r" b="b"/>
            <a:pathLst>
              <a:path w="149480" h="199307">
                <a:moveTo>
                  <a:pt x="114018" y="149480"/>
                </a:moveTo>
                <a:cubicBezTo>
                  <a:pt x="116859" y="140800"/>
                  <a:pt x="122543" y="132936"/>
                  <a:pt x="128966" y="126163"/>
                </a:cubicBezTo>
                <a:cubicBezTo>
                  <a:pt x="141695" y="112772"/>
                  <a:pt x="149480" y="94671"/>
                  <a:pt x="149480" y="74740"/>
                </a:cubicBezTo>
                <a:cubicBezTo>
                  <a:pt x="149480" y="33477"/>
                  <a:pt x="116003" y="0"/>
                  <a:pt x="74740" y="0"/>
                </a:cubicBezTo>
                <a:cubicBezTo>
                  <a:pt x="33477" y="0"/>
                  <a:pt x="0" y="33477"/>
                  <a:pt x="0" y="74740"/>
                </a:cubicBezTo>
                <a:cubicBezTo>
                  <a:pt x="0" y="94671"/>
                  <a:pt x="7785" y="112772"/>
                  <a:pt x="20515" y="126163"/>
                </a:cubicBezTo>
                <a:cubicBezTo>
                  <a:pt x="26938" y="132936"/>
                  <a:pt x="32660" y="140800"/>
                  <a:pt x="35463" y="149480"/>
                </a:cubicBezTo>
                <a:lnTo>
                  <a:pt x="113979" y="149480"/>
                </a:lnTo>
                <a:close/>
                <a:moveTo>
                  <a:pt x="112110" y="168166"/>
                </a:moveTo>
                <a:lnTo>
                  <a:pt x="37370" y="168166"/>
                </a:lnTo>
                <a:lnTo>
                  <a:pt x="37370" y="174394"/>
                </a:lnTo>
                <a:cubicBezTo>
                  <a:pt x="37370" y="191600"/>
                  <a:pt x="51306" y="205536"/>
                  <a:pt x="68512" y="205536"/>
                </a:cubicBezTo>
                <a:lnTo>
                  <a:pt x="80969" y="205536"/>
                </a:lnTo>
                <a:cubicBezTo>
                  <a:pt x="98174" y="205536"/>
                  <a:pt x="112110" y="191600"/>
                  <a:pt x="112110" y="174394"/>
                </a:cubicBezTo>
                <a:lnTo>
                  <a:pt x="112110" y="168166"/>
                </a:lnTo>
                <a:close/>
                <a:moveTo>
                  <a:pt x="71626" y="43598"/>
                </a:moveTo>
                <a:cubicBezTo>
                  <a:pt x="56133" y="43598"/>
                  <a:pt x="43598" y="56133"/>
                  <a:pt x="43598" y="71626"/>
                </a:cubicBezTo>
                <a:cubicBezTo>
                  <a:pt x="43598" y="76803"/>
                  <a:pt x="39433" y="80969"/>
                  <a:pt x="34256" y="80969"/>
                </a:cubicBezTo>
                <a:cubicBezTo>
                  <a:pt x="29079" y="80969"/>
                  <a:pt x="24913" y="76803"/>
                  <a:pt x="24913" y="71626"/>
                </a:cubicBezTo>
                <a:cubicBezTo>
                  <a:pt x="24913" y="45817"/>
                  <a:pt x="45817" y="24913"/>
                  <a:pt x="71626" y="24913"/>
                </a:cubicBezTo>
                <a:cubicBezTo>
                  <a:pt x="76803" y="24913"/>
                  <a:pt x="80969" y="29079"/>
                  <a:pt x="80969" y="34256"/>
                </a:cubicBezTo>
                <a:cubicBezTo>
                  <a:pt x="80969" y="39433"/>
                  <a:pt x="76803" y="43598"/>
                  <a:pt x="71626" y="4359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94281" y="8647622"/>
            <a:ext cx="14763104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核心设计哲学:</a:t>
            </a:r>
            <a:r>
              <a:rPr lang="en-US" sz="156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HBase通过权衡一致性、可用性和分区容错性,在CAP定理中优先保证CP,为海量数据存储提供高性能、高可靠的解决方案。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879600" cy="508000"/>
          </a:xfrm>
          <a:custGeom>
            <a:avLst/>
            <a:gdLst/>
            <a:ahLst/>
            <a:cxnLst/>
            <a:rect l="l" t="t" r="r" b="b"/>
            <a:pathLst>
              <a:path w="1879600" h="508000">
                <a:moveTo>
                  <a:pt x="0" y="0"/>
                </a:moveTo>
                <a:lnTo>
                  <a:pt x="1879600" y="0"/>
                </a:lnTo>
                <a:lnTo>
                  <a:pt x="18796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628650"/>
            <a:ext cx="1544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HBase vs 关系数据库:技术选型对比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1885950"/>
            <a:ext cx="7480300" cy="4635500"/>
          </a:xfrm>
          <a:custGeom>
            <a:avLst/>
            <a:gdLst/>
            <a:ahLst/>
            <a:cxnLst/>
            <a:rect l="l" t="t" r="r" b="b"/>
            <a:pathLst>
              <a:path w="7480300" h="4635500">
                <a:moveTo>
                  <a:pt x="101610" y="0"/>
                </a:moveTo>
                <a:lnTo>
                  <a:pt x="7378690" y="0"/>
                </a:lnTo>
                <a:cubicBezTo>
                  <a:pt x="7434808" y="0"/>
                  <a:pt x="7480300" y="45492"/>
                  <a:pt x="7480300" y="101610"/>
                </a:cubicBezTo>
                <a:lnTo>
                  <a:pt x="7480300" y="4533890"/>
                </a:lnTo>
                <a:cubicBezTo>
                  <a:pt x="7480300" y="4590008"/>
                  <a:pt x="7434808" y="4635500"/>
                  <a:pt x="7378690" y="4635500"/>
                </a:cubicBezTo>
                <a:lnTo>
                  <a:pt x="101610" y="4635500"/>
                </a:lnTo>
                <a:cubicBezTo>
                  <a:pt x="45492" y="4635500"/>
                  <a:pt x="0" y="4590008"/>
                  <a:pt x="0" y="45338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6450" y="2197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82848" y="82848"/>
                </a:moveTo>
                <a:cubicBezTo>
                  <a:pt x="87511" y="78184"/>
                  <a:pt x="95052" y="78184"/>
                  <a:pt x="99665" y="82848"/>
                </a:cubicBezTo>
                <a:lnTo>
                  <a:pt x="126950" y="110133"/>
                </a:lnTo>
                <a:lnTo>
                  <a:pt x="154236" y="82848"/>
                </a:lnTo>
                <a:cubicBezTo>
                  <a:pt x="158899" y="78184"/>
                  <a:pt x="166439" y="78184"/>
                  <a:pt x="171053" y="82848"/>
                </a:cubicBezTo>
                <a:cubicBezTo>
                  <a:pt x="175667" y="87511"/>
                  <a:pt x="175716" y="95052"/>
                  <a:pt x="171053" y="99665"/>
                </a:cubicBezTo>
                <a:lnTo>
                  <a:pt x="143768" y="126950"/>
                </a:lnTo>
                <a:lnTo>
                  <a:pt x="171053" y="154236"/>
                </a:lnTo>
                <a:cubicBezTo>
                  <a:pt x="175716" y="158899"/>
                  <a:pt x="175716" y="166439"/>
                  <a:pt x="171053" y="171053"/>
                </a:cubicBezTo>
                <a:cubicBezTo>
                  <a:pt x="166390" y="175667"/>
                  <a:pt x="158849" y="175716"/>
                  <a:pt x="154236" y="171053"/>
                </a:cubicBezTo>
                <a:lnTo>
                  <a:pt x="126950" y="143768"/>
                </a:lnTo>
                <a:lnTo>
                  <a:pt x="99665" y="171053"/>
                </a:lnTo>
                <a:cubicBezTo>
                  <a:pt x="95002" y="175716"/>
                  <a:pt x="87461" y="175716"/>
                  <a:pt x="82848" y="171053"/>
                </a:cubicBezTo>
                <a:cubicBezTo>
                  <a:pt x="78234" y="166390"/>
                  <a:pt x="78184" y="158849"/>
                  <a:pt x="82848" y="154236"/>
                </a:cubicBezTo>
                <a:lnTo>
                  <a:pt x="110133" y="126950"/>
                </a:lnTo>
                <a:lnTo>
                  <a:pt x="82848" y="99665"/>
                </a:lnTo>
                <a:cubicBezTo>
                  <a:pt x="78184" y="95002"/>
                  <a:pt x="78184" y="87461"/>
                  <a:pt x="82848" y="82848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93800" y="21463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关系数据库的问题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705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Schema僵化问题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060700"/>
            <a:ext cx="706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需预定义完整表结构,新增字段要执行ALTER TABLE,对频繁变化的业务极不灵活。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" y="3873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稀疏数据存储效率低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4700" y="4229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用户画像等稀疏数据产生大量NULL值,浪费存储空间并影响查询性能。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4700" y="4737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水平扩展困难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4700" y="50927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主要靠垂直扩展提升性能,水平扩展(分库分表)需复杂应用层逻辑。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4700" y="56007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写入性能瓶颈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4700" y="59563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B-tree索引在大量写入时频繁页面分裂和索引维护,限制写入吞吐量。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61350" y="1885950"/>
            <a:ext cx="7480300" cy="4635500"/>
          </a:xfrm>
          <a:custGeom>
            <a:avLst/>
            <a:gdLst/>
            <a:ahLst/>
            <a:cxnLst/>
            <a:rect l="l" t="t" r="r" b="b"/>
            <a:pathLst>
              <a:path w="7480300" h="4635500">
                <a:moveTo>
                  <a:pt x="101610" y="0"/>
                </a:moveTo>
                <a:lnTo>
                  <a:pt x="7378690" y="0"/>
                </a:lnTo>
                <a:cubicBezTo>
                  <a:pt x="7434808" y="0"/>
                  <a:pt x="7480300" y="45492"/>
                  <a:pt x="7480300" y="101610"/>
                </a:cubicBezTo>
                <a:lnTo>
                  <a:pt x="7480300" y="4533890"/>
                </a:lnTo>
                <a:cubicBezTo>
                  <a:pt x="7480300" y="4590008"/>
                  <a:pt x="7434808" y="4635500"/>
                  <a:pt x="7378690" y="4635500"/>
                </a:cubicBezTo>
                <a:lnTo>
                  <a:pt x="101610" y="4635500"/>
                </a:lnTo>
                <a:cubicBezTo>
                  <a:pt x="45492" y="4635500"/>
                  <a:pt x="0" y="4590008"/>
                  <a:pt x="0" y="45338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53450" y="2197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940800" y="2146300"/>
            <a:ext cx="214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HBase的解决方案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21700" y="27432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动态Schema + 列族存储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21700" y="30988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支持动态添加列,无需预定义 </a:t>
            </a: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;不同行可有不同列集合,NULL值不占空间。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21700" y="36830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水平扩展架构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21700" y="40386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自动Region分裂和负载均衡 </a:t>
            </a: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,实现线性水平扩展,支持数GB到PB级数据。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21700" y="46228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高吞吐写入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21700" y="49784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600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LSM-tree </a:t>
            </a: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,通过顺序写入和后台合并实现高吞吐量,支持每秒百万级写入。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21700" y="55626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丰富查询能力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21700" y="59182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支持精确查询(Get)、范围扫描(Scan)、过滤器、原子操作等多种访问方式。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6737350"/>
            <a:ext cx="15227300" cy="2095500"/>
          </a:xfrm>
          <a:custGeom>
            <a:avLst/>
            <a:gdLst/>
            <a:ahLst/>
            <a:cxnLst/>
            <a:rect l="l" t="t" r="r" b="b"/>
            <a:pathLst>
              <a:path w="15227300" h="2095500">
                <a:moveTo>
                  <a:pt x="101590" y="0"/>
                </a:moveTo>
                <a:lnTo>
                  <a:pt x="15125710" y="0"/>
                </a:lnTo>
                <a:cubicBezTo>
                  <a:pt x="15181817" y="0"/>
                  <a:pt x="15227300" y="45483"/>
                  <a:pt x="15227300" y="101590"/>
                </a:cubicBezTo>
                <a:lnTo>
                  <a:pt x="15227300" y="1993910"/>
                </a:lnTo>
                <a:cubicBezTo>
                  <a:pt x="15227300" y="2050017"/>
                  <a:pt x="15181817" y="2095500"/>
                  <a:pt x="15125710" y="2095500"/>
                </a:cubicBezTo>
                <a:lnTo>
                  <a:pt x="101590" y="2095500"/>
                </a:lnTo>
                <a:cubicBezTo>
                  <a:pt x="45483" y="2095500"/>
                  <a:pt x="0" y="2050017"/>
                  <a:pt x="0" y="19939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23900" y="6946900"/>
            <a:ext cx="149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用户画像示例对比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3900" y="7454900"/>
            <a:ext cx="739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关系数据库: 需预定义所有字段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3900" y="7810500"/>
            <a:ext cx="7302500" cy="812800"/>
          </a:xfrm>
          <a:custGeom>
            <a:avLst/>
            <a:gdLst/>
            <a:ahLst/>
            <a:cxnLst/>
            <a:rect l="l" t="t" r="r" b="b"/>
            <a:pathLst>
              <a:path w="7302500" h="812800">
                <a:moveTo>
                  <a:pt x="50800" y="0"/>
                </a:moveTo>
                <a:lnTo>
                  <a:pt x="7251700" y="0"/>
                </a:lnTo>
                <a:cubicBezTo>
                  <a:pt x="7279737" y="0"/>
                  <a:pt x="7302500" y="22763"/>
                  <a:pt x="7302500" y="50800"/>
                </a:cubicBezTo>
                <a:lnTo>
                  <a:pt x="7302500" y="762000"/>
                </a:lnTo>
                <a:cubicBezTo>
                  <a:pt x="7302500" y="790037"/>
                  <a:pt x="7279737" y="812800"/>
                  <a:pt x="72517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23900" y="7810500"/>
            <a:ext cx="7378700" cy="812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TABLE user_profile (user_id VARCHAR(50), name VARCHAR(100), age INT, last_login TIMESTAMP, ...); -- 新增字段需修改表结构 ALTER TABLE user_profile ADD COLUMN favorite_color VARCHAR(20);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7454900"/>
            <a:ext cx="739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HBase: 只需定义列族,列可动态添加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29600" y="7810500"/>
            <a:ext cx="7302500" cy="812800"/>
          </a:xfrm>
          <a:custGeom>
            <a:avLst/>
            <a:gdLst/>
            <a:ahLst/>
            <a:cxnLst/>
            <a:rect l="l" t="t" r="r" b="b"/>
            <a:pathLst>
              <a:path w="7302500" h="812800">
                <a:moveTo>
                  <a:pt x="50800" y="0"/>
                </a:moveTo>
                <a:lnTo>
                  <a:pt x="7251700" y="0"/>
                </a:lnTo>
                <a:cubicBezTo>
                  <a:pt x="7279737" y="0"/>
                  <a:pt x="7302500" y="22763"/>
                  <a:pt x="7302500" y="50800"/>
                </a:cubicBezTo>
                <a:lnTo>
                  <a:pt x="7302500" y="762000"/>
                </a:lnTo>
                <a:cubicBezTo>
                  <a:pt x="7302500" y="790037"/>
                  <a:pt x="7279737" y="812800"/>
                  <a:pt x="72517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29600" y="7810500"/>
            <a:ext cx="7378700" cy="812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'user_profile', {NAME =&gt; 'basic'}, {NAME =&gt; 'behavior'} put 'user_profile', 'user001', 'basic:name', 'Alice' put 'user001', 'behavior:favorite_color', 'blue' -- 动态添加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511300" cy="508000"/>
          </a:xfrm>
          <a:custGeom>
            <a:avLst/>
            <a:gdLst/>
            <a:ahLst/>
            <a:cxnLst/>
            <a:rect l="l" t="t" r="r" b="b"/>
            <a:pathLst>
              <a:path w="1511300" h="508000">
                <a:moveTo>
                  <a:pt x="0" y="0"/>
                </a:moveTo>
                <a:lnTo>
                  <a:pt x="1511300" y="0"/>
                </a:lnTo>
                <a:lnTo>
                  <a:pt x="15113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628650"/>
            <a:ext cx="1187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核心特性与技术定位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1885950"/>
            <a:ext cx="8978900" cy="1498600"/>
          </a:xfrm>
          <a:custGeom>
            <a:avLst/>
            <a:gdLst/>
            <a:ahLst/>
            <a:cxnLst/>
            <a:rect l="l" t="t" r="r" b="b"/>
            <a:pathLst>
              <a:path w="8978900" h="1498600">
                <a:moveTo>
                  <a:pt x="101605" y="0"/>
                </a:moveTo>
                <a:lnTo>
                  <a:pt x="8877295" y="0"/>
                </a:lnTo>
                <a:cubicBezTo>
                  <a:pt x="8933410" y="0"/>
                  <a:pt x="8978900" y="45490"/>
                  <a:pt x="8978900" y="101605"/>
                </a:cubicBezTo>
                <a:lnTo>
                  <a:pt x="8978900" y="1396995"/>
                </a:lnTo>
                <a:cubicBezTo>
                  <a:pt x="8978900" y="1453110"/>
                  <a:pt x="8933410" y="1498600"/>
                  <a:pt x="88772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23900" y="227647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65200" y="247967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38300" y="2124075"/>
            <a:ext cx="777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行级原子性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38300" y="2530475"/>
            <a:ext cx="774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同一行上的所有操作具备原子性,要么全部成功要么全部失败。跨行或跨表操作需应用层逻辑保证一致性。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350" y="3543300"/>
            <a:ext cx="8978900" cy="1498600"/>
          </a:xfrm>
          <a:custGeom>
            <a:avLst/>
            <a:gdLst/>
            <a:ahLst/>
            <a:cxnLst/>
            <a:rect l="l" t="t" r="r" b="b"/>
            <a:pathLst>
              <a:path w="8978900" h="1498600">
                <a:moveTo>
                  <a:pt x="101605" y="0"/>
                </a:moveTo>
                <a:lnTo>
                  <a:pt x="8877295" y="0"/>
                </a:lnTo>
                <a:cubicBezTo>
                  <a:pt x="8933410" y="0"/>
                  <a:pt x="8978900" y="45490"/>
                  <a:pt x="8978900" y="101605"/>
                </a:cubicBezTo>
                <a:lnTo>
                  <a:pt x="8978900" y="1396995"/>
                </a:lnTo>
                <a:cubicBezTo>
                  <a:pt x="8978900" y="1453110"/>
                  <a:pt x="8933410" y="1498600"/>
                  <a:pt x="88772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23900" y="393382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946150" y="413702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00013" y="19050"/>
                </a:moveTo>
                <a:lnTo>
                  <a:pt x="14288" y="19050"/>
                </a:lnTo>
                <a:cubicBezTo>
                  <a:pt x="6370" y="19050"/>
                  <a:pt x="0" y="25420"/>
                  <a:pt x="0" y="33338"/>
                </a:cubicBezTo>
                <a:lnTo>
                  <a:pt x="0" y="119062"/>
                </a:lnTo>
                <a:cubicBezTo>
                  <a:pt x="0" y="124837"/>
                  <a:pt x="3453" y="130076"/>
                  <a:pt x="8811" y="132278"/>
                </a:cubicBezTo>
                <a:cubicBezTo>
                  <a:pt x="14168" y="134481"/>
                  <a:pt x="20300" y="133231"/>
                  <a:pt x="24408" y="129183"/>
                </a:cubicBezTo>
                <a:lnTo>
                  <a:pt x="48220" y="105370"/>
                </a:lnTo>
                <a:lnTo>
                  <a:pt x="95250" y="152400"/>
                </a:lnTo>
                <a:lnTo>
                  <a:pt x="48220" y="199430"/>
                </a:lnTo>
                <a:lnTo>
                  <a:pt x="24408" y="175617"/>
                </a:lnTo>
                <a:cubicBezTo>
                  <a:pt x="20300" y="171510"/>
                  <a:pt x="14168" y="170319"/>
                  <a:pt x="8811" y="172522"/>
                </a:cubicBezTo>
                <a:cubicBezTo>
                  <a:pt x="3453" y="174724"/>
                  <a:pt x="0" y="179963"/>
                  <a:pt x="0" y="185738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lnTo>
                  <a:pt x="100013" y="285750"/>
                </a:lnTo>
                <a:cubicBezTo>
                  <a:pt x="105787" y="285750"/>
                  <a:pt x="111026" y="282297"/>
                  <a:pt x="113228" y="276939"/>
                </a:cubicBezTo>
                <a:cubicBezTo>
                  <a:pt x="115431" y="271582"/>
                  <a:pt x="114240" y="265450"/>
                  <a:pt x="110133" y="261342"/>
                </a:cubicBezTo>
                <a:lnTo>
                  <a:pt x="86320" y="237530"/>
                </a:lnTo>
                <a:lnTo>
                  <a:pt x="133350" y="190500"/>
                </a:lnTo>
                <a:lnTo>
                  <a:pt x="180380" y="237530"/>
                </a:lnTo>
                <a:lnTo>
                  <a:pt x="156567" y="261342"/>
                </a:lnTo>
                <a:cubicBezTo>
                  <a:pt x="152460" y="265450"/>
                  <a:pt x="151269" y="271582"/>
                  <a:pt x="153472" y="276939"/>
                </a:cubicBezTo>
                <a:cubicBezTo>
                  <a:pt x="155674" y="282297"/>
                  <a:pt x="160913" y="285750"/>
                  <a:pt x="166688" y="285750"/>
                </a:cubicBezTo>
                <a:lnTo>
                  <a:pt x="252413" y="285750"/>
                </a:lnTo>
                <a:cubicBezTo>
                  <a:pt x="260330" y="285750"/>
                  <a:pt x="266700" y="279380"/>
                  <a:pt x="266700" y="271463"/>
                </a:cubicBezTo>
                <a:lnTo>
                  <a:pt x="266700" y="185738"/>
                </a:lnTo>
                <a:cubicBezTo>
                  <a:pt x="266700" y="179963"/>
                  <a:pt x="263247" y="174724"/>
                  <a:pt x="257889" y="172522"/>
                </a:cubicBezTo>
                <a:cubicBezTo>
                  <a:pt x="252532" y="170319"/>
                  <a:pt x="246400" y="171510"/>
                  <a:pt x="242292" y="175617"/>
                </a:cubicBezTo>
                <a:lnTo>
                  <a:pt x="218480" y="199430"/>
                </a:lnTo>
                <a:lnTo>
                  <a:pt x="171450" y="152400"/>
                </a:lnTo>
                <a:lnTo>
                  <a:pt x="218480" y="105370"/>
                </a:lnTo>
                <a:lnTo>
                  <a:pt x="242292" y="129183"/>
                </a:lnTo>
                <a:cubicBezTo>
                  <a:pt x="246400" y="133290"/>
                  <a:pt x="252532" y="134481"/>
                  <a:pt x="257889" y="132278"/>
                </a:cubicBezTo>
                <a:cubicBezTo>
                  <a:pt x="263247" y="130076"/>
                  <a:pt x="266700" y="124837"/>
                  <a:pt x="266700" y="119062"/>
                </a:cubicBezTo>
                <a:lnTo>
                  <a:pt x="266700" y="33338"/>
                </a:lnTo>
                <a:cubicBezTo>
                  <a:pt x="266700" y="25420"/>
                  <a:pt x="260330" y="19050"/>
                  <a:pt x="252413" y="19050"/>
                </a:cubicBezTo>
                <a:lnTo>
                  <a:pt x="166688" y="19050"/>
                </a:lnTo>
                <a:cubicBezTo>
                  <a:pt x="160913" y="19050"/>
                  <a:pt x="155674" y="22503"/>
                  <a:pt x="153472" y="27861"/>
                </a:cubicBezTo>
                <a:cubicBezTo>
                  <a:pt x="151269" y="33218"/>
                  <a:pt x="152519" y="39350"/>
                  <a:pt x="156567" y="43458"/>
                </a:cubicBezTo>
                <a:lnTo>
                  <a:pt x="180380" y="67270"/>
                </a:lnTo>
                <a:lnTo>
                  <a:pt x="133350" y="114300"/>
                </a:lnTo>
                <a:lnTo>
                  <a:pt x="86320" y="67270"/>
                </a:lnTo>
                <a:lnTo>
                  <a:pt x="110133" y="43458"/>
                </a:lnTo>
                <a:cubicBezTo>
                  <a:pt x="114240" y="39350"/>
                  <a:pt x="115431" y="33218"/>
                  <a:pt x="113228" y="27861"/>
                </a:cubicBezTo>
                <a:cubicBezTo>
                  <a:pt x="111026" y="22503"/>
                  <a:pt x="105787" y="19050"/>
                  <a:pt x="100013" y="1905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638300" y="3781425"/>
            <a:ext cx="777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原生水平扩展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38300" y="4187825"/>
            <a:ext cx="774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通过Region分片和自动负载均衡实现线性扩展,支持从几个节点到数千节点的集群规模,数据自动均衡分布。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5200650"/>
            <a:ext cx="8978900" cy="1498600"/>
          </a:xfrm>
          <a:custGeom>
            <a:avLst/>
            <a:gdLst/>
            <a:ahLst/>
            <a:cxnLst/>
            <a:rect l="l" t="t" r="r" b="b"/>
            <a:pathLst>
              <a:path w="8978900" h="1498600">
                <a:moveTo>
                  <a:pt x="101605" y="0"/>
                </a:moveTo>
                <a:lnTo>
                  <a:pt x="8877295" y="0"/>
                </a:lnTo>
                <a:cubicBezTo>
                  <a:pt x="8933410" y="0"/>
                  <a:pt x="8978900" y="45490"/>
                  <a:pt x="8978900" y="101605"/>
                </a:cubicBezTo>
                <a:lnTo>
                  <a:pt x="8978900" y="1396995"/>
                </a:lnTo>
                <a:cubicBezTo>
                  <a:pt x="8978900" y="1453110"/>
                  <a:pt x="8933410" y="1498600"/>
                  <a:pt x="88772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23900" y="559117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27100" y="5794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64234"/>
                </a:moveTo>
                <a:lnTo>
                  <a:pt x="143470" y="51852"/>
                </a:lnTo>
                <a:cubicBezTo>
                  <a:pt x="128588" y="31254"/>
                  <a:pt x="104715" y="19050"/>
                  <a:pt x="79236" y="19050"/>
                </a:cubicBezTo>
                <a:cubicBezTo>
                  <a:pt x="35481" y="19050"/>
                  <a:pt x="0" y="54531"/>
                  <a:pt x="0" y="98286"/>
                </a:cubicBezTo>
                <a:lnTo>
                  <a:pt x="0" y="99834"/>
                </a:lnTo>
                <a:cubicBezTo>
                  <a:pt x="0" y="113883"/>
                  <a:pt x="3691" y="128409"/>
                  <a:pt x="9882" y="142875"/>
                </a:cubicBezTo>
                <a:lnTo>
                  <a:pt x="72985" y="142875"/>
                </a:lnTo>
                <a:cubicBezTo>
                  <a:pt x="74890" y="142875"/>
                  <a:pt x="76617" y="141744"/>
                  <a:pt x="77391" y="139958"/>
                </a:cubicBezTo>
                <a:lnTo>
                  <a:pt x="96322" y="94536"/>
                </a:lnTo>
                <a:cubicBezTo>
                  <a:pt x="98524" y="89297"/>
                  <a:pt x="103644" y="85844"/>
                  <a:pt x="109299" y="85725"/>
                </a:cubicBezTo>
                <a:cubicBezTo>
                  <a:pt x="114955" y="85606"/>
                  <a:pt x="120194" y="88940"/>
                  <a:pt x="122515" y="94119"/>
                </a:cubicBezTo>
                <a:lnTo>
                  <a:pt x="153055" y="161925"/>
                </a:lnTo>
                <a:lnTo>
                  <a:pt x="177701" y="112633"/>
                </a:lnTo>
                <a:cubicBezTo>
                  <a:pt x="180142" y="107811"/>
                  <a:pt x="185083" y="104715"/>
                  <a:pt x="190500" y="104715"/>
                </a:cubicBezTo>
                <a:cubicBezTo>
                  <a:pt x="195917" y="104715"/>
                  <a:pt x="200858" y="107752"/>
                  <a:pt x="203299" y="112633"/>
                </a:cubicBezTo>
                <a:lnTo>
                  <a:pt x="217110" y="140196"/>
                </a:lnTo>
                <a:cubicBezTo>
                  <a:pt x="217944" y="141803"/>
                  <a:pt x="219551" y="142815"/>
                  <a:pt x="221397" y="142815"/>
                </a:cubicBezTo>
                <a:lnTo>
                  <a:pt x="294977" y="142815"/>
                </a:lnTo>
                <a:cubicBezTo>
                  <a:pt x="301228" y="128349"/>
                  <a:pt x="304860" y="113824"/>
                  <a:pt x="304860" y="99774"/>
                </a:cubicBezTo>
                <a:lnTo>
                  <a:pt x="304860" y="98227"/>
                </a:lnTo>
                <a:cubicBezTo>
                  <a:pt x="304800" y="54531"/>
                  <a:pt x="269319" y="19050"/>
                  <a:pt x="225564" y="19050"/>
                </a:cubicBezTo>
                <a:cubicBezTo>
                  <a:pt x="200144" y="19050"/>
                  <a:pt x="176212" y="31254"/>
                  <a:pt x="161330" y="51852"/>
                </a:cubicBezTo>
                <a:lnTo>
                  <a:pt x="152400" y="64175"/>
                </a:lnTo>
                <a:close/>
                <a:moveTo>
                  <a:pt x="279559" y="171450"/>
                </a:moveTo>
                <a:lnTo>
                  <a:pt x="221337" y="171450"/>
                </a:lnTo>
                <a:cubicBezTo>
                  <a:pt x="208717" y="171450"/>
                  <a:pt x="197167" y="164306"/>
                  <a:pt x="191512" y="152995"/>
                </a:cubicBezTo>
                <a:lnTo>
                  <a:pt x="190500" y="150971"/>
                </a:lnTo>
                <a:lnTo>
                  <a:pt x="165199" y="201632"/>
                </a:lnTo>
                <a:cubicBezTo>
                  <a:pt x="162758" y="206573"/>
                  <a:pt x="157639" y="209669"/>
                  <a:pt x="152102" y="209550"/>
                </a:cubicBezTo>
                <a:cubicBezTo>
                  <a:pt x="146566" y="209431"/>
                  <a:pt x="141625" y="206157"/>
                  <a:pt x="139363" y="201156"/>
                </a:cubicBezTo>
                <a:lnTo>
                  <a:pt x="110014" y="135969"/>
                </a:lnTo>
                <a:lnTo>
                  <a:pt x="103763" y="150971"/>
                </a:lnTo>
                <a:cubicBezTo>
                  <a:pt x="98584" y="163413"/>
                  <a:pt x="86439" y="171510"/>
                  <a:pt x="72985" y="171510"/>
                </a:cubicBezTo>
                <a:lnTo>
                  <a:pt x="25241" y="171510"/>
                </a:lnTo>
                <a:cubicBezTo>
                  <a:pt x="53340" y="215444"/>
                  <a:pt x="98465" y="255865"/>
                  <a:pt x="126683" y="277416"/>
                </a:cubicBezTo>
                <a:cubicBezTo>
                  <a:pt x="134064" y="283012"/>
                  <a:pt x="143113" y="285810"/>
                  <a:pt x="152340" y="285810"/>
                </a:cubicBezTo>
                <a:cubicBezTo>
                  <a:pt x="161568" y="285810"/>
                  <a:pt x="170676" y="283071"/>
                  <a:pt x="177998" y="277416"/>
                </a:cubicBezTo>
                <a:cubicBezTo>
                  <a:pt x="206335" y="255806"/>
                  <a:pt x="251460" y="215384"/>
                  <a:pt x="279559" y="17145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638300" y="5438775"/>
            <a:ext cx="777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38300" y="5845175"/>
            <a:ext cx="774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基于HDFS多副本机制和ZooKeeper协调服务实现自动故障检测和恢复,Region自动重新分配到健康节点。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350" y="6858000"/>
            <a:ext cx="8978900" cy="1498600"/>
          </a:xfrm>
          <a:custGeom>
            <a:avLst/>
            <a:gdLst/>
            <a:ahLst/>
            <a:cxnLst/>
            <a:rect l="l" t="t" r="r" b="b"/>
            <a:pathLst>
              <a:path w="8978900" h="1498600">
                <a:moveTo>
                  <a:pt x="101605" y="0"/>
                </a:moveTo>
                <a:lnTo>
                  <a:pt x="8877295" y="0"/>
                </a:lnTo>
                <a:cubicBezTo>
                  <a:pt x="8933410" y="0"/>
                  <a:pt x="8978900" y="45490"/>
                  <a:pt x="8978900" y="101605"/>
                </a:cubicBezTo>
                <a:lnTo>
                  <a:pt x="8978900" y="1396995"/>
                </a:lnTo>
                <a:cubicBezTo>
                  <a:pt x="8978900" y="1453110"/>
                  <a:pt x="8933410" y="1498600"/>
                  <a:pt x="88772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23900" y="724852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927100" y="7451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638300" y="7096125"/>
            <a:ext cx="777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稀疏存储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38300" y="7502525"/>
            <a:ext cx="774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支持动态列和稀疏数据存储,NULL值不占用存储空间。每行可以有不同的列集合,完美适应半结构化数据。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59950" y="1885950"/>
            <a:ext cx="5981700" cy="3289300"/>
          </a:xfrm>
          <a:custGeom>
            <a:avLst/>
            <a:gdLst/>
            <a:ahLst/>
            <a:cxnLst/>
            <a:rect l="l" t="t" r="r" b="b"/>
            <a:pathLst>
              <a:path w="5981700" h="3289300">
                <a:moveTo>
                  <a:pt x="101606" y="0"/>
                </a:moveTo>
                <a:lnTo>
                  <a:pt x="5880094" y="0"/>
                </a:lnTo>
                <a:cubicBezTo>
                  <a:pt x="5936209" y="0"/>
                  <a:pt x="5981700" y="45491"/>
                  <a:pt x="5981700" y="101606"/>
                </a:cubicBezTo>
                <a:lnTo>
                  <a:pt x="5981700" y="3187694"/>
                </a:lnTo>
                <a:cubicBezTo>
                  <a:pt x="5981700" y="3243809"/>
                  <a:pt x="5936209" y="3289300"/>
                  <a:pt x="5880094" y="3289300"/>
                </a:cubicBezTo>
                <a:lnTo>
                  <a:pt x="101606" y="3289300"/>
                </a:lnTo>
                <a:cubicBezTo>
                  <a:pt x="45491" y="3289300"/>
                  <a:pt x="0" y="3243809"/>
                  <a:pt x="0" y="31876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969500" y="20955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技术定位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69500" y="2654300"/>
            <a:ext cx="566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HBase是构建在HDFS之上的</a:t>
            </a:r>
            <a:r>
              <a:rPr lang="en-US" sz="1600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分布式、可扩展的列族存储系统 </a:t>
            </a: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,提供低延迟的随机读写能力,适合海量稀疏数据的在线访问场景。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07600" y="38989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0325100" y="38481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实时读写、海量数据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007600" y="43053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325100" y="42545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高并发、低延迟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07600" y="4711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325100" y="4660900"/>
            <a:ext cx="227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灵活Schema、稀疏数据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759950" y="5391150"/>
            <a:ext cx="5981700" cy="2959100"/>
          </a:xfrm>
          <a:custGeom>
            <a:avLst/>
            <a:gdLst/>
            <a:ahLst/>
            <a:cxnLst/>
            <a:rect l="l" t="t" r="r" b="b"/>
            <a:pathLst>
              <a:path w="5981700" h="2959100">
                <a:moveTo>
                  <a:pt x="101586" y="0"/>
                </a:moveTo>
                <a:lnTo>
                  <a:pt x="5880114" y="0"/>
                </a:lnTo>
                <a:cubicBezTo>
                  <a:pt x="5936218" y="0"/>
                  <a:pt x="5981700" y="45482"/>
                  <a:pt x="5981700" y="101586"/>
                </a:cubicBezTo>
                <a:lnTo>
                  <a:pt x="5981700" y="2857514"/>
                </a:lnTo>
                <a:cubicBezTo>
                  <a:pt x="5981700" y="2913618"/>
                  <a:pt x="5936218" y="2959100"/>
                  <a:pt x="5880114" y="2959100"/>
                </a:cubicBezTo>
                <a:lnTo>
                  <a:pt x="101586" y="2959100"/>
                </a:lnTo>
                <a:cubicBezTo>
                  <a:pt x="45482" y="2959100"/>
                  <a:pt x="0" y="2913618"/>
                  <a:pt x="0" y="2857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E07A5F">
                  <a:alpha val="20000"/>
                </a:srgbClr>
              </a:gs>
              <a:gs pos="100000">
                <a:srgbClr val="3D4A5C">
                  <a:alpha val="2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969500" y="5600700"/>
            <a:ext cx="567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969500" y="6108700"/>
            <a:ext cx="2730500" cy="609600"/>
          </a:xfrm>
          <a:custGeom>
            <a:avLst/>
            <a:gdLst/>
            <a:ahLst/>
            <a:cxnLst/>
            <a:rect l="l" t="t" r="r" b="b"/>
            <a:pathLst>
              <a:path w="2730500" h="609600">
                <a:moveTo>
                  <a:pt x="50798" y="0"/>
                </a:moveTo>
                <a:lnTo>
                  <a:pt x="2679702" y="0"/>
                </a:lnTo>
                <a:cubicBezTo>
                  <a:pt x="2707757" y="0"/>
                  <a:pt x="2730500" y="22743"/>
                  <a:pt x="2730500" y="50798"/>
                </a:cubicBezTo>
                <a:lnTo>
                  <a:pt x="2730500" y="558802"/>
                </a:lnTo>
                <a:cubicBezTo>
                  <a:pt x="2730500" y="586857"/>
                  <a:pt x="2707757" y="609600"/>
                  <a:pt x="26797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071100" y="6261100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用户画像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801600" y="6108700"/>
            <a:ext cx="2730500" cy="609600"/>
          </a:xfrm>
          <a:custGeom>
            <a:avLst/>
            <a:gdLst/>
            <a:ahLst/>
            <a:cxnLst/>
            <a:rect l="l" t="t" r="r" b="b"/>
            <a:pathLst>
              <a:path w="2730500" h="609600">
                <a:moveTo>
                  <a:pt x="50798" y="0"/>
                </a:moveTo>
                <a:lnTo>
                  <a:pt x="2679702" y="0"/>
                </a:lnTo>
                <a:cubicBezTo>
                  <a:pt x="2707757" y="0"/>
                  <a:pt x="2730500" y="22743"/>
                  <a:pt x="2730500" y="50798"/>
                </a:cubicBezTo>
                <a:lnTo>
                  <a:pt x="2730500" y="558802"/>
                </a:lnTo>
                <a:cubicBezTo>
                  <a:pt x="2730500" y="586857"/>
                  <a:pt x="2707757" y="609600"/>
                  <a:pt x="26797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903200" y="6261100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消息系统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69500" y="6819900"/>
            <a:ext cx="2730500" cy="609600"/>
          </a:xfrm>
          <a:custGeom>
            <a:avLst/>
            <a:gdLst/>
            <a:ahLst/>
            <a:cxnLst/>
            <a:rect l="l" t="t" r="r" b="b"/>
            <a:pathLst>
              <a:path w="2730500" h="609600">
                <a:moveTo>
                  <a:pt x="50798" y="0"/>
                </a:moveTo>
                <a:lnTo>
                  <a:pt x="2679702" y="0"/>
                </a:lnTo>
                <a:cubicBezTo>
                  <a:pt x="2707757" y="0"/>
                  <a:pt x="2730500" y="22743"/>
                  <a:pt x="2730500" y="50798"/>
                </a:cubicBezTo>
                <a:lnTo>
                  <a:pt x="2730500" y="558802"/>
                </a:lnTo>
                <a:cubicBezTo>
                  <a:pt x="2730500" y="586857"/>
                  <a:pt x="2707757" y="609600"/>
                  <a:pt x="26797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071100" y="6972300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时序数据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801600" y="6819900"/>
            <a:ext cx="2730500" cy="609600"/>
          </a:xfrm>
          <a:custGeom>
            <a:avLst/>
            <a:gdLst/>
            <a:ahLst/>
            <a:cxnLst/>
            <a:rect l="l" t="t" r="r" b="b"/>
            <a:pathLst>
              <a:path w="2730500" h="609600">
                <a:moveTo>
                  <a:pt x="50798" y="0"/>
                </a:moveTo>
                <a:lnTo>
                  <a:pt x="2679702" y="0"/>
                </a:lnTo>
                <a:cubicBezTo>
                  <a:pt x="2707757" y="0"/>
                  <a:pt x="2730500" y="22743"/>
                  <a:pt x="2730500" y="50798"/>
                </a:cubicBezTo>
                <a:lnTo>
                  <a:pt x="2730500" y="558802"/>
                </a:lnTo>
                <a:cubicBezTo>
                  <a:pt x="2730500" y="586857"/>
                  <a:pt x="2707757" y="609600"/>
                  <a:pt x="26797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2903200" y="6972300"/>
            <a:ext cx="252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物联网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969500" y="7531100"/>
            <a:ext cx="5562600" cy="609600"/>
          </a:xfrm>
          <a:custGeom>
            <a:avLst/>
            <a:gdLst/>
            <a:ahLst/>
            <a:cxnLst/>
            <a:rect l="l" t="t" r="r" b="b"/>
            <a:pathLst>
              <a:path w="5562600" h="609600">
                <a:moveTo>
                  <a:pt x="50798" y="0"/>
                </a:moveTo>
                <a:lnTo>
                  <a:pt x="5511802" y="0"/>
                </a:lnTo>
                <a:cubicBezTo>
                  <a:pt x="5539857" y="0"/>
                  <a:pt x="5562600" y="22743"/>
                  <a:pt x="5562600" y="50798"/>
                </a:cubicBezTo>
                <a:lnTo>
                  <a:pt x="5562600" y="558802"/>
                </a:lnTo>
                <a:cubicBezTo>
                  <a:pt x="5562600" y="586857"/>
                  <a:pt x="5539857" y="609600"/>
                  <a:pt x="5511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071100" y="7683500"/>
            <a:ext cx="535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推荐系统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3400" y="85598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87400" y="87185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17600" y="8661400"/>
            <a:ext cx="147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技术生态:</a:t>
            </a: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HBase与Hadoop、Spark、Kafka、Phoenix等组件构建完整大数据生态,支持实时分析、机器学习等高级应用。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60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 anchor="ctr"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60400" y="812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182880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数据模型设计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与模式实践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45212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08000" y="5105400"/>
            <a:ext cx="9296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掌握RowKey设计、列族规划与API实践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从理论到工程落地的完整数据模型设计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3400" y="67056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63600" y="67056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RowKey设计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71628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避免热点、优化扫描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57800" y="67056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588000" y="67056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列族规划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88000" y="71628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少而精的设计哲学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3400" y="77724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3600" y="77724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3600" y="822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多版本管理与TTL策略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57800" y="77724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588000" y="77724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API实践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88000" y="822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API与Shell操作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332" y="464126"/>
            <a:ext cx="2030550" cy="464126"/>
          </a:xfrm>
          <a:custGeom>
            <a:avLst/>
            <a:gdLst/>
            <a:ahLst/>
            <a:cxnLst/>
            <a:rect l="l" t="t" r="r" b="b"/>
            <a:pathLst>
              <a:path w="2030550" h="464126">
                <a:moveTo>
                  <a:pt x="0" y="0"/>
                </a:moveTo>
                <a:lnTo>
                  <a:pt x="2030550" y="0"/>
                </a:lnTo>
                <a:lnTo>
                  <a:pt x="2030550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7332" y="464126"/>
            <a:ext cx="46413" cy="464126"/>
          </a:xfrm>
          <a:custGeom>
            <a:avLst/>
            <a:gdLst/>
            <a:ahLst/>
            <a:cxnLst/>
            <a:rect l="l" t="t" r="r" b="b"/>
            <a:pathLst>
              <a:path w="46413" h="464126">
                <a:moveTo>
                  <a:pt x="0" y="0"/>
                </a:moveTo>
                <a:lnTo>
                  <a:pt x="46413" y="0"/>
                </a:lnTo>
                <a:lnTo>
                  <a:pt x="46413" y="464126"/>
                </a:lnTo>
                <a:lnTo>
                  <a:pt x="0" y="464126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96188" y="574355"/>
            <a:ext cx="172379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kern="0" spc="73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ROWKEY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4126" y="1067489"/>
            <a:ext cx="15536605" cy="46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9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RowKey设计原则:避免热点与优化扫描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9927" y="1723066"/>
            <a:ext cx="7530438" cy="2564294"/>
          </a:xfrm>
          <a:custGeom>
            <a:avLst/>
            <a:gdLst/>
            <a:ahLst/>
            <a:cxnLst/>
            <a:rect l="l" t="t" r="r" b="b"/>
            <a:pathLst>
              <a:path w="7530438" h="2564294">
                <a:moveTo>
                  <a:pt x="92827" y="0"/>
                </a:moveTo>
                <a:lnTo>
                  <a:pt x="7437611" y="0"/>
                </a:lnTo>
                <a:cubicBezTo>
                  <a:pt x="7488878" y="0"/>
                  <a:pt x="7530438" y="41560"/>
                  <a:pt x="7530438" y="92827"/>
                </a:cubicBezTo>
                <a:lnTo>
                  <a:pt x="7530438" y="2471467"/>
                </a:lnTo>
                <a:cubicBezTo>
                  <a:pt x="7530438" y="2522734"/>
                  <a:pt x="7488878" y="2564294"/>
                  <a:pt x="7437611" y="2564294"/>
                </a:cubicBezTo>
                <a:lnTo>
                  <a:pt x="92827" y="2564294"/>
                </a:lnTo>
                <a:cubicBezTo>
                  <a:pt x="41560" y="2564294"/>
                  <a:pt x="0" y="2522734"/>
                  <a:pt x="0" y="2471467"/>
                </a:cubicBezTo>
                <a:lnTo>
                  <a:pt x="0" y="92827"/>
                </a:lnTo>
                <a:cubicBezTo>
                  <a:pt x="0" y="41560"/>
                  <a:pt x="41560" y="0"/>
                  <a:pt x="9282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90387" y="1960931"/>
            <a:ext cx="232063" cy="232063"/>
          </a:xfrm>
          <a:custGeom>
            <a:avLst/>
            <a:gdLst/>
            <a:ahLst/>
            <a:cxnLst/>
            <a:rect l="l" t="t" r="r" b="b"/>
            <a:pathLst>
              <a:path w="232063" h="232063">
                <a:moveTo>
                  <a:pt x="116031" y="0"/>
                </a:moveTo>
                <a:cubicBezTo>
                  <a:pt x="122694" y="0"/>
                  <a:pt x="128813" y="3671"/>
                  <a:pt x="131986" y="9518"/>
                </a:cubicBezTo>
                <a:lnTo>
                  <a:pt x="229887" y="190817"/>
                </a:lnTo>
                <a:cubicBezTo>
                  <a:pt x="232924" y="196438"/>
                  <a:pt x="232788" y="203236"/>
                  <a:pt x="229525" y="208721"/>
                </a:cubicBezTo>
                <a:cubicBezTo>
                  <a:pt x="226261" y="214205"/>
                  <a:pt x="220324" y="217559"/>
                  <a:pt x="213933" y="217559"/>
                </a:cubicBezTo>
                <a:lnTo>
                  <a:pt x="18130" y="217559"/>
                </a:lnTo>
                <a:cubicBezTo>
                  <a:pt x="11739" y="217559"/>
                  <a:pt x="5847" y="214205"/>
                  <a:pt x="2538" y="208721"/>
                </a:cubicBezTo>
                <a:cubicBezTo>
                  <a:pt x="-771" y="203236"/>
                  <a:pt x="-861" y="196438"/>
                  <a:pt x="2176" y="190817"/>
                </a:cubicBezTo>
                <a:lnTo>
                  <a:pt x="100077" y="9518"/>
                </a:lnTo>
                <a:cubicBezTo>
                  <a:pt x="103250" y="3671"/>
                  <a:pt x="109369" y="0"/>
                  <a:pt x="116031" y="0"/>
                </a:cubicBezTo>
                <a:close/>
                <a:moveTo>
                  <a:pt x="116031" y="76146"/>
                </a:moveTo>
                <a:cubicBezTo>
                  <a:pt x="110003" y="76146"/>
                  <a:pt x="105153" y="80995"/>
                  <a:pt x="105153" y="87024"/>
                </a:cubicBezTo>
                <a:lnTo>
                  <a:pt x="105153" y="137787"/>
                </a:lnTo>
                <a:cubicBezTo>
                  <a:pt x="105153" y="143815"/>
                  <a:pt x="110003" y="148665"/>
                  <a:pt x="116031" y="148665"/>
                </a:cubicBezTo>
                <a:cubicBezTo>
                  <a:pt x="122060" y="148665"/>
                  <a:pt x="126909" y="143815"/>
                  <a:pt x="126909" y="137787"/>
                </a:cubicBezTo>
                <a:lnTo>
                  <a:pt x="126909" y="87024"/>
                </a:lnTo>
                <a:cubicBezTo>
                  <a:pt x="126909" y="80995"/>
                  <a:pt x="122060" y="76146"/>
                  <a:pt x="116031" y="76146"/>
                </a:cubicBezTo>
                <a:close/>
                <a:moveTo>
                  <a:pt x="128133" y="174047"/>
                </a:moveTo>
                <a:cubicBezTo>
                  <a:pt x="128408" y="169555"/>
                  <a:pt x="126168" y="165281"/>
                  <a:pt x="122317" y="162952"/>
                </a:cubicBezTo>
                <a:cubicBezTo>
                  <a:pt x="118467" y="160623"/>
                  <a:pt x="113641" y="160623"/>
                  <a:pt x="109791" y="162952"/>
                </a:cubicBezTo>
                <a:cubicBezTo>
                  <a:pt x="105940" y="165281"/>
                  <a:pt x="103700" y="169555"/>
                  <a:pt x="103975" y="174047"/>
                </a:cubicBezTo>
                <a:cubicBezTo>
                  <a:pt x="103700" y="178539"/>
                  <a:pt x="105940" y="182813"/>
                  <a:pt x="109791" y="185142"/>
                </a:cubicBezTo>
                <a:cubicBezTo>
                  <a:pt x="113641" y="187471"/>
                  <a:pt x="118467" y="187471"/>
                  <a:pt x="122317" y="185142"/>
                </a:cubicBezTo>
                <a:cubicBezTo>
                  <a:pt x="126168" y="182813"/>
                  <a:pt x="128408" y="178539"/>
                  <a:pt x="128133" y="17404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44283" y="1914518"/>
            <a:ext cx="1508408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热点问题分析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379" y="2378644"/>
            <a:ext cx="7240360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在分布式系统中,热点指某些Region或节点承受了不成比例的高负载。常见热点问题包括: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8784" y="3167657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0" y="69619"/>
                </a:moveTo>
                <a:cubicBezTo>
                  <a:pt x="0" y="31195"/>
                  <a:pt x="31195" y="0"/>
                  <a:pt x="69619" y="0"/>
                </a:cubicBezTo>
                <a:cubicBezTo>
                  <a:pt x="108043" y="0"/>
                  <a:pt x="139238" y="31195"/>
                  <a:pt x="139238" y="69619"/>
                </a:cubicBezTo>
                <a:cubicBezTo>
                  <a:pt x="139238" y="108043"/>
                  <a:pt x="108043" y="139238"/>
                  <a:pt x="69619" y="139238"/>
                </a:cubicBezTo>
                <a:cubicBezTo>
                  <a:pt x="31195" y="139238"/>
                  <a:pt x="0" y="108043"/>
                  <a:pt x="0" y="6961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8251" y="3074832"/>
            <a:ext cx="6149665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单调递增RowKey: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如自增ID、时间戳,导致所有新数据写入最后一个Region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8784" y="3538958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0" y="69619"/>
                </a:moveTo>
                <a:cubicBezTo>
                  <a:pt x="0" y="31195"/>
                  <a:pt x="31195" y="0"/>
                  <a:pt x="69619" y="0"/>
                </a:cubicBezTo>
                <a:cubicBezTo>
                  <a:pt x="108043" y="0"/>
                  <a:pt x="139238" y="31195"/>
                  <a:pt x="139238" y="69619"/>
                </a:cubicBezTo>
                <a:cubicBezTo>
                  <a:pt x="139238" y="108043"/>
                  <a:pt x="108043" y="139238"/>
                  <a:pt x="69619" y="139238"/>
                </a:cubicBezTo>
                <a:cubicBezTo>
                  <a:pt x="31195" y="139238"/>
                  <a:pt x="0" y="108043"/>
                  <a:pt x="0" y="6961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28251" y="3446133"/>
            <a:ext cx="546507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固定前缀模式: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如相同用户ID前缀,特定用户数据集中在少数Region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8784" y="3910258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0" y="69619"/>
                </a:moveTo>
                <a:cubicBezTo>
                  <a:pt x="0" y="31195"/>
                  <a:pt x="31195" y="0"/>
                  <a:pt x="69619" y="0"/>
                </a:cubicBezTo>
                <a:cubicBezTo>
                  <a:pt x="108043" y="0"/>
                  <a:pt x="139238" y="31195"/>
                  <a:pt x="139238" y="69619"/>
                </a:cubicBezTo>
                <a:cubicBezTo>
                  <a:pt x="139238" y="108043"/>
                  <a:pt x="108043" y="139238"/>
                  <a:pt x="69619" y="139238"/>
                </a:cubicBezTo>
                <a:cubicBezTo>
                  <a:pt x="31195" y="139238"/>
                  <a:pt x="0" y="108043"/>
                  <a:pt x="0" y="6961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28251" y="3817433"/>
            <a:ext cx="391025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哈希冲突: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哈希函数设计不当导致数据分布不均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9927" y="4484614"/>
            <a:ext cx="7530438" cy="2425056"/>
          </a:xfrm>
          <a:custGeom>
            <a:avLst/>
            <a:gdLst/>
            <a:ahLst/>
            <a:cxnLst/>
            <a:rect l="l" t="t" r="r" b="b"/>
            <a:pathLst>
              <a:path w="7530438" h="2425056">
                <a:moveTo>
                  <a:pt x="92831" y="0"/>
                </a:moveTo>
                <a:lnTo>
                  <a:pt x="7437607" y="0"/>
                </a:lnTo>
                <a:cubicBezTo>
                  <a:pt x="7488876" y="0"/>
                  <a:pt x="7530438" y="41562"/>
                  <a:pt x="7530438" y="92831"/>
                </a:cubicBezTo>
                <a:lnTo>
                  <a:pt x="7530438" y="2332225"/>
                </a:lnTo>
                <a:cubicBezTo>
                  <a:pt x="7530438" y="2383494"/>
                  <a:pt x="7488876" y="2425056"/>
                  <a:pt x="7437607" y="2425056"/>
                </a:cubicBezTo>
                <a:lnTo>
                  <a:pt x="92831" y="2425056"/>
                </a:lnTo>
                <a:cubicBezTo>
                  <a:pt x="41562" y="2425056"/>
                  <a:pt x="0" y="2383494"/>
                  <a:pt x="0" y="2332225"/>
                </a:cubicBezTo>
                <a:lnTo>
                  <a:pt x="0" y="92831"/>
                </a:lnTo>
                <a:cubicBezTo>
                  <a:pt x="0" y="41596"/>
                  <a:pt x="41596" y="0"/>
                  <a:pt x="92831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61379" y="4676066"/>
            <a:ext cx="7263566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扫描优化设计模式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379" y="5140191"/>
            <a:ext cx="7240360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时间序列数据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1379" y="5465079"/>
            <a:ext cx="7147535" cy="417713"/>
          </a:xfrm>
          <a:custGeom>
            <a:avLst/>
            <a:gdLst/>
            <a:ahLst/>
            <a:cxnLst/>
            <a:rect l="l" t="t" r="r" b="b"/>
            <a:pathLst>
              <a:path w="7147535" h="417713">
                <a:moveTo>
                  <a:pt x="46412" y="0"/>
                </a:moveTo>
                <a:lnTo>
                  <a:pt x="7101123" y="0"/>
                </a:lnTo>
                <a:cubicBezTo>
                  <a:pt x="7126755" y="0"/>
                  <a:pt x="7147535" y="20779"/>
                  <a:pt x="7147535" y="46412"/>
                </a:cubicBezTo>
                <a:lnTo>
                  <a:pt x="7147535" y="371301"/>
                </a:lnTo>
                <a:cubicBezTo>
                  <a:pt x="7147535" y="396934"/>
                  <a:pt x="7126755" y="417713"/>
                  <a:pt x="7101123" y="417713"/>
                </a:cubicBezTo>
                <a:lnTo>
                  <a:pt x="46412" y="417713"/>
                </a:lnTo>
                <a:cubicBezTo>
                  <a:pt x="20779" y="417713"/>
                  <a:pt x="0" y="396934"/>
                  <a:pt x="0" y="371301"/>
                </a:cubicBezTo>
                <a:lnTo>
                  <a:pt x="0" y="46412"/>
                </a:lnTo>
                <a:cubicBezTo>
                  <a:pt x="0" y="20797"/>
                  <a:pt x="20797" y="0"/>
                  <a:pt x="4641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1379" y="5465079"/>
            <a:ext cx="7228757" cy="417713"/>
          </a:xfrm>
          <a:prstGeom prst="rect">
            <a:avLst/>
          </a:prstGeom>
          <a:noFill/>
          <a:ln/>
        </p:spPr>
        <p:txBody>
          <a:bodyPr wrap="square" lIns="92825" tIns="92825" rIns="92825" bIns="92825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key = "metric_" + timestamp + "_" + deviceId;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1379" y="5975617"/>
            <a:ext cx="7240360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用户行为数据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1379" y="6300505"/>
            <a:ext cx="7147535" cy="417713"/>
          </a:xfrm>
          <a:custGeom>
            <a:avLst/>
            <a:gdLst/>
            <a:ahLst/>
            <a:cxnLst/>
            <a:rect l="l" t="t" r="r" b="b"/>
            <a:pathLst>
              <a:path w="7147535" h="417713">
                <a:moveTo>
                  <a:pt x="46412" y="0"/>
                </a:moveTo>
                <a:lnTo>
                  <a:pt x="7101123" y="0"/>
                </a:lnTo>
                <a:cubicBezTo>
                  <a:pt x="7126755" y="0"/>
                  <a:pt x="7147535" y="20779"/>
                  <a:pt x="7147535" y="46412"/>
                </a:cubicBezTo>
                <a:lnTo>
                  <a:pt x="7147535" y="371301"/>
                </a:lnTo>
                <a:cubicBezTo>
                  <a:pt x="7147535" y="396934"/>
                  <a:pt x="7126755" y="417713"/>
                  <a:pt x="7101123" y="417713"/>
                </a:cubicBezTo>
                <a:lnTo>
                  <a:pt x="46412" y="417713"/>
                </a:lnTo>
                <a:cubicBezTo>
                  <a:pt x="20779" y="417713"/>
                  <a:pt x="0" y="396934"/>
                  <a:pt x="0" y="371301"/>
                </a:cubicBezTo>
                <a:lnTo>
                  <a:pt x="0" y="46412"/>
                </a:lnTo>
                <a:cubicBezTo>
                  <a:pt x="0" y="20797"/>
                  <a:pt x="20797" y="0"/>
                  <a:pt x="46412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1379" y="6300505"/>
            <a:ext cx="7228757" cy="417713"/>
          </a:xfrm>
          <a:prstGeom prst="rect">
            <a:avLst/>
          </a:prstGeom>
          <a:noFill/>
          <a:ln/>
        </p:spPr>
        <p:txBody>
          <a:bodyPr wrap="square" lIns="92825" tIns="92825" rIns="92825" bIns="92825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String key = userId + "_" + timestamp + "_" + actionType;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49108" y="1723066"/>
            <a:ext cx="7530438" cy="4792097"/>
          </a:xfrm>
          <a:custGeom>
            <a:avLst/>
            <a:gdLst/>
            <a:ahLst/>
            <a:cxnLst/>
            <a:rect l="l" t="t" r="r" b="b"/>
            <a:pathLst>
              <a:path w="7530438" h="4792097">
                <a:moveTo>
                  <a:pt x="92823" y="0"/>
                </a:moveTo>
                <a:lnTo>
                  <a:pt x="7437615" y="0"/>
                </a:lnTo>
                <a:cubicBezTo>
                  <a:pt x="7488880" y="0"/>
                  <a:pt x="7530438" y="41558"/>
                  <a:pt x="7530438" y="92823"/>
                </a:cubicBezTo>
                <a:lnTo>
                  <a:pt x="7530438" y="4699274"/>
                </a:lnTo>
                <a:cubicBezTo>
                  <a:pt x="7530438" y="4750539"/>
                  <a:pt x="7488880" y="4792097"/>
                  <a:pt x="7437615" y="4792097"/>
                </a:cubicBezTo>
                <a:lnTo>
                  <a:pt x="92823" y="4792097"/>
                </a:lnTo>
                <a:cubicBezTo>
                  <a:pt x="41558" y="4792097"/>
                  <a:pt x="0" y="4750539"/>
                  <a:pt x="0" y="4699274"/>
                </a:cubicBezTo>
                <a:lnTo>
                  <a:pt x="0" y="92823"/>
                </a:lnTo>
                <a:cubicBezTo>
                  <a:pt x="0" y="41558"/>
                  <a:pt x="41558" y="0"/>
                  <a:pt x="9282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69567" y="1960931"/>
            <a:ext cx="232063" cy="232063"/>
          </a:xfrm>
          <a:custGeom>
            <a:avLst/>
            <a:gdLst/>
            <a:ahLst/>
            <a:cxnLst/>
            <a:rect l="l" t="t" r="r" b="b"/>
            <a:pathLst>
              <a:path w="232063" h="232063">
                <a:moveTo>
                  <a:pt x="116031" y="0"/>
                </a:moveTo>
                <a:cubicBezTo>
                  <a:pt x="118116" y="0"/>
                  <a:pt x="120201" y="453"/>
                  <a:pt x="122105" y="1314"/>
                </a:cubicBezTo>
                <a:lnTo>
                  <a:pt x="207497" y="37529"/>
                </a:lnTo>
                <a:cubicBezTo>
                  <a:pt x="217468" y="41744"/>
                  <a:pt x="224901" y="51580"/>
                  <a:pt x="224856" y="63455"/>
                </a:cubicBezTo>
                <a:cubicBezTo>
                  <a:pt x="224630" y="108417"/>
                  <a:pt x="206137" y="190681"/>
                  <a:pt x="128042" y="228074"/>
                </a:cubicBezTo>
                <a:cubicBezTo>
                  <a:pt x="120473" y="231700"/>
                  <a:pt x="111680" y="231700"/>
                  <a:pt x="104111" y="228074"/>
                </a:cubicBezTo>
                <a:cubicBezTo>
                  <a:pt x="25971" y="190681"/>
                  <a:pt x="7524" y="108417"/>
                  <a:pt x="7297" y="63455"/>
                </a:cubicBezTo>
                <a:cubicBezTo>
                  <a:pt x="7252" y="51580"/>
                  <a:pt x="14685" y="41744"/>
                  <a:pt x="24657" y="37529"/>
                </a:cubicBezTo>
                <a:lnTo>
                  <a:pt x="110003" y="1314"/>
                </a:lnTo>
                <a:cubicBezTo>
                  <a:pt x="111907" y="453"/>
                  <a:pt x="113946" y="0"/>
                  <a:pt x="116031" y="0"/>
                </a:cubicBezTo>
                <a:close/>
                <a:moveTo>
                  <a:pt x="116031" y="30277"/>
                </a:moveTo>
                <a:lnTo>
                  <a:pt x="116031" y="201650"/>
                </a:lnTo>
                <a:cubicBezTo>
                  <a:pt x="178580" y="171373"/>
                  <a:pt x="195395" y="104292"/>
                  <a:pt x="195803" y="64135"/>
                </a:cubicBezTo>
                <a:lnTo>
                  <a:pt x="116031" y="30322"/>
                </a:lnTo>
                <a:lnTo>
                  <a:pt x="116031" y="3032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23463" y="1914518"/>
            <a:ext cx="1044283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避免策略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0560" y="2378644"/>
            <a:ext cx="7147535" cy="881839"/>
          </a:xfrm>
          <a:custGeom>
            <a:avLst/>
            <a:gdLst/>
            <a:ahLst/>
            <a:cxnLst/>
            <a:rect l="l" t="t" r="r" b="b"/>
            <a:pathLst>
              <a:path w="7147535" h="881839">
                <a:moveTo>
                  <a:pt x="46411" y="0"/>
                </a:moveTo>
                <a:lnTo>
                  <a:pt x="7101123" y="0"/>
                </a:lnTo>
                <a:cubicBezTo>
                  <a:pt x="7126756" y="0"/>
                  <a:pt x="7147535" y="20779"/>
                  <a:pt x="7147535" y="46411"/>
                </a:cubicBezTo>
                <a:lnTo>
                  <a:pt x="7147535" y="835428"/>
                </a:lnTo>
                <a:cubicBezTo>
                  <a:pt x="7147535" y="861060"/>
                  <a:pt x="7126756" y="881839"/>
                  <a:pt x="7101123" y="881839"/>
                </a:cubicBezTo>
                <a:lnTo>
                  <a:pt x="46411" y="881839"/>
                </a:lnTo>
                <a:cubicBezTo>
                  <a:pt x="20779" y="881839"/>
                  <a:pt x="0" y="861060"/>
                  <a:pt x="0" y="835428"/>
                </a:cubicBezTo>
                <a:lnTo>
                  <a:pt x="0" y="46411"/>
                </a:lnTo>
                <a:cubicBezTo>
                  <a:pt x="0" y="20796"/>
                  <a:pt x="20796" y="0"/>
                  <a:pt x="464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79797" y="2517882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反转键策略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9797" y="2842769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将自然递增键反转,如手机号</a:t>
            </a:r>
            <a:r>
              <a:rPr lang="en-US" sz="146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13800138000</a:t>
            </a: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r>
              <a:rPr lang="en-US" sz="146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00083100831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40560" y="3399720"/>
            <a:ext cx="7147535" cy="881839"/>
          </a:xfrm>
          <a:custGeom>
            <a:avLst/>
            <a:gdLst/>
            <a:ahLst/>
            <a:cxnLst/>
            <a:rect l="l" t="t" r="r" b="b"/>
            <a:pathLst>
              <a:path w="7147535" h="881839">
                <a:moveTo>
                  <a:pt x="46411" y="0"/>
                </a:moveTo>
                <a:lnTo>
                  <a:pt x="7101123" y="0"/>
                </a:lnTo>
                <a:cubicBezTo>
                  <a:pt x="7126756" y="0"/>
                  <a:pt x="7147535" y="20779"/>
                  <a:pt x="7147535" y="46411"/>
                </a:cubicBezTo>
                <a:lnTo>
                  <a:pt x="7147535" y="835428"/>
                </a:lnTo>
                <a:cubicBezTo>
                  <a:pt x="7147535" y="861060"/>
                  <a:pt x="7126756" y="881839"/>
                  <a:pt x="7101123" y="881839"/>
                </a:cubicBezTo>
                <a:lnTo>
                  <a:pt x="46411" y="881839"/>
                </a:lnTo>
                <a:cubicBezTo>
                  <a:pt x="20779" y="881839"/>
                  <a:pt x="0" y="861060"/>
                  <a:pt x="0" y="835428"/>
                </a:cubicBezTo>
                <a:lnTo>
                  <a:pt x="0" y="46411"/>
                </a:lnTo>
                <a:cubicBezTo>
                  <a:pt x="0" y="20796"/>
                  <a:pt x="20796" y="0"/>
                  <a:pt x="464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79797" y="3538958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前缀加盐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79797" y="3863846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在RowKey前加随机前缀,如</a:t>
            </a:r>
            <a:r>
              <a:rPr lang="en-US" sz="146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salt1_user001</a:t>
            </a: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46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salt2_user001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40560" y="4420797"/>
            <a:ext cx="7147535" cy="881839"/>
          </a:xfrm>
          <a:custGeom>
            <a:avLst/>
            <a:gdLst/>
            <a:ahLst/>
            <a:cxnLst/>
            <a:rect l="l" t="t" r="r" b="b"/>
            <a:pathLst>
              <a:path w="7147535" h="881839">
                <a:moveTo>
                  <a:pt x="46411" y="0"/>
                </a:moveTo>
                <a:lnTo>
                  <a:pt x="7101123" y="0"/>
                </a:lnTo>
                <a:cubicBezTo>
                  <a:pt x="7126756" y="0"/>
                  <a:pt x="7147535" y="20779"/>
                  <a:pt x="7147535" y="46411"/>
                </a:cubicBezTo>
                <a:lnTo>
                  <a:pt x="7147535" y="835428"/>
                </a:lnTo>
                <a:cubicBezTo>
                  <a:pt x="7147535" y="861060"/>
                  <a:pt x="7126756" y="881839"/>
                  <a:pt x="7101123" y="881839"/>
                </a:cubicBezTo>
                <a:lnTo>
                  <a:pt x="46411" y="881839"/>
                </a:lnTo>
                <a:cubicBezTo>
                  <a:pt x="20779" y="881839"/>
                  <a:pt x="0" y="861060"/>
                  <a:pt x="0" y="835428"/>
                </a:cubicBezTo>
                <a:lnTo>
                  <a:pt x="0" y="46411"/>
                </a:lnTo>
                <a:cubicBezTo>
                  <a:pt x="0" y="20796"/>
                  <a:pt x="20796" y="0"/>
                  <a:pt x="464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79797" y="4560034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哈希前缀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9797" y="4884922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用哈希函数生成前缀,如</a:t>
            </a:r>
            <a:r>
              <a:rPr lang="en-US" sz="146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md5(user_id)[0:2]_user001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40560" y="5441873"/>
            <a:ext cx="7147535" cy="881839"/>
          </a:xfrm>
          <a:custGeom>
            <a:avLst/>
            <a:gdLst/>
            <a:ahLst/>
            <a:cxnLst/>
            <a:rect l="l" t="t" r="r" b="b"/>
            <a:pathLst>
              <a:path w="7147535" h="881839">
                <a:moveTo>
                  <a:pt x="46411" y="0"/>
                </a:moveTo>
                <a:lnTo>
                  <a:pt x="7101123" y="0"/>
                </a:lnTo>
                <a:cubicBezTo>
                  <a:pt x="7126756" y="0"/>
                  <a:pt x="7147535" y="20779"/>
                  <a:pt x="7147535" y="46411"/>
                </a:cubicBezTo>
                <a:lnTo>
                  <a:pt x="7147535" y="835428"/>
                </a:lnTo>
                <a:cubicBezTo>
                  <a:pt x="7147535" y="861060"/>
                  <a:pt x="7126756" y="881839"/>
                  <a:pt x="7101123" y="881839"/>
                </a:cubicBezTo>
                <a:lnTo>
                  <a:pt x="46411" y="881839"/>
                </a:lnTo>
                <a:cubicBezTo>
                  <a:pt x="20779" y="881839"/>
                  <a:pt x="0" y="861060"/>
                  <a:pt x="0" y="835428"/>
                </a:cubicBezTo>
                <a:lnTo>
                  <a:pt x="0" y="46411"/>
                </a:lnTo>
                <a:cubicBezTo>
                  <a:pt x="0" y="20796"/>
                  <a:pt x="20796" y="0"/>
                  <a:pt x="4641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79797" y="5581111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组合键设计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79797" y="5905999"/>
            <a:ext cx="696188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多维度组合,如</a:t>
            </a:r>
            <a:r>
              <a:rPr lang="en-US" sz="146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region_date_userid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9108" y="6639265"/>
            <a:ext cx="7530438" cy="1821693"/>
          </a:xfrm>
          <a:custGeom>
            <a:avLst/>
            <a:gdLst/>
            <a:ahLst/>
            <a:cxnLst/>
            <a:rect l="l" t="t" r="r" b="b"/>
            <a:pathLst>
              <a:path w="7530438" h="1821693">
                <a:moveTo>
                  <a:pt x="92833" y="0"/>
                </a:moveTo>
                <a:lnTo>
                  <a:pt x="7437605" y="0"/>
                </a:lnTo>
                <a:cubicBezTo>
                  <a:pt x="7488875" y="0"/>
                  <a:pt x="7530438" y="41563"/>
                  <a:pt x="7530438" y="92833"/>
                </a:cubicBezTo>
                <a:lnTo>
                  <a:pt x="7530438" y="1728860"/>
                </a:lnTo>
                <a:cubicBezTo>
                  <a:pt x="7530438" y="1780130"/>
                  <a:pt x="7488875" y="1821693"/>
                  <a:pt x="7437605" y="1821693"/>
                </a:cubicBezTo>
                <a:lnTo>
                  <a:pt x="92833" y="1821693"/>
                </a:lnTo>
                <a:cubicBezTo>
                  <a:pt x="41563" y="1821693"/>
                  <a:pt x="0" y="1780130"/>
                  <a:pt x="0" y="1728860"/>
                </a:cubicBezTo>
                <a:lnTo>
                  <a:pt x="0" y="92833"/>
                </a:lnTo>
                <a:cubicBezTo>
                  <a:pt x="0" y="41597"/>
                  <a:pt x="41597" y="0"/>
                  <a:pt x="9283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440560" y="6830717"/>
            <a:ext cx="7251963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编码与长度优化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73919" y="7294842"/>
            <a:ext cx="142138" cy="162444"/>
          </a:xfrm>
          <a:custGeom>
            <a:avLst/>
            <a:gdLst/>
            <a:ahLst/>
            <a:cxnLst/>
            <a:rect l="l" t="t" r="r" b="b"/>
            <a:pathLst>
              <a:path w="142138" h="162444">
                <a:moveTo>
                  <a:pt x="137950" y="22241"/>
                </a:moveTo>
                <a:cubicBezTo>
                  <a:pt x="142487" y="25541"/>
                  <a:pt x="143503" y="31886"/>
                  <a:pt x="140203" y="36423"/>
                </a:cubicBezTo>
                <a:lnTo>
                  <a:pt x="58981" y="148103"/>
                </a:lnTo>
                <a:cubicBezTo>
                  <a:pt x="57236" y="150514"/>
                  <a:pt x="54539" y="152006"/>
                  <a:pt x="51557" y="152259"/>
                </a:cubicBezTo>
                <a:cubicBezTo>
                  <a:pt x="48575" y="152513"/>
                  <a:pt x="45687" y="151403"/>
                  <a:pt x="43593" y="149309"/>
                </a:cubicBezTo>
                <a:lnTo>
                  <a:pt x="2982" y="108698"/>
                </a:lnTo>
                <a:cubicBezTo>
                  <a:pt x="-984" y="104732"/>
                  <a:pt x="-984" y="98291"/>
                  <a:pt x="2982" y="94325"/>
                </a:cubicBezTo>
                <a:cubicBezTo>
                  <a:pt x="6948" y="90359"/>
                  <a:pt x="13389" y="90359"/>
                  <a:pt x="17355" y="94325"/>
                </a:cubicBezTo>
                <a:lnTo>
                  <a:pt x="49558" y="126529"/>
                </a:lnTo>
                <a:lnTo>
                  <a:pt x="123800" y="24462"/>
                </a:lnTo>
                <a:cubicBezTo>
                  <a:pt x="127100" y="19925"/>
                  <a:pt x="133445" y="18909"/>
                  <a:pt x="137982" y="222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736440" y="7248430"/>
            <a:ext cx="331849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二进制编码: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用Bytes.toBytes()节省空间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73919" y="7666143"/>
            <a:ext cx="142138" cy="162444"/>
          </a:xfrm>
          <a:custGeom>
            <a:avLst/>
            <a:gdLst/>
            <a:ahLst/>
            <a:cxnLst/>
            <a:rect l="l" t="t" r="r" b="b"/>
            <a:pathLst>
              <a:path w="142138" h="162444">
                <a:moveTo>
                  <a:pt x="137950" y="22241"/>
                </a:moveTo>
                <a:cubicBezTo>
                  <a:pt x="142487" y="25541"/>
                  <a:pt x="143503" y="31886"/>
                  <a:pt x="140203" y="36423"/>
                </a:cubicBezTo>
                <a:lnTo>
                  <a:pt x="58981" y="148103"/>
                </a:lnTo>
                <a:cubicBezTo>
                  <a:pt x="57236" y="150514"/>
                  <a:pt x="54539" y="152006"/>
                  <a:pt x="51557" y="152259"/>
                </a:cubicBezTo>
                <a:cubicBezTo>
                  <a:pt x="48575" y="152513"/>
                  <a:pt x="45687" y="151403"/>
                  <a:pt x="43593" y="149309"/>
                </a:cubicBezTo>
                <a:lnTo>
                  <a:pt x="2982" y="108698"/>
                </a:lnTo>
                <a:cubicBezTo>
                  <a:pt x="-984" y="104732"/>
                  <a:pt x="-984" y="98291"/>
                  <a:pt x="2982" y="94325"/>
                </a:cubicBezTo>
                <a:cubicBezTo>
                  <a:pt x="6948" y="90359"/>
                  <a:pt x="13389" y="90359"/>
                  <a:pt x="17355" y="94325"/>
                </a:cubicBezTo>
                <a:lnTo>
                  <a:pt x="49558" y="126529"/>
                </a:lnTo>
                <a:lnTo>
                  <a:pt x="123800" y="24462"/>
                </a:lnTo>
                <a:cubicBezTo>
                  <a:pt x="127100" y="19925"/>
                  <a:pt x="133445" y="18909"/>
                  <a:pt x="137982" y="222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36440" y="7619730"/>
            <a:ext cx="372460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定长设计: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数值类型用定长编码避免排序问题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73919" y="8037443"/>
            <a:ext cx="142138" cy="162444"/>
          </a:xfrm>
          <a:custGeom>
            <a:avLst/>
            <a:gdLst/>
            <a:ahLst/>
            <a:cxnLst/>
            <a:rect l="l" t="t" r="r" b="b"/>
            <a:pathLst>
              <a:path w="142138" h="162444">
                <a:moveTo>
                  <a:pt x="137950" y="22241"/>
                </a:moveTo>
                <a:cubicBezTo>
                  <a:pt x="142487" y="25541"/>
                  <a:pt x="143503" y="31886"/>
                  <a:pt x="140203" y="36423"/>
                </a:cubicBezTo>
                <a:lnTo>
                  <a:pt x="58981" y="148103"/>
                </a:lnTo>
                <a:cubicBezTo>
                  <a:pt x="57236" y="150514"/>
                  <a:pt x="54539" y="152006"/>
                  <a:pt x="51557" y="152259"/>
                </a:cubicBezTo>
                <a:cubicBezTo>
                  <a:pt x="48575" y="152513"/>
                  <a:pt x="45687" y="151403"/>
                  <a:pt x="43593" y="149309"/>
                </a:cubicBezTo>
                <a:lnTo>
                  <a:pt x="2982" y="108698"/>
                </a:lnTo>
                <a:cubicBezTo>
                  <a:pt x="-984" y="104732"/>
                  <a:pt x="-984" y="98291"/>
                  <a:pt x="2982" y="94325"/>
                </a:cubicBezTo>
                <a:cubicBezTo>
                  <a:pt x="6948" y="90359"/>
                  <a:pt x="13389" y="90359"/>
                  <a:pt x="17355" y="94325"/>
                </a:cubicBezTo>
                <a:lnTo>
                  <a:pt x="49558" y="126529"/>
                </a:lnTo>
                <a:lnTo>
                  <a:pt x="123800" y="24462"/>
                </a:lnTo>
                <a:cubicBezTo>
                  <a:pt x="127100" y="19925"/>
                  <a:pt x="133445" y="18909"/>
                  <a:pt x="137982" y="222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736440" y="7991031"/>
            <a:ext cx="3898655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长度控制: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控制RowKey长度,避免过长影响性能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87332" y="8548199"/>
            <a:ext cx="15304542" cy="464126"/>
          </a:xfrm>
          <a:custGeom>
            <a:avLst/>
            <a:gdLst/>
            <a:ahLst/>
            <a:cxnLst/>
            <a:rect l="l" t="t" r="r" b="b"/>
            <a:pathLst>
              <a:path w="15304542" h="464126">
                <a:moveTo>
                  <a:pt x="46413" y="0"/>
                </a:moveTo>
                <a:lnTo>
                  <a:pt x="15258130" y="0"/>
                </a:lnTo>
                <a:cubicBezTo>
                  <a:pt x="15283763" y="0"/>
                  <a:pt x="15304542" y="20780"/>
                  <a:pt x="15304542" y="46413"/>
                </a:cubicBezTo>
                <a:lnTo>
                  <a:pt x="15304542" y="417713"/>
                </a:lnTo>
                <a:cubicBezTo>
                  <a:pt x="15304542" y="443346"/>
                  <a:pt x="15283763" y="464126"/>
                  <a:pt x="15258130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487332" y="8548199"/>
            <a:ext cx="46413" cy="464126"/>
          </a:xfrm>
          <a:custGeom>
            <a:avLst/>
            <a:gdLst/>
            <a:ahLst/>
            <a:cxnLst/>
            <a:rect l="l" t="t" r="r" b="b"/>
            <a:pathLst>
              <a:path w="46413" h="464126">
                <a:moveTo>
                  <a:pt x="46413" y="0"/>
                </a:moveTo>
                <a:lnTo>
                  <a:pt x="46413" y="0"/>
                </a:lnTo>
                <a:lnTo>
                  <a:pt x="46413" y="464126"/>
                </a:ln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742601" y="8693238"/>
            <a:ext cx="139238" cy="185650"/>
          </a:xfrm>
          <a:custGeom>
            <a:avLst/>
            <a:gdLst/>
            <a:ahLst/>
            <a:cxnLst/>
            <a:rect l="l" t="t" r="r" b="b"/>
            <a:pathLst>
              <a:path w="139238" h="185650">
                <a:moveTo>
                  <a:pt x="106205" y="139238"/>
                </a:moveTo>
                <a:cubicBezTo>
                  <a:pt x="108852" y="131152"/>
                  <a:pt x="114146" y="123827"/>
                  <a:pt x="120129" y="117518"/>
                </a:cubicBezTo>
                <a:cubicBezTo>
                  <a:pt x="131986" y="105045"/>
                  <a:pt x="139238" y="88184"/>
                  <a:pt x="139238" y="69619"/>
                </a:cubicBezTo>
                <a:cubicBezTo>
                  <a:pt x="139238" y="31183"/>
                  <a:pt x="108054" y="0"/>
                  <a:pt x="69619" y="0"/>
                </a:cubicBezTo>
                <a:cubicBezTo>
                  <a:pt x="31183" y="0"/>
                  <a:pt x="0" y="31183"/>
                  <a:pt x="0" y="69619"/>
                </a:cubicBezTo>
                <a:cubicBezTo>
                  <a:pt x="0" y="88184"/>
                  <a:pt x="7252" y="105045"/>
                  <a:pt x="19109" y="117518"/>
                </a:cubicBezTo>
                <a:cubicBezTo>
                  <a:pt x="25092" y="123827"/>
                  <a:pt x="30422" y="131152"/>
                  <a:pt x="33033" y="139238"/>
                </a:cubicBezTo>
                <a:lnTo>
                  <a:pt x="106169" y="139238"/>
                </a:lnTo>
                <a:close/>
                <a:moveTo>
                  <a:pt x="104428" y="156642"/>
                </a:moveTo>
                <a:lnTo>
                  <a:pt x="34809" y="156642"/>
                </a:lnTo>
                <a:lnTo>
                  <a:pt x="34809" y="162444"/>
                </a:lnTo>
                <a:cubicBezTo>
                  <a:pt x="34809" y="178471"/>
                  <a:pt x="47790" y="191452"/>
                  <a:pt x="63817" y="191452"/>
                </a:cubicBezTo>
                <a:lnTo>
                  <a:pt x="75420" y="191452"/>
                </a:lnTo>
                <a:cubicBezTo>
                  <a:pt x="91447" y="191452"/>
                  <a:pt x="104428" y="178471"/>
                  <a:pt x="104428" y="162444"/>
                </a:cubicBezTo>
                <a:lnTo>
                  <a:pt x="104428" y="156642"/>
                </a:lnTo>
                <a:close/>
                <a:moveTo>
                  <a:pt x="66718" y="40611"/>
                </a:moveTo>
                <a:cubicBezTo>
                  <a:pt x="52287" y="40611"/>
                  <a:pt x="40611" y="52287"/>
                  <a:pt x="40611" y="66718"/>
                </a:cubicBezTo>
                <a:cubicBezTo>
                  <a:pt x="40611" y="71541"/>
                  <a:pt x="36731" y="75420"/>
                  <a:pt x="31909" y="75420"/>
                </a:cubicBezTo>
                <a:cubicBezTo>
                  <a:pt x="27086" y="75420"/>
                  <a:pt x="23206" y="71541"/>
                  <a:pt x="23206" y="66718"/>
                </a:cubicBezTo>
                <a:cubicBezTo>
                  <a:pt x="23206" y="42678"/>
                  <a:pt x="42678" y="23206"/>
                  <a:pt x="66718" y="23206"/>
                </a:cubicBezTo>
                <a:cubicBezTo>
                  <a:pt x="71541" y="23206"/>
                  <a:pt x="75420" y="27086"/>
                  <a:pt x="75420" y="31909"/>
                </a:cubicBezTo>
                <a:cubicBezTo>
                  <a:pt x="75420" y="36731"/>
                  <a:pt x="71541" y="40611"/>
                  <a:pt x="66718" y="4061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13059" y="8641024"/>
            <a:ext cx="14685990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设计原则:</a:t>
            </a:r>
            <a:r>
              <a:rPr lang="en-US" sz="14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RowKey设计应支持业务查询模式,特别是范围扫描(Scan)操作。将查询频率高的维度放前面,确保前缀匹配效率。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193" y="460184"/>
            <a:ext cx="2013305" cy="460184"/>
          </a:xfrm>
          <a:custGeom>
            <a:avLst/>
            <a:gdLst/>
            <a:ahLst/>
            <a:cxnLst/>
            <a:rect l="l" t="t" r="r" b="b"/>
            <a:pathLst>
              <a:path w="2013305" h="460184">
                <a:moveTo>
                  <a:pt x="0" y="0"/>
                </a:moveTo>
                <a:lnTo>
                  <a:pt x="2013305" y="0"/>
                </a:lnTo>
                <a:lnTo>
                  <a:pt x="2013305" y="460184"/>
                </a:lnTo>
                <a:lnTo>
                  <a:pt x="0" y="460184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83193" y="460184"/>
            <a:ext cx="46018" cy="460184"/>
          </a:xfrm>
          <a:custGeom>
            <a:avLst/>
            <a:gdLst/>
            <a:ahLst/>
            <a:cxnLst/>
            <a:rect l="l" t="t" r="r" b="b"/>
            <a:pathLst>
              <a:path w="46018" h="460184">
                <a:moveTo>
                  <a:pt x="0" y="0"/>
                </a:moveTo>
                <a:lnTo>
                  <a:pt x="46018" y="0"/>
                </a:lnTo>
                <a:lnTo>
                  <a:pt x="46018" y="460184"/>
                </a:lnTo>
                <a:lnTo>
                  <a:pt x="0" y="46018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90276" y="569478"/>
            <a:ext cx="1709871" cy="241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kern="0" spc="72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 FAMILY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0184" y="1058423"/>
            <a:ext cx="15542715" cy="460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61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列族规划:少而精的设计哲学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936" y="1486758"/>
            <a:ext cx="7547018" cy="3278811"/>
          </a:xfrm>
          <a:custGeom>
            <a:avLst/>
            <a:gdLst/>
            <a:ahLst/>
            <a:cxnLst/>
            <a:rect l="l" t="t" r="r" b="b"/>
            <a:pathLst>
              <a:path w="7547018" h="3278811">
                <a:moveTo>
                  <a:pt x="92036" y="0"/>
                </a:moveTo>
                <a:lnTo>
                  <a:pt x="7454981" y="0"/>
                </a:lnTo>
                <a:cubicBezTo>
                  <a:pt x="7505812" y="0"/>
                  <a:pt x="7547018" y="41206"/>
                  <a:pt x="7547018" y="92036"/>
                </a:cubicBezTo>
                <a:lnTo>
                  <a:pt x="7547018" y="3186775"/>
                </a:lnTo>
                <a:cubicBezTo>
                  <a:pt x="7547018" y="3237605"/>
                  <a:pt x="7505812" y="3278811"/>
                  <a:pt x="7454981" y="3278811"/>
                </a:cubicBezTo>
                <a:lnTo>
                  <a:pt x="92036" y="3278811"/>
                </a:lnTo>
                <a:cubicBezTo>
                  <a:pt x="41206" y="3278811"/>
                  <a:pt x="0" y="3237605"/>
                  <a:pt x="0" y="3186775"/>
                </a:cubicBezTo>
                <a:lnTo>
                  <a:pt x="0" y="92036"/>
                </a:lnTo>
                <a:cubicBezTo>
                  <a:pt x="0" y="41206"/>
                  <a:pt x="41206" y="0"/>
                  <a:pt x="9203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0542" y="1768621"/>
            <a:ext cx="230092" cy="230092"/>
          </a:xfrm>
          <a:custGeom>
            <a:avLst/>
            <a:gdLst/>
            <a:ahLst/>
            <a:cxnLst/>
            <a:rect l="l" t="t" r="r" b="b"/>
            <a:pathLst>
              <a:path w="230092" h="230092">
                <a:moveTo>
                  <a:pt x="115046" y="230092"/>
                </a:moveTo>
                <a:cubicBezTo>
                  <a:pt x="178542" y="230092"/>
                  <a:pt x="230092" y="178542"/>
                  <a:pt x="230092" y="115046"/>
                </a:cubicBezTo>
                <a:cubicBezTo>
                  <a:pt x="230092" y="51550"/>
                  <a:pt x="178542" y="0"/>
                  <a:pt x="115046" y="0"/>
                </a:cubicBezTo>
                <a:cubicBezTo>
                  <a:pt x="51550" y="0"/>
                  <a:pt x="0" y="51550"/>
                  <a:pt x="0" y="115046"/>
                </a:cubicBezTo>
                <a:cubicBezTo>
                  <a:pt x="0" y="178542"/>
                  <a:pt x="51550" y="230092"/>
                  <a:pt x="115046" y="230092"/>
                </a:cubicBezTo>
                <a:close/>
                <a:moveTo>
                  <a:pt x="115046" y="61118"/>
                </a:moveTo>
                <a:cubicBezTo>
                  <a:pt x="121023" y="61118"/>
                  <a:pt x="125832" y="65927"/>
                  <a:pt x="125832" y="71904"/>
                </a:cubicBezTo>
                <a:lnTo>
                  <a:pt x="125832" y="122236"/>
                </a:lnTo>
                <a:cubicBezTo>
                  <a:pt x="125832" y="128213"/>
                  <a:pt x="121023" y="133022"/>
                  <a:pt x="115046" y="133022"/>
                </a:cubicBezTo>
                <a:cubicBezTo>
                  <a:pt x="109069" y="133022"/>
                  <a:pt x="104260" y="128213"/>
                  <a:pt x="104260" y="122236"/>
                </a:cubicBezTo>
                <a:lnTo>
                  <a:pt x="104260" y="71904"/>
                </a:lnTo>
                <a:cubicBezTo>
                  <a:pt x="104260" y="65927"/>
                  <a:pt x="109069" y="61118"/>
                  <a:pt x="115046" y="61118"/>
                </a:cubicBezTo>
                <a:close/>
                <a:moveTo>
                  <a:pt x="103047" y="158188"/>
                </a:moveTo>
                <a:cubicBezTo>
                  <a:pt x="102774" y="153734"/>
                  <a:pt x="104995" y="149497"/>
                  <a:pt x="108813" y="147187"/>
                </a:cubicBezTo>
                <a:cubicBezTo>
                  <a:pt x="112631" y="144878"/>
                  <a:pt x="117416" y="144878"/>
                  <a:pt x="121234" y="147187"/>
                </a:cubicBezTo>
                <a:cubicBezTo>
                  <a:pt x="125052" y="149497"/>
                  <a:pt x="127273" y="153734"/>
                  <a:pt x="127000" y="158188"/>
                </a:cubicBezTo>
                <a:cubicBezTo>
                  <a:pt x="127273" y="162642"/>
                  <a:pt x="125052" y="166880"/>
                  <a:pt x="121234" y="169189"/>
                </a:cubicBezTo>
                <a:cubicBezTo>
                  <a:pt x="117416" y="171499"/>
                  <a:pt x="112631" y="171499"/>
                  <a:pt x="108813" y="169189"/>
                </a:cubicBezTo>
                <a:cubicBezTo>
                  <a:pt x="104995" y="166880"/>
                  <a:pt x="102774" y="162642"/>
                  <a:pt x="103047" y="15818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81432" y="1722602"/>
            <a:ext cx="1265506" cy="322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少而稳原则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781" y="2182786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HBase建议保持</a:t>
            </a:r>
            <a:r>
              <a:rPr lang="en-US" sz="1449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较少的列族数量(通常≤3) </a:t>
            </a: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,原因包括: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1781" y="2596952"/>
            <a:ext cx="368147" cy="368147"/>
          </a:xfrm>
          <a:custGeom>
            <a:avLst/>
            <a:gdLst/>
            <a:ahLst/>
            <a:cxnLst/>
            <a:rect l="l" t="t" r="r" b="b"/>
            <a:pathLst>
              <a:path w="368147" h="368147">
                <a:moveTo>
                  <a:pt x="92037" y="0"/>
                </a:moveTo>
                <a:lnTo>
                  <a:pt x="276110" y="0"/>
                </a:lnTo>
                <a:cubicBezTo>
                  <a:pt x="326907" y="0"/>
                  <a:pt x="368147" y="41240"/>
                  <a:pt x="368147" y="92037"/>
                </a:cubicBezTo>
                <a:lnTo>
                  <a:pt x="368147" y="276110"/>
                </a:lnTo>
                <a:cubicBezTo>
                  <a:pt x="368147" y="326907"/>
                  <a:pt x="326907" y="368147"/>
                  <a:pt x="276110" y="368147"/>
                </a:cubicBezTo>
                <a:lnTo>
                  <a:pt x="92037" y="368147"/>
                </a:lnTo>
                <a:cubicBezTo>
                  <a:pt x="41240" y="368147"/>
                  <a:pt x="0" y="326907"/>
                  <a:pt x="0" y="276110"/>
                </a:cubicBezTo>
                <a:lnTo>
                  <a:pt x="0" y="92037"/>
                </a:lnTo>
                <a:cubicBezTo>
                  <a:pt x="0" y="41240"/>
                  <a:pt x="41240" y="0"/>
                  <a:pt x="920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18265" y="2700493"/>
            <a:ext cx="140931" cy="161064"/>
          </a:xfrm>
          <a:custGeom>
            <a:avLst/>
            <a:gdLst/>
            <a:ahLst/>
            <a:cxnLst/>
            <a:rect l="l" t="t" r="r" b="b"/>
            <a:pathLst>
              <a:path w="140931" h="161064">
                <a:moveTo>
                  <a:pt x="140931" y="64740"/>
                </a:moveTo>
                <a:cubicBezTo>
                  <a:pt x="136276" y="67823"/>
                  <a:pt x="130928" y="70308"/>
                  <a:pt x="125360" y="72290"/>
                </a:cubicBezTo>
                <a:cubicBezTo>
                  <a:pt x="110574" y="77575"/>
                  <a:pt x="91165" y="80532"/>
                  <a:pt x="70466" y="80532"/>
                </a:cubicBezTo>
                <a:cubicBezTo>
                  <a:pt x="49766" y="80532"/>
                  <a:pt x="30325" y="77544"/>
                  <a:pt x="15572" y="72290"/>
                </a:cubicBezTo>
                <a:cubicBezTo>
                  <a:pt x="10035" y="70308"/>
                  <a:pt x="4656" y="67823"/>
                  <a:pt x="0" y="64740"/>
                </a:cubicBezTo>
                <a:lnTo>
                  <a:pt x="0" y="90599"/>
                </a:lnTo>
                <a:cubicBezTo>
                  <a:pt x="0" y="104503"/>
                  <a:pt x="31552" y="115765"/>
                  <a:pt x="70466" y="115765"/>
                </a:cubicBezTo>
                <a:cubicBezTo>
                  <a:pt x="109379" y="115765"/>
                  <a:pt x="140931" y="104503"/>
                  <a:pt x="140931" y="90599"/>
                </a:cubicBezTo>
                <a:lnTo>
                  <a:pt x="140931" y="64740"/>
                </a:lnTo>
                <a:close/>
                <a:moveTo>
                  <a:pt x="140931" y="40266"/>
                </a:moveTo>
                <a:lnTo>
                  <a:pt x="140931" y="25166"/>
                </a:lnTo>
                <a:cubicBezTo>
                  <a:pt x="140931" y="11262"/>
                  <a:pt x="109379" y="0"/>
                  <a:pt x="70466" y="0"/>
                </a:cubicBezTo>
                <a:cubicBezTo>
                  <a:pt x="31552" y="0"/>
                  <a:pt x="0" y="11262"/>
                  <a:pt x="0" y="25166"/>
                </a:cubicBezTo>
                <a:lnTo>
                  <a:pt x="0" y="40266"/>
                </a:lnTo>
                <a:cubicBezTo>
                  <a:pt x="0" y="54170"/>
                  <a:pt x="31552" y="65432"/>
                  <a:pt x="70466" y="65432"/>
                </a:cubicBezTo>
                <a:cubicBezTo>
                  <a:pt x="109379" y="65432"/>
                  <a:pt x="140931" y="54170"/>
                  <a:pt x="140931" y="40266"/>
                </a:cubicBezTo>
                <a:close/>
                <a:moveTo>
                  <a:pt x="125360" y="122623"/>
                </a:moveTo>
                <a:cubicBezTo>
                  <a:pt x="110606" y="127876"/>
                  <a:pt x="91196" y="130865"/>
                  <a:pt x="70466" y="130865"/>
                </a:cubicBezTo>
                <a:cubicBezTo>
                  <a:pt x="49735" y="130865"/>
                  <a:pt x="30325" y="127876"/>
                  <a:pt x="15572" y="122623"/>
                </a:cubicBezTo>
                <a:cubicBezTo>
                  <a:pt x="10035" y="120641"/>
                  <a:pt x="4656" y="118156"/>
                  <a:pt x="0" y="115073"/>
                </a:cubicBezTo>
                <a:lnTo>
                  <a:pt x="0" y="135898"/>
                </a:lnTo>
                <a:cubicBezTo>
                  <a:pt x="0" y="149802"/>
                  <a:pt x="31552" y="161064"/>
                  <a:pt x="70466" y="161064"/>
                </a:cubicBezTo>
                <a:cubicBezTo>
                  <a:pt x="109379" y="161064"/>
                  <a:pt x="140931" y="149802"/>
                  <a:pt x="140931" y="135898"/>
                </a:cubicBezTo>
                <a:lnTo>
                  <a:pt x="140931" y="115073"/>
                </a:lnTo>
                <a:cubicBezTo>
                  <a:pt x="136276" y="118156"/>
                  <a:pt x="130928" y="120641"/>
                  <a:pt x="125360" y="12262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07983" y="2596952"/>
            <a:ext cx="3612444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存储共享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983" y="2873062"/>
            <a:ext cx="3612444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同一列族共享MemStore、HFile等存储结构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781" y="3287228"/>
            <a:ext cx="368147" cy="368147"/>
          </a:xfrm>
          <a:custGeom>
            <a:avLst/>
            <a:gdLst/>
            <a:ahLst/>
            <a:cxnLst/>
            <a:rect l="l" t="t" r="r" b="b"/>
            <a:pathLst>
              <a:path w="368147" h="368147">
                <a:moveTo>
                  <a:pt x="92037" y="0"/>
                </a:moveTo>
                <a:lnTo>
                  <a:pt x="276110" y="0"/>
                </a:lnTo>
                <a:cubicBezTo>
                  <a:pt x="326907" y="0"/>
                  <a:pt x="368147" y="41240"/>
                  <a:pt x="368147" y="92037"/>
                </a:cubicBezTo>
                <a:lnTo>
                  <a:pt x="368147" y="276110"/>
                </a:lnTo>
                <a:cubicBezTo>
                  <a:pt x="368147" y="326907"/>
                  <a:pt x="326907" y="368147"/>
                  <a:pt x="276110" y="368147"/>
                </a:cubicBezTo>
                <a:lnTo>
                  <a:pt x="92037" y="368147"/>
                </a:lnTo>
                <a:cubicBezTo>
                  <a:pt x="41240" y="368147"/>
                  <a:pt x="0" y="326907"/>
                  <a:pt x="0" y="276110"/>
                </a:cubicBezTo>
                <a:lnTo>
                  <a:pt x="0" y="92037"/>
                </a:lnTo>
                <a:cubicBezTo>
                  <a:pt x="0" y="41240"/>
                  <a:pt x="41240" y="0"/>
                  <a:pt x="920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8198" y="3390769"/>
            <a:ext cx="161064" cy="161064"/>
          </a:xfrm>
          <a:custGeom>
            <a:avLst/>
            <a:gdLst/>
            <a:ahLst/>
            <a:cxnLst/>
            <a:rect l="l" t="t" r="r" b="b"/>
            <a:pathLst>
              <a:path w="161064" h="161064">
                <a:moveTo>
                  <a:pt x="111015" y="6669"/>
                </a:moveTo>
                <a:lnTo>
                  <a:pt x="96890" y="20794"/>
                </a:lnTo>
                <a:lnTo>
                  <a:pt x="140271" y="64174"/>
                </a:lnTo>
                <a:lnTo>
                  <a:pt x="154395" y="50050"/>
                </a:lnTo>
                <a:cubicBezTo>
                  <a:pt x="158674" y="45803"/>
                  <a:pt x="161064" y="40014"/>
                  <a:pt x="161064" y="33975"/>
                </a:cubicBezTo>
                <a:cubicBezTo>
                  <a:pt x="161064" y="27935"/>
                  <a:pt x="158674" y="22146"/>
                  <a:pt x="154395" y="17900"/>
                </a:cubicBezTo>
                <a:lnTo>
                  <a:pt x="143165" y="6669"/>
                </a:lnTo>
                <a:cubicBezTo>
                  <a:pt x="138918" y="2391"/>
                  <a:pt x="133130" y="0"/>
                  <a:pt x="127090" y="0"/>
                </a:cubicBezTo>
                <a:cubicBezTo>
                  <a:pt x="121050" y="0"/>
                  <a:pt x="115262" y="2391"/>
                  <a:pt x="111015" y="6669"/>
                </a:cubicBezTo>
                <a:close/>
                <a:moveTo>
                  <a:pt x="86226" y="31458"/>
                </a:moveTo>
                <a:lnTo>
                  <a:pt x="18529" y="99124"/>
                </a:lnTo>
                <a:cubicBezTo>
                  <a:pt x="15163" y="102490"/>
                  <a:pt x="12709" y="106705"/>
                  <a:pt x="11419" y="111298"/>
                </a:cubicBezTo>
                <a:lnTo>
                  <a:pt x="283" y="151501"/>
                </a:lnTo>
                <a:cubicBezTo>
                  <a:pt x="-440" y="154112"/>
                  <a:pt x="283" y="156943"/>
                  <a:pt x="2234" y="158862"/>
                </a:cubicBezTo>
                <a:cubicBezTo>
                  <a:pt x="4184" y="160781"/>
                  <a:pt x="6984" y="161536"/>
                  <a:pt x="9595" y="160813"/>
                </a:cubicBezTo>
                <a:lnTo>
                  <a:pt x="49798" y="149645"/>
                </a:lnTo>
                <a:cubicBezTo>
                  <a:pt x="54391" y="148355"/>
                  <a:pt x="58575" y="145933"/>
                  <a:pt x="61972" y="142536"/>
                </a:cubicBezTo>
                <a:lnTo>
                  <a:pt x="129607" y="74838"/>
                </a:lnTo>
                <a:lnTo>
                  <a:pt x="86226" y="3145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07983" y="3287228"/>
            <a:ext cx="3819527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写放大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983" y="3563338"/>
            <a:ext cx="3819527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每个列族独立Flush和Compaction,增加写放大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1781" y="3977504"/>
            <a:ext cx="368147" cy="368147"/>
          </a:xfrm>
          <a:custGeom>
            <a:avLst/>
            <a:gdLst/>
            <a:ahLst/>
            <a:cxnLst/>
            <a:rect l="l" t="t" r="r" b="b"/>
            <a:pathLst>
              <a:path w="368147" h="368147">
                <a:moveTo>
                  <a:pt x="92037" y="0"/>
                </a:moveTo>
                <a:lnTo>
                  <a:pt x="276110" y="0"/>
                </a:lnTo>
                <a:cubicBezTo>
                  <a:pt x="326907" y="0"/>
                  <a:pt x="368147" y="41240"/>
                  <a:pt x="368147" y="92037"/>
                </a:cubicBezTo>
                <a:lnTo>
                  <a:pt x="368147" y="276110"/>
                </a:lnTo>
                <a:cubicBezTo>
                  <a:pt x="368147" y="326907"/>
                  <a:pt x="326907" y="368147"/>
                  <a:pt x="276110" y="368147"/>
                </a:cubicBezTo>
                <a:lnTo>
                  <a:pt x="92037" y="368147"/>
                </a:lnTo>
                <a:cubicBezTo>
                  <a:pt x="41240" y="368147"/>
                  <a:pt x="0" y="326907"/>
                  <a:pt x="0" y="276110"/>
                </a:cubicBezTo>
                <a:lnTo>
                  <a:pt x="0" y="92037"/>
                </a:lnTo>
                <a:cubicBezTo>
                  <a:pt x="0" y="41240"/>
                  <a:pt x="41240" y="0"/>
                  <a:pt x="920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8198" y="4081045"/>
            <a:ext cx="161064" cy="161064"/>
          </a:xfrm>
          <a:custGeom>
            <a:avLst/>
            <a:gdLst/>
            <a:ahLst/>
            <a:cxnLst/>
            <a:rect l="l" t="t" r="r" b="b"/>
            <a:pathLst>
              <a:path w="161064" h="161064">
                <a:moveTo>
                  <a:pt x="20133" y="20133"/>
                </a:moveTo>
                <a:cubicBezTo>
                  <a:pt x="9028" y="20133"/>
                  <a:pt x="0" y="29161"/>
                  <a:pt x="0" y="40266"/>
                </a:cubicBezTo>
                <a:lnTo>
                  <a:pt x="0" y="42594"/>
                </a:lnTo>
                <a:cubicBezTo>
                  <a:pt x="0" y="44733"/>
                  <a:pt x="1384" y="46558"/>
                  <a:pt x="3177" y="47722"/>
                </a:cubicBezTo>
                <a:cubicBezTo>
                  <a:pt x="7330" y="50427"/>
                  <a:pt x="10067" y="55083"/>
                  <a:pt x="10067" y="60399"/>
                </a:cubicBezTo>
                <a:cubicBezTo>
                  <a:pt x="10067" y="65716"/>
                  <a:pt x="7330" y="70371"/>
                  <a:pt x="3177" y="73077"/>
                </a:cubicBezTo>
                <a:cubicBezTo>
                  <a:pt x="1384" y="74241"/>
                  <a:pt x="0" y="76065"/>
                  <a:pt x="0" y="78204"/>
                </a:cubicBezTo>
                <a:lnTo>
                  <a:pt x="0" y="95632"/>
                </a:lnTo>
                <a:lnTo>
                  <a:pt x="161064" y="95632"/>
                </a:lnTo>
                <a:lnTo>
                  <a:pt x="161064" y="78204"/>
                </a:lnTo>
                <a:cubicBezTo>
                  <a:pt x="161064" y="76065"/>
                  <a:pt x="159680" y="74241"/>
                  <a:pt x="157887" y="73077"/>
                </a:cubicBezTo>
                <a:cubicBezTo>
                  <a:pt x="153735" y="70371"/>
                  <a:pt x="150998" y="65716"/>
                  <a:pt x="150998" y="60399"/>
                </a:cubicBezTo>
                <a:cubicBezTo>
                  <a:pt x="150998" y="55083"/>
                  <a:pt x="153735" y="50427"/>
                  <a:pt x="157887" y="47722"/>
                </a:cubicBezTo>
                <a:cubicBezTo>
                  <a:pt x="159680" y="46558"/>
                  <a:pt x="161064" y="44733"/>
                  <a:pt x="161064" y="42594"/>
                </a:cubicBezTo>
                <a:lnTo>
                  <a:pt x="161064" y="40266"/>
                </a:lnTo>
                <a:cubicBezTo>
                  <a:pt x="161064" y="29161"/>
                  <a:pt x="152036" y="20133"/>
                  <a:pt x="140931" y="20133"/>
                </a:cubicBezTo>
                <a:lnTo>
                  <a:pt x="20133" y="20133"/>
                </a:lnTo>
                <a:close/>
                <a:moveTo>
                  <a:pt x="161064" y="130865"/>
                </a:moveTo>
                <a:lnTo>
                  <a:pt x="161064" y="110732"/>
                </a:lnTo>
                <a:lnTo>
                  <a:pt x="0" y="110732"/>
                </a:lnTo>
                <a:lnTo>
                  <a:pt x="0" y="130865"/>
                </a:lnTo>
                <a:cubicBezTo>
                  <a:pt x="0" y="136433"/>
                  <a:pt x="4498" y="140931"/>
                  <a:pt x="10067" y="140931"/>
                </a:cubicBezTo>
                <a:lnTo>
                  <a:pt x="30200" y="140931"/>
                </a:lnTo>
                <a:lnTo>
                  <a:pt x="30200" y="133381"/>
                </a:lnTo>
                <a:cubicBezTo>
                  <a:pt x="30200" y="129198"/>
                  <a:pt x="33566" y="125832"/>
                  <a:pt x="37749" y="125832"/>
                </a:cubicBezTo>
                <a:cubicBezTo>
                  <a:pt x="41933" y="125832"/>
                  <a:pt x="45299" y="129198"/>
                  <a:pt x="45299" y="133381"/>
                </a:cubicBezTo>
                <a:lnTo>
                  <a:pt x="45299" y="140931"/>
                </a:lnTo>
                <a:lnTo>
                  <a:pt x="72982" y="140931"/>
                </a:lnTo>
                <a:lnTo>
                  <a:pt x="72982" y="133381"/>
                </a:lnTo>
                <a:cubicBezTo>
                  <a:pt x="72982" y="129198"/>
                  <a:pt x="76348" y="125832"/>
                  <a:pt x="80532" y="125832"/>
                </a:cubicBezTo>
                <a:cubicBezTo>
                  <a:pt x="84716" y="125832"/>
                  <a:pt x="88082" y="129198"/>
                  <a:pt x="88082" y="133381"/>
                </a:cubicBezTo>
                <a:lnTo>
                  <a:pt x="88082" y="140931"/>
                </a:lnTo>
                <a:lnTo>
                  <a:pt x="115765" y="140931"/>
                </a:lnTo>
                <a:lnTo>
                  <a:pt x="115765" y="133381"/>
                </a:lnTo>
                <a:cubicBezTo>
                  <a:pt x="115765" y="129198"/>
                  <a:pt x="119131" y="125832"/>
                  <a:pt x="123315" y="125832"/>
                </a:cubicBezTo>
                <a:cubicBezTo>
                  <a:pt x="127499" y="125832"/>
                  <a:pt x="130865" y="129198"/>
                  <a:pt x="130865" y="133381"/>
                </a:cubicBezTo>
                <a:lnTo>
                  <a:pt x="130865" y="140931"/>
                </a:lnTo>
                <a:lnTo>
                  <a:pt x="150998" y="140931"/>
                </a:lnTo>
                <a:cubicBezTo>
                  <a:pt x="156566" y="140931"/>
                  <a:pt x="161064" y="136433"/>
                  <a:pt x="161064" y="130865"/>
                </a:cubicBezTo>
                <a:close/>
                <a:moveTo>
                  <a:pt x="50333" y="50333"/>
                </a:moveTo>
                <a:lnTo>
                  <a:pt x="50333" y="70466"/>
                </a:lnTo>
                <a:cubicBezTo>
                  <a:pt x="50333" y="76034"/>
                  <a:pt x="45834" y="80532"/>
                  <a:pt x="40266" y="80532"/>
                </a:cubicBezTo>
                <a:cubicBezTo>
                  <a:pt x="34698" y="80532"/>
                  <a:pt x="30200" y="76034"/>
                  <a:pt x="30200" y="70466"/>
                </a:cubicBezTo>
                <a:lnTo>
                  <a:pt x="30200" y="50333"/>
                </a:lnTo>
                <a:cubicBezTo>
                  <a:pt x="30200" y="44765"/>
                  <a:pt x="34698" y="40266"/>
                  <a:pt x="40266" y="40266"/>
                </a:cubicBezTo>
                <a:cubicBezTo>
                  <a:pt x="45834" y="40266"/>
                  <a:pt x="50333" y="44765"/>
                  <a:pt x="50333" y="50333"/>
                </a:cubicBezTo>
                <a:close/>
                <a:moveTo>
                  <a:pt x="90599" y="50333"/>
                </a:moveTo>
                <a:lnTo>
                  <a:pt x="90599" y="70466"/>
                </a:lnTo>
                <a:cubicBezTo>
                  <a:pt x="90599" y="76034"/>
                  <a:pt x="86100" y="80532"/>
                  <a:pt x="80532" y="80532"/>
                </a:cubicBezTo>
                <a:cubicBezTo>
                  <a:pt x="74964" y="80532"/>
                  <a:pt x="70466" y="76034"/>
                  <a:pt x="70466" y="70466"/>
                </a:cubicBezTo>
                <a:lnTo>
                  <a:pt x="70466" y="50333"/>
                </a:lnTo>
                <a:cubicBezTo>
                  <a:pt x="70466" y="44765"/>
                  <a:pt x="74964" y="40266"/>
                  <a:pt x="80532" y="40266"/>
                </a:cubicBezTo>
                <a:cubicBezTo>
                  <a:pt x="86100" y="40266"/>
                  <a:pt x="90599" y="44765"/>
                  <a:pt x="90599" y="50333"/>
                </a:cubicBezTo>
                <a:close/>
                <a:moveTo>
                  <a:pt x="130865" y="50333"/>
                </a:moveTo>
                <a:lnTo>
                  <a:pt x="130865" y="70466"/>
                </a:lnTo>
                <a:cubicBezTo>
                  <a:pt x="130865" y="76034"/>
                  <a:pt x="126366" y="80532"/>
                  <a:pt x="120798" y="80532"/>
                </a:cubicBezTo>
                <a:cubicBezTo>
                  <a:pt x="115230" y="80532"/>
                  <a:pt x="110732" y="76034"/>
                  <a:pt x="110732" y="70466"/>
                </a:cubicBezTo>
                <a:lnTo>
                  <a:pt x="110732" y="50333"/>
                </a:lnTo>
                <a:cubicBezTo>
                  <a:pt x="110732" y="44765"/>
                  <a:pt x="115230" y="40266"/>
                  <a:pt x="120798" y="40266"/>
                </a:cubicBezTo>
                <a:cubicBezTo>
                  <a:pt x="126366" y="40266"/>
                  <a:pt x="130865" y="44765"/>
                  <a:pt x="130865" y="5033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07983" y="3977504"/>
            <a:ext cx="3623949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内存开销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7983" y="4253614"/>
            <a:ext cx="3623949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过多列族增加MemStore内存占用和GC压力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5936" y="4961147"/>
            <a:ext cx="7547018" cy="3975035"/>
          </a:xfrm>
          <a:custGeom>
            <a:avLst/>
            <a:gdLst/>
            <a:ahLst/>
            <a:cxnLst/>
            <a:rect l="l" t="t" r="r" b="b"/>
            <a:pathLst>
              <a:path w="7547018" h="4452280">
                <a:moveTo>
                  <a:pt x="92029" y="0"/>
                </a:moveTo>
                <a:lnTo>
                  <a:pt x="7454989" y="0"/>
                </a:lnTo>
                <a:cubicBezTo>
                  <a:pt x="7505815" y="0"/>
                  <a:pt x="7547018" y="41203"/>
                  <a:pt x="7547018" y="92029"/>
                </a:cubicBezTo>
                <a:lnTo>
                  <a:pt x="7547018" y="4360252"/>
                </a:lnTo>
                <a:cubicBezTo>
                  <a:pt x="7547018" y="4411078"/>
                  <a:pt x="7505815" y="4452280"/>
                  <a:pt x="7454989" y="4452280"/>
                </a:cubicBezTo>
                <a:lnTo>
                  <a:pt x="92029" y="4452280"/>
                </a:lnTo>
                <a:cubicBezTo>
                  <a:pt x="41203" y="4452280"/>
                  <a:pt x="0" y="4411078"/>
                  <a:pt x="0" y="4360252"/>
                </a:cubicBezTo>
                <a:lnTo>
                  <a:pt x="0" y="92029"/>
                </a:lnTo>
                <a:cubicBezTo>
                  <a:pt x="0" y="41237"/>
                  <a:pt x="41237" y="0"/>
                  <a:pt x="9202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30542" y="5243010"/>
            <a:ext cx="230092" cy="230092"/>
          </a:xfrm>
          <a:custGeom>
            <a:avLst/>
            <a:gdLst/>
            <a:ahLst/>
            <a:cxnLst/>
            <a:rect l="l" t="t" r="r" b="b"/>
            <a:pathLst>
              <a:path w="230092" h="230092">
                <a:moveTo>
                  <a:pt x="115046" y="230092"/>
                </a:moveTo>
                <a:cubicBezTo>
                  <a:pt x="178542" y="230092"/>
                  <a:pt x="230092" y="178542"/>
                  <a:pt x="230092" y="115046"/>
                </a:cubicBezTo>
                <a:cubicBezTo>
                  <a:pt x="230092" y="51550"/>
                  <a:pt x="178542" y="0"/>
                  <a:pt x="115046" y="0"/>
                </a:cubicBezTo>
                <a:cubicBezTo>
                  <a:pt x="51550" y="0"/>
                  <a:pt x="0" y="51550"/>
                  <a:pt x="0" y="115046"/>
                </a:cubicBezTo>
                <a:cubicBezTo>
                  <a:pt x="0" y="178542"/>
                  <a:pt x="51550" y="230092"/>
                  <a:pt x="115046" y="230092"/>
                </a:cubicBezTo>
                <a:close/>
                <a:moveTo>
                  <a:pt x="152975" y="95587"/>
                </a:moveTo>
                <a:lnTo>
                  <a:pt x="117023" y="153110"/>
                </a:lnTo>
                <a:cubicBezTo>
                  <a:pt x="115136" y="156121"/>
                  <a:pt x="111900" y="158008"/>
                  <a:pt x="108350" y="158188"/>
                </a:cubicBezTo>
                <a:cubicBezTo>
                  <a:pt x="104800" y="158368"/>
                  <a:pt x="101384" y="156750"/>
                  <a:pt x="99272" y="153874"/>
                </a:cubicBezTo>
                <a:lnTo>
                  <a:pt x="77701" y="125113"/>
                </a:lnTo>
                <a:cubicBezTo>
                  <a:pt x="74106" y="120349"/>
                  <a:pt x="75094" y="113608"/>
                  <a:pt x="79858" y="110013"/>
                </a:cubicBezTo>
                <a:cubicBezTo>
                  <a:pt x="84622" y="106418"/>
                  <a:pt x="91363" y="107406"/>
                  <a:pt x="94958" y="112170"/>
                </a:cubicBezTo>
                <a:lnTo>
                  <a:pt x="107092" y="128348"/>
                </a:lnTo>
                <a:lnTo>
                  <a:pt x="134685" y="84172"/>
                </a:lnTo>
                <a:cubicBezTo>
                  <a:pt x="137831" y="79139"/>
                  <a:pt x="144482" y="77566"/>
                  <a:pt x="149560" y="80757"/>
                </a:cubicBezTo>
                <a:cubicBezTo>
                  <a:pt x="154638" y="83948"/>
                  <a:pt x="156166" y="90554"/>
                  <a:pt x="152975" y="9563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81432" y="5196992"/>
            <a:ext cx="1035414" cy="322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1781" y="5558636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合理的列族设计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1781" y="5926783"/>
            <a:ext cx="7075329" cy="1034431"/>
          </a:xfrm>
          <a:custGeom>
            <a:avLst/>
            <a:gdLst/>
            <a:ahLst/>
            <a:cxnLst/>
            <a:rect l="l" t="t" r="r" b="b"/>
            <a:pathLst>
              <a:path w="7075329" h="1323029">
                <a:moveTo>
                  <a:pt x="46015" y="0"/>
                </a:moveTo>
                <a:lnTo>
                  <a:pt x="7029314" y="0"/>
                </a:lnTo>
                <a:cubicBezTo>
                  <a:pt x="7054727" y="0"/>
                  <a:pt x="7075329" y="20602"/>
                  <a:pt x="7075329" y="46015"/>
                </a:cubicBezTo>
                <a:lnTo>
                  <a:pt x="7075329" y="1277014"/>
                </a:lnTo>
                <a:cubicBezTo>
                  <a:pt x="7075329" y="1302427"/>
                  <a:pt x="7054727" y="1323029"/>
                  <a:pt x="7029314" y="1323029"/>
                </a:cubicBezTo>
                <a:lnTo>
                  <a:pt x="46015" y="1323029"/>
                </a:lnTo>
                <a:cubicBezTo>
                  <a:pt x="20602" y="1323029"/>
                  <a:pt x="0" y="1302427"/>
                  <a:pt x="0" y="1277014"/>
                </a:cubicBezTo>
                <a:lnTo>
                  <a:pt x="0" y="46015"/>
                </a:lnTo>
                <a:cubicBezTo>
                  <a:pt x="0" y="20602"/>
                  <a:pt x="20602" y="0"/>
                  <a:pt x="46015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01781" y="5926783"/>
            <a:ext cx="7155861" cy="1034431"/>
          </a:xfrm>
          <a:prstGeom prst="rect">
            <a:avLst/>
          </a:prstGeom>
          <a:noFill/>
          <a:ln/>
        </p:spPr>
        <p:txBody>
          <a:bodyPr wrap="square" lIns="138055" tIns="138055" rIns="138055" bIns="138055" rtlCol="0" anchor="ctr"/>
          <a:lstStyle/>
          <a:p>
            <a:pPr>
              <a:lnSpc>
                <a:spcPct val="140000"/>
              </a:lnSpc>
            </a:pPr>
            <a:r>
              <a:rPr lang="en-US" sz="12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'user_profile', {NAME =&gt; 'basic', VERSIONS =&gt; 1, BLOOMFILTER =&gt; 'ROW'}, {NAME =&gt; 'behavior', VERSIONS =&gt; 3, TTL =&gt; 2592000}, {NAME =&gt; 'stats', VERSIONS =&gt; 1, COMPRESSION =&gt; 'SNAPPY'}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781" y="7080445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避免的列族设计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1781" y="7504011"/>
            <a:ext cx="7075329" cy="966386"/>
          </a:xfrm>
          <a:custGeom>
            <a:avLst/>
            <a:gdLst/>
            <a:ahLst/>
            <a:cxnLst/>
            <a:rect l="l" t="t" r="r" b="b"/>
            <a:pathLst>
              <a:path w="7075329" h="966386">
                <a:moveTo>
                  <a:pt x="46019" y="0"/>
                </a:moveTo>
                <a:lnTo>
                  <a:pt x="7029310" y="0"/>
                </a:lnTo>
                <a:cubicBezTo>
                  <a:pt x="7054726" y="0"/>
                  <a:pt x="7075329" y="20604"/>
                  <a:pt x="7075329" y="46019"/>
                </a:cubicBezTo>
                <a:lnTo>
                  <a:pt x="7075329" y="920367"/>
                </a:lnTo>
                <a:cubicBezTo>
                  <a:pt x="7075329" y="945783"/>
                  <a:pt x="7054726" y="966386"/>
                  <a:pt x="7029310" y="966386"/>
                </a:cubicBezTo>
                <a:lnTo>
                  <a:pt x="46019" y="966386"/>
                </a:lnTo>
                <a:cubicBezTo>
                  <a:pt x="20604" y="966386"/>
                  <a:pt x="0" y="945783"/>
                  <a:pt x="0" y="920367"/>
                </a:cubicBezTo>
                <a:lnTo>
                  <a:pt x="0" y="46019"/>
                </a:lnTo>
                <a:cubicBezTo>
                  <a:pt x="0" y="20604"/>
                  <a:pt x="20604" y="0"/>
                  <a:pt x="4601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01781" y="7504011"/>
            <a:ext cx="7155861" cy="966386"/>
          </a:xfrm>
          <a:prstGeom prst="rect">
            <a:avLst/>
          </a:prstGeom>
          <a:noFill/>
          <a:ln/>
        </p:spPr>
        <p:txBody>
          <a:bodyPr wrap="square" lIns="138055" tIns="138055" rIns="138055" bIns="138055" rtlCol="0" anchor="ctr"/>
          <a:lstStyle/>
          <a:p>
            <a:pPr>
              <a:lnSpc>
                <a:spcPct val="120000"/>
              </a:lnSpc>
            </a:pPr>
            <a:r>
              <a:rPr lang="en-US" sz="126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'bad_design', {NAME =&gt; 'cf1'}, {NAME =&gt; 'cf2'}, {NAME =&gt; 'cf3'}, {NAME =&gt; 'cf4'}, {NAME =&gt; 'cf5'}, {NAME =&gt; 'cf6'} -- 不推荐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0686" y="1708433"/>
            <a:ext cx="7547018" cy="7227749"/>
          </a:xfrm>
          <a:custGeom>
            <a:avLst/>
            <a:gdLst/>
            <a:ahLst/>
            <a:cxnLst/>
            <a:rect l="l" t="t" r="r" b="b"/>
            <a:pathLst>
              <a:path w="7547018" h="7926669">
                <a:moveTo>
                  <a:pt x="92074" y="0"/>
                </a:moveTo>
                <a:lnTo>
                  <a:pt x="7454944" y="0"/>
                </a:lnTo>
                <a:cubicBezTo>
                  <a:pt x="7505795" y="0"/>
                  <a:pt x="7547018" y="41223"/>
                  <a:pt x="7547018" y="92074"/>
                </a:cubicBezTo>
                <a:lnTo>
                  <a:pt x="7547018" y="7834596"/>
                </a:lnTo>
                <a:cubicBezTo>
                  <a:pt x="7547018" y="7885447"/>
                  <a:pt x="7505795" y="7926669"/>
                  <a:pt x="7454944" y="7926669"/>
                </a:cubicBezTo>
                <a:lnTo>
                  <a:pt x="92074" y="7926669"/>
                </a:lnTo>
                <a:cubicBezTo>
                  <a:pt x="41223" y="7926669"/>
                  <a:pt x="0" y="7885447"/>
                  <a:pt x="0" y="7834596"/>
                </a:cubicBezTo>
                <a:lnTo>
                  <a:pt x="0" y="92074"/>
                </a:lnTo>
                <a:cubicBezTo>
                  <a:pt x="0" y="41257"/>
                  <a:pt x="41257" y="0"/>
                  <a:pt x="9207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486530" y="1944277"/>
            <a:ext cx="7190375" cy="322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列族属性配置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86530" y="2450480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VERSIONS - 版本控制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86530" y="2864645"/>
            <a:ext cx="7075329" cy="460184"/>
          </a:xfrm>
          <a:custGeom>
            <a:avLst/>
            <a:gdLst/>
            <a:ahLst/>
            <a:cxnLst/>
            <a:rect l="l" t="t" r="r" b="b"/>
            <a:pathLst>
              <a:path w="7075329" h="460184">
                <a:moveTo>
                  <a:pt x="46018" y="0"/>
                </a:moveTo>
                <a:lnTo>
                  <a:pt x="7029311" y="0"/>
                </a:lnTo>
                <a:cubicBezTo>
                  <a:pt x="7054726" y="0"/>
                  <a:pt x="7075329" y="20603"/>
                  <a:pt x="7075329" y="46018"/>
                </a:cubicBezTo>
                <a:lnTo>
                  <a:pt x="7075329" y="414166"/>
                </a:lnTo>
                <a:cubicBezTo>
                  <a:pt x="7075329" y="439581"/>
                  <a:pt x="7054726" y="460184"/>
                  <a:pt x="7029311" y="460184"/>
                </a:cubicBezTo>
                <a:lnTo>
                  <a:pt x="46018" y="460184"/>
                </a:lnTo>
                <a:cubicBezTo>
                  <a:pt x="20603" y="460184"/>
                  <a:pt x="0" y="439581"/>
                  <a:pt x="0" y="414166"/>
                </a:cubicBezTo>
                <a:lnTo>
                  <a:pt x="0" y="46018"/>
                </a:lnTo>
                <a:cubicBezTo>
                  <a:pt x="0" y="20620"/>
                  <a:pt x="20620" y="0"/>
                  <a:pt x="460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578567" y="2956682"/>
            <a:ext cx="897359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basic列族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6274" y="2956682"/>
            <a:ext cx="1380552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VERSIONS =&gt; 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86530" y="3416866"/>
            <a:ext cx="7075329" cy="460184"/>
          </a:xfrm>
          <a:custGeom>
            <a:avLst/>
            <a:gdLst/>
            <a:ahLst/>
            <a:cxnLst/>
            <a:rect l="l" t="t" r="r" b="b"/>
            <a:pathLst>
              <a:path w="7075329" h="460184">
                <a:moveTo>
                  <a:pt x="46018" y="0"/>
                </a:moveTo>
                <a:lnTo>
                  <a:pt x="7029311" y="0"/>
                </a:lnTo>
                <a:cubicBezTo>
                  <a:pt x="7054726" y="0"/>
                  <a:pt x="7075329" y="20603"/>
                  <a:pt x="7075329" y="46018"/>
                </a:cubicBezTo>
                <a:lnTo>
                  <a:pt x="7075329" y="414166"/>
                </a:lnTo>
                <a:cubicBezTo>
                  <a:pt x="7075329" y="439581"/>
                  <a:pt x="7054726" y="460184"/>
                  <a:pt x="7029311" y="460184"/>
                </a:cubicBezTo>
                <a:lnTo>
                  <a:pt x="46018" y="460184"/>
                </a:lnTo>
                <a:cubicBezTo>
                  <a:pt x="20603" y="460184"/>
                  <a:pt x="0" y="439581"/>
                  <a:pt x="0" y="414166"/>
                </a:cubicBezTo>
                <a:lnTo>
                  <a:pt x="0" y="46018"/>
                </a:lnTo>
                <a:cubicBezTo>
                  <a:pt x="0" y="20620"/>
                  <a:pt x="20620" y="0"/>
                  <a:pt x="460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578567" y="3508903"/>
            <a:ext cx="1184974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behavior列族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140412" y="3508903"/>
            <a:ext cx="14150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VERSIONS =&gt; 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86530" y="3969087"/>
            <a:ext cx="7155861" cy="23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根据业务需求设置版本数,超过数量的旧版本自动清理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86530" y="4337234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 - 生存时间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86530" y="4751400"/>
            <a:ext cx="7075329" cy="506202"/>
          </a:xfrm>
          <a:custGeom>
            <a:avLst/>
            <a:gdLst/>
            <a:ahLst/>
            <a:cxnLst/>
            <a:rect l="l" t="t" r="r" b="b"/>
            <a:pathLst>
              <a:path w="7075329" h="506202">
                <a:moveTo>
                  <a:pt x="46019" y="0"/>
                </a:moveTo>
                <a:lnTo>
                  <a:pt x="7029310" y="0"/>
                </a:lnTo>
                <a:cubicBezTo>
                  <a:pt x="7054726" y="0"/>
                  <a:pt x="7075329" y="20603"/>
                  <a:pt x="7075329" y="46019"/>
                </a:cubicBezTo>
                <a:lnTo>
                  <a:pt x="7075329" y="460184"/>
                </a:lnTo>
                <a:cubicBezTo>
                  <a:pt x="7075329" y="485599"/>
                  <a:pt x="7054726" y="506202"/>
                  <a:pt x="7029310" y="506202"/>
                </a:cubicBezTo>
                <a:lnTo>
                  <a:pt x="46019" y="506202"/>
                </a:lnTo>
                <a:cubicBezTo>
                  <a:pt x="20603" y="506202"/>
                  <a:pt x="0" y="485599"/>
                  <a:pt x="0" y="460184"/>
                </a:cubicBezTo>
                <a:lnTo>
                  <a:pt x="0" y="46019"/>
                </a:lnTo>
                <a:cubicBezTo>
                  <a:pt x="0" y="20620"/>
                  <a:pt x="20620" y="0"/>
                  <a:pt x="46019" y="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486530" y="4751400"/>
            <a:ext cx="7155861" cy="506202"/>
          </a:xfrm>
          <a:prstGeom prst="rect">
            <a:avLst/>
          </a:prstGeom>
          <a:noFill/>
          <a:ln/>
        </p:spPr>
        <p:txBody>
          <a:bodyPr wrap="square" lIns="138055" tIns="138055" rIns="138055" bIns="138055" rtlCol="0" anchor="ctr"/>
          <a:lstStyle/>
          <a:p>
            <a:pPr>
              <a:lnSpc>
                <a:spcPct val="120000"/>
              </a:lnSpc>
            </a:pPr>
            <a:r>
              <a:rPr lang="en-US" sz="126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'user_behavior', {NAME =&gt; 'logs', TTL =&gt; 604800}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86530" y="5349639"/>
            <a:ext cx="7155861" cy="23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TTL控制数据生命周期,过期数据自动清理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86530" y="5717786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COMPRESSION - 压缩算法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86530" y="6131952"/>
            <a:ext cx="2300920" cy="598239"/>
          </a:xfrm>
          <a:custGeom>
            <a:avLst/>
            <a:gdLst/>
            <a:ahLst/>
            <a:cxnLst/>
            <a:rect l="l" t="t" r="r" b="b"/>
            <a:pathLst>
              <a:path w="2300920" h="598239">
                <a:moveTo>
                  <a:pt x="46017" y="0"/>
                </a:moveTo>
                <a:lnTo>
                  <a:pt x="2254903" y="0"/>
                </a:lnTo>
                <a:cubicBezTo>
                  <a:pt x="2280318" y="0"/>
                  <a:pt x="2300920" y="20602"/>
                  <a:pt x="2300920" y="46017"/>
                </a:cubicBezTo>
                <a:lnTo>
                  <a:pt x="2300920" y="552223"/>
                </a:lnTo>
                <a:cubicBezTo>
                  <a:pt x="2300920" y="577637"/>
                  <a:pt x="2280318" y="598239"/>
                  <a:pt x="2254903" y="598239"/>
                </a:cubicBezTo>
                <a:lnTo>
                  <a:pt x="46017" y="598239"/>
                </a:lnTo>
                <a:cubicBezTo>
                  <a:pt x="20619" y="598239"/>
                  <a:pt x="0" y="577620"/>
                  <a:pt x="0" y="552223"/>
                </a:cubicBezTo>
                <a:lnTo>
                  <a:pt x="0" y="46017"/>
                </a:lnTo>
                <a:cubicBezTo>
                  <a:pt x="0" y="20619"/>
                  <a:pt x="20619" y="0"/>
                  <a:pt x="460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38301" y="6223989"/>
            <a:ext cx="2197379" cy="23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44053" y="6454081"/>
            <a:ext cx="2185874" cy="184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8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通用场景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74364" y="6131952"/>
            <a:ext cx="2300920" cy="598239"/>
          </a:xfrm>
          <a:custGeom>
            <a:avLst/>
            <a:gdLst/>
            <a:ahLst/>
            <a:cxnLst/>
            <a:rect l="l" t="t" r="r" b="b"/>
            <a:pathLst>
              <a:path w="2300920" h="598239">
                <a:moveTo>
                  <a:pt x="46017" y="0"/>
                </a:moveTo>
                <a:lnTo>
                  <a:pt x="2254903" y="0"/>
                </a:lnTo>
                <a:cubicBezTo>
                  <a:pt x="2280318" y="0"/>
                  <a:pt x="2300920" y="20602"/>
                  <a:pt x="2300920" y="46017"/>
                </a:cubicBezTo>
                <a:lnTo>
                  <a:pt x="2300920" y="552223"/>
                </a:lnTo>
                <a:cubicBezTo>
                  <a:pt x="2300920" y="577637"/>
                  <a:pt x="2280318" y="598239"/>
                  <a:pt x="2254903" y="598239"/>
                </a:cubicBezTo>
                <a:lnTo>
                  <a:pt x="46017" y="598239"/>
                </a:lnTo>
                <a:cubicBezTo>
                  <a:pt x="20619" y="598239"/>
                  <a:pt x="0" y="577620"/>
                  <a:pt x="0" y="552223"/>
                </a:cubicBezTo>
                <a:lnTo>
                  <a:pt x="0" y="46017"/>
                </a:lnTo>
                <a:cubicBezTo>
                  <a:pt x="0" y="20619"/>
                  <a:pt x="20619" y="0"/>
                  <a:pt x="460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926134" y="6223989"/>
            <a:ext cx="2197379" cy="23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GZ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31887" y="6454081"/>
            <a:ext cx="2185874" cy="184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8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高压缩比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3262197" y="6131952"/>
            <a:ext cx="2300920" cy="598239"/>
          </a:xfrm>
          <a:custGeom>
            <a:avLst/>
            <a:gdLst/>
            <a:ahLst/>
            <a:cxnLst/>
            <a:rect l="l" t="t" r="r" b="b"/>
            <a:pathLst>
              <a:path w="2300920" h="598239">
                <a:moveTo>
                  <a:pt x="46017" y="0"/>
                </a:moveTo>
                <a:lnTo>
                  <a:pt x="2254903" y="0"/>
                </a:lnTo>
                <a:cubicBezTo>
                  <a:pt x="2280318" y="0"/>
                  <a:pt x="2300920" y="20602"/>
                  <a:pt x="2300920" y="46017"/>
                </a:cubicBezTo>
                <a:lnTo>
                  <a:pt x="2300920" y="552223"/>
                </a:lnTo>
                <a:cubicBezTo>
                  <a:pt x="2300920" y="577637"/>
                  <a:pt x="2280318" y="598239"/>
                  <a:pt x="2254903" y="598239"/>
                </a:cubicBezTo>
                <a:lnTo>
                  <a:pt x="46017" y="598239"/>
                </a:lnTo>
                <a:cubicBezTo>
                  <a:pt x="20619" y="598239"/>
                  <a:pt x="0" y="577620"/>
                  <a:pt x="0" y="552223"/>
                </a:cubicBezTo>
                <a:lnTo>
                  <a:pt x="0" y="46017"/>
                </a:lnTo>
                <a:cubicBezTo>
                  <a:pt x="0" y="20619"/>
                  <a:pt x="20619" y="0"/>
                  <a:pt x="4601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3313968" y="6223989"/>
            <a:ext cx="2197379" cy="23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6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LZ4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319720" y="6454081"/>
            <a:ext cx="2185874" cy="184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8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高速压缩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86530" y="6868246"/>
            <a:ext cx="716736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BLOOMFILTER - 布隆过滤器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19606" y="7339935"/>
            <a:ext cx="140931" cy="161064"/>
          </a:xfrm>
          <a:custGeom>
            <a:avLst/>
            <a:gdLst/>
            <a:ahLst/>
            <a:cxnLst/>
            <a:rect l="l" t="t" r="r" b="b"/>
            <a:pathLst>
              <a:path w="140931" h="161064">
                <a:moveTo>
                  <a:pt x="136779" y="22052"/>
                </a:moveTo>
                <a:cubicBezTo>
                  <a:pt x="141277" y="25324"/>
                  <a:pt x="142284" y="31615"/>
                  <a:pt x="139012" y="36114"/>
                </a:cubicBezTo>
                <a:lnTo>
                  <a:pt x="58480" y="146845"/>
                </a:lnTo>
                <a:cubicBezTo>
                  <a:pt x="56750" y="149236"/>
                  <a:pt x="54076" y="150715"/>
                  <a:pt x="51119" y="150966"/>
                </a:cubicBezTo>
                <a:cubicBezTo>
                  <a:pt x="48162" y="151218"/>
                  <a:pt x="45299" y="150117"/>
                  <a:pt x="43223" y="148041"/>
                </a:cubicBezTo>
                <a:lnTo>
                  <a:pt x="2957" y="107775"/>
                </a:lnTo>
                <a:cubicBezTo>
                  <a:pt x="-975" y="103842"/>
                  <a:pt x="-975" y="97457"/>
                  <a:pt x="2957" y="93524"/>
                </a:cubicBezTo>
                <a:cubicBezTo>
                  <a:pt x="6889" y="89592"/>
                  <a:pt x="13275" y="89592"/>
                  <a:pt x="17207" y="93524"/>
                </a:cubicBezTo>
                <a:lnTo>
                  <a:pt x="49137" y="125454"/>
                </a:lnTo>
                <a:lnTo>
                  <a:pt x="122749" y="24254"/>
                </a:lnTo>
                <a:cubicBezTo>
                  <a:pt x="126020" y="19756"/>
                  <a:pt x="132312" y="18749"/>
                  <a:pt x="136810" y="2202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779897" y="7282412"/>
            <a:ext cx="2093837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ROW: 判断行键是否存在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19606" y="7662064"/>
            <a:ext cx="140931" cy="161064"/>
          </a:xfrm>
          <a:custGeom>
            <a:avLst/>
            <a:gdLst/>
            <a:ahLst/>
            <a:cxnLst/>
            <a:rect l="l" t="t" r="r" b="b"/>
            <a:pathLst>
              <a:path w="140931" h="161064">
                <a:moveTo>
                  <a:pt x="136779" y="22052"/>
                </a:moveTo>
                <a:cubicBezTo>
                  <a:pt x="141277" y="25324"/>
                  <a:pt x="142284" y="31615"/>
                  <a:pt x="139012" y="36114"/>
                </a:cubicBezTo>
                <a:lnTo>
                  <a:pt x="58480" y="146845"/>
                </a:lnTo>
                <a:cubicBezTo>
                  <a:pt x="56750" y="149236"/>
                  <a:pt x="54076" y="150715"/>
                  <a:pt x="51119" y="150966"/>
                </a:cubicBezTo>
                <a:cubicBezTo>
                  <a:pt x="48162" y="151218"/>
                  <a:pt x="45299" y="150117"/>
                  <a:pt x="43223" y="148041"/>
                </a:cubicBezTo>
                <a:lnTo>
                  <a:pt x="2957" y="107775"/>
                </a:lnTo>
                <a:cubicBezTo>
                  <a:pt x="-975" y="103842"/>
                  <a:pt x="-975" y="97457"/>
                  <a:pt x="2957" y="93524"/>
                </a:cubicBezTo>
                <a:cubicBezTo>
                  <a:pt x="6889" y="89592"/>
                  <a:pt x="13275" y="89592"/>
                  <a:pt x="17207" y="93524"/>
                </a:cubicBezTo>
                <a:lnTo>
                  <a:pt x="49137" y="125454"/>
                </a:lnTo>
                <a:lnTo>
                  <a:pt x="122749" y="24254"/>
                </a:lnTo>
                <a:cubicBezTo>
                  <a:pt x="126020" y="19756"/>
                  <a:pt x="132312" y="18749"/>
                  <a:pt x="136810" y="2202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79897" y="7604541"/>
            <a:ext cx="3140756" cy="276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9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ROWCOL: 判断行列是否存在(更精确)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809" y="494103"/>
            <a:ext cx="1988766" cy="494103"/>
          </a:xfrm>
          <a:custGeom>
            <a:avLst/>
            <a:gdLst/>
            <a:ahLst/>
            <a:cxnLst/>
            <a:rect l="l" t="t" r="r" b="b"/>
            <a:pathLst>
              <a:path w="1988766" h="494103">
                <a:moveTo>
                  <a:pt x="0" y="0"/>
                </a:moveTo>
                <a:lnTo>
                  <a:pt x="1988766" y="0"/>
                </a:lnTo>
                <a:lnTo>
                  <a:pt x="1988766" y="494103"/>
                </a:lnTo>
                <a:lnTo>
                  <a:pt x="0" y="49410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18809" y="494103"/>
            <a:ext cx="49410" cy="494103"/>
          </a:xfrm>
          <a:custGeom>
            <a:avLst/>
            <a:gdLst/>
            <a:ahLst/>
            <a:cxnLst/>
            <a:rect l="l" t="t" r="r" b="b"/>
            <a:pathLst>
              <a:path w="49410" h="494103">
                <a:moveTo>
                  <a:pt x="0" y="0"/>
                </a:moveTo>
                <a:lnTo>
                  <a:pt x="49410" y="0"/>
                </a:lnTo>
                <a:lnTo>
                  <a:pt x="49410" y="494103"/>
                </a:lnTo>
                <a:lnTo>
                  <a:pt x="0" y="49410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41155" y="611453"/>
            <a:ext cx="16629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kern="0" spc="78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 &amp; TTL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4103" y="1136438"/>
            <a:ext cx="15490140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版本控制与TTL策略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0280" y="1834359"/>
            <a:ext cx="7473313" cy="4706334"/>
          </a:xfrm>
          <a:custGeom>
            <a:avLst/>
            <a:gdLst/>
            <a:ahLst/>
            <a:cxnLst/>
            <a:rect l="l" t="t" r="r" b="b"/>
            <a:pathLst>
              <a:path w="7473313" h="4706334">
                <a:moveTo>
                  <a:pt x="98833" y="0"/>
                </a:moveTo>
                <a:lnTo>
                  <a:pt x="7374480" y="0"/>
                </a:lnTo>
                <a:cubicBezTo>
                  <a:pt x="7429064" y="0"/>
                  <a:pt x="7473313" y="44249"/>
                  <a:pt x="7473313" y="98833"/>
                </a:cubicBezTo>
                <a:lnTo>
                  <a:pt x="7473313" y="4607501"/>
                </a:lnTo>
                <a:cubicBezTo>
                  <a:pt x="7473313" y="4662085"/>
                  <a:pt x="7429064" y="4706334"/>
                  <a:pt x="7374480" y="4706334"/>
                </a:cubicBezTo>
                <a:lnTo>
                  <a:pt x="98833" y="4706334"/>
                </a:lnTo>
                <a:cubicBezTo>
                  <a:pt x="44249" y="4706334"/>
                  <a:pt x="0" y="4662085"/>
                  <a:pt x="0" y="4607501"/>
                </a:cubicBezTo>
                <a:lnTo>
                  <a:pt x="0" y="98833"/>
                </a:lnTo>
                <a:cubicBezTo>
                  <a:pt x="0" y="44249"/>
                  <a:pt x="44249" y="0"/>
                  <a:pt x="9883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9830" y="2136997"/>
            <a:ext cx="216170" cy="247052"/>
          </a:xfrm>
          <a:custGeom>
            <a:avLst/>
            <a:gdLst/>
            <a:ahLst/>
            <a:cxnLst/>
            <a:rect l="l" t="t" r="r" b="b"/>
            <a:pathLst>
              <a:path w="216170" h="247052">
                <a:moveTo>
                  <a:pt x="38602" y="50182"/>
                </a:moveTo>
                <a:cubicBezTo>
                  <a:pt x="44993" y="50182"/>
                  <a:pt x="50182" y="44993"/>
                  <a:pt x="50182" y="38602"/>
                </a:cubicBezTo>
                <a:cubicBezTo>
                  <a:pt x="50182" y="32210"/>
                  <a:pt x="44993" y="27021"/>
                  <a:pt x="38602" y="27021"/>
                </a:cubicBezTo>
                <a:cubicBezTo>
                  <a:pt x="32210" y="27021"/>
                  <a:pt x="27021" y="32210"/>
                  <a:pt x="27021" y="38602"/>
                </a:cubicBezTo>
                <a:cubicBezTo>
                  <a:pt x="27021" y="44993"/>
                  <a:pt x="32210" y="50182"/>
                  <a:pt x="38602" y="50182"/>
                </a:cubicBezTo>
                <a:close/>
                <a:moveTo>
                  <a:pt x="77204" y="38602"/>
                </a:moveTo>
                <a:cubicBezTo>
                  <a:pt x="77204" y="54429"/>
                  <a:pt x="67698" y="68036"/>
                  <a:pt x="54043" y="73971"/>
                </a:cubicBezTo>
                <a:lnTo>
                  <a:pt x="54043" y="108085"/>
                </a:lnTo>
                <a:lnTo>
                  <a:pt x="138967" y="108085"/>
                </a:lnTo>
                <a:cubicBezTo>
                  <a:pt x="151753" y="108085"/>
                  <a:pt x="162128" y="97711"/>
                  <a:pt x="162128" y="84924"/>
                </a:cubicBezTo>
                <a:lnTo>
                  <a:pt x="162128" y="73971"/>
                </a:lnTo>
                <a:cubicBezTo>
                  <a:pt x="148472" y="68036"/>
                  <a:pt x="138967" y="54429"/>
                  <a:pt x="138967" y="38602"/>
                </a:cubicBezTo>
                <a:cubicBezTo>
                  <a:pt x="138967" y="17274"/>
                  <a:pt x="156241" y="0"/>
                  <a:pt x="177568" y="0"/>
                </a:cubicBezTo>
                <a:cubicBezTo>
                  <a:pt x="198896" y="0"/>
                  <a:pt x="216170" y="17274"/>
                  <a:pt x="216170" y="38602"/>
                </a:cubicBezTo>
                <a:cubicBezTo>
                  <a:pt x="216170" y="54429"/>
                  <a:pt x="206665" y="68036"/>
                  <a:pt x="193009" y="73971"/>
                </a:cubicBezTo>
                <a:lnTo>
                  <a:pt x="193009" y="84924"/>
                </a:lnTo>
                <a:cubicBezTo>
                  <a:pt x="193009" y="114792"/>
                  <a:pt x="168835" y="138967"/>
                  <a:pt x="138967" y="138967"/>
                </a:cubicBezTo>
                <a:lnTo>
                  <a:pt x="54043" y="138967"/>
                </a:lnTo>
                <a:lnTo>
                  <a:pt x="54043" y="173081"/>
                </a:lnTo>
                <a:cubicBezTo>
                  <a:pt x="67698" y="179016"/>
                  <a:pt x="77204" y="192623"/>
                  <a:pt x="77204" y="208450"/>
                </a:cubicBezTo>
                <a:cubicBezTo>
                  <a:pt x="77204" y="229777"/>
                  <a:pt x="59929" y="247052"/>
                  <a:pt x="38602" y="247052"/>
                </a:cubicBezTo>
                <a:cubicBezTo>
                  <a:pt x="17274" y="247052"/>
                  <a:pt x="0" y="229777"/>
                  <a:pt x="0" y="208450"/>
                </a:cubicBezTo>
                <a:cubicBezTo>
                  <a:pt x="0" y="192623"/>
                  <a:pt x="9506" y="179016"/>
                  <a:pt x="23161" y="173081"/>
                </a:cubicBezTo>
                <a:lnTo>
                  <a:pt x="23161" y="74019"/>
                </a:lnTo>
                <a:cubicBezTo>
                  <a:pt x="9506" y="68036"/>
                  <a:pt x="0" y="54429"/>
                  <a:pt x="0" y="38602"/>
                </a:cubicBezTo>
                <a:cubicBezTo>
                  <a:pt x="0" y="17274"/>
                  <a:pt x="17274" y="0"/>
                  <a:pt x="38602" y="0"/>
                </a:cubicBezTo>
                <a:cubicBezTo>
                  <a:pt x="59929" y="0"/>
                  <a:pt x="77204" y="17274"/>
                  <a:pt x="77204" y="38602"/>
                </a:cubicBezTo>
                <a:close/>
                <a:moveTo>
                  <a:pt x="189149" y="38602"/>
                </a:moveTo>
                <a:cubicBezTo>
                  <a:pt x="189149" y="32210"/>
                  <a:pt x="183960" y="27021"/>
                  <a:pt x="177568" y="27021"/>
                </a:cubicBezTo>
                <a:cubicBezTo>
                  <a:pt x="171177" y="27021"/>
                  <a:pt x="165988" y="32210"/>
                  <a:pt x="165988" y="38602"/>
                </a:cubicBezTo>
                <a:cubicBezTo>
                  <a:pt x="165988" y="44993"/>
                  <a:pt x="171177" y="50182"/>
                  <a:pt x="177568" y="50182"/>
                </a:cubicBezTo>
                <a:cubicBezTo>
                  <a:pt x="183960" y="50182"/>
                  <a:pt x="189149" y="44993"/>
                  <a:pt x="189149" y="38602"/>
                </a:cubicBezTo>
                <a:close/>
                <a:moveTo>
                  <a:pt x="38602" y="220030"/>
                </a:moveTo>
                <a:cubicBezTo>
                  <a:pt x="44993" y="220030"/>
                  <a:pt x="50182" y="214841"/>
                  <a:pt x="50182" y="208450"/>
                </a:cubicBezTo>
                <a:cubicBezTo>
                  <a:pt x="50182" y="202058"/>
                  <a:pt x="44993" y="196869"/>
                  <a:pt x="38602" y="196869"/>
                </a:cubicBezTo>
                <a:cubicBezTo>
                  <a:pt x="32210" y="196869"/>
                  <a:pt x="27021" y="202058"/>
                  <a:pt x="27021" y="208450"/>
                </a:cubicBezTo>
                <a:cubicBezTo>
                  <a:pt x="27021" y="214841"/>
                  <a:pt x="32210" y="220030"/>
                  <a:pt x="38602" y="22003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61143" y="2087587"/>
            <a:ext cx="135878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多版本管理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3508" y="2631100"/>
            <a:ext cx="70656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HBase支持每个单元(Cell)保留多个版本,通过</a:t>
            </a:r>
            <a:r>
              <a:rPr lang="en-US" sz="1556" dirty="0">
                <a:solidFill>
                  <a:srgbClr val="E07A5F"/>
                </a:solidFill>
                <a:highlight>
                  <a:srgbClr val="E07A5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VERSIONS </a:t>
            </a: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参数控制: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3508" y="3125204"/>
            <a:ext cx="6966857" cy="938796"/>
          </a:xfrm>
          <a:custGeom>
            <a:avLst/>
            <a:gdLst/>
            <a:ahLst/>
            <a:cxnLst/>
            <a:rect l="l" t="t" r="r" b="b"/>
            <a:pathLst>
              <a:path w="6966857" h="938796">
                <a:moveTo>
                  <a:pt x="49409" y="0"/>
                </a:moveTo>
                <a:lnTo>
                  <a:pt x="6917448" y="0"/>
                </a:lnTo>
                <a:cubicBezTo>
                  <a:pt x="6944736" y="0"/>
                  <a:pt x="6966857" y="22121"/>
                  <a:pt x="6966857" y="49409"/>
                </a:cubicBezTo>
                <a:lnTo>
                  <a:pt x="6966857" y="889388"/>
                </a:lnTo>
                <a:cubicBezTo>
                  <a:pt x="6966857" y="916675"/>
                  <a:pt x="6944736" y="938796"/>
                  <a:pt x="6917448" y="938796"/>
                </a:cubicBezTo>
                <a:lnTo>
                  <a:pt x="49409" y="938796"/>
                </a:lnTo>
                <a:cubicBezTo>
                  <a:pt x="22121" y="938796"/>
                  <a:pt x="0" y="916675"/>
                  <a:pt x="0" y="889388"/>
                </a:cubicBezTo>
                <a:lnTo>
                  <a:pt x="0" y="49409"/>
                </a:lnTo>
                <a:cubicBezTo>
                  <a:pt x="0" y="22139"/>
                  <a:pt x="22139" y="0"/>
                  <a:pt x="494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01739" y="3273435"/>
            <a:ext cx="676921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版本数量控制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1739" y="3668717"/>
            <a:ext cx="6756863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'table_name', {NAME =&gt; 'cf', VERSIONS =&gt; 3}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3508" y="4212231"/>
            <a:ext cx="6966857" cy="938796"/>
          </a:xfrm>
          <a:custGeom>
            <a:avLst/>
            <a:gdLst/>
            <a:ahLst/>
            <a:cxnLst/>
            <a:rect l="l" t="t" r="r" b="b"/>
            <a:pathLst>
              <a:path w="6966857" h="938796">
                <a:moveTo>
                  <a:pt x="49409" y="0"/>
                </a:moveTo>
                <a:lnTo>
                  <a:pt x="6917448" y="0"/>
                </a:lnTo>
                <a:cubicBezTo>
                  <a:pt x="6944736" y="0"/>
                  <a:pt x="6966857" y="22121"/>
                  <a:pt x="6966857" y="49409"/>
                </a:cubicBezTo>
                <a:lnTo>
                  <a:pt x="6966857" y="889388"/>
                </a:lnTo>
                <a:cubicBezTo>
                  <a:pt x="6966857" y="916675"/>
                  <a:pt x="6944736" y="938796"/>
                  <a:pt x="6917448" y="938796"/>
                </a:cubicBezTo>
                <a:lnTo>
                  <a:pt x="49409" y="938796"/>
                </a:lnTo>
                <a:cubicBezTo>
                  <a:pt x="22121" y="938796"/>
                  <a:pt x="0" y="916675"/>
                  <a:pt x="0" y="889388"/>
                </a:cubicBezTo>
                <a:lnTo>
                  <a:pt x="0" y="49409"/>
                </a:lnTo>
                <a:cubicBezTo>
                  <a:pt x="0" y="22139"/>
                  <a:pt x="22139" y="0"/>
                  <a:pt x="494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01739" y="4360462"/>
            <a:ext cx="676921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版本查询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1739" y="4755745"/>
            <a:ext cx="6756863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'table', 'rowkey', {COLUMN =&gt; 'cf:col', VERSIONS =&gt; 3}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3508" y="5299258"/>
            <a:ext cx="6966857" cy="988207"/>
          </a:xfrm>
          <a:custGeom>
            <a:avLst/>
            <a:gdLst/>
            <a:ahLst/>
            <a:cxnLst/>
            <a:rect l="l" t="t" r="r" b="b"/>
            <a:pathLst>
              <a:path w="6966857" h="988207">
                <a:moveTo>
                  <a:pt x="49410" y="0"/>
                </a:moveTo>
                <a:lnTo>
                  <a:pt x="6917447" y="0"/>
                </a:lnTo>
                <a:cubicBezTo>
                  <a:pt x="6944735" y="0"/>
                  <a:pt x="6966857" y="22122"/>
                  <a:pt x="6966857" y="49410"/>
                </a:cubicBezTo>
                <a:lnTo>
                  <a:pt x="6966857" y="938796"/>
                </a:lnTo>
                <a:cubicBezTo>
                  <a:pt x="6966857" y="966085"/>
                  <a:pt x="6944735" y="988207"/>
                  <a:pt x="6917447" y="988207"/>
                </a:cubicBezTo>
                <a:lnTo>
                  <a:pt x="49410" y="988207"/>
                </a:lnTo>
                <a:cubicBezTo>
                  <a:pt x="22122" y="988207"/>
                  <a:pt x="0" y="966085"/>
                  <a:pt x="0" y="938796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01739" y="5447489"/>
            <a:ext cx="676921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版本清理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1739" y="5842772"/>
            <a:ext cx="676921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超过VERSIONS数量的旧版本会被自动清理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280" y="6677535"/>
            <a:ext cx="7473313" cy="1692304"/>
          </a:xfrm>
          <a:custGeom>
            <a:avLst/>
            <a:gdLst/>
            <a:ahLst/>
            <a:cxnLst/>
            <a:rect l="l" t="t" r="r" b="b"/>
            <a:pathLst>
              <a:path w="7473313" h="1692304">
                <a:moveTo>
                  <a:pt x="98814" y="0"/>
                </a:moveTo>
                <a:lnTo>
                  <a:pt x="7374499" y="0"/>
                </a:lnTo>
                <a:cubicBezTo>
                  <a:pt x="7429073" y="0"/>
                  <a:pt x="7473313" y="44240"/>
                  <a:pt x="7473313" y="98814"/>
                </a:cubicBezTo>
                <a:lnTo>
                  <a:pt x="7473313" y="1593490"/>
                </a:lnTo>
                <a:cubicBezTo>
                  <a:pt x="7473313" y="1648064"/>
                  <a:pt x="7429073" y="1692304"/>
                  <a:pt x="7374499" y="1692304"/>
                </a:cubicBezTo>
                <a:lnTo>
                  <a:pt x="98814" y="1692304"/>
                </a:lnTo>
                <a:cubicBezTo>
                  <a:pt x="44240" y="1692304"/>
                  <a:pt x="0" y="1648064"/>
                  <a:pt x="0" y="1593490"/>
                </a:cubicBezTo>
                <a:lnTo>
                  <a:pt x="0" y="98814"/>
                </a:lnTo>
                <a:cubicBezTo>
                  <a:pt x="0" y="44240"/>
                  <a:pt x="44240" y="0"/>
                  <a:pt x="9881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04097" y="6881353"/>
            <a:ext cx="7176851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51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版本策略建议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97" y="7375456"/>
            <a:ext cx="2260523" cy="790565"/>
          </a:xfrm>
          <a:custGeom>
            <a:avLst/>
            <a:gdLst/>
            <a:ahLst/>
            <a:cxnLst/>
            <a:rect l="l" t="t" r="r" b="b"/>
            <a:pathLst>
              <a:path w="2260523" h="790565">
                <a:moveTo>
                  <a:pt x="49410" y="0"/>
                </a:moveTo>
                <a:lnTo>
                  <a:pt x="2211112" y="0"/>
                </a:lnTo>
                <a:cubicBezTo>
                  <a:pt x="2238401" y="0"/>
                  <a:pt x="2260523" y="22122"/>
                  <a:pt x="2260523" y="49410"/>
                </a:cubicBezTo>
                <a:lnTo>
                  <a:pt x="2260523" y="741155"/>
                </a:lnTo>
                <a:cubicBezTo>
                  <a:pt x="2260523" y="768444"/>
                  <a:pt x="2238401" y="790565"/>
                  <a:pt x="2211112" y="790565"/>
                </a:cubicBezTo>
                <a:lnTo>
                  <a:pt x="49410" y="790565"/>
                </a:lnTo>
                <a:cubicBezTo>
                  <a:pt x="22122" y="790565"/>
                  <a:pt x="0" y="768444"/>
                  <a:pt x="0" y="741155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09094" y="7523687"/>
            <a:ext cx="205052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VERSIONS =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5271" y="7820149"/>
            <a:ext cx="2038176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用户基本信息,只保留最新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07736" y="7375456"/>
            <a:ext cx="2260523" cy="790565"/>
          </a:xfrm>
          <a:custGeom>
            <a:avLst/>
            <a:gdLst/>
            <a:ahLst/>
            <a:cxnLst/>
            <a:rect l="l" t="t" r="r" b="b"/>
            <a:pathLst>
              <a:path w="2260523" h="790565">
                <a:moveTo>
                  <a:pt x="49410" y="0"/>
                </a:moveTo>
                <a:lnTo>
                  <a:pt x="2211112" y="0"/>
                </a:lnTo>
                <a:cubicBezTo>
                  <a:pt x="2238401" y="0"/>
                  <a:pt x="2260523" y="22122"/>
                  <a:pt x="2260523" y="49410"/>
                </a:cubicBezTo>
                <a:lnTo>
                  <a:pt x="2260523" y="741155"/>
                </a:lnTo>
                <a:cubicBezTo>
                  <a:pt x="2260523" y="768444"/>
                  <a:pt x="2238401" y="790565"/>
                  <a:pt x="2211112" y="790565"/>
                </a:cubicBezTo>
                <a:lnTo>
                  <a:pt x="49410" y="790565"/>
                </a:lnTo>
                <a:cubicBezTo>
                  <a:pt x="22122" y="790565"/>
                  <a:pt x="0" y="768444"/>
                  <a:pt x="0" y="741155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212733" y="7523687"/>
            <a:ext cx="205052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VERSIONS = 3-5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18910" y="7820149"/>
            <a:ext cx="2038176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用户行为数据,保留历史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11472" y="7375456"/>
            <a:ext cx="2260523" cy="790565"/>
          </a:xfrm>
          <a:custGeom>
            <a:avLst/>
            <a:gdLst/>
            <a:ahLst/>
            <a:cxnLst/>
            <a:rect l="l" t="t" r="r" b="b"/>
            <a:pathLst>
              <a:path w="2260523" h="790565">
                <a:moveTo>
                  <a:pt x="49410" y="0"/>
                </a:moveTo>
                <a:lnTo>
                  <a:pt x="2211112" y="0"/>
                </a:lnTo>
                <a:cubicBezTo>
                  <a:pt x="2238401" y="0"/>
                  <a:pt x="2260523" y="22122"/>
                  <a:pt x="2260523" y="49410"/>
                </a:cubicBezTo>
                <a:lnTo>
                  <a:pt x="2260523" y="741155"/>
                </a:lnTo>
                <a:cubicBezTo>
                  <a:pt x="2260523" y="768444"/>
                  <a:pt x="2238401" y="790565"/>
                  <a:pt x="2211112" y="790565"/>
                </a:cubicBezTo>
                <a:lnTo>
                  <a:pt x="49410" y="790565"/>
                </a:lnTo>
                <a:cubicBezTo>
                  <a:pt x="22122" y="790565"/>
                  <a:pt x="0" y="768444"/>
                  <a:pt x="0" y="741155"/>
                </a:cubicBezTo>
                <a:lnTo>
                  <a:pt x="0" y="49410"/>
                </a:lnTo>
                <a:cubicBezTo>
                  <a:pt x="0" y="22140"/>
                  <a:pt x="22140" y="0"/>
                  <a:pt x="494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616469" y="7523687"/>
            <a:ext cx="205052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VERSIONS = 10+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2645" y="7820149"/>
            <a:ext cx="2038176" cy="197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审计日志,保留多版本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79609" y="1834359"/>
            <a:ext cx="7473313" cy="6535480"/>
          </a:xfrm>
          <a:custGeom>
            <a:avLst/>
            <a:gdLst/>
            <a:ahLst/>
            <a:cxnLst/>
            <a:rect l="l" t="t" r="r" b="b"/>
            <a:pathLst>
              <a:path w="7473313" h="6608632">
                <a:moveTo>
                  <a:pt x="98799" y="0"/>
                </a:moveTo>
                <a:lnTo>
                  <a:pt x="7374514" y="0"/>
                </a:lnTo>
                <a:cubicBezTo>
                  <a:pt x="7429079" y="0"/>
                  <a:pt x="7473313" y="44234"/>
                  <a:pt x="7473313" y="98799"/>
                </a:cubicBezTo>
                <a:lnTo>
                  <a:pt x="7473313" y="6509833"/>
                </a:lnTo>
                <a:cubicBezTo>
                  <a:pt x="7473313" y="6564398"/>
                  <a:pt x="7429079" y="6608632"/>
                  <a:pt x="7374514" y="6608632"/>
                </a:cubicBezTo>
                <a:lnTo>
                  <a:pt x="98799" y="6608632"/>
                </a:lnTo>
                <a:cubicBezTo>
                  <a:pt x="44234" y="6608632"/>
                  <a:pt x="0" y="6564398"/>
                  <a:pt x="0" y="6509833"/>
                </a:cubicBezTo>
                <a:lnTo>
                  <a:pt x="0" y="98799"/>
                </a:lnTo>
                <a:cubicBezTo>
                  <a:pt x="0" y="44234"/>
                  <a:pt x="44234" y="0"/>
                  <a:pt x="9879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63718" y="2136997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123526" y="0"/>
                </a:moveTo>
                <a:cubicBezTo>
                  <a:pt x="191702" y="0"/>
                  <a:pt x="247052" y="55350"/>
                  <a:pt x="247052" y="123526"/>
                </a:cubicBezTo>
                <a:cubicBezTo>
                  <a:pt x="247052" y="191702"/>
                  <a:pt x="191702" y="247052"/>
                  <a:pt x="123526" y="247052"/>
                </a:cubicBezTo>
                <a:cubicBezTo>
                  <a:pt x="55350" y="247052"/>
                  <a:pt x="0" y="191702"/>
                  <a:pt x="0" y="123526"/>
                </a:cubicBezTo>
                <a:cubicBezTo>
                  <a:pt x="0" y="55350"/>
                  <a:pt x="55350" y="0"/>
                  <a:pt x="123526" y="0"/>
                </a:cubicBezTo>
                <a:close/>
                <a:moveTo>
                  <a:pt x="111945" y="57903"/>
                </a:moveTo>
                <a:lnTo>
                  <a:pt x="111945" y="123526"/>
                </a:lnTo>
                <a:cubicBezTo>
                  <a:pt x="111945" y="127386"/>
                  <a:pt x="113875" y="131005"/>
                  <a:pt x="117108" y="133176"/>
                </a:cubicBezTo>
                <a:lnTo>
                  <a:pt x="163430" y="164058"/>
                </a:lnTo>
                <a:cubicBezTo>
                  <a:pt x="168738" y="167628"/>
                  <a:pt x="175928" y="166181"/>
                  <a:pt x="179498" y="160825"/>
                </a:cubicBezTo>
                <a:cubicBezTo>
                  <a:pt x="183069" y="155469"/>
                  <a:pt x="181622" y="148328"/>
                  <a:pt x="176266" y="144757"/>
                </a:cubicBezTo>
                <a:lnTo>
                  <a:pt x="135106" y="117350"/>
                </a:lnTo>
                <a:lnTo>
                  <a:pt x="135106" y="57903"/>
                </a:lnTo>
                <a:cubicBezTo>
                  <a:pt x="135106" y="51485"/>
                  <a:pt x="129943" y="46322"/>
                  <a:pt x="123526" y="46322"/>
                </a:cubicBezTo>
                <a:cubicBezTo>
                  <a:pt x="117108" y="46322"/>
                  <a:pt x="111945" y="51485"/>
                  <a:pt x="111945" y="5790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940472" y="2087587"/>
            <a:ext cx="274227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TTL(Time-To-Live)策略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32837" y="2631100"/>
            <a:ext cx="70656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TTL控制数据生命周期,过期数据自动清理。适合时序数据和临时数据管理。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32837" y="3125204"/>
            <a:ext cx="6966857" cy="1259964"/>
          </a:xfrm>
          <a:custGeom>
            <a:avLst/>
            <a:gdLst/>
            <a:ahLst/>
            <a:cxnLst/>
            <a:rect l="l" t="t" r="r" b="b"/>
            <a:pathLst>
              <a:path w="6966857" h="1259964">
                <a:moveTo>
                  <a:pt x="49416" y="0"/>
                </a:moveTo>
                <a:lnTo>
                  <a:pt x="6917441" y="0"/>
                </a:lnTo>
                <a:cubicBezTo>
                  <a:pt x="6944733" y="0"/>
                  <a:pt x="6966857" y="22124"/>
                  <a:pt x="6966857" y="49416"/>
                </a:cubicBezTo>
                <a:lnTo>
                  <a:pt x="6966857" y="1210548"/>
                </a:lnTo>
                <a:cubicBezTo>
                  <a:pt x="6966857" y="1237839"/>
                  <a:pt x="6944733" y="1259964"/>
                  <a:pt x="6917441" y="1259964"/>
                </a:cubicBezTo>
                <a:lnTo>
                  <a:pt x="49416" y="1259964"/>
                </a:lnTo>
                <a:cubicBezTo>
                  <a:pt x="22124" y="1259964"/>
                  <a:pt x="0" y="1237839"/>
                  <a:pt x="0" y="1210548"/>
                </a:cubicBezTo>
                <a:lnTo>
                  <a:pt x="0" y="49416"/>
                </a:lnTo>
                <a:cubicBezTo>
                  <a:pt x="0" y="22142"/>
                  <a:pt x="22142" y="0"/>
                  <a:pt x="494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81068" y="3273435"/>
            <a:ext cx="676921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TTL配置示例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1068" y="3668717"/>
            <a:ext cx="6756863" cy="568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'user_behavior', {NAME =&gt; 'logs', TTL =&gt; 604800} -- 设置7天有效期(单位:秒)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32837" y="4527222"/>
            <a:ext cx="6966857" cy="1815830"/>
          </a:xfrm>
          <a:custGeom>
            <a:avLst/>
            <a:gdLst/>
            <a:ahLst/>
            <a:cxnLst/>
            <a:rect l="l" t="t" r="r" b="b"/>
            <a:pathLst>
              <a:path w="6966857" h="1815830">
                <a:moveTo>
                  <a:pt x="49409" y="0"/>
                </a:moveTo>
                <a:lnTo>
                  <a:pt x="6917448" y="0"/>
                </a:lnTo>
                <a:cubicBezTo>
                  <a:pt x="6944736" y="0"/>
                  <a:pt x="6966857" y="22121"/>
                  <a:pt x="6966857" y="49409"/>
                </a:cubicBezTo>
                <a:lnTo>
                  <a:pt x="6966857" y="1766421"/>
                </a:lnTo>
                <a:cubicBezTo>
                  <a:pt x="6966857" y="1793709"/>
                  <a:pt x="6944736" y="1815830"/>
                  <a:pt x="6917448" y="1815830"/>
                </a:cubicBezTo>
                <a:lnTo>
                  <a:pt x="49409" y="1815830"/>
                </a:lnTo>
                <a:cubicBezTo>
                  <a:pt x="22121" y="1815830"/>
                  <a:pt x="0" y="1793709"/>
                  <a:pt x="0" y="1766421"/>
                </a:cubicBezTo>
                <a:lnTo>
                  <a:pt x="0" y="49409"/>
                </a:lnTo>
                <a:cubicBezTo>
                  <a:pt x="0" y="22121"/>
                  <a:pt x="22121" y="0"/>
                  <a:pt x="494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81068" y="4675453"/>
            <a:ext cx="676921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不同数据的TTL策略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1068" y="5070736"/>
            <a:ext cx="6756863" cy="1124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'sensor_data', {NAME =&gt; 'realtime', TTL =&gt; 86400}, -- 1天 {NAME =&gt; 'history', TTL =&gt; 2592000}, -- 30天 {NAME =&gt; 'archive', TTL =&gt; 2147483647} -- 永久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32837" y="6546869"/>
            <a:ext cx="6966857" cy="12353"/>
          </a:xfrm>
          <a:custGeom>
            <a:avLst/>
            <a:gdLst/>
            <a:ahLst/>
            <a:cxnLst/>
            <a:rect l="l" t="t" r="r" b="b"/>
            <a:pathLst>
              <a:path w="6966857" h="12353">
                <a:moveTo>
                  <a:pt x="0" y="0"/>
                </a:moveTo>
                <a:lnTo>
                  <a:pt x="6966857" y="0"/>
                </a:lnTo>
                <a:lnTo>
                  <a:pt x="6966857" y="12353"/>
                </a:lnTo>
                <a:lnTo>
                  <a:pt x="0" y="12353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32837" y="6750687"/>
            <a:ext cx="70656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TTL配置策略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57542" y="7232438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0"/>
                </a:moveTo>
                <a:cubicBezTo>
                  <a:pt x="134191" y="0"/>
                  <a:pt x="172936" y="38745"/>
                  <a:pt x="172936" y="86468"/>
                </a:cubicBezTo>
                <a:cubicBezTo>
                  <a:pt x="172936" y="134191"/>
                  <a:pt x="134191" y="172936"/>
                  <a:pt x="86468" y="172936"/>
                </a:cubicBezTo>
                <a:cubicBezTo>
                  <a:pt x="38745" y="172936"/>
                  <a:pt x="0" y="134191"/>
                  <a:pt x="0" y="86468"/>
                </a:cubicBezTo>
                <a:cubicBezTo>
                  <a:pt x="0" y="38745"/>
                  <a:pt x="38745" y="0"/>
                  <a:pt x="86468" y="0"/>
                </a:cubicBezTo>
                <a:close/>
                <a:moveTo>
                  <a:pt x="78362" y="40532"/>
                </a:moveTo>
                <a:lnTo>
                  <a:pt x="78362" y="86468"/>
                </a:lnTo>
                <a:cubicBezTo>
                  <a:pt x="78362" y="89170"/>
                  <a:pt x="79713" y="91703"/>
                  <a:pt x="81976" y="93223"/>
                </a:cubicBezTo>
                <a:lnTo>
                  <a:pt x="114401" y="114840"/>
                </a:lnTo>
                <a:cubicBezTo>
                  <a:pt x="118117" y="117340"/>
                  <a:pt x="123149" y="116327"/>
                  <a:pt x="125649" y="112577"/>
                </a:cubicBezTo>
                <a:cubicBezTo>
                  <a:pt x="128148" y="108828"/>
                  <a:pt x="127135" y="103829"/>
                  <a:pt x="123386" y="101330"/>
                </a:cubicBezTo>
                <a:lnTo>
                  <a:pt x="94574" y="82145"/>
                </a:lnTo>
                <a:lnTo>
                  <a:pt x="94574" y="40532"/>
                </a:lnTo>
                <a:cubicBezTo>
                  <a:pt x="94574" y="36040"/>
                  <a:pt x="90960" y="32426"/>
                  <a:pt x="86468" y="32426"/>
                </a:cubicBezTo>
                <a:cubicBezTo>
                  <a:pt x="81976" y="32426"/>
                  <a:pt x="78362" y="36040"/>
                  <a:pt x="78362" y="4053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847828" y="7195380"/>
            <a:ext cx="1272316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实时数据: 1-7天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102926" y="7232438"/>
            <a:ext cx="194553" cy="172936"/>
          </a:xfrm>
          <a:custGeom>
            <a:avLst/>
            <a:gdLst/>
            <a:ahLst/>
            <a:cxnLst/>
            <a:rect l="l" t="t" r="r" b="b"/>
            <a:pathLst>
              <a:path w="194553" h="172936">
                <a:moveTo>
                  <a:pt x="97277" y="21617"/>
                </a:moveTo>
                <a:cubicBezTo>
                  <a:pt x="133080" y="21617"/>
                  <a:pt x="162128" y="50665"/>
                  <a:pt x="162128" y="86468"/>
                </a:cubicBezTo>
                <a:cubicBezTo>
                  <a:pt x="162128" y="122271"/>
                  <a:pt x="133080" y="151319"/>
                  <a:pt x="97277" y="151319"/>
                </a:cubicBezTo>
                <a:cubicBezTo>
                  <a:pt x="75254" y="151319"/>
                  <a:pt x="55765" y="140342"/>
                  <a:pt x="44045" y="123521"/>
                </a:cubicBezTo>
                <a:cubicBezTo>
                  <a:pt x="40633" y="118623"/>
                  <a:pt x="33878" y="117441"/>
                  <a:pt x="28980" y="120853"/>
                </a:cubicBezTo>
                <a:cubicBezTo>
                  <a:pt x="24083" y="124264"/>
                  <a:pt x="22901" y="131019"/>
                  <a:pt x="26312" y="135917"/>
                </a:cubicBezTo>
                <a:cubicBezTo>
                  <a:pt x="41917" y="158277"/>
                  <a:pt x="67891" y="172936"/>
                  <a:pt x="97277" y="172936"/>
                </a:cubicBezTo>
                <a:cubicBezTo>
                  <a:pt x="145037" y="172936"/>
                  <a:pt x="183745" y="134228"/>
                  <a:pt x="183745" y="86468"/>
                </a:cubicBezTo>
                <a:cubicBezTo>
                  <a:pt x="183745" y="38708"/>
                  <a:pt x="145037" y="0"/>
                  <a:pt x="97277" y="0"/>
                </a:cubicBezTo>
                <a:cubicBezTo>
                  <a:pt x="68330" y="0"/>
                  <a:pt x="42727" y="14220"/>
                  <a:pt x="27021" y="36040"/>
                </a:cubicBezTo>
                <a:lnTo>
                  <a:pt x="27021" y="27021"/>
                </a:lnTo>
                <a:cubicBezTo>
                  <a:pt x="27021" y="21043"/>
                  <a:pt x="22191" y="16213"/>
                  <a:pt x="16213" y="16213"/>
                </a:cubicBezTo>
                <a:cubicBezTo>
                  <a:pt x="10234" y="16213"/>
                  <a:pt x="5404" y="21043"/>
                  <a:pt x="5404" y="27021"/>
                </a:cubicBezTo>
                <a:lnTo>
                  <a:pt x="5404" y="64851"/>
                </a:lnTo>
                <a:cubicBezTo>
                  <a:pt x="5404" y="70830"/>
                  <a:pt x="10234" y="75660"/>
                  <a:pt x="16213" y="75660"/>
                </a:cubicBezTo>
                <a:lnTo>
                  <a:pt x="24522" y="75660"/>
                </a:lnTo>
                <a:cubicBezTo>
                  <a:pt x="24691" y="75660"/>
                  <a:pt x="24860" y="75660"/>
                  <a:pt x="25028" y="75660"/>
                </a:cubicBezTo>
                <a:lnTo>
                  <a:pt x="54076" y="75660"/>
                </a:lnTo>
                <a:cubicBezTo>
                  <a:pt x="60055" y="75660"/>
                  <a:pt x="64885" y="70830"/>
                  <a:pt x="64885" y="64851"/>
                </a:cubicBezTo>
                <a:cubicBezTo>
                  <a:pt x="64885" y="58873"/>
                  <a:pt x="60055" y="54043"/>
                  <a:pt x="54076" y="54043"/>
                </a:cubicBezTo>
                <a:lnTo>
                  <a:pt x="41140" y="54043"/>
                </a:lnTo>
                <a:cubicBezTo>
                  <a:pt x="52320" y="34655"/>
                  <a:pt x="73295" y="21617"/>
                  <a:pt x="97277" y="21617"/>
                </a:cubicBezTo>
                <a:close/>
                <a:moveTo>
                  <a:pt x="105383" y="51340"/>
                </a:moveTo>
                <a:cubicBezTo>
                  <a:pt x="105383" y="46848"/>
                  <a:pt x="101769" y="43234"/>
                  <a:pt x="97277" y="43234"/>
                </a:cubicBezTo>
                <a:cubicBezTo>
                  <a:pt x="92784" y="43234"/>
                  <a:pt x="89170" y="46848"/>
                  <a:pt x="89170" y="51340"/>
                </a:cubicBezTo>
                <a:lnTo>
                  <a:pt x="89170" y="86468"/>
                </a:lnTo>
                <a:cubicBezTo>
                  <a:pt x="89170" y="88630"/>
                  <a:pt x="90015" y="90690"/>
                  <a:pt x="91535" y="92210"/>
                </a:cubicBezTo>
                <a:lnTo>
                  <a:pt x="115854" y="116529"/>
                </a:lnTo>
                <a:cubicBezTo>
                  <a:pt x="119029" y="119704"/>
                  <a:pt x="124163" y="119704"/>
                  <a:pt x="127304" y="116529"/>
                </a:cubicBezTo>
                <a:cubicBezTo>
                  <a:pt x="130445" y="113354"/>
                  <a:pt x="130479" y="108220"/>
                  <a:pt x="127304" y="105079"/>
                </a:cubicBezTo>
                <a:lnTo>
                  <a:pt x="105349" y="83124"/>
                </a:lnTo>
                <a:lnTo>
                  <a:pt x="105349" y="5134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2404021" y="7195380"/>
            <a:ext cx="1544073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历史数据: 30-90天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57542" y="7627720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0" y="21617"/>
                </a:moveTo>
                <a:cubicBezTo>
                  <a:pt x="0" y="15639"/>
                  <a:pt x="4830" y="10809"/>
                  <a:pt x="10809" y="10809"/>
                </a:cubicBezTo>
                <a:lnTo>
                  <a:pt x="162128" y="10809"/>
                </a:lnTo>
                <a:cubicBezTo>
                  <a:pt x="168106" y="10809"/>
                  <a:pt x="172936" y="15639"/>
                  <a:pt x="172936" y="21617"/>
                </a:cubicBezTo>
                <a:lnTo>
                  <a:pt x="172936" y="32426"/>
                </a:lnTo>
                <a:cubicBezTo>
                  <a:pt x="172936" y="38404"/>
                  <a:pt x="168106" y="43234"/>
                  <a:pt x="162128" y="43234"/>
                </a:cubicBezTo>
                <a:lnTo>
                  <a:pt x="10809" y="43234"/>
                </a:lnTo>
                <a:cubicBezTo>
                  <a:pt x="4830" y="43234"/>
                  <a:pt x="0" y="38404"/>
                  <a:pt x="0" y="32426"/>
                </a:cubicBezTo>
                <a:lnTo>
                  <a:pt x="0" y="21617"/>
                </a:lnTo>
                <a:close/>
                <a:moveTo>
                  <a:pt x="10809" y="59447"/>
                </a:moveTo>
                <a:lnTo>
                  <a:pt x="162128" y="59447"/>
                </a:lnTo>
                <a:lnTo>
                  <a:pt x="162128" y="140511"/>
                </a:lnTo>
                <a:cubicBezTo>
                  <a:pt x="162128" y="152434"/>
                  <a:pt x="152434" y="162128"/>
                  <a:pt x="140511" y="162128"/>
                </a:cubicBezTo>
                <a:lnTo>
                  <a:pt x="32426" y="162128"/>
                </a:lnTo>
                <a:cubicBezTo>
                  <a:pt x="20502" y="162128"/>
                  <a:pt x="10809" y="152434"/>
                  <a:pt x="10809" y="140511"/>
                </a:cubicBezTo>
                <a:lnTo>
                  <a:pt x="10809" y="59447"/>
                </a:lnTo>
                <a:close/>
                <a:moveTo>
                  <a:pt x="62149" y="81064"/>
                </a:moveTo>
                <a:cubicBezTo>
                  <a:pt x="57657" y="81064"/>
                  <a:pt x="54043" y="84678"/>
                  <a:pt x="54043" y="89170"/>
                </a:cubicBezTo>
                <a:cubicBezTo>
                  <a:pt x="54043" y="93663"/>
                  <a:pt x="57657" y="97277"/>
                  <a:pt x="62149" y="97277"/>
                </a:cubicBezTo>
                <a:lnTo>
                  <a:pt x="110787" y="97277"/>
                </a:lnTo>
                <a:cubicBezTo>
                  <a:pt x="115280" y="97277"/>
                  <a:pt x="118894" y="93663"/>
                  <a:pt x="118894" y="89170"/>
                </a:cubicBezTo>
                <a:cubicBezTo>
                  <a:pt x="118894" y="84678"/>
                  <a:pt x="115280" y="81064"/>
                  <a:pt x="110787" y="81064"/>
                </a:cubicBezTo>
                <a:lnTo>
                  <a:pt x="62149" y="81064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847828" y="7590663"/>
            <a:ext cx="1210553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归档数据: 永久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113735" y="7627720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21617" y="21617"/>
                </a:moveTo>
                <a:cubicBezTo>
                  <a:pt x="21617" y="15639"/>
                  <a:pt x="16787" y="10809"/>
                  <a:pt x="10809" y="10809"/>
                </a:cubicBezTo>
                <a:cubicBezTo>
                  <a:pt x="4830" y="10809"/>
                  <a:pt x="0" y="15639"/>
                  <a:pt x="0" y="21617"/>
                </a:cubicBezTo>
                <a:lnTo>
                  <a:pt x="0" y="135106"/>
                </a:lnTo>
                <a:cubicBezTo>
                  <a:pt x="0" y="150036"/>
                  <a:pt x="12092" y="162128"/>
                  <a:pt x="27021" y="162128"/>
                </a:cubicBezTo>
                <a:lnTo>
                  <a:pt x="162128" y="162128"/>
                </a:lnTo>
                <a:cubicBezTo>
                  <a:pt x="168106" y="162128"/>
                  <a:pt x="172936" y="157298"/>
                  <a:pt x="172936" y="151319"/>
                </a:cubicBezTo>
                <a:cubicBezTo>
                  <a:pt x="172936" y="145341"/>
                  <a:pt x="168106" y="140511"/>
                  <a:pt x="162128" y="140511"/>
                </a:cubicBezTo>
                <a:lnTo>
                  <a:pt x="27021" y="140511"/>
                </a:lnTo>
                <a:cubicBezTo>
                  <a:pt x="24049" y="140511"/>
                  <a:pt x="21617" y="138079"/>
                  <a:pt x="21617" y="135106"/>
                </a:cubicBezTo>
                <a:lnTo>
                  <a:pt x="21617" y="21617"/>
                </a:lnTo>
                <a:close/>
                <a:moveTo>
                  <a:pt x="158953" y="50868"/>
                </a:moveTo>
                <a:cubicBezTo>
                  <a:pt x="163175" y="46645"/>
                  <a:pt x="163175" y="39789"/>
                  <a:pt x="158953" y="35567"/>
                </a:cubicBezTo>
                <a:cubicBezTo>
                  <a:pt x="154731" y="31345"/>
                  <a:pt x="147874" y="31345"/>
                  <a:pt x="143652" y="35567"/>
                </a:cubicBezTo>
                <a:lnTo>
                  <a:pt x="108085" y="71167"/>
                </a:lnTo>
                <a:lnTo>
                  <a:pt x="88697" y="51813"/>
                </a:lnTo>
                <a:cubicBezTo>
                  <a:pt x="84475" y="47591"/>
                  <a:pt x="77619" y="47591"/>
                  <a:pt x="73397" y="51813"/>
                </a:cubicBezTo>
                <a:lnTo>
                  <a:pt x="40971" y="84239"/>
                </a:lnTo>
                <a:cubicBezTo>
                  <a:pt x="36749" y="88461"/>
                  <a:pt x="36749" y="95318"/>
                  <a:pt x="40971" y="99540"/>
                </a:cubicBezTo>
                <a:cubicBezTo>
                  <a:pt x="45193" y="103762"/>
                  <a:pt x="52050" y="103762"/>
                  <a:pt x="56272" y="99540"/>
                </a:cubicBezTo>
                <a:lnTo>
                  <a:pt x="81064" y="74748"/>
                </a:lnTo>
                <a:lnTo>
                  <a:pt x="100452" y="94135"/>
                </a:lnTo>
                <a:cubicBezTo>
                  <a:pt x="104674" y="98357"/>
                  <a:pt x="111530" y="98357"/>
                  <a:pt x="115752" y="94135"/>
                </a:cubicBezTo>
                <a:lnTo>
                  <a:pt x="158986" y="5090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404021" y="7590663"/>
            <a:ext cx="1717009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统计数据: 180-365天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8809" y="8545947"/>
            <a:ext cx="49410" cy="494103"/>
          </a:xfrm>
          <a:custGeom>
            <a:avLst/>
            <a:gdLst/>
            <a:ahLst/>
            <a:cxnLst/>
            <a:rect l="l" t="t" r="r" b="b"/>
            <a:pathLst>
              <a:path w="49410" h="494103">
                <a:moveTo>
                  <a:pt x="0" y="0"/>
                </a:moveTo>
                <a:lnTo>
                  <a:pt x="49410" y="0"/>
                </a:lnTo>
                <a:lnTo>
                  <a:pt x="49410" y="494103"/>
                </a:lnTo>
                <a:lnTo>
                  <a:pt x="0" y="49410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65860" y="8700354"/>
            <a:ext cx="197641" cy="197641"/>
          </a:xfrm>
          <a:custGeom>
            <a:avLst/>
            <a:gdLst/>
            <a:ahLst/>
            <a:cxnLst/>
            <a:rect l="l" t="t" r="r" b="b"/>
            <a:pathLst>
              <a:path w="197641" h="197641">
                <a:moveTo>
                  <a:pt x="98821" y="197641"/>
                </a:moveTo>
                <a:cubicBezTo>
                  <a:pt x="153361" y="197641"/>
                  <a:pt x="197641" y="153361"/>
                  <a:pt x="197641" y="98821"/>
                </a:cubicBezTo>
                <a:cubicBezTo>
                  <a:pt x="197641" y="44280"/>
                  <a:pt x="153361" y="0"/>
                  <a:pt x="98821" y="0"/>
                </a:cubicBezTo>
                <a:cubicBezTo>
                  <a:pt x="44280" y="0"/>
                  <a:pt x="0" y="44280"/>
                  <a:pt x="0" y="98821"/>
                </a:cubicBezTo>
                <a:cubicBezTo>
                  <a:pt x="0" y="153361"/>
                  <a:pt x="44280" y="197641"/>
                  <a:pt x="98821" y="197641"/>
                </a:cubicBezTo>
                <a:close/>
                <a:moveTo>
                  <a:pt x="86468" y="61763"/>
                </a:moveTo>
                <a:cubicBezTo>
                  <a:pt x="86468" y="54945"/>
                  <a:pt x="92003" y="49410"/>
                  <a:pt x="98821" y="49410"/>
                </a:cubicBezTo>
                <a:cubicBezTo>
                  <a:pt x="105638" y="49410"/>
                  <a:pt x="111173" y="54945"/>
                  <a:pt x="111173" y="61763"/>
                </a:cubicBezTo>
                <a:cubicBezTo>
                  <a:pt x="111173" y="68580"/>
                  <a:pt x="105638" y="74116"/>
                  <a:pt x="98821" y="74116"/>
                </a:cubicBezTo>
                <a:cubicBezTo>
                  <a:pt x="92003" y="74116"/>
                  <a:pt x="86468" y="68580"/>
                  <a:pt x="86468" y="61763"/>
                </a:cubicBezTo>
                <a:close/>
                <a:moveTo>
                  <a:pt x="83380" y="86468"/>
                </a:moveTo>
                <a:lnTo>
                  <a:pt x="101909" y="86468"/>
                </a:lnTo>
                <a:cubicBezTo>
                  <a:pt x="107043" y="86468"/>
                  <a:pt x="111173" y="90598"/>
                  <a:pt x="111173" y="95733"/>
                </a:cubicBezTo>
                <a:lnTo>
                  <a:pt x="111173" y="129702"/>
                </a:lnTo>
                <a:lnTo>
                  <a:pt x="114261" y="129702"/>
                </a:lnTo>
                <a:cubicBezTo>
                  <a:pt x="119395" y="129702"/>
                  <a:pt x="123526" y="133833"/>
                  <a:pt x="123526" y="138967"/>
                </a:cubicBezTo>
                <a:cubicBezTo>
                  <a:pt x="123526" y="144101"/>
                  <a:pt x="119395" y="148231"/>
                  <a:pt x="114261" y="148231"/>
                </a:cubicBezTo>
                <a:lnTo>
                  <a:pt x="83380" y="148231"/>
                </a:lnTo>
                <a:cubicBezTo>
                  <a:pt x="78246" y="148231"/>
                  <a:pt x="74116" y="144101"/>
                  <a:pt x="74116" y="138967"/>
                </a:cubicBezTo>
                <a:cubicBezTo>
                  <a:pt x="74116" y="133833"/>
                  <a:pt x="78246" y="129702"/>
                  <a:pt x="83380" y="129702"/>
                </a:cubicBezTo>
                <a:lnTo>
                  <a:pt x="92644" y="129702"/>
                </a:lnTo>
                <a:lnTo>
                  <a:pt x="92644" y="104997"/>
                </a:lnTo>
                <a:lnTo>
                  <a:pt x="83380" y="104997"/>
                </a:lnTo>
                <a:cubicBezTo>
                  <a:pt x="78246" y="104997"/>
                  <a:pt x="74116" y="100867"/>
                  <a:pt x="74116" y="95733"/>
                </a:cubicBezTo>
                <a:cubicBezTo>
                  <a:pt x="74116" y="90598"/>
                  <a:pt x="78246" y="86468"/>
                  <a:pt x="83380" y="8646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84324" y="8644767"/>
            <a:ext cx="1477639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最佳实践:</a:t>
            </a:r>
            <a:r>
              <a:rPr lang="en-US" sz="1556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VERSIONS和TTL应配合使用。例如:用户行为数据VERSIONS=3、TTL=30天;用户基本信息VERSIONS=1、TTL=永久。合理配置可显著节省存储空间。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516" y="485254"/>
            <a:ext cx="1880358" cy="485254"/>
          </a:xfrm>
          <a:custGeom>
            <a:avLst/>
            <a:gdLst/>
            <a:ahLst/>
            <a:cxnLst/>
            <a:rect l="l" t="t" r="r" b="b"/>
            <a:pathLst>
              <a:path w="1880358" h="485254">
                <a:moveTo>
                  <a:pt x="0" y="0"/>
                </a:moveTo>
                <a:lnTo>
                  <a:pt x="1880358" y="0"/>
                </a:lnTo>
                <a:lnTo>
                  <a:pt x="1880358" y="485254"/>
                </a:lnTo>
                <a:lnTo>
                  <a:pt x="0" y="485254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9516" y="485254"/>
            <a:ext cx="48525" cy="485254"/>
          </a:xfrm>
          <a:custGeom>
            <a:avLst/>
            <a:gdLst/>
            <a:ahLst/>
            <a:cxnLst/>
            <a:rect l="l" t="t" r="r" b="b"/>
            <a:pathLst>
              <a:path w="48525" h="485254">
                <a:moveTo>
                  <a:pt x="0" y="0"/>
                </a:moveTo>
                <a:lnTo>
                  <a:pt x="48525" y="0"/>
                </a:lnTo>
                <a:lnTo>
                  <a:pt x="48525" y="485254"/>
                </a:lnTo>
                <a:lnTo>
                  <a:pt x="0" y="48525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27881" y="600501"/>
            <a:ext cx="156001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kern="0" spc="76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5254" y="1116084"/>
            <a:ext cx="15503857" cy="48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39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高级优化特性配置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319" y="1801504"/>
            <a:ext cx="4925325" cy="6071737"/>
          </a:xfrm>
          <a:custGeom>
            <a:avLst/>
            <a:gdLst/>
            <a:ahLst/>
            <a:cxnLst/>
            <a:rect l="l" t="t" r="r" b="b"/>
            <a:pathLst>
              <a:path w="4925325" h="6320430">
                <a:moveTo>
                  <a:pt x="97029" y="0"/>
                </a:moveTo>
                <a:lnTo>
                  <a:pt x="4828296" y="0"/>
                </a:lnTo>
                <a:cubicBezTo>
                  <a:pt x="4881884" y="0"/>
                  <a:pt x="4925325" y="43441"/>
                  <a:pt x="4925325" y="97029"/>
                </a:cubicBezTo>
                <a:lnTo>
                  <a:pt x="4925325" y="6223401"/>
                </a:lnTo>
                <a:cubicBezTo>
                  <a:pt x="4925325" y="6276989"/>
                  <a:pt x="4881884" y="6320430"/>
                  <a:pt x="4828296" y="6320430"/>
                </a:cubicBezTo>
                <a:lnTo>
                  <a:pt x="97029" y="6320430"/>
                </a:lnTo>
                <a:cubicBezTo>
                  <a:pt x="43441" y="6320430"/>
                  <a:pt x="0" y="6276989"/>
                  <a:pt x="0" y="6223401"/>
                </a:cubicBezTo>
                <a:lnTo>
                  <a:pt x="0" y="97029"/>
                </a:lnTo>
                <a:cubicBezTo>
                  <a:pt x="0" y="43477"/>
                  <a:pt x="43477" y="0"/>
                  <a:pt x="9702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0340" y="2098722"/>
            <a:ext cx="242627" cy="242627"/>
          </a:xfrm>
          <a:custGeom>
            <a:avLst/>
            <a:gdLst/>
            <a:ahLst/>
            <a:cxnLst/>
            <a:rect l="l" t="t" r="r" b="b"/>
            <a:pathLst>
              <a:path w="242627" h="242627">
                <a:moveTo>
                  <a:pt x="15164" y="30328"/>
                </a:moveTo>
                <a:cubicBezTo>
                  <a:pt x="9051" y="30328"/>
                  <a:pt x="3507" y="34025"/>
                  <a:pt x="1137" y="39711"/>
                </a:cubicBezTo>
                <a:cubicBezTo>
                  <a:pt x="-1232" y="45398"/>
                  <a:pt x="95" y="51890"/>
                  <a:pt x="4454" y="56202"/>
                </a:cubicBezTo>
                <a:lnTo>
                  <a:pt x="90985" y="142780"/>
                </a:lnTo>
                <a:lnTo>
                  <a:pt x="90985" y="197134"/>
                </a:lnTo>
                <a:cubicBezTo>
                  <a:pt x="90985" y="201162"/>
                  <a:pt x="92596" y="205001"/>
                  <a:pt x="95440" y="207844"/>
                </a:cubicBezTo>
                <a:lnTo>
                  <a:pt x="125768" y="238172"/>
                </a:lnTo>
                <a:cubicBezTo>
                  <a:pt x="130128" y="242532"/>
                  <a:pt x="136620" y="243812"/>
                  <a:pt x="142306" y="241442"/>
                </a:cubicBezTo>
                <a:cubicBezTo>
                  <a:pt x="147993" y="239073"/>
                  <a:pt x="151642" y="233576"/>
                  <a:pt x="151642" y="227463"/>
                </a:cubicBezTo>
                <a:lnTo>
                  <a:pt x="151642" y="142780"/>
                </a:lnTo>
                <a:lnTo>
                  <a:pt x="238172" y="56250"/>
                </a:lnTo>
                <a:cubicBezTo>
                  <a:pt x="242532" y="51890"/>
                  <a:pt x="243812" y="45398"/>
                  <a:pt x="241442" y="39711"/>
                </a:cubicBezTo>
                <a:cubicBezTo>
                  <a:pt x="239073" y="34025"/>
                  <a:pt x="233576" y="30328"/>
                  <a:pt x="227463" y="30328"/>
                </a:cubicBezTo>
                <a:lnTo>
                  <a:pt x="15164" y="3032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0346" y="2050197"/>
            <a:ext cx="1395104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BloomFilter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012" y="2583976"/>
            <a:ext cx="4524991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用于快速判断行或列是否存在,</a:t>
            </a:r>
            <a:r>
              <a:rPr lang="en-US" sz="1528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减少磁盘I/O</a:t>
            </a:r>
            <a:r>
              <a:rPr lang="en-US" sz="152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012" y="3069230"/>
            <a:ext cx="4427940" cy="1892490"/>
          </a:xfrm>
          <a:custGeom>
            <a:avLst/>
            <a:gdLst/>
            <a:ahLst/>
            <a:cxnLst/>
            <a:rect l="l" t="t" r="r" b="b"/>
            <a:pathLst>
              <a:path w="4427940" h="1892490">
                <a:moveTo>
                  <a:pt x="48523" y="0"/>
                </a:moveTo>
                <a:lnTo>
                  <a:pt x="4379417" y="0"/>
                </a:lnTo>
                <a:cubicBezTo>
                  <a:pt x="4406216" y="0"/>
                  <a:pt x="4427940" y="21725"/>
                  <a:pt x="4427940" y="48523"/>
                </a:cubicBezTo>
                <a:lnTo>
                  <a:pt x="4427940" y="1843966"/>
                </a:lnTo>
                <a:cubicBezTo>
                  <a:pt x="4427940" y="1870765"/>
                  <a:pt x="4406216" y="1892490"/>
                  <a:pt x="4379417" y="1892490"/>
                </a:cubicBezTo>
                <a:lnTo>
                  <a:pt x="48523" y="1892490"/>
                </a:lnTo>
                <a:cubicBezTo>
                  <a:pt x="21725" y="1892490"/>
                  <a:pt x="0" y="1870765"/>
                  <a:pt x="0" y="1843966"/>
                </a:cubicBezTo>
                <a:lnTo>
                  <a:pt x="0" y="48523"/>
                </a:lnTo>
                <a:cubicBezTo>
                  <a:pt x="0" y="21725"/>
                  <a:pt x="21725" y="0"/>
                  <a:pt x="485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34113" y="3263331"/>
            <a:ext cx="413678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三种级别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4113" y="3797110"/>
            <a:ext cx="97051" cy="97051"/>
          </a:xfrm>
          <a:custGeom>
            <a:avLst/>
            <a:gdLst/>
            <a:ahLst/>
            <a:cxnLst/>
            <a:rect l="l" t="t" r="r" b="b"/>
            <a:pathLst>
              <a:path w="97051" h="97051">
                <a:moveTo>
                  <a:pt x="48525" y="0"/>
                </a:moveTo>
                <a:lnTo>
                  <a:pt x="48525" y="0"/>
                </a:lnTo>
                <a:cubicBezTo>
                  <a:pt x="75325" y="0"/>
                  <a:pt x="97051" y="21726"/>
                  <a:pt x="97051" y="48525"/>
                </a:cubicBezTo>
                <a:lnTo>
                  <a:pt x="97051" y="48525"/>
                </a:lnTo>
                <a:cubicBezTo>
                  <a:pt x="97051" y="75325"/>
                  <a:pt x="75325" y="97051"/>
                  <a:pt x="48525" y="97051"/>
                </a:cubicBezTo>
                <a:lnTo>
                  <a:pt x="48525" y="97051"/>
                </a:lnTo>
                <a:cubicBezTo>
                  <a:pt x="21726" y="97051"/>
                  <a:pt x="0" y="75325"/>
                  <a:pt x="0" y="48525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28215" y="3700060"/>
            <a:ext cx="143149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ROW:</a:t>
            </a:r>
            <a:r>
              <a:rPr lang="en-US" sz="152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判断行键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4113" y="4185313"/>
            <a:ext cx="97051" cy="97051"/>
          </a:xfrm>
          <a:custGeom>
            <a:avLst/>
            <a:gdLst/>
            <a:ahLst/>
            <a:cxnLst/>
            <a:rect l="l" t="t" r="r" b="b"/>
            <a:pathLst>
              <a:path w="97051" h="97051">
                <a:moveTo>
                  <a:pt x="48525" y="0"/>
                </a:moveTo>
                <a:lnTo>
                  <a:pt x="48525" y="0"/>
                </a:lnTo>
                <a:cubicBezTo>
                  <a:pt x="75325" y="0"/>
                  <a:pt x="97051" y="21726"/>
                  <a:pt x="97051" y="48525"/>
                </a:cubicBezTo>
                <a:lnTo>
                  <a:pt x="97051" y="48525"/>
                </a:lnTo>
                <a:cubicBezTo>
                  <a:pt x="97051" y="75325"/>
                  <a:pt x="75325" y="97051"/>
                  <a:pt x="48525" y="97051"/>
                </a:cubicBezTo>
                <a:lnTo>
                  <a:pt x="48525" y="97051"/>
                </a:lnTo>
                <a:cubicBezTo>
                  <a:pt x="21726" y="97051"/>
                  <a:pt x="0" y="75325"/>
                  <a:pt x="0" y="48525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28215" y="4088263"/>
            <a:ext cx="183183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ROWCOL:</a:t>
            </a:r>
            <a:r>
              <a:rPr lang="en-US" sz="1528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判断行列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4113" y="4573516"/>
            <a:ext cx="97051" cy="97051"/>
          </a:xfrm>
          <a:custGeom>
            <a:avLst/>
            <a:gdLst/>
            <a:ahLst/>
            <a:cxnLst/>
            <a:rect l="l" t="t" r="r" b="b"/>
            <a:pathLst>
              <a:path w="97051" h="97051">
                <a:moveTo>
                  <a:pt x="48525" y="0"/>
                </a:moveTo>
                <a:lnTo>
                  <a:pt x="48525" y="0"/>
                </a:lnTo>
                <a:cubicBezTo>
                  <a:pt x="75325" y="0"/>
                  <a:pt x="97051" y="21726"/>
                  <a:pt x="97051" y="48525"/>
                </a:cubicBezTo>
                <a:lnTo>
                  <a:pt x="97051" y="48525"/>
                </a:lnTo>
                <a:cubicBezTo>
                  <a:pt x="97051" y="75325"/>
                  <a:pt x="75325" y="97051"/>
                  <a:pt x="48525" y="97051"/>
                </a:cubicBezTo>
                <a:lnTo>
                  <a:pt x="48525" y="97051"/>
                </a:lnTo>
                <a:cubicBezTo>
                  <a:pt x="21726" y="97051"/>
                  <a:pt x="0" y="75325"/>
                  <a:pt x="0" y="48525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6B72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28215" y="4476466"/>
            <a:ext cx="133444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NONE:</a:t>
            </a:r>
            <a:r>
              <a:rPr lang="en-US" sz="152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不启用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012" y="5155821"/>
            <a:ext cx="4427940" cy="1746913"/>
          </a:xfrm>
          <a:custGeom>
            <a:avLst/>
            <a:gdLst/>
            <a:ahLst/>
            <a:cxnLst/>
            <a:rect l="l" t="t" r="r" b="b"/>
            <a:pathLst>
              <a:path w="4427940" h="1746913">
                <a:moveTo>
                  <a:pt x="48529" y="0"/>
                </a:moveTo>
                <a:lnTo>
                  <a:pt x="4379411" y="0"/>
                </a:lnTo>
                <a:cubicBezTo>
                  <a:pt x="4406213" y="0"/>
                  <a:pt x="4427940" y="21727"/>
                  <a:pt x="4427940" y="48529"/>
                </a:cubicBezTo>
                <a:lnTo>
                  <a:pt x="4427940" y="1698384"/>
                </a:lnTo>
                <a:cubicBezTo>
                  <a:pt x="4427940" y="1725186"/>
                  <a:pt x="4406213" y="1746913"/>
                  <a:pt x="4379411" y="1746913"/>
                </a:cubicBezTo>
                <a:lnTo>
                  <a:pt x="48529" y="1746913"/>
                </a:lnTo>
                <a:cubicBezTo>
                  <a:pt x="21727" y="1746913"/>
                  <a:pt x="0" y="1725186"/>
                  <a:pt x="0" y="1698384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34113" y="5349922"/>
            <a:ext cx="413678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4113" y="5738125"/>
            <a:ext cx="4124657" cy="97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 NAME =&gt; 'cf', BLOOMFILTER =&gt; 'ROW' 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128" y="1801504"/>
            <a:ext cx="4925325" cy="6071737"/>
          </a:xfrm>
          <a:custGeom>
            <a:avLst/>
            <a:gdLst/>
            <a:ahLst/>
            <a:cxnLst/>
            <a:rect l="l" t="t" r="r" b="b"/>
            <a:pathLst>
              <a:path w="4925325" h="6320430">
                <a:moveTo>
                  <a:pt x="97029" y="0"/>
                </a:moveTo>
                <a:lnTo>
                  <a:pt x="4828296" y="0"/>
                </a:lnTo>
                <a:cubicBezTo>
                  <a:pt x="4881884" y="0"/>
                  <a:pt x="4925325" y="43441"/>
                  <a:pt x="4925325" y="97029"/>
                </a:cubicBezTo>
                <a:lnTo>
                  <a:pt x="4925325" y="6223401"/>
                </a:lnTo>
                <a:cubicBezTo>
                  <a:pt x="4925325" y="6276989"/>
                  <a:pt x="4881884" y="6320430"/>
                  <a:pt x="4828296" y="6320430"/>
                </a:cubicBezTo>
                <a:lnTo>
                  <a:pt x="97029" y="6320430"/>
                </a:lnTo>
                <a:cubicBezTo>
                  <a:pt x="43441" y="6320430"/>
                  <a:pt x="0" y="6276989"/>
                  <a:pt x="0" y="6223401"/>
                </a:cubicBezTo>
                <a:lnTo>
                  <a:pt x="0" y="97029"/>
                </a:lnTo>
                <a:cubicBezTo>
                  <a:pt x="0" y="43477"/>
                  <a:pt x="43477" y="0"/>
                  <a:pt x="9702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948149" y="2098722"/>
            <a:ext cx="242627" cy="242627"/>
          </a:xfrm>
          <a:custGeom>
            <a:avLst/>
            <a:gdLst/>
            <a:ahLst/>
            <a:cxnLst/>
            <a:rect l="l" t="t" r="r" b="b"/>
            <a:pathLst>
              <a:path w="242627" h="242627">
                <a:moveTo>
                  <a:pt x="208271" y="3317"/>
                </a:moveTo>
                <a:cubicBezTo>
                  <a:pt x="212725" y="-1137"/>
                  <a:pt x="219928" y="-1137"/>
                  <a:pt x="224335" y="3317"/>
                </a:cubicBezTo>
                <a:lnTo>
                  <a:pt x="239499" y="18481"/>
                </a:lnTo>
                <a:cubicBezTo>
                  <a:pt x="243954" y="22936"/>
                  <a:pt x="243954" y="30139"/>
                  <a:pt x="239499" y="34546"/>
                </a:cubicBezTo>
                <a:lnTo>
                  <a:pt x="198272" y="75774"/>
                </a:lnTo>
                <a:lnTo>
                  <a:pt x="216753" y="94255"/>
                </a:lnTo>
                <a:cubicBezTo>
                  <a:pt x="220023" y="97525"/>
                  <a:pt x="220971" y="102406"/>
                  <a:pt x="219217" y="106671"/>
                </a:cubicBezTo>
                <a:cubicBezTo>
                  <a:pt x="217464" y="110935"/>
                  <a:pt x="213341" y="113731"/>
                  <a:pt x="208744" y="113731"/>
                </a:cubicBezTo>
                <a:lnTo>
                  <a:pt x="140506" y="113731"/>
                </a:lnTo>
                <a:cubicBezTo>
                  <a:pt x="134203" y="113731"/>
                  <a:pt x="129132" y="108661"/>
                  <a:pt x="129132" y="102358"/>
                </a:cubicBezTo>
                <a:lnTo>
                  <a:pt x="129132" y="34119"/>
                </a:lnTo>
                <a:cubicBezTo>
                  <a:pt x="129132" y="29523"/>
                  <a:pt x="131881" y="25353"/>
                  <a:pt x="136146" y="23599"/>
                </a:cubicBezTo>
                <a:cubicBezTo>
                  <a:pt x="140411" y="21846"/>
                  <a:pt x="145292" y="22794"/>
                  <a:pt x="148562" y="26063"/>
                </a:cubicBezTo>
                <a:lnTo>
                  <a:pt x="167043" y="44545"/>
                </a:lnTo>
                <a:lnTo>
                  <a:pt x="208271" y="3317"/>
                </a:lnTo>
                <a:close/>
                <a:moveTo>
                  <a:pt x="34356" y="128896"/>
                </a:moveTo>
                <a:lnTo>
                  <a:pt x="102595" y="128896"/>
                </a:lnTo>
                <a:cubicBezTo>
                  <a:pt x="108898" y="128896"/>
                  <a:pt x="113968" y="133966"/>
                  <a:pt x="113968" y="140269"/>
                </a:cubicBezTo>
                <a:lnTo>
                  <a:pt x="113968" y="208507"/>
                </a:lnTo>
                <a:cubicBezTo>
                  <a:pt x="113968" y="213104"/>
                  <a:pt x="111220" y="217274"/>
                  <a:pt x="106955" y="219028"/>
                </a:cubicBezTo>
                <a:cubicBezTo>
                  <a:pt x="102690" y="220781"/>
                  <a:pt x="97809" y="219833"/>
                  <a:pt x="94539" y="216563"/>
                </a:cubicBezTo>
                <a:lnTo>
                  <a:pt x="76058" y="198082"/>
                </a:lnTo>
                <a:lnTo>
                  <a:pt x="34830" y="239310"/>
                </a:lnTo>
                <a:cubicBezTo>
                  <a:pt x="30376" y="243764"/>
                  <a:pt x="23173" y="243764"/>
                  <a:pt x="18766" y="239310"/>
                </a:cubicBezTo>
                <a:lnTo>
                  <a:pt x="3601" y="224146"/>
                </a:lnTo>
                <a:cubicBezTo>
                  <a:pt x="-853" y="219691"/>
                  <a:pt x="-853" y="212488"/>
                  <a:pt x="3601" y="208081"/>
                </a:cubicBezTo>
                <a:lnTo>
                  <a:pt x="44829" y="166853"/>
                </a:lnTo>
                <a:lnTo>
                  <a:pt x="26348" y="148372"/>
                </a:lnTo>
                <a:cubicBezTo>
                  <a:pt x="23078" y="145102"/>
                  <a:pt x="22130" y="140221"/>
                  <a:pt x="23884" y="135956"/>
                </a:cubicBezTo>
                <a:cubicBezTo>
                  <a:pt x="25637" y="131691"/>
                  <a:pt x="29760" y="128896"/>
                  <a:pt x="34356" y="12889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18155" y="2050197"/>
            <a:ext cx="1091821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压缩算法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7821" y="2583976"/>
            <a:ext cx="4524991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减少存储空间和I/O开销,平衡压缩比和速度。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17821" y="3069230"/>
            <a:ext cx="4427940" cy="873457"/>
          </a:xfrm>
          <a:custGeom>
            <a:avLst/>
            <a:gdLst/>
            <a:ahLst/>
            <a:cxnLst/>
            <a:rect l="l" t="t" r="r" b="b"/>
            <a:pathLst>
              <a:path w="4427940" h="873457">
                <a:moveTo>
                  <a:pt x="48529" y="0"/>
                </a:moveTo>
                <a:lnTo>
                  <a:pt x="4379411" y="0"/>
                </a:lnTo>
                <a:cubicBezTo>
                  <a:pt x="4406213" y="0"/>
                  <a:pt x="4427940" y="21727"/>
                  <a:pt x="4427940" y="48529"/>
                </a:cubicBezTo>
                <a:lnTo>
                  <a:pt x="4427940" y="824927"/>
                </a:lnTo>
                <a:cubicBezTo>
                  <a:pt x="4427940" y="851729"/>
                  <a:pt x="4406213" y="873457"/>
                  <a:pt x="4379411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63397" y="3214806"/>
            <a:ext cx="423383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63397" y="3554484"/>
            <a:ext cx="422170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快速压缩,通用场景首选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17821" y="4088263"/>
            <a:ext cx="4427940" cy="873457"/>
          </a:xfrm>
          <a:custGeom>
            <a:avLst/>
            <a:gdLst/>
            <a:ahLst/>
            <a:cxnLst/>
            <a:rect l="l" t="t" r="r" b="b"/>
            <a:pathLst>
              <a:path w="4427940" h="873457">
                <a:moveTo>
                  <a:pt x="48529" y="0"/>
                </a:moveTo>
                <a:lnTo>
                  <a:pt x="4379411" y="0"/>
                </a:lnTo>
                <a:cubicBezTo>
                  <a:pt x="4406213" y="0"/>
                  <a:pt x="4427940" y="21727"/>
                  <a:pt x="4427940" y="48529"/>
                </a:cubicBezTo>
                <a:lnTo>
                  <a:pt x="4427940" y="824927"/>
                </a:lnTo>
                <a:cubicBezTo>
                  <a:pt x="4427940" y="851729"/>
                  <a:pt x="4406213" y="873457"/>
                  <a:pt x="4379411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063397" y="4233839"/>
            <a:ext cx="423383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GZ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63397" y="4573516"/>
            <a:ext cx="422170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高压缩比,CPU开销大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17821" y="5107296"/>
            <a:ext cx="4427940" cy="873457"/>
          </a:xfrm>
          <a:custGeom>
            <a:avLst/>
            <a:gdLst/>
            <a:ahLst/>
            <a:cxnLst/>
            <a:rect l="l" t="t" r="r" b="b"/>
            <a:pathLst>
              <a:path w="4427940" h="873457">
                <a:moveTo>
                  <a:pt x="48529" y="0"/>
                </a:moveTo>
                <a:lnTo>
                  <a:pt x="4379411" y="0"/>
                </a:lnTo>
                <a:cubicBezTo>
                  <a:pt x="4406213" y="0"/>
                  <a:pt x="4427940" y="21727"/>
                  <a:pt x="4427940" y="48529"/>
                </a:cubicBezTo>
                <a:lnTo>
                  <a:pt x="4427940" y="824927"/>
                </a:lnTo>
                <a:cubicBezTo>
                  <a:pt x="4427940" y="851729"/>
                  <a:pt x="4406213" y="873457"/>
                  <a:pt x="4379411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63397" y="5252872"/>
            <a:ext cx="423383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LZ4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63397" y="5592549"/>
            <a:ext cx="422170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超高速压缩,低延迟场景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17821" y="6126328"/>
            <a:ext cx="4427940" cy="1746913"/>
          </a:xfrm>
          <a:custGeom>
            <a:avLst/>
            <a:gdLst/>
            <a:ahLst/>
            <a:cxnLst/>
            <a:rect l="l" t="t" r="r" b="b"/>
            <a:pathLst>
              <a:path w="4427940" h="1746913">
                <a:moveTo>
                  <a:pt x="48529" y="0"/>
                </a:moveTo>
                <a:lnTo>
                  <a:pt x="4379411" y="0"/>
                </a:lnTo>
                <a:cubicBezTo>
                  <a:pt x="4406213" y="0"/>
                  <a:pt x="4427940" y="21727"/>
                  <a:pt x="4427940" y="48529"/>
                </a:cubicBezTo>
                <a:lnTo>
                  <a:pt x="4427940" y="1698384"/>
                </a:lnTo>
                <a:cubicBezTo>
                  <a:pt x="4427940" y="1725186"/>
                  <a:pt x="4406213" y="1746913"/>
                  <a:pt x="4379411" y="1746913"/>
                </a:cubicBezTo>
                <a:lnTo>
                  <a:pt x="48529" y="1746913"/>
                </a:lnTo>
                <a:cubicBezTo>
                  <a:pt x="21727" y="1746913"/>
                  <a:pt x="0" y="1725186"/>
                  <a:pt x="0" y="1698384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11922" y="6320430"/>
            <a:ext cx="413678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11922" y="6708633"/>
            <a:ext cx="4124657" cy="97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 NAME =&gt; 'cf', COMPRESSION =&gt; 'SNAPPY' }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46937" y="1801503"/>
            <a:ext cx="4925325" cy="6071737"/>
          </a:xfrm>
          <a:custGeom>
            <a:avLst/>
            <a:gdLst/>
            <a:ahLst/>
            <a:cxnLst/>
            <a:rect l="l" t="t" r="r" b="b"/>
            <a:pathLst>
              <a:path w="4925325" h="6320430">
                <a:moveTo>
                  <a:pt x="97029" y="0"/>
                </a:moveTo>
                <a:lnTo>
                  <a:pt x="4828296" y="0"/>
                </a:lnTo>
                <a:cubicBezTo>
                  <a:pt x="4881884" y="0"/>
                  <a:pt x="4925325" y="43441"/>
                  <a:pt x="4925325" y="97029"/>
                </a:cubicBezTo>
                <a:lnTo>
                  <a:pt x="4925325" y="6223401"/>
                </a:lnTo>
                <a:cubicBezTo>
                  <a:pt x="4925325" y="6276989"/>
                  <a:pt x="4881884" y="6320430"/>
                  <a:pt x="4828296" y="6320430"/>
                </a:cubicBezTo>
                <a:lnTo>
                  <a:pt x="97029" y="6320430"/>
                </a:lnTo>
                <a:cubicBezTo>
                  <a:pt x="43441" y="6320430"/>
                  <a:pt x="0" y="6276989"/>
                  <a:pt x="0" y="6223401"/>
                </a:cubicBezTo>
                <a:lnTo>
                  <a:pt x="0" y="97029"/>
                </a:lnTo>
                <a:cubicBezTo>
                  <a:pt x="0" y="43477"/>
                  <a:pt x="43477" y="0"/>
                  <a:pt x="9702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125958" y="2098722"/>
            <a:ext cx="242627" cy="242627"/>
          </a:xfrm>
          <a:custGeom>
            <a:avLst/>
            <a:gdLst/>
            <a:ahLst/>
            <a:cxnLst/>
            <a:rect l="l" t="t" r="r" b="b"/>
            <a:pathLst>
              <a:path w="242627" h="242627">
                <a:moveTo>
                  <a:pt x="134582" y="-616"/>
                </a:moveTo>
                <a:cubicBezTo>
                  <a:pt x="126384" y="-5355"/>
                  <a:pt x="116243" y="-5355"/>
                  <a:pt x="108045" y="-616"/>
                </a:cubicBezTo>
                <a:lnTo>
                  <a:pt x="68144" y="22415"/>
                </a:lnTo>
                <a:cubicBezTo>
                  <a:pt x="59946" y="27153"/>
                  <a:pt x="54875" y="35920"/>
                  <a:pt x="54875" y="45398"/>
                </a:cubicBezTo>
                <a:lnTo>
                  <a:pt x="54875" y="93686"/>
                </a:lnTo>
                <a:lnTo>
                  <a:pt x="13032" y="117854"/>
                </a:lnTo>
                <a:cubicBezTo>
                  <a:pt x="4834" y="122593"/>
                  <a:pt x="-237" y="131360"/>
                  <a:pt x="-237" y="140837"/>
                </a:cubicBezTo>
                <a:lnTo>
                  <a:pt x="-237" y="186946"/>
                </a:lnTo>
                <a:cubicBezTo>
                  <a:pt x="-237" y="196424"/>
                  <a:pt x="4834" y="205190"/>
                  <a:pt x="13032" y="209929"/>
                </a:cubicBezTo>
                <a:lnTo>
                  <a:pt x="52980" y="232960"/>
                </a:lnTo>
                <a:cubicBezTo>
                  <a:pt x="61178" y="237699"/>
                  <a:pt x="71319" y="237699"/>
                  <a:pt x="79517" y="232960"/>
                </a:cubicBezTo>
                <a:lnTo>
                  <a:pt x="121361" y="208792"/>
                </a:lnTo>
                <a:lnTo>
                  <a:pt x="163204" y="232960"/>
                </a:lnTo>
                <a:cubicBezTo>
                  <a:pt x="171403" y="237699"/>
                  <a:pt x="181544" y="237699"/>
                  <a:pt x="189742" y="232960"/>
                </a:cubicBezTo>
                <a:lnTo>
                  <a:pt x="229595" y="209929"/>
                </a:lnTo>
                <a:cubicBezTo>
                  <a:pt x="237793" y="205190"/>
                  <a:pt x="242864" y="196424"/>
                  <a:pt x="242864" y="186946"/>
                </a:cubicBezTo>
                <a:lnTo>
                  <a:pt x="242864" y="140837"/>
                </a:lnTo>
                <a:cubicBezTo>
                  <a:pt x="242864" y="131360"/>
                  <a:pt x="237793" y="122593"/>
                  <a:pt x="229595" y="117854"/>
                </a:cubicBezTo>
                <a:lnTo>
                  <a:pt x="187751" y="93686"/>
                </a:lnTo>
                <a:lnTo>
                  <a:pt x="187751" y="45398"/>
                </a:lnTo>
                <a:cubicBezTo>
                  <a:pt x="187751" y="35920"/>
                  <a:pt x="182681" y="27153"/>
                  <a:pt x="174483" y="22415"/>
                </a:cubicBezTo>
                <a:lnTo>
                  <a:pt x="134582" y="-616"/>
                </a:lnTo>
                <a:close/>
                <a:moveTo>
                  <a:pt x="109940" y="138657"/>
                </a:moveTo>
                <a:lnTo>
                  <a:pt x="109940" y="189126"/>
                </a:lnTo>
                <a:lnTo>
                  <a:pt x="68097" y="213294"/>
                </a:lnTo>
                <a:cubicBezTo>
                  <a:pt x="67528" y="213625"/>
                  <a:pt x="66865" y="213815"/>
                  <a:pt x="66201" y="213815"/>
                </a:cubicBezTo>
                <a:lnTo>
                  <a:pt x="66201" y="163915"/>
                </a:lnTo>
                <a:lnTo>
                  <a:pt x="109940" y="138657"/>
                </a:lnTo>
                <a:close/>
                <a:moveTo>
                  <a:pt x="219596" y="138942"/>
                </a:moveTo>
                <a:cubicBezTo>
                  <a:pt x="219928" y="139510"/>
                  <a:pt x="220118" y="140174"/>
                  <a:pt x="220118" y="140837"/>
                </a:cubicBezTo>
                <a:lnTo>
                  <a:pt x="220118" y="186946"/>
                </a:lnTo>
                <a:cubicBezTo>
                  <a:pt x="220118" y="188320"/>
                  <a:pt x="219407" y="189552"/>
                  <a:pt x="218222" y="190216"/>
                </a:cubicBezTo>
                <a:lnTo>
                  <a:pt x="178274" y="213246"/>
                </a:lnTo>
                <a:cubicBezTo>
                  <a:pt x="177705" y="213578"/>
                  <a:pt x="177042" y="213768"/>
                  <a:pt x="176378" y="213768"/>
                </a:cubicBezTo>
                <a:lnTo>
                  <a:pt x="176378" y="163868"/>
                </a:lnTo>
                <a:lnTo>
                  <a:pt x="219596" y="138942"/>
                </a:lnTo>
                <a:close/>
                <a:moveTo>
                  <a:pt x="165053" y="45398"/>
                </a:moveTo>
                <a:lnTo>
                  <a:pt x="165053" y="93686"/>
                </a:lnTo>
                <a:lnTo>
                  <a:pt x="121313" y="118944"/>
                </a:lnTo>
                <a:lnTo>
                  <a:pt x="121313" y="68476"/>
                </a:lnTo>
                <a:lnTo>
                  <a:pt x="164531" y="43550"/>
                </a:lnTo>
                <a:cubicBezTo>
                  <a:pt x="164863" y="44118"/>
                  <a:pt x="165053" y="44782"/>
                  <a:pt x="165053" y="4544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495964" y="2050197"/>
            <a:ext cx="1188872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BlockSize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095630" y="2583976"/>
            <a:ext cx="4524991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HFile数据块大小影响扫描性能和压缩效率。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95630" y="3069230"/>
            <a:ext cx="4427940" cy="2038066"/>
          </a:xfrm>
          <a:custGeom>
            <a:avLst/>
            <a:gdLst/>
            <a:ahLst/>
            <a:cxnLst/>
            <a:rect l="l" t="t" r="r" b="b"/>
            <a:pathLst>
              <a:path w="4427940" h="2038066">
                <a:moveTo>
                  <a:pt x="48526" y="0"/>
                </a:moveTo>
                <a:lnTo>
                  <a:pt x="4379414" y="0"/>
                </a:lnTo>
                <a:cubicBezTo>
                  <a:pt x="4406214" y="0"/>
                  <a:pt x="4427940" y="21726"/>
                  <a:pt x="4427940" y="48526"/>
                </a:cubicBezTo>
                <a:lnTo>
                  <a:pt x="4427940" y="1989539"/>
                </a:lnTo>
                <a:cubicBezTo>
                  <a:pt x="4427940" y="2016340"/>
                  <a:pt x="4406214" y="2038066"/>
                  <a:pt x="4379414" y="2038066"/>
                </a:cubicBezTo>
                <a:lnTo>
                  <a:pt x="48526" y="2038066"/>
                </a:lnTo>
                <a:cubicBezTo>
                  <a:pt x="21726" y="2038066"/>
                  <a:pt x="0" y="2016340"/>
                  <a:pt x="0" y="1989539"/>
                </a:cubicBezTo>
                <a:lnTo>
                  <a:pt x="0" y="48526"/>
                </a:lnTo>
                <a:cubicBezTo>
                  <a:pt x="0" y="21744"/>
                  <a:pt x="21744" y="0"/>
                  <a:pt x="485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289731" y="3263331"/>
            <a:ext cx="413678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块大小选择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289731" y="3700060"/>
            <a:ext cx="412465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64KB (65536)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89731" y="3991212"/>
            <a:ext cx="412465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适合随机读取,提高缓存命中率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89731" y="4379415"/>
            <a:ext cx="412465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256KB (262144)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89731" y="4670567"/>
            <a:ext cx="4124657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适合顺序扫描,提高压缩比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095630" y="5301397"/>
            <a:ext cx="4427940" cy="1989540"/>
          </a:xfrm>
          <a:custGeom>
            <a:avLst/>
            <a:gdLst/>
            <a:ahLst/>
            <a:cxnLst/>
            <a:rect l="l" t="t" r="r" b="b"/>
            <a:pathLst>
              <a:path w="4427940" h="1989540">
                <a:moveTo>
                  <a:pt x="48525" y="0"/>
                </a:moveTo>
                <a:lnTo>
                  <a:pt x="4379415" y="0"/>
                </a:lnTo>
                <a:cubicBezTo>
                  <a:pt x="4406215" y="0"/>
                  <a:pt x="4427940" y="21725"/>
                  <a:pt x="4427940" y="48525"/>
                </a:cubicBezTo>
                <a:lnTo>
                  <a:pt x="4427940" y="1941015"/>
                </a:lnTo>
                <a:cubicBezTo>
                  <a:pt x="4427940" y="1967815"/>
                  <a:pt x="4406215" y="1989540"/>
                  <a:pt x="4379415" y="1989540"/>
                </a:cubicBezTo>
                <a:lnTo>
                  <a:pt x="48525" y="1989540"/>
                </a:lnTo>
                <a:cubicBezTo>
                  <a:pt x="21725" y="1989540"/>
                  <a:pt x="0" y="1967815"/>
                  <a:pt x="0" y="1941015"/>
                </a:cubicBezTo>
                <a:lnTo>
                  <a:pt x="0" y="48525"/>
                </a:lnTo>
                <a:cubicBezTo>
                  <a:pt x="0" y="21725"/>
                  <a:pt x="21725" y="0"/>
                  <a:pt x="485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289731" y="5495499"/>
            <a:ext cx="413678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89731" y="5883701"/>
            <a:ext cx="4124657" cy="1213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{NAME =&gt; 'random_cf', BLOCKSIZE =&gt; '65536'}, {NAME =&gt; 'scan_cf', BLOCKSIZE =&gt; '262144'}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09516" y="8110955"/>
            <a:ext cx="48525" cy="824931"/>
          </a:xfrm>
          <a:custGeom>
            <a:avLst/>
            <a:gdLst/>
            <a:ahLst/>
            <a:cxnLst/>
            <a:rect l="l" t="t" r="r" b="b"/>
            <a:pathLst>
              <a:path w="48525" h="824931">
                <a:moveTo>
                  <a:pt x="0" y="0"/>
                </a:moveTo>
                <a:lnTo>
                  <a:pt x="48525" y="0"/>
                </a:lnTo>
                <a:lnTo>
                  <a:pt x="48525" y="824931"/>
                </a:lnTo>
                <a:lnTo>
                  <a:pt x="0" y="824931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27881" y="8208006"/>
            <a:ext cx="481614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适用场景: BloomFilter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7881" y="8596209"/>
            <a:ext cx="4804012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读多写少、随机读取、大表查询、内存充足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671119" y="8110955"/>
            <a:ext cx="48525" cy="824931"/>
          </a:xfrm>
          <a:custGeom>
            <a:avLst/>
            <a:gdLst/>
            <a:ahLst/>
            <a:cxnLst/>
            <a:rect l="l" t="t" r="r" b="b"/>
            <a:pathLst>
              <a:path w="48525" h="824931">
                <a:moveTo>
                  <a:pt x="0" y="0"/>
                </a:moveTo>
                <a:lnTo>
                  <a:pt x="48525" y="0"/>
                </a:lnTo>
                <a:lnTo>
                  <a:pt x="48525" y="824931"/>
                </a:lnTo>
                <a:lnTo>
                  <a:pt x="0" y="824931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889483" y="8208006"/>
            <a:ext cx="481614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压缩选择建议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89483" y="8596209"/>
            <a:ext cx="4804012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SNAPPY适合通用场景,LZ4适合低延迟,GZ适合归档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832721" y="8110955"/>
            <a:ext cx="48525" cy="824931"/>
          </a:xfrm>
          <a:custGeom>
            <a:avLst/>
            <a:gdLst/>
            <a:ahLst/>
            <a:cxnLst/>
            <a:rect l="l" t="t" r="r" b="b"/>
            <a:pathLst>
              <a:path w="48525" h="824931">
                <a:moveTo>
                  <a:pt x="0" y="0"/>
                </a:moveTo>
                <a:lnTo>
                  <a:pt x="48525" y="0"/>
                </a:lnTo>
                <a:lnTo>
                  <a:pt x="48525" y="824931"/>
                </a:lnTo>
                <a:lnTo>
                  <a:pt x="0" y="824931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051085" y="8208006"/>
            <a:ext cx="481614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BlockSize优化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051085" y="8596209"/>
            <a:ext cx="4804012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随机读取选64KB,顺序扫描选256KB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143000" cy="423333"/>
          </a:xfrm>
          <a:custGeom>
            <a:avLst/>
            <a:gdLst/>
            <a:ahLst/>
            <a:cxnLst/>
            <a:rect l="l" t="t" r="r" b="b"/>
            <a:pathLst>
              <a:path w="1143000" h="423333">
                <a:moveTo>
                  <a:pt x="0" y="0"/>
                </a:moveTo>
                <a:lnTo>
                  <a:pt x="1143000" y="0"/>
                </a:lnTo>
                <a:lnTo>
                  <a:pt x="114300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87122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API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Java API核心操作实践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6"/>
            <a:ext cx="7588250" cy="4178010"/>
          </a:xfrm>
          <a:custGeom>
            <a:avLst/>
            <a:gdLst/>
            <a:ahLst/>
            <a:cxnLst/>
            <a:rect l="l" t="t" r="r" b="b"/>
            <a:pathLst>
              <a:path w="7588250" h="9662583">
                <a:moveTo>
                  <a:pt x="84685" y="0"/>
                </a:moveTo>
                <a:lnTo>
                  <a:pt x="7503565" y="0"/>
                </a:lnTo>
                <a:cubicBezTo>
                  <a:pt x="7550335" y="0"/>
                  <a:pt x="7588250" y="37915"/>
                  <a:pt x="7588250" y="84685"/>
                </a:cubicBezTo>
                <a:lnTo>
                  <a:pt x="7588250" y="9577898"/>
                </a:lnTo>
                <a:cubicBezTo>
                  <a:pt x="7588250" y="9624669"/>
                  <a:pt x="7550335" y="9662583"/>
                  <a:pt x="7503565" y="9662583"/>
                </a:cubicBezTo>
                <a:lnTo>
                  <a:pt x="84685" y="9662583"/>
                </a:lnTo>
                <a:cubicBezTo>
                  <a:pt x="37915" y="9662583"/>
                  <a:pt x="0" y="9624669"/>
                  <a:pt x="0" y="9577898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连接管理配置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583" y="2084916"/>
            <a:ext cx="7228417" cy="3540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创建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HBase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配置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public static Configuration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createConfig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Configuration config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HBaseConfiguration.create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config.set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hbase.zookeeper.quorum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", "zk1,zk2,zk3");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config.set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hbase.zookeeper.property.clientPort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", "2181");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config.set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hbase.client.retries.number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", "3");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return config;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}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获取连接（使用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try-with-resources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确保资源释放）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public void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executeWithConnection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try (Connection connection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ConnectionFactory.createConnection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createConfig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()))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使用连接执行操作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Table table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connection.getTable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TableName.valueOf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user_profile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"));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...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操作逻辑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 catch 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IOException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e)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throw new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RuntimeException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("HBase connection failed", e);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}</a:t>
            </a:r>
          </a:p>
        </p:txBody>
      </p:sp>
      <p:sp>
        <p:nvSpPr>
          <p:cNvPr id="12" name="Shape 10"/>
          <p:cNvSpPr/>
          <p:nvPr/>
        </p:nvSpPr>
        <p:spPr>
          <a:xfrm>
            <a:off x="8239125" y="1571625"/>
            <a:ext cx="7588250" cy="5951393"/>
          </a:xfrm>
          <a:custGeom>
            <a:avLst/>
            <a:gdLst/>
            <a:ahLst/>
            <a:cxnLst/>
            <a:rect l="l" t="t" r="r" b="b"/>
            <a:pathLst>
              <a:path w="7588250" h="10593917">
                <a:moveTo>
                  <a:pt x="84685" y="0"/>
                </a:moveTo>
                <a:lnTo>
                  <a:pt x="7503565" y="0"/>
                </a:lnTo>
                <a:cubicBezTo>
                  <a:pt x="7550335" y="0"/>
                  <a:pt x="7588250" y="37915"/>
                  <a:pt x="7588250" y="84685"/>
                </a:cubicBezTo>
                <a:lnTo>
                  <a:pt x="7588250" y="10509232"/>
                </a:lnTo>
                <a:cubicBezTo>
                  <a:pt x="7588250" y="10556002"/>
                  <a:pt x="7550335" y="10593917"/>
                  <a:pt x="7503565" y="10593917"/>
                </a:cubicBezTo>
                <a:lnTo>
                  <a:pt x="84685" y="10593917"/>
                </a:lnTo>
                <a:cubicBezTo>
                  <a:pt x="37915" y="10593917"/>
                  <a:pt x="0" y="10556002"/>
                  <a:pt x="0" y="10509232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560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Put/Get操作示例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6083" y="2254250"/>
            <a:ext cx="7228417" cy="51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//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写入用户数据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-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演示行级原子性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public void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putUserData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(String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userId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, String name, int age,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               String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lastLogin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, int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loginCount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 throws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IOException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{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try (Table table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connection.getTable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TableName.valueOf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user_profile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"))) {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构造 </a:t>
            </a:r>
            <a:r>
              <a:rPr lang="en-US" altLang="zh-CN" sz="1200" i="1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：用户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ID_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时间戳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_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随机后缀（避免热点）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String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userId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+ "_" +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System.currentTimeMillis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() + "_" +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UUID.randomUUID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().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toString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().substring(0, 8);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Put put = new Put(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添加基本信息列族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put.addColumn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("basic"),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("name"),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(name));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put.addColumn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("basic"),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("age"),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(age));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添加行为信息列族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put.addColumn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("behavior"),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last_login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"),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lastLogin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put.addColumn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("behavior"),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login_count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"),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loginCount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原子性写入：同一行的所有列操作具备行级原子性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table.put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(put);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System.out.println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("Successfully put data for user: " +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userId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   }</a:t>
            </a:r>
            <a:endParaRPr 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4500" y="7990598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0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35000" y="8075265"/>
            <a:ext cx="4900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" y="8413932"/>
            <a:ext cx="4889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使用try-with-resources自动释放连接和表资源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37361" y="7990598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0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827861" y="8075265"/>
            <a:ext cx="4900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原子性保证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27861" y="8413932"/>
            <a:ext cx="4889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同一行上的所有操作具备行级原子性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830223" y="7990598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0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020723" y="8075265"/>
            <a:ext cx="4900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批量优化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0723" y="8413932"/>
            <a:ext cx="4889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使用批量操作减少RPC调用次数,提升吞吐量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2645833" cy="423333"/>
          </a:xfrm>
          <a:custGeom>
            <a:avLst/>
            <a:gdLst/>
            <a:ahLst/>
            <a:cxnLst/>
            <a:rect l="l" t="t" r="r" b="b"/>
            <a:pathLst>
              <a:path w="2645833" h="423333">
                <a:moveTo>
                  <a:pt x="0" y="0"/>
                </a:moveTo>
                <a:lnTo>
                  <a:pt x="2645833" y="0"/>
                </a:lnTo>
                <a:lnTo>
                  <a:pt x="26458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236735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&amp; BEST PRACTICES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Shell</a:t>
            </a:r>
            <a:r>
              <a:rPr lang="zh-CN" altLang="en-US" sz="3000" dirty="0">
                <a:solidFill>
                  <a:srgbClr val="E5E7EB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命令与批量操作优化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7588250" cy="4938903"/>
          </a:xfrm>
          <a:custGeom>
            <a:avLst/>
            <a:gdLst/>
            <a:ahLst/>
            <a:cxnLst/>
            <a:rect l="l" t="t" r="r" b="b"/>
            <a:pathLst>
              <a:path w="7588250" h="9239250">
                <a:moveTo>
                  <a:pt x="84685" y="0"/>
                </a:moveTo>
                <a:lnTo>
                  <a:pt x="7503565" y="0"/>
                </a:lnTo>
                <a:cubicBezTo>
                  <a:pt x="7550335" y="0"/>
                  <a:pt x="7588250" y="37915"/>
                  <a:pt x="7588250" y="84685"/>
                </a:cubicBezTo>
                <a:lnTo>
                  <a:pt x="7588250" y="9154565"/>
                </a:lnTo>
                <a:cubicBezTo>
                  <a:pt x="7588250" y="9201335"/>
                  <a:pt x="7550335" y="9239250"/>
                  <a:pt x="7503565" y="9239250"/>
                </a:cubicBezTo>
                <a:lnTo>
                  <a:pt x="84685" y="9239250"/>
                </a:lnTo>
                <a:cubicBezTo>
                  <a:pt x="37915" y="9239250"/>
                  <a:pt x="0" y="9201335"/>
                  <a:pt x="0" y="9154565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表管理操作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583" y="2254251"/>
            <a:ext cx="7228417" cy="4003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1.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创建表 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预分裂 </a:t>
            </a:r>
            <a:r>
              <a:rPr lang="en-US" altLang="zh-CN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避免初始写入热点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user_events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',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{NAME =&gt; 'cf1', VERSIONS =&gt; 3, COMPRESSION =&gt; 'SNAPPY'},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{SPLITS =&gt; ['user0000', 'user3000', 'user6000', 'user9000']}</a:t>
            </a:r>
          </a:p>
          <a:p>
            <a:endParaRPr lang="en-US" sz="1167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2.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修改表属性 </a:t>
            </a:r>
            <a:r>
              <a:rPr lang="en-US" altLang="zh-CN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动态配置更新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user_events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',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{NAME =&gt; 'cf1', BLOOMFILTER =&gt; 'ROWCOL', TTL =&gt; 2592000},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{METHOD =&gt;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table_att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', MAX_FILESIZE =&gt; '10737418240'}  # 10GB per region</a:t>
            </a:r>
          </a:p>
          <a:p>
            <a:endParaRPr lang="en-US" sz="1167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3.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区域管理 </a:t>
            </a:r>
            <a:r>
              <a:rPr lang="en-US" altLang="zh-CN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手动分裂与合并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user_events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', 'user4500'  #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在指定边界分裂</a:t>
            </a:r>
          </a:p>
          <a:p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merge_region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'region1_id', 'region2_id'  #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合并相邻区域</a:t>
            </a:r>
          </a:p>
          <a:p>
            <a:endParaRPr lang="zh-CN" altLang="en-US" sz="1167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4.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压缩操作 </a:t>
            </a:r>
            <a:r>
              <a:rPr lang="en-US" altLang="zh-CN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手动触发 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Compaction</a:t>
            </a:r>
          </a:p>
          <a:p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major_compact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user_events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</a:t>
            </a:r>
          </a:p>
          <a:p>
            <a:endParaRPr lang="en-US" sz="1167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5.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监控与统计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describe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user_events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  #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查看表结构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 'detailed'        #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集群详细状态</a:t>
            </a:r>
          </a:p>
          <a:p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count '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user_events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     # </a:t>
            </a:r>
            <a:r>
              <a:rPr lang="zh-CN" alt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行数统计</a:t>
            </a:r>
          </a:p>
        </p:txBody>
      </p:sp>
      <p:sp>
        <p:nvSpPr>
          <p:cNvPr id="12" name="Shape 10"/>
          <p:cNvSpPr/>
          <p:nvPr/>
        </p:nvSpPr>
        <p:spPr>
          <a:xfrm>
            <a:off x="8239125" y="1571625"/>
            <a:ext cx="7588250" cy="6767703"/>
          </a:xfrm>
          <a:custGeom>
            <a:avLst/>
            <a:gdLst/>
            <a:ahLst/>
            <a:cxnLst/>
            <a:rect l="l" t="t" r="r" b="b"/>
            <a:pathLst>
              <a:path w="7588250" h="11239500">
                <a:moveTo>
                  <a:pt x="84685" y="0"/>
                </a:moveTo>
                <a:lnTo>
                  <a:pt x="7503565" y="0"/>
                </a:lnTo>
                <a:cubicBezTo>
                  <a:pt x="7550335" y="0"/>
                  <a:pt x="7588250" y="37915"/>
                  <a:pt x="7588250" y="84685"/>
                </a:cubicBezTo>
                <a:lnTo>
                  <a:pt x="7588250" y="11154815"/>
                </a:lnTo>
                <a:cubicBezTo>
                  <a:pt x="7588250" y="11201585"/>
                  <a:pt x="7550335" y="11239500"/>
                  <a:pt x="7503565" y="11239500"/>
                </a:cubicBezTo>
                <a:lnTo>
                  <a:pt x="84685" y="11239500"/>
                </a:lnTo>
                <a:cubicBezTo>
                  <a:pt x="37915" y="11239500"/>
                  <a:pt x="0" y="11201585"/>
                  <a:pt x="0" y="11154815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560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批量操作优化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6083" y="2254250"/>
            <a:ext cx="7228417" cy="5916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批量写入示例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减少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RPC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调用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public void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batchPutUsers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(List&lt;User&gt; users) throws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IOException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InterruptedException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{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try (Table table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connection.getTable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TableName.valueOf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user_profile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"))) {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List&lt;Put&gt; puts = new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ArrayList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&lt;&gt;();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for (User user : users)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String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rowKey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=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user.getId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 + "_" +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System.currentTimeMillis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Put put = new Put(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rowKey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));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put.addColumn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("basic"),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("name"),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user.getName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()));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put.addColumn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("basic"),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("email"),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Bytes.toBytes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user.getEmail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()));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puts.add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(put);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分批提交，避免过大批量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if (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puts.size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 &gt;= 1000)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table.put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(puts);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puts.clear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}</a:t>
            </a:r>
          </a:p>
          <a:p>
            <a:endParaRPr lang="en-US" altLang="zh-CN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// </a:t>
            </a:r>
            <a:r>
              <a:rPr lang="zh-CN" altLang="en-US" sz="1200" i="1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提交剩余数据</a:t>
            </a:r>
            <a:endParaRPr lang="zh-CN" altLang="en-US" sz="12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if (!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puts.isEmpty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()) {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    </a:t>
            </a:r>
            <a:r>
              <a:rPr lang="en-US" altLang="zh-CN" sz="1200" dirty="0" err="1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table.put</a:t>
            </a:r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(puts);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}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15" name="Shape 13"/>
          <p:cNvSpPr/>
          <p:nvPr/>
        </p:nvSpPr>
        <p:spPr>
          <a:xfrm>
            <a:off x="423333" y="6616853"/>
            <a:ext cx="7588250" cy="2423583"/>
          </a:xfrm>
          <a:custGeom>
            <a:avLst/>
            <a:gdLst/>
            <a:ahLst/>
            <a:cxnLst/>
            <a:rect l="l" t="t" r="r" b="b"/>
            <a:pathLst>
              <a:path w="7588250" h="2423583">
                <a:moveTo>
                  <a:pt x="84656" y="0"/>
                </a:moveTo>
                <a:lnTo>
                  <a:pt x="7503594" y="0"/>
                </a:lnTo>
                <a:cubicBezTo>
                  <a:pt x="7550348" y="0"/>
                  <a:pt x="7588250" y="37902"/>
                  <a:pt x="7588250" y="84656"/>
                </a:cubicBezTo>
                <a:lnTo>
                  <a:pt x="7588250" y="2338928"/>
                </a:lnTo>
                <a:cubicBezTo>
                  <a:pt x="7588250" y="2385682"/>
                  <a:pt x="7550348" y="2423583"/>
                  <a:pt x="7503594" y="2423583"/>
                </a:cubicBezTo>
                <a:lnTo>
                  <a:pt x="84656" y="2423583"/>
                </a:lnTo>
                <a:cubicBezTo>
                  <a:pt x="37902" y="2423583"/>
                  <a:pt x="0" y="2385682"/>
                  <a:pt x="0" y="2338928"/>
                </a:cubicBezTo>
                <a:lnTo>
                  <a:pt x="0" y="84656"/>
                </a:lnTo>
                <a:cubicBezTo>
                  <a:pt x="0" y="37902"/>
                  <a:pt x="37902" y="0"/>
                  <a:pt x="8465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7958" y="6791478"/>
            <a:ext cx="7344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9708" y="729947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94291" y="7257145"/>
            <a:ext cx="2106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使用批量操作减少RPC调用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9708" y="7638145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94291" y="7595811"/>
            <a:ext cx="2434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合理控制批次大小(1000条左右)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9708" y="7976811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4291" y="7934478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异步操作提升并发处理能力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9708" y="831547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94291" y="8273145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实现重试机制处理临时故障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708" y="8654145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4291" y="8611811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预分裂避免初始写入热点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3619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60400" y="56515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158115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体系架构与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端到端读写路径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427355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08000" y="4857750"/>
            <a:ext cx="92964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深入理解HMaster、RegionServer、ZooKeeper协作机制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掌握写路径(WAL/MemStore/HFile)和读路径(BlockCache/BloomFilter)完整流程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3400" y="695325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63600" y="695325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分布式架构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741045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HMaster + RegionServer + ZooKeeper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57800" y="695325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588000" y="695325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写路径优化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88000" y="741045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 → MemStore → HFile → Compaction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3400" y="802005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3600" y="802005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读路径优化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3600" y="847725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 → BloomFilter → 多版本合并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57800" y="802005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588000" y="802005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一致性保证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88000" y="847725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行级原子性 + MVCC机制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2044700" cy="508000"/>
          </a:xfrm>
          <a:custGeom>
            <a:avLst/>
            <a:gdLst/>
            <a:ahLst/>
            <a:cxnLst/>
            <a:rect l="l" t="t" r="r" b="b"/>
            <a:pathLst>
              <a:path w="2044700" h="508000">
                <a:moveTo>
                  <a:pt x="0" y="0"/>
                </a:moveTo>
                <a:lnTo>
                  <a:pt x="2044700" y="0"/>
                </a:lnTo>
                <a:lnTo>
                  <a:pt x="20447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628650"/>
            <a:ext cx="1715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HBase整体架构:组件职责与协作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230546" y="704850"/>
            <a:ext cx="3644900" cy="1333500"/>
          </a:xfrm>
          <a:custGeom>
            <a:avLst/>
            <a:gdLst/>
            <a:ahLst/>
            <a:cxnLst/>
            <a:rect l="l" t="t" r="r" b="b"/>
            <a:pathLst>
              <a:path w="3644900" h="1333500">
                <a:moveTo>
                  <a:pt x="101599" y="0"/>
                </a:moveTo>
                <a:lnTo>
                  <a:pt x="3543301" y="0"/>
                </a:lnTo>
                <a:cubicBezTo>
                  <a:pt x="3599412" y="0"/>
                  <a:pt x="3644900" y="45488"/>
                  <a:pt x="3644900" y="101599"/>
                </a:cubicBezTo>
                <a:lnTo>
                  <a:pt x="3644900" y="1231901"/>
                </a:lnTo>
                <a:cubicBezTo>
                  <a:pt x="3644900" y="1288012"/>
                  <a:pt x="3599412" y="1333500"/>
                  <a:pt x="35433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1443271" y="952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827446" y="91440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40096" y="1320800"/>
            <a:ext cx="331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通过Client Library发起读写请求,缓存元数据,路由请求到目标RegionServer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230546" y="3772218"/>
            <a:ext cx="3644900" cy="1333500"/>
          </a:xfrm>
          <a:custGeom>
            <a:avLst/>
            <a:gdLst/>
            <a:ahLst/>
            <a:cxnLst/>
            <a:rect l="l" t="t" r="r" b="b"/>
            <a:pathLst>
              <a:path w="3644900" h="1333500">
                <a:moveTo>
                  <a:pt x="101599" y="0"/>
                </a:moveTo>
                <a:lnTo>
                  <a:pt x="3543301" y="0"/>
                </a:lnTo>
                <a:cubicBezTo>
                  <a:pt x="3599412" y="0"/>
                  <a:pt x="3644900" y="45488"/>
                  <a:pt x="3644900" y="101599"/>
                </a:cubicBezTo>
                <a:lnTo>
                  <a:pt x="3644900" y="1231901"/>
                </a:lnTo>
                <a:cubicBezTo>
                  <a:pt x="3644900" y="1288012"/>
                  <a:pt x="3599412" y="1333500"/>
                  <a:pt x="35433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11486134" y="401986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1827446" y="3981768"/>
            <a:ext cx="134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40096" y="4388168"/>
            <a:ext cx="331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数据服务节点,处理实际读写请求,管理WAL、MemStore、HFile、BlockCache</a:t>
            </a:r>
            <a:endParaRPr lang="en-US" sz="1600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22CCF87-232E-F3F2-B834-B9DD5C98E210}"/>
              </a:ext>
            </a:extLst>
          </p:cNvPr>
          <p:cNvGrpSpPr/>
          <p:nvPr/>
        </p:nvGrpSpPr>
        <p:grpSpPr>
          <a:xfrm>
            <a:off x="11230546" y="5305902"/>
            <a:ext cx="3644900" cy="1333500"/>
            <a:chOff x="8235950" y="6584950"/>
            <a:chExt cx="3644900" cy="1333500"/>
          </a:xfrm>
        </p:grpSpPr>
        <p:sp>
          <p:nvSpPr>
            <p:cNvPr id="16" name="Shape 13"/>
            <p:cNvSpPr/>
            <p:nvPr/>
          </p:nvSpPr>
          <p:spPr>
            <a:xfrm>
              <a:off x="8235950" y="6584950"/>
              <a:ext cx="3644900" cy="1333500"/>
            </a:xfrm>
            <a:custGeom>
              <a:avLst/>
              <a:gdLst/>
              <a:ahLst/>
              <a:cxnLst/>
              <a:rect l="l" t="t" r="r" b="b"/>
              <a:pathLst>
                <a:path w="3644900" h="1333500">
                  <a:moveTo>
                    <a:pt x="101599" y="0"/>
                  </a:moveTo>
                  <a:lnTo>
                    <a:pt x="3543301" y="0"/>
                  </a:lnTo>
                  <a:cubicBezTo>
                    <a:pt x="3599412" y="0"/>
                    <a:pt x="3644900" y="45488"/>
                    <a:pt x="3644900" y="101599"/>
                  </a:cubicBezTo>
                  <a:lnTo>
                    <a:pt x="3644900" y="1231901"/>
                  </a:lnTo>
                  <a:cubicBezTo>
                    <a:pt x="3644900" y="1288012"/>
                    <a:pt x="3599412" y="1333500"/>
                    <a:pt x="3543301" y="1333500"/>
                  </a:cubicBezTo>
                  <a:lnTo>
                    <a:pt x="101599" y="1333500"/>
                  </a:lnTo>
                  <a:cubicBezTo>
                    <a:pt x="45488" y="1333500"/>
                    <a:pt x="0" y="1288012"/>
                    <a:pt x="0" y="1231901"/>
                  </a:cubicBezTo>
                  <a:lnTo>
                    <a:pt x="0" y="101599"/>
                  </a:lnTo>
                  <a:cubicBezTo>
                    <a:pt x="0" y="45488"/>
                    <a:pt x="45488" y="0"/>
                    <a:pt x="101599" y="0"/>
                  </a:cubicBezTo>
                  <a:close/>
                </a:path>
              </a:pathLst>
            </a:custGeom>
            <a:solidFill>
              <a:srgbClr val="3D4A5C">
                <a:alpha val="20000"/>
              </a:srgbClr>
            </a:solidFill>
            <a:ln w="12700">
              <a:solidFill>
                <a:srgbClr val="3D4A5C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Shape 14"/>
            <p:cNvSpPr/>
            <p:nvPr/>
          </p:nvSpPr>
          <p:spPr>
            <a:xfrm>
              <a:off x="8491538" y="683260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200025" y="91886"/>
                  </a:moveTo>
                  <a:cubicBezTo>
                    <a:pt x="193417" y="96262"/>
                    <a:pt x="185827" y="99789"/>
                    <a:pt x="177924" y="102602"/>
                  </a:cubicBezTo>
                  <a:cubicBezTo>
                    <a:pt x="156939" y="110103"/>
                    <a:pt x="129391" y="114300"/>
                    <a:pt x="100013" y="114300"/>
                  </a:cubicBezTo>
                  <a:cubicBezTo>
                    <a:pt x="70634" y="114300"/>
                    <a:pt x="43041" y="110058"/>
                    <a:pt x="22101" y="102602"/>
                  </a:cubicBezTo>
                  <a:cubicBezTo>
                    <a:pt x="14243" y="99789"/>
                    <a:pt x="6608" y="96262"/>
                    <a:pt x="0" y="91886"/>
                  </a:cubicBezTo>
                  <a:lnTo>
                    <a:pt x="0" y="128588"/>
                  </a:lnTo>
                  <a:cubicBezTo>
                    <a:pt x="0" y="148322"/>
                    <a:pt x="44782" y="164306"/>
                    <a:pt x="100013" y="164306"/>
                  </a:cubicBezTo>
                  <a:cubicBezTo>
                    <a:pt x="155243" y="164306"/>
                    <a:pt x="200025" y="148322"/>
                    <a:pt x="200025" y="128588"/>
                  </a:cubicBezTo>
                  <a:lnTo>
                    <a:pt x="200025" y="91886"/>
                  </a:lnTo>
                  <a:close/>
                  <a:moveTo>
                    <a:pt x="200025" y="57150"/>
                  </a:moveTo>
                  <a:lnTo>
                    <a:pt x="200025" y="35719"/>
                  </a:lnTo>
                  <a:cubicBezTo>
                    <a:pt x="200025" y="15984"/>
                    <a:pt x="155243" y="0"/>
                    <a:pt x="100013" y="0"/>
                  </a:cubicBezTo>
                  <a:cubicBezTo>
                    <a:pt x="44782" y="0"/>
                    <a:pt x="0" y="15984"/>
                    <a:pt x="0" y="35719"/>
                  </a:cubicBezTo>
                  <a:lnTo>
                    <a:pt x="0" y="57150"/>
                  </a:lnTo>
                  <a:cubicBezTo>
                    <a:pt x="0" y="76885"/>
                    <a:pt x="44782" y="92869"/>
                    <a:pt x="100013" y="92869"/>
                  </a:cubicBezTo>
                  <a:cubicBezTo>
                    <a:pt x="155243" y="92869"/>
                    <a:pt x="200025" y="76885"/>
                    <a:pt x="200025" y="57150"/>
                  </a:cubicBezTo>
                  <a:close/>
                  <a:moveTo>
                    <a:pt x="177924" y="174040"/>
                  </a:moveTo>
                  <a:cubicBezTo>
                    <a:pt x="156984" y="181496"/>
                    <a:pt x="129436" y="185738"/>
                    <a:pt x="100013" y="185738"/>
                  </a:cubicBezTo>
                  <a:cubicBezTo>
                    <a:pt x="70589" y="185738"/>
                    <a:pt x="43041" y="181496"/>
                    <a:pt x="22101" y="174040"/>
                  </a:cubicBezTo>
                  <a:cubicBezTo>
                    <a:pt x="14243" y="171227"/>
                    <a:pt x="6608" y="167700"/>
                    <a:pt x="0" y="163324"/>
                  </a:cubicBezTo>
                  <a:lnTo>
                    <a:pt x="0" y="192881"/>
                  </a:lnTo>
                  <a:cubicBezTo>
                    <a:pt x="0" y="212616"/>
                    <a:pt x="44782" y="228600"/>
                    <a:pt x="100013" y="228600"/>
                  </a:cubicBezTo>
                  <a:cubicBezTo>
                    <a:pt x="155243" y="228600"/>
                    <a:pt x="200025" y="212616"/>
                    <a:pt x="200025" y="192881"/>
                  </a:cubicBezTo>
                  <a:lnTo>
                    <a:pt x="200025" y="163324"/>
                  </a:lnTo>
                  <a:cubicBezTo>
                    <a:pt x="193417" y="167700"/>
                    <a:pt x="185827" y="171227"/>
                    <a:pt x="177924" y="174040"/>
                  </a:cubicBezTo>
                  <a:close/>
                </a:path>
              </a:pathLst>
            </a:custGeom>
            <a:solidFill>
              <a:srgbClr val="E07A5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8832850" y="6794500"/>
              <a:ext cx="6350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HDFS</a:t>
              </a:r>
              <a:endParaRPr lang="en-US" sz="1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8445500" y="7200900"/>
              <a:ext cx="3314700" cy="5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6B728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底层分布式文件系统,提供数据持久化、多副本存储、容错保障</a:t>
              </a:r>
              <a:endParaRPr lang="en-US" sz="1600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9D7E00F-8278-67F7-AEFC-0447E88E9739}"/>
              </a:ext>
            </a:extLst>
          </p:cNvPr>
          <p:cNvGrpSpPr/>
          <p:nvPr/>
        </p:nvGrpSpPr>
        <p:grpSpPr>
          <a:xfrm>
            <a:off x="11230546" y="6839585"/>
            <a:ext cx="3644900" cy="1333500"/>
            <a:chOff x="12096750" y="6584950"/>
            <a:chExt cx="3644900" cy="1333500"/>
          </a:xfrm>
        </p:grpSpPr>
        <p:sp>
          <p:nvSpPr>
            <p:cNvPr id="20" name="Shape 17"/>
            <p:cNvSpPr/>
            <p:nvPr/>
          </p:nvSpPr>
          <p:spPr>
            <a:xfrm>
              <a:off x="12096750" y="6584950"/>
              <a:ext cx="3644900" cy="1333500"/>
            </a:xfrm>
            <a:custGeom>
              <a:avLst/>
              <a:gdLst/>
              <a:ahLst/>
              <a:cxnLst/>
              <a:rect l="l" t="t" r="r" b="b"/>
              <a:pathLst>
                <a:path w="3644900" h="1333500">
                  <a:moveTo>
                    <a:pt x="101599" y="0"/>
                  </a:moveTo>
                  <a:lnTo>
                    <a:pt x="3543301" y="0"/>
                  </a:lnTo>
                  <a:cubicBezTo>
                    <a:pt x="3599412" y="0"/>
                    <a:pt x="3644900" y="45488"/>
                    <a:pt x="3644900" y="101599"/>
                  </a:cubicBezTo>
                  <a:lnTo>
                    <a:pt x="3644900" y="1231901"/>
                  </a:lnTo>
                  <a:cubicBezTo>
                    <a:pt x="3644900" y="1288012"/>
                    <a:pt x="3599412" y="1333500"/>
                    <a:pt x="3543301" y="1333500"/>
                  </a:cubicBezTo>
                  <a:lnTo>
                    <a:pt x="101599" y="1333500"/>
                  </a:lnTo>
                  <a:cubicBezTo>
                    <a:pt x="45488" y="1333500"/>
                    <a:pt x="0" y="1288012"/>
                    <a:pt x="0" y="1231901"/>
                  </a:cubicBezTo>
                  <a:lnTo>
                    <a:pt x="0" y="101599"/>
                  </a:lnTo>
                  <a:cubicBezTo>
                    <a:pt x="0" y="45488"/>
                    <a:pt x="45488" y="0"/>
                    <a:pt x="101599" y="0"/>
                  </a:cubicBezTo>
                  <a:close/>
                </a:path>
              </a:pathLst>
            </a:custGeom>
            <a:solidFill>
              <a:srgbClr val="3D4A5C">
                <a:alpha val="20000"/>
              </a:srgbClr>
            </a:solidFill>
            <a:ln w="12700">
              <a:solidFill>
                <a:srgbClr val="3D4A5C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Shape 18"/>
            <p:cNvSpPr/>
            <p:nvPr/>
          </p:nvSpPr>
          <p:spPr>
            <a:xfrm>
              <a:off x="12338050" y="6832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85725" y="28575"/>
                  </a:moveTo>
                  <a:cubicBezTo>
                    <a:pt x="85725" y="20672"/>
                    <a:pt x="92110" y="14288"/>
                    <a:pt x="100013" y="14288"/>
                  </a:cubicBezTo>
                  <a:lnTo>
                    <a:pt x="128588" y="14288"/>
                  </a:lnTo>
                  <a:cubicBezTo>
                    <a:pt x="136490" y="14288"/>
                    <a:pt x="142875" y="20672"/>
                    <a:pt x="142875" y="28575"/>
                  </a:cubicBezTo>
                  <a:lnTo>
                    <a:pt x="142875" y="57150"/>
                  </a:lnTo>
                  <a:cubicBezTo>
                    <a:pt x="142875" y="65053"/>
                    <a:pt x="136490" y="71438"/>
                    <a:pt x="128588" y="71438"/>
                  </a:cubicBezTo>
                  <a:lnTo>
                    <a:pt x="125016" y="71438"/>
                  </a:lnTo>
                  <a:lnTo>
                    <a:pt x="125016" y="100013"/>
                  </a:lnTo>
                  <a:lnTo>
                    <a:pt x="178594" y="100013"/>
                  </a:lnTo>
                  <a:cubicBezTo>
                    <a:pt x="196364" y="100013"/>
                    <a:pt x="210741" y="114389"/>
                    <a:pt x="210741" y="132159"/>
                  </a:cubicBezTo>
                  <a:lnTo>
                    <a:pt x="210741" y="157163"/>
                  </a:lnTo>
                  <a:lnTo>
                    <a:pt x="214313" y="157163"/>
                  </a:lnTo>
                  <a:cubicBezTo>
                    <a:pt x="222215" y="157163"/>
                    <a:pt x="228600" y="163547"/>
                    <a:pt x="228600" y="171450"/>
                  </a:cubicBezTo>
                  <a:lnTo>
                    <a:pt x="228600" y="200025"/>
                  </a:lnTo>
                  <a:cubicBezTo>
                    <a:pt x="228600" y="207928"/>
                    <a:pt x="222215" y="214313"/>
                    <a:pt x="214313" y="214313"/>
                  </a:cubicBezTo>
                  <a:lnTo>
                    <a:pt x="185738" y="214313"/>
                  </a:lnTo>
                  <a:cubicBezTo>
                    <a:pt x="177835" y="214313"/>
                    <a:pt x="171450" y="207928"/>
                    <a:pt x="171450" y="200025"/>
                  </a:cubicBezTo>
                  <a:lnTo>
                    <a:pt x="171450" y="171450"/>
                  </a:lnTo>
                  <a:cubicBezTo>
                    <a:pt x="171450" y="163547"/>
                    <a:pt x="177835" y="157163"/>
                    <a:pt x="185738" y="157163"/>
                  </a:cubicBezTo>
                  <a:lnTo>
                    <a:pt x="189309" y="157163"/>
                  </a:lnTo>
                  <a:lnTo>
                    <a:pt x="189309" y="132159"/>
                  </a:lnTo>
                  <a:cubicBezTo>
                    <a:pt x="189309" y="126221"/>
                    <a:pt x="184532" y="121444"/>
                    <a:pt x="178594" y="121444"/>
                  </a:cubicBezTo>
                  <a:lnTo>
                    <a:pt x="125016" y="121444"/>
                  </a:lnTo>
                  <a:lnTo>
                    <a:pt x="125016" y="157163"/>
                  </a:lnTo>
                  <a:lnTo>
                    <a:pt x="128588" y="157163"/>
                  </a:lnTo>
                  <a:cubicBezTo>
                    <a:pt x="136490" y="157163"/>
                    <a:pt x="142875" y="163547"/>
                    <a:pt x="142875" y="171450"/>
                  </a:cubicBezTo>
                  <a:lnTo>
                    <a:pt x="142875" y="200025"/>
                  </a:lnTo>
                  <a:cubicBezTo>
                    <a:pt x="142875" y="207928"/>
                    <a:pt x="136490" y="214313"/>
                    <a:pt x="128588" y="214313"/>
                  </a:cubicBezTo>
                  <a:lnTo>
                    <a:pt x="100013" y="214313"/>
                  </a:lnTo>
                  <a:cubicBezTo>
                    <a:pt x="92110" y="214313"/>
                    <a:pt x="85725" y="207928"/>
                    <a:pt x="85725" y="200025"/>
                  </a:cubicBezTo>
                  <a:lnTo>
                    <a:pt x="85725" y="171450"/>
                  </a:lnTo>
                  <a:cubicBezTo>
                    <a:pt x="85725" y="163547"/>
                    <a:pt x="92110" y="157163"/>
                    <a:pt x="100013" y="157163"/>
                  </a:cubicBezTo>
                  <a:lnTo>
                    <a:pt x="103584" y="157163"/>
                  </a:lnTo>
                  <a:lnTo>
                    <a:pt x="103584" y="121444"/>
                  </a:lnTo>
                  <a:lnTo>
                    <a:pt x="50006" y="121444"/>
                  </a:lnTo>
                  <a:cubicBezTo>
                    <a:pt x="44068" y="121444"/>
                    <a:pt x="39291" y="126221"/>
                    <a:pt x="39291" y="132159"/>
                  </a:cubicBezTo>
                  <a:lnTo>
                    <a:pt x="39291" y="157163"/>
                  </a:lnTo>
                  <a:lnTo>
                    <a:pt x="42863" y="157163"/>
                  </a:lnTo>
                  <a:cubicBezTo>
                    <a:pt x="50765" y="157163"/>
                    <a:pt x="57150" y="163547"/>
                    <a:pt x="57150" y="171450"/>
                  </a:cubicBezTo>
                  <a:lnTo>
                    <a:pt x="57150" y="200025"/>
                  </a:lnTo>
                  <a:cubicBezTo>
                    <a:pt x="57150" y="207928"/>
                    <a:pt x="50765" y="214313"/>
                    <a:pt x="42863" y="214313"/>
                  </a:cubicBezTo>
                  <a:lnTo>
                    <a:pt x="14288" y="214313"/>
                  </a:lnTo>
                  <a:cubicBezTo>
                    <a:pt x="6385" y="214313"/>
                    <a:pt x="0" y="207928"/>
                    <a:pt x="0" y="200025"/>
                  </a:cubicBezTo>
                  <a:lnTo>
                    <a:pt x="0" y="171450"/>
                  </a:lnTo>
                  <a:cubicBezTo>
                    <a:pt x="0" y="163547"/>
                    <a:pt x="6385" y="157163"/>
                    <a:pt x="14288" y="157163"/>
                  </a:cubicBezTo>
                  <a:lnTo>
                    <a:pt x="17859" y="157163"/>
                  </a:lnTo>
                  <a:lnTo>
                    <a:pt x="17859" y="132159"/>
                  </a:lnTo>
                  <a:cubicBezTo>
                    <a:pt x="17859" y="114389"/>
                    <a:pt x="32236" y="100013"/>
                    <a:pt x="50006" y="100013"/>
                  </a:cubicBezTo>
                  <a:lnTo>
                    <a:pt x="103584" y="100013"/>
                  </a:lnTo>
                  <a:lnTo>
                    <a:pt x="103584" y="71438"/>
                  </a:lnTo>
                  <a:lnTo>
                    <a:pt x="100013" y="71438"/>
                  </a:lnTo>
                  <a:cubicBezTo>
                    <a:pt x="92110" y="71438"/>
                    <a:pt x="85725" y="65053"/>
                    <a:pt x="85725" y="57150"/>
                  </a:cubicBezTo>
                  <a:lnTo>
                    <a:pt x="85725" y="28575"/>
                  </a:lnTo>
                  <a:close/>
                </a:path>
              </a:pathLst>
            </a:custGeom>
            <a:solidFill>
              <a:srgbClr val="E07A5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19"/>
            <p:cNvSpPr/>
            <p:nvPr/>
          </p:nvSpPr>
          <p:spPr>
            <a:xfrm>
              <a:off x="12693650" y="6794500"/>
              <a:ext cx="11176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ZooKeeper</a:t>
              </a:r>
              <a:endParaRPr lang="en-US" sz="1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2306300" y="7200900"/>
              <a:ext cx="3314700" cy="5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6B728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分布式协调服务,负责集群成员管理、Leader选举、状态同步</a:t>
              </a:r>
              <a:endParaRPr lang="en-US" sz="1600" dirty="0"/>
            </a:p>
          </p:txBody>
        </p:sp>
      </p:grpSp>
      <p:sp>
        <p:nvSpPr>
          <p:cNvPr id="24" name="Shape 21"/>
          <p:cNvSpPr/>
          <p:nvPr/>
        </p:nvSpPr>
        <p:spPr>
          <a:xfrm>
            <a:off x="533400" y="8182864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787400" y="834161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1117600" y="8284464"/>
            <a:ext cx="147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架构优势:</a:t>
            </a: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分层架构实现水平扩展(增加RegionServer)、高可用(HMaster主备)、数据持久性(HDFS多副本)、低延迟访问(MemStore+BlockCache)。</a:t>
            </a:r>
            <a:endParaRPr lang="en-US" sz="1600" dirty="0"/>
          </a:p>
        </p:txBody>
      </p:sp>
      <p:pic>
        <p:nvPicPr>
          <p:cNvPr id="28" name="图片 27" descr="图示&#10;&#10;AI 生成的内容可能不正确。">
            <a:extLst>
              <a:ext uri="{FF2B5EF4-FFF2-40B4-BE49-F238E27FC236}">
                <a16:creationId xmlns:a16="http://schemas.microsoft.com/office/drawing/2014/main" id="{52FAB4FE-36B7-5941-6B66-A72C4BE7F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48" t="9322" r="16148" b="31850"/>
          <a:stretch>
            <a:fillRect/>
          </a:stretch>
        </p:blipFill>
        <p:spPr>
          <a:xfrm>
            <a:off x="581278" y="1914398"/>
            <a:ext cx="9777160" cy="5889119"/>
          </a:xfrm>
          <a:prstGeom prst="rect">
            <a:avLst/>
          </a:prstGeom>
        </p:spPr>
      </p:pic>
      <p:sp>
        <p:nvSpPr>
          <p:cNvPr id="29" name="Shape 17">
            <a:extLst>
              <a:ext uri="{FF2B5EF4-FFF2-40B4-BE49-F238E27FC236}">
                <a16:creationId xmlns:a16="http://schemas.microsoft.com/office/drawing/2014/main" id="{3FDF6BF7-5D52-61F1-683D-5BAC5E7E1390}"/>
              </a:ext>
            </a:extLst>
          </p:cNvPr>
          <p:cNvSpPr/>
          <p:nvPr/>
        </p:nvSpPr>
        <p:spPr>
          <a:xfrm>
            <a:off x="11230546" y="2238534"/>
            <a:ext cx="3644900" cy="1333500"/>
          </a:xfrm>
          <a:custGeom>
            <a:avLst/>
            <a:gdLst/>
            <a:ahLst/>
            <a:cxnLst/>
            <a:rect l="l" t="t" r="r" b="b"/>
            <a:pathLst>
              <a:path w="3644900" h="1333500">
                <a:moveTo>
                  <a:pt x="101599" y="0"/>
                </a:moveTo>
                <a:lnTo>
                  <a:pt x="3543301" y="0"/>
                </a:lnTo>
                <a:cubicBezTo>
                  <a:pt x="3599412" y="0"/>
                  <a:pt x="3644900" y="45488"/>
                  <a:pt x="3644900" y="101599"/>
                </a:cubicBezTo>
                <a:lnTo>
                  <a:pt x="3644900" y="1231901"/>
                </a:lnTo>
                <a:cubicBezTo>
                  <a:pt x="3644900" y="1288012"/>
                  <a:pt x="3599412" y="1333500"/>
                  <a:pt x="35433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7BD65B59-38C3-6597-85A3-83B4BB83C07B}"/>
              </a:ext>
            </a:extLst>
          </p:cNvPr>
          <p:cNvSpPr/>
          <p:nvPr/>
        </p:nvSpPr>
        <p:spPr>
          <a:xfrm>
            <a:off x="11827446" y="2448084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HMaster</a:t>
            </a:r>
            <a:endParaRPr lang="en-US" sz="160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4855DBC7-0B6E-821D-9A50-347674708862}"/>
              </a:ext>
            </a:extLst>
          </p:cNvPr>
          <p:cNvSpPr/>
          <p:nvPr/>
        </p:nvSpPr>
        <p:spPr>
          <a:xfrm>
            <a:off x="11440096" y="2854484"/>
            <a:ext cx="3314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分布式协调服务,负责集群成员管理、Leader选举、状态同步</a:t>
            </a:r>
            <a:endParaRPr lang="en-US" sz="160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ADB0375F-52CB-CB87-45FA-A0BB03BE89C3}"/>
              </a:ext>
            </a:extLst>
          </p:cNvPr>
          <p:cNvSpPr/>
          <p:nvPr/>
        </p:nvSpPr>
        <p:spPr>
          <a:xfrm>
            <a:off x="11461579" y="2475917"/>
            <a:ext cx="249134" cy="24913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24567" y="52503"/>
                </a:moveTo>
                <a:lnTo>
                  <a:pt x="117268" y="42382"/>
                </a:lnTo>
                <a:cubicBezTo>
                  <a:pt x="105103" y="25546"/>
                  <a:pt x="85591" y="15571"/>
                  <a:pt x="64765" y="15571"/>
                </a:cubicBezTo>
                <a:cubicBezTo>
                  <a:pt x="29001" y="15571"/>
                  <a:pt x="0" y="44572"/>
                  <a:pt x="0" y="80336"/>
                </a:cubicBezTo>
                <a:lnTo>
                  <a:pt x="0" y="81601"/>
                </a:lnTo>
                <a:cubicBezTo>
                  <a:pt x="0" y="93085"/>
                  <a:pt x="3017" y="104957"/>
                  <a:pt x="8077" y="116782"/>
                </a:cubicBezTo>
                <a:lnTo>
                  <a:pt x="59656" y="116782"/>
                </a:lnTo>
                <a:cubicBezTo>
                  <a:pt x="61213" y="116782"/>
                  <a:pt x="62624" y="115857"/>
                  <a:pt x="63257" y="114397"/>
                </a:cubicBezTo>
                <a:lnTo>
                  <a:pt x="78730" y="77270"/>
                </a:lnTo>
                <a:cubicBezTo>
                  <a:pt x="80531" y="72989"/>
                  <a:pt x="84715" y="70166"/>
                  <a:pt x="89338" y="70069"/>
                </a:cubicBezTo>
                <a:cubicBezTo>
                  <a:pt x="93961" y="69972"/>
                  <a:pt x="98243" y="72697"/>
                  <a:pt x="100140" y="76930"/>
                </a:cubicBezTo>
                <a:lnTo>
                  <a:pt x="125102" y="132352"/>
                </a:lnTo>
                <a:lnTo>
                  <a:pt x="145247" y="92063"/>
                </a:lnTo>
                <a:cubicBezTo>
                  <a:pt x="147242" y="88121"/>
                  <a:pt x="151281" y="85591"/>
                  <a:pt x="155709" y="85591"/>
                </a:cubicBezTo>
                <a:cubicBezTo>
                  <a:pt x="160137" y="85591"/>
                  <a:pt x="164175" y="88073"/>
                  <a:pt x="166170" y="92063"/>
                </a:cubicBezTo>
                <a:lnTo>
                  <a:pt x="177459" y="114592"/>
                </a:lnTo>
                <a:cubicBezTo>
                  <a:pt x="178141" y="115906"/>
                  <a:pt x="179454" y="116733"/>
                  <a:pt x="180963" y="116733"/>
                </a:cubicBezTo>
                <a:lnTo>
                  <a:pt x="241105" y="116733"/>
                </a:lnTo>
                <a:cubicBezTo>
                  <a:pt x="246215" y="104909"/>
                  <a:pt x="249183" y="93036"/>
                  <a:pt x="249183" y="81552"/>
                </a:cubicBezTo>
                <a:lnTo>
                  <a:pt x="249183" y="80287"/>
                </a:lnTo>
                <a:cubicBezTo>
                  <a:pt x="249134" y="44572"/>
                  <a:pt x="220133" y="15571"/>
                  <a:pt x="184369" y="15571"/>
                </a:cubicBezTo>
                <a:cubicBezTo>
                  <a:pt x="163592" y="15571"/>
                  <a:pt x="144031" y="25546"/>
                  <a:pt x="131866" y="42382"/>
                </a:cubicBezTo>
                <a:lnTo>
                  <a:pt x="124567" y="52454"/>
                </a:lnTo>
                <a:close/>
                <a:moveTo>
                  <a:pt x="228503" y="140138"/>
                </a:moveTo>
                <a:lnTo>
                  <a:pt x="180914" y="140138"/>
                </a:lnTo>
                <a:cubicBezTo>
                  <a:pt x="170598" y="140138"/>
                  <a:pt x="161159" y="134299"/>
                  <a:pt x="156536" y="125054"/>
                </a:cubicBezTo>
                <a:lnTo>
                  <a:pt x="155709" y="123399"/>
                </a:lnTo>
                <a:lnTo>
                  <a:pt x="135029" y="164808"/>
                </a:lnTo>
                <a:cubicBezTo>
                  <a:pt x="133034" y="168847"/>
                  <a:pt x="128849" y="171377"/>
                  <a:pt x="124324" y="171280"/>
                </a:cubicBezTo>
                <a:cubicBezTo>
                  <a:pt x="119798" y="171182"/>
                  <a:pt x="115760" y="168506"/>
                  <a:pt x="113911" y="164419"/>
                </a:cubicBezTo>
                <a:lnTo>
                  <a:pt x="89922" y="111137"/>
                </a:lnTo>
                <a:lnTo>
                  <a:pt x="84813" y="123399"/>
                </a:lnTo>
                <a:cubicBezTo>
                  <a:pt x="80579" y="133569"/>
                  <a:pt x="70653" y="140187"/>
                  <a:pt x="59656" y="140187"/>
                </a:cubicBezTo>
                <a:lnTo>
                  <a:pt x="20631" y="140187"/>
                </a:lnTo>
                <a:cubicBezTo>
                  <a:pt x="43598" y="176097"/>
                  <a:pt x="80482" y="209136"/>
                  <a:pt x="103546" y="226751"/>
                </a:cubicBezTo>
                <a:cubicBezTo>
                  <a:pt x="109580" y="231325"/>
                  <a:pt x="116976" y="233612"/>
                  <a:pt x="124518" y="233612"/>
                </a:cubicBezTo>
                <a:cubicBezTo>
                  <a:pt x="132061" y="233612"/>
                  <a:pt x="139505" y="231374"/>
                  <a:pt x="145490" y="226751"/>
                </a:cubicBezTo>
                <a:cubicBezTo>
                  <a:pt x="168652" y="209088"/>
                  <a:pt x="205536" y="176048"/>
                  <a:pt x="228503" y="1401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483810"/>
            <a:ext cx="1378857" cy="483810"/>
          </a:xfrm>
          <a:custGeom>
            <a:avLst/>
            <a:gdLst/>
            <a:ahLst/>
            <a:cxnLst/>
            <a:rect l="l" t="t" r="r" b="b"/>
            <a:pathLst>
              <a:path w="1378857" h="483810">
                <a:moveTo>
                  <a:pt x="0" y="0"/>
                </a:moveTo>
                <a:lnTo>
                  <a:pt x="1378857" y="0"/>
                </a:lnTo>
                <a:lnTo>
                  <a:pt x="1378857" y="483810"/>
                </a:lnTo>
                <a:lnTo>
                  <a:pt x="0" y="48381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8000" y="483810"/>
            <a:ext cx="48381" cy="483810"/>
          </a:xfrm>
          <a:custGeom>
            <a:avLst/>
            <a:gdLst/>
            <a:ahLst/>
            <a:cxnLst/>
            <a:rect l="l" t="t" r="r" b="b"/>
            <a:pathLst>
              <a:path w="48381" h="483810">
                <a:moveTo>
                  <a:pt x="0" y="0"/>
                </a:moveTo>
                <a:lnTo>
                  <a:pt x="48381" y="0"/>
                </a:lnTo>
                <a:lnTo>
                  <a:pt x="48381" y="483810"/>
                </a:lnTo>
                <a:lnTo>
                  <a:pt x="0" y="48381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25714" y="598714"/>
            <a:ext cx="10674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kern="0" spc="76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HMASTER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3810" y="1112762"/>
            <a:ext cx="15506095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29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HMaster:集群管理与元数据控制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9857" y="1796143"/>
            <a:ext cx="7511143" cy="4511524"/>
          </a:xfrm>
          <a:custGeom>
            <a:avLst/>
            <a:gdLst/>
            <a:ahLst/>
            <a:cxnLst/>
            <a:rect l="l" t="t" r="r" b="b"/>
            <a:pathLst>
              <a:path w="7511143" h="4511524">
                <a:moveTo>
                  <a:pt x="96772" y="0"/>
                </a:moveTo>
                <a:lnTo>
                  <a:pt x="7414371" y="0"/>
                </a:lnTo>
                <a:cubicBezTo>
                  <a:pt x="7467816" y="0"/>
                  <a:pt x="7511143" y="43326"/>
                  <a:pt x="7511143" y="96772"/>
                </a:cubicBezTo>
                <a:lnTo>
                  <a:pt x="7511143" y="4414752"/>
                </a:lnTo>
                <a:cubicBezTo>
                  <a:pt x="7511143" y="4468197"/>
                  <a:pt x="7467816" y="4511524"/>
                  <a:pt x="7414371" y="4511524"/>
                </a:cubicBezTo>
                <a:lnTo>
                  <a:pt x="96772" y="4511524"/>
                </a:lnTo>
                <a:cubicBezTo>
                  <a:pt x="43362" y="4511524"/>
                  <a:pt x="0" y="4468162"/>
                  <a:pt x="0" y="4414752"/>
                </a:cubicBezTo>
                <a:lnTo>
                  <a:pt x="0" y="96772"/>
                </a:lnTo>
                <a:cubicBezTo>
                  <a:pt x="0" y="43362"/>
                  <a:pt x="43362" y="0"/>
                  <a:pt x="9677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7810" y="2044095"/>
            <a:ext cx="713619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7810" y="2576286"/>
            <a:ext cx="483810" cy="483810"/>
          </a:xfrm>
          <a:custGeom>
            <a:avLst/>
            <a:gdLst/>
            <a:ahLst/>
            <a:cxnLst/>
            <a:rect l="l" t="t" r="r" b="b"/>
            <a:pathLst>
              <a:path w="483810" h="483810">
                <a:moveTo>
                  <a:pt x="96762" y="0"/>
                </a:moveTo>
                <a:lnTo>
                  <a:pt x="387048" y="0"/>
                </a:lnTo>
                <a:cubicBezTo>
                  <a:pt x="440488" y="0"/>
                  <a:pt x="483810" y="43322"/>
                  <a:pt x="483810" y="96762"/>
                </a:cubicBezTo>
                <a:lnTo>
                  <a:pt x="483810" y="387048"/>
                </a:lnTo>
                <a:cubicBezTo>
                  <a:pt x="483810" y="440488"/>
                  <a:pt x="440488" y="483810"/>
                  <a:pt x="387048" y="483810"/>
                </a:cubicBezTo>
                <a:lnTo>
                  <a:pt x="96762" y="483810"/>
                </a:lnTo>
                <a:cubicBezTo>
                  <a:pt x="43322" y="483810"/>
                  <a:pt x="0" y="440488"/>
                  <a:pt x="0" y="387048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95048" y="2721429"/>
            <a:ext cx="169333" cy="193524"/>
          </a:xfrm>
          <a:custGeom>
            <a:avLst/>
            <a:gdLst/>
            <a:ahLst/>
            <a:cxnLst/>
            <a:rect l="l" t="t" r="r" b="b"/>
            <a:pathLst>
              <a:path w="169333" h="193524">
                <a:moveTo>
                  <a:pt x="96762" y="60476"/>
                </a:moveTo>
                <a:lnTo>
                  <a:pt x="96762" y="96762"/>
                </a:lnTo>
                <a:lnTo>
                  <a:pt x="145143" y="96762"/>
                </a:lnTo>
                <a:lnTo>
                  <a:pt x="145143" y="60476"/>
                </a:lnTo>
                <a:lnTo>
                  <a:pt x="96762" y="60476"/>
                </a:lnTo>
                <a:close/>
                <a:moveTo>
                  <a:pt x="72571" y="60476"/>
                </a:moveTo>
                <a:lnTo>
                  <a:pt x="24190" y="60476"/>
                </a:lnTo>
                <a:lnTo>
                  <a:pt x="24190" y="96762"/>
                </a:lnTo>
                <a:lnTo>
                  <a:pt x="72571" y="96762"/>
                </a:lnTo>
                <a:lnTo>
                  <a:pt x="72571" y="60476"/>
                </a:lnTo>
                <a:close/>
                <a:moveTo>
                  <a:pt x="0" y="120952"/>
                </a:moveTo>
                <a:lnTo>
                  <a:pt x="0" y="36286"/>
                </a:lnTo>
                <a:cubicBezTo>
                  <a:pt x="0" y="22943"/>
                  <a:pt x="10848" y="12095"/>
                  <a:pt x="24190" y="12095"/>
                </a:cubicBezTo>
                <a:lnTo>
                  <a:pt x="145143" y="12095"/>
                </a:lnTo>
                <a:cubicBezTo>
                  <a:pt x="158485" y="12095"/>
                  <a:pt x="169333" y="22943"/>
                  <a:pt x="169333" y="36286"/>
                </a:cubicBezTo>
                <a:lnTo>
                  <a:pt x="169333" y="157238"/>
                </a:lnTo>
                <a:cubicBezTo>
                  <a:pt x="169333" y="170581"/>
                  <a:pt x="158485" y="181429"/>
                  <a:pt x="145143" y="181429"/>
                </a:cubicBezTo>
                <a:lnTo>
                  <a:pt x="24190" y="181429"/>
                </a:lnTo>
                <a:cubicBezTo>
                  <a:pt x="10848" y="181429"/>
                  <a:pt x="0" y="170581"/>
                  <a:pt x="0" y="157238"/>
                </a:cubicBezTo>
                <a:lnTo>
                  <a:pt x="0" y="120952"/>
                </a:lnTo>
                <a:close/>
                <a:moveTo>
                  <a:pt x="145143" y="120952"/>
                </a:moveTo>
                <a:lnTo>
                  <a:pt x="96762" y="120952"/>
                </a:lnTo>
                <a:lnTo>
                  <a:pt x="96762" y="157238"/>
                </a:lnTo>
                <a:lnTo>
                  <a:pt x="145143" y="157238"/>
                </a:lnTo>
                <a:lnTo>
                  <a:pt x="145143" y="120952"/>
                </a:lnTo>
                <a:close/>
                <a:moveTo>
                  <a:pt x="72571" y="157238"/>
                </a:moveTo>
                <a:lnTo>
                  <a:pt x="72571" y="120952"/>
                </a:lnTo>
                <a:lnTo>
                  <a:pt x="24190" y="120952"/>
                </a:lnTo>
                <a:lnTo>
                  <a:pt x="24190" y="157238"/>
                </a:lnTo>
                <a:lnTo>
                  <a:pt x="72571" y="15723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366762" y="2576286"/>
            <a:ext cx="4281714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表与Region元数据管理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66762" y="2914952"/>
            <a:ext cx="4269619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维护hbase:meta表,记录所有Region分布信息和状态变更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7810" y="3302000"/>
            <a:ext cx="483810" cy="483810"/>
          </a:xfrm>
          <a:custGeom>
            <a:avLst/>
            <a:gdLst/>
            <a:ahLst/>
            <a:cxnLst/>
            <a:rect l="l" t="t" r="r" b="b"/>
            <a:pathLst>
              <a:path w="483810" h="483810">
                <a:moveTo>
                  <a:pt x="96762" y="0"/>
                </a:moveTo>
                <a:lnTo>
                  <a:pt x="387048" y="0"/>
                </a:lnTo>
                <a:cubicBezTo>
                  <a:pt x="440488" y="0"/>
                  <a:pt x="483810" y="43322"/>
                  <a:pt x="483810" y="96762"/>
                </a:cubicBezTo>
                <a:lnTo>
                  <a:pt x="483810" y="387048"/>
                </a:lnTo>
                <a:cubicBezTo>
                  <a:pt x="483810" y="440488"/>
                  <a:pt x="440488" y="483810"/>
                  <a:pt x="387048" y="483810"/>
                </a:cubicBezTo>
                <a:lnTo>
                  <a:pt x="96762" y="483810"/>
                </a:lnTo>
                <a:cubicBezTo>
                  <a:pt x="43322" y="483810"/>
                  <a:pt x="0" y="440488"/>
                  <a:pt x="0" y="387048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82952" y="3447143"/>
            <a:ext cx="193524" cy="193524"/>
          </a:xfrm>
          <a:custGeom>
            <a:avLst/>
            <a:gdLst/>
            <a:ahLst/>
            <a:cxnLst/>
            <a:rect l="l" t="t" r="r" b="b"/>
            <a:pathLst>
              <a:path w="193524" h="193524">
                <a:moveTo>
                  <a:pt x="72571" y="96762"/>
                </a:moveTo>
                <a:lnTo>
                  <a:pt x="57641" y="111692"/>
                </a:lnTo>
                <a:cubicBezTo>
                  <a:pt x="52879" y="109840"/>
                  <a:pt x="47738" y="108857"/>
                  <a:pt x="42333" y="108857"/>
                </a:cubicBezTo>
                <a:cubicBezTo>
                  <a:pt x="18937" y="108857"/>
                  <a:pt x="0" y="127794"/>
                  <a:pt x="0" y="151190"/>
                </a:cubicBezTo>
                <a:cubicBezTo>
                  <a:pt x="0" y="174587"/>
                  <a:pt x="18937" y="193524"/>
                  <a:pt x="42333" y="193524"/>
                </a:cubicBezTo>
                <a:cubicBezTo>
                  <a:pt x="65730" y="193524"/>
                  <a:pt x="84667" y="174587"/>
                  <a:pt x="84667" y="151190"/>
                </a:cubicBezTo>
                <a:cubicBezTo>
                  <a:pt x="84667" y="145785"/>
                  <a:pt x="83646" y="140645"/>
                  <a:pt x="81832" y="135882"/>
                </a:cubicBezTo>
                <a:lnTo>
                  <a:pt x="188686" y="29029"/>
                </a:lnTo>
                <a:cubicBezTo>
                  <a:pt x="191369" y="26345"/>
                  <a:pt x="191369" y="22036"/>
                  <a:pt x="188686" y="19352"/>
                </a:cubicBezTo>
                <a:cubicBezTo>
                  <a:pt x="177989" y="8656"/>
                  <a:pt x="160678" y="8656"/>
                  <a:pt x="149981" y="19352"/>
                </a:cubicBezTo>
                <a:lnTo>
                  <a:pt x="96762" y="72571"/>
                </a:lnTo>
                <a:lnTo>
                  <a:pt x="81832" y="57641"/>
                </a:lnTo>
                <a:cubicBezTo>
                  <a:pt x="83684" y="52879"/>
                  <a:pt x="84667" y="47738"/>
                  <a:pt x="84667" y="42333"/>
                </a:cubicBezTo>
                <a:cubicBezTo>
                  <a:pt x="84667" y="18937"/>
                  <a:pt x="65730" y="0"/>
                  <a:pt x="42333" y="0"/>
                </a:cubicBezTo>
                <a:cubicBezTo>
                  <a:pt x="18937" y="0"/>
                  <a:pt x="0" y="18937"/>
                  <a:pt x="0" y="42333"/>
                </a:cubicBezTo>
                <a:cubicBezTo>
                  <a:pt x="0" y="65730"/>
                  <a:pt x="18937" y="84667"/>
                  <a:pt x="42333" y="84667"/>
                </a:cubicBezTo>
                <a:cubicBezTo>
                  <a:pt x="47738" y="84667"/>
                  <a:pt x="52879" y="83646"/>
                  <a:pt x="57641" y="81832"/>
                </a:cubicBezTo>
                <a:lnTo>
                  <a:pt x="72571" y="96762"/>
                </a:lnTo>
                <a:close/>
                <a:moveTo>
                  <a:pt x="109575" y="133766"/>
                </a:moveTo>
                <a:lnTo>
                  <a:pt x="149981" y="174171"/>
                </a:lnTo>
                <a:cubicBezTo>
                  <a:pt x="160678" y="184868"/>
                  <a:pt x="177989" y="184868"/>
                  <a:pt x="188686" y="174171"/>
                </a:cubicBezTo>
                <a:cubicBezTo>
                  <a:pt x="191369" y="171488"/>
                  <a:pt x="191369" y="167179"/>
                  <a:pt x="188686" y="164495"/>
                </a:cubicBezTo>
                <a:lnTo>
                  <a:pt x="133766" y="109575"/>
                </a:lnTo>
                <a:lnTo>
                  <a:pt x="109575" y="133766"/>
                </a:lnTo>
                <a:close/>
                <a:moveTo>
                  <a:pt x="24190" y="42333"/>
                </a:moveTo>
                <a:cubicBezTo>
                  <a:pt x="24190" y="32320"/>
                  <a:pt x="32320" y="24190"/>
                  <a:pt x="42333" y="24190"/>
                </a:cubicBezTo>
                <a:cubicBezTo>
                  <a:pt x="52347" y="24190"/>
                  <a:pt x="60476" y="32320"/>
                  <a:pt x="60476" y="42333"/>
                </a:cubicBezTo>
                <a:cubicBezTo>
                  <a:pt x="60476" y="52347"/>
                  <a:pt x="52347" y="60476"/>
                  <a:pt x="42333" y="60476"/>
                </a:cubicBezTo>
                <a:cubicBezTo>
                  <a:pt x="32320" y="60476"/>
                  <a:pt x="24190" y="52347"/>
                  <a:pt x="24190" y="42333"/>
                </a:cubicBezTo>
                <a:close/>
                <a:moveTo>
                  <a:pt x="42333" y="133048"/>
                </a:moveTo>
                <a:cubicBezTo>
                  <a:pt x="52347" y="133048"/>
                  <a:pt x="60476" y="141177"/>
                  <a:pt x="60476" y="151190"/>
                </a:cubicBezTo>
                <a:cubicBezTo>
                  <a:pt x="60476" y="161204"/>
                  <a:pt x="52347" y="169333"/>
                  <a:pt x="42333" y="169333"/>
                </a:cubicBezTo>
                <a:cubicBezTo>
                  <a:pt x="32320" y="169333"/>
                  <a:pt x="24190" y="161204"/>
                  <a:pt x="24190" y="151190"/>
                </a:cubicBezTo>
                <a:cubicBezTo>
                  <a:pt x="24190" y="141177"/>
                  <a:pt x="32320" y="133048"/>
                  <a:pt x="42333" y="13304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366762" y="3302000"/>
            <a:ext cx="457200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Region分裂与合并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6762" y="3640667"/>
            <a:ext cx="4559905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监控Region大小并自动触发分裂,支持手动合并优化存储布局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7810" y="4027714"/>
            <a:ext cx="483810" cy="483810"/>
          </a:xfrm>
          <a:custGeom>
            <a:avLst/>
            <a:gdLst/>
            <a:ahLst/>
            <a:cxnLst/>
            <a:rect l="l" t="t" r="r" b="b"/>
            <a:pathLst>
              <a:path w="483810" h="483810">
                <a:moveTo>
                  <a:pt x="96762" y="0"/>
                </a:moveTo>
                <a:lnTo>
                  <a:pt x="387048" y="0"/>
                </a:lnTo>
                <a:cubicBezTo>
                  <a:pt x="440488" y="0"/>
                  <a:pt x="483810" y="43322"/>
                  <a:pt x="483810" y="96762"/>
                </a:cubicBezTo>
                <a:lnTo>
                  <a:pt x="483810" y="387048"/>
                </a:lnTo>
                <a:cubicBezTo>
                  <a:pt x="483810" y="440488"/>
                  <a:pt x="440488" y="483810"/>
                  <a:pt x="387048" y="483810"/>
                </a:cubicBezTo>
                <a:lnTo>
                  <a:pt x="96762" y="483810"/>
                </a:lnTo>
                <a:cubicBezTo>
                  <a:pt x="43322" y="483810"/>
                  <a:pt x="0" y="440488"/>
                  <a:pt x="0" y="387048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8762" y="4172857"/>
            <a:ext cx="241905" cy="193524"/>
          </a:xfrm>
          <a:custGeom>
            <a:avLst/>
            <a:gdLst/>
            <a:ahLst/>
            <a:cxnLst/>
            <a:rect l="l" t="t" r="r" b="b"/>
            <a:pathLst>
              <a:path w="241905" h="193524">
                <a:moveTo>
                  <a:pt x="145143" y="12095"/>
                </a:moveTo>
                <a:lnTo>
                  <a:pt x="193524" y="12095"/>
                </a:lnTo>
                <a:cubicBezTo>
                  <a:pt x="200214" y="12095"/>
                  <a:pt x="205619" y="17500"/>
                  <a:pt x="205619" y="24190"/>
                </a:cubicBezTo>
                <a:cubicBezTo>
                  <a:pt x="205619" y="30881"/>
                  <a:pt x="200214" y="36286"/>
                  <a:pt x="193524" y="36286"/>
                </a:cubicBezTo>
                <a:lnTo>
                  <a:pt x="150586" y="36286"/>
                </a:lnTo>
                <a:cubicBezTo>
                  <a:pt x="148620" y="46037"/>
                  <a:pt x="141930" y="54088"/>
                  <a:pt x="133048" y="57944"/>
                </a:cubicBezTo>
                <a:lnTo>
                  <a:pt x="133048" y="169333"/>
                </a:lnTo>
                <a:lnTo>
                  <a:pt x="193524" y="169333"/>
                </a:lnTo>
                <a:cubicBezTo>
                  <a:pt x="200214" y="169333"/>
                  <a:pt x="205619" y="174738"/>
                  <a:pt x="205619" y="181429"/>
                </a:cubicBezTo>
                <a:cubicBezTo>
                  <a:pt x="205619" y="188119"/>
                  <a:pt x="200214" y="193524"/>
                  <a:pt x="193524" y="193524"/>
                </a:cubicBezTo>
                <a:lnTo>
                  <a:pt x="48381" y="193524"/>
                </a:lnTo>
                <a:cubicBezTo>
                  <a:pt x="41691" y="193524"/>
                  <a:pt x="36286" y="188119"/>
                  <a:pt x="36286" y="181429"/>
                </a:cubicBezTo>
                <a:cubicBezTo>
                  <a:pt x="36286" y="174738"/>
                  <a:pt x="41691" y="169333"/>
                  <a:pt x="48381" y="169333"/>
                </a:cubicBezTo>
                <a:lnTo>
                  <a:pt x="108857" y="169333"/>
                </a:lnTo>
                <a:lnTo>
                  <a:pt x="108857" y="57944"/>
                </a:lnTo>
                <a:cubicBezTo>
                  <a:pt x="99975" y="54051"/>
                  <a:pt x="93285" y="46000"/>
                  <a:pt x="91319" y="36286"/>
                </a:cubicBezTo>
                <a:lnTo>
                  <a:pt x="48381" y="36286"/>
                </a:lnTo>
                <a:cubicBezTo>
                  <a:pt x="41691" y="36286"/>
                  <a:pt x="36286" y="30881"/>
                  <a:pt x="36286" y="24190"/>
                </a:cubicBezTo>
                <a:cubicBezTo>
                  <a:pt x="36286" y="17500"/>
                  <a:pt x="41691" y="12095"/>
                  <a:pt x="48381" y="12095"/>
                </a:cubicBezTo>
                <a:lnTo>
                  <a:pt x="96762" y="12095"/>
                </a:lnTo>
                <a:cubicBezTo>
                  <a:pt x="102280" y="4763"/>
                  <a:pt x="111049" y="0"/>
                  <a:pt x="120952" y="0"/>
                </a:cubicBezTo>
                <a:cubicBezTo>
                  <a:pt x="130855" y="0"/>
                  <a:pt x="139624" y="4763"/>
                  <a:pt x="145143" y="12095"/>
                </a:cubicBezTo>
                <a:close/>
                <a:moveTo>
                  <a:pt x="166158" y="120952"/>
                </a:moveTo>
                <a:lnTo>
                  <a:pt x="220889" y="120952"/>
                </a:lnTo>
                <a:lnTo>
                  <a:pt x="193524" y="74008"/>
                </a:lnTo>
                <a:lnTo>
                  <a:pt x="166158" y="120952"/>
                </a:lnTo>
                <a:close/>
                <a:moveTo>
                  <a:pt x="193524" y="157238"/>
                </a:moveTo>
                <a:cubicBezTo>
                  <a:pt x="169749" y="157238"/>
                  <a:pt x="149981" y="144387"/>
                  <a:pt x="145899" y="127416"/>
                </a:cubicBezTo>
                <a:cubicBezTo>
                  <a:pt x="144916" y="123258"/>
                  <a:pt x="146277" y="118987"/>
                  <a:pt x="148431" y="115283"/>
                </a:cubicBezTo>
                <a:lnTo>
                  <a:pt x="184415" y="53597"/>
                </a:lnTo>
                <a:cubicBezTo>
                  <a:pt x="186304" y="50346"/>
                  <a:pt x="189782" y="48381"/>
                  <a:pt x="193524" y="48381"/>
                </a:cubicBezTo>
                <a:cubicBezTo>
                  <a:pt x="197266" y="48381"/>
                  <a:pt x="200743" y="50384"/>
                  <a:pt x="202633" y="53597"/>
                </a:cubicBezTo>
                <a:lnTo>
                  <a:pt x="238616" y="115283"/>
                </a:lnTo>
                <a:cubicBezTo>
                  <a:pt x="240771" y="118987"/>
                  <a:pt x="242132" y="123258"/>
                  <a:pt x="241149" y="127416"/>
                </a:cubicBezTo>
                <a:cubicBezTo>
                  <a:pt x="237067" y="144349"/>
                  <a:pt x="217299" y="157238"/>
                  <a:pt x="193524" y="157238"/>
                </a:cubicBezTo>
                <a:close/>
                <a:moveTo>
                  <a:pt x="47927" y="74008"/>
                </a:moveTo>
                <a:lnTo>
                  <a:pt x="20562" y="120952"/>
                </a:lnTo>
                <a:lnTo>
                  <a:pt x="75331" y="120952"/>
                </a:lnTo>
                <a:lnTo>
                  <a:pt x="47927" y="74008"/>
                </a:lnTo>
                <a:close/>
                <a:moveTo>
                  <a:pt x="340" y="127416"/>
                </a:moveTo>
                <a:cubicBezTo>
                  <a:pt x="-643" y="123258"/>
                  <a:pt x="718" y="118987"/>
                  <a:pt x="2873" y="115283"/>
                </a:cubicBezTo>
                <a:lnTo>
                  <a:pt x="38856" y="53597"/>
                </a:lnTo>
                <a:cubicBezTo>
                  <a:pt x="40746" y="50346"/>
                  <a:pt x="44223" y="48381"/>
                  <a:pt x="47965" y="48381"/>
                </a:cubicBezTo>
                <a:cubicBezTo>
                  <a:pt x="51707" y="48381"/>
                  <a:pt x="55185" y="50384"/>
                  <a:pt x="57074" y="53597"/>
                </a:cubicBezTo>
                <a:lnTo>
                  <a:pt x="93058" y="115283"/>
                </a:lnTo>
                <a:cubicBezTo>
                  <a:pt x="95212" y="118987"/>
                  <a:pt x="96573" y="123258"/>
                  <a:pt x="95590" y="127416"/>
                </a:cubicBezTo>
                <a:cubicBezTo>
                  <a:pt x="91508" y="144349"/>
                  <a:pt x="71740" y="157238"/>
                  <a:pt x="47965" y="157238"/>
                </a:cubicBezTo>
                <a:cubicBezTo>
                  <a:pt x="24190" y="157238"/>
                  <a:pt x="4422" y="144387"/>
                  <a:pt x="340" y="12741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366762" y="4027714"/>
            <a:ext cx="459619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故障转移与负载均衡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66762" y="4366381"/>
            <a:ext cx="4584095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检测RegionServer故障并重新分配Region,实现自动负载均衡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810" y="4753429"/>
            <a:ext cx="483810" cy="483810"/>
          </a:xfrm>
          <a:custGeom>
            <a:avLst/>
            <a:gdLst/>
            <a:ahLst/>
            <a:cxnLst/>
            <a:rect l="l" t="t" r="r" b="b"/>
            <a:pathLst>
              <a:path w="483810" h="483810">
                <a:moveTo>
                  <a:pt x="96762" y="0"/>
                </a:moveTo>
                <a:lnTo>
                  <a:pt x="387048" y="0"/>
                </a:lnTo>
                <a:cubicBezTo>
                  <a:pt x="440488" y="0"/>
                  <a:pt x="483810" y="43322"/>
                  <a:pt x="483810" y="96762"/>
                </a:cubicBezTo>
                <a:lnTo>
                  <a:pt x="483810" y="387048"/>
                </a:lnTo>
                <a:cubicBezTo>
                  <a:pt x="483810" y="440488"/>
                  <a:pt x="440488" y="483810"/>
                  <a:pt x="387048" y="483810"/>
                </a:cubicBezTo>
                <a:lnTo>
                  <a:pt x="96762" y="483810"/>
                </a:lnTo>
                <a:cubicBezTo>
                  <a:pt x="43322" y="483810"/>
                  <a:pt x="0" y="440488"/>
                  <a:pt x="0" y="387048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2952" y="4898571"/>
            <a:ext cx="193524" cy="193524"/>
          </a:xfrm>
          <a:custGeom>
            <a:avLst/>
            <a:gdLst/>
            <a:ahLst/>
            <a:cxnLst/>
            <a:rect l="l" t="t" r="r" b="b"/>
            <a:pathLst>
              <a:path w="193524" h="193524">
                <a:moveTo>
                  <a:pt x="96762" y="0"/>
                </a:moveTo>
                <a:cubicBezTo>
                  <a:pt x="98501" y="0"/>
                  <a:pt x="100239" y="378"/>
                  <a:pt x="101827" y="1096"/>
                </a:cubicBezTo>
                <a:lnTo>
                  <a:pt x="173038" y="31296"/>
                </a:lnTo>
                <a:cubicBezTo>
                  <a:pt x="181353" y="34812"/>
                  <a:pt x="187552" y="43014"/>
                  <a:pt x="187514" y="52917"/>
                </a:cubicBezTo>
                <a:cubicBezTo>
                  <a:pt x="187325" y="90412"/>
                  <a:pt x="171904" y="159015"/>
                  <a:pt x="106778" y="190198"/>
                </a:cubicBezTo>
                <a:cubicBezTo>
                  <a:pt x="100466" y="193221"/>
                  <a:pt x="93133" y="193221"/>
                  <a:pt x="86821" y="190198"/>
                </a:cubicBezTo>
                <a:cubicBezTo>
                  <a:pt x="21658" y="159015"/>
                  <a:pt x="6274" y="90412"/>
                  <a:pt x="6085" y="52917"/>
                </a:cubicBezTo>
                <a:cubicBezTo>
                  <a:pt x="6048" y="43014"/>
                  <a:pt x="12246" y="34812"/>
                  <a:pt x="20562" y="31296"/>
                </a:cubicBezTo>
                <a:lnTo>
                  <a:pt x="91735" y="1096"/>
                </a:lnTo>
                <a:cubicBezTo>
                  <a:pt x="93322" y="378"/>
                  <a:pt x="95023" y="0"/>
                  <a:pt x="96762" y="0"/>
                </a:cubicBezTo>
                <a:close/>
                <a:moveTo>
                  <a:pt x="96762" y="25249"/>
                </a:moveTo>
                <a:lnTo>
                  <a:pt x="96762" y="168162"/>
                </a:lnTo>
                <a:cubicBezTo>
                  <a:pt x="148923" y="142913"/>
                  <a:pt x="162946" y="86972"/>
                  <a:pt x="163286" y="53484"/>
                </a:cubicBezTo>
                <a:lnTo>
                  <a:pt x="96762" y="25287"/>
                </a:lnTo>
                <a:lnTo>
                  <a:pt x="96762" y="25287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366762" y="4753429"/>
            <a:ext cx="364066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权限控制与命名空间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66762" y="5092095"/>
            <a:ext cx="3628571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提供基于ACL的访问控制和多租户命名空间支持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7810" y="5479143"/>
            <a:ext cx="483810" cy="483810"/>
          </a:xfrm>
          <a:custGeom>
            <a:avLst/>
            <a:gdLst/>
            <a:ahLst/>
            <a:cxnLst/>
            <a:rect l="l" t="t" r="r" b="b"/>
            <a:pathLst>
              <a:path w="483810" h="483810">
                <a:moveTo>
                  <a:pt x="96762" y="0"/>
                </a:moveTo>
                <a:lnTo>
                  <a:pt x="387048" y="0"/>
                </a:lnTo>
                <a:cubicBezTo>
                  <a:pt x="440488" y="0"/>
                  <a:pt x="483810" y="43322"/>
                  <a:pt x="483810" y="96762"/>
                </a:cubicBezTo>
                <a:lnTo>
                  <a:pt x="483810" y="387048"/>
                </a:lnTo>
                <a:cubicBezTo>
                  <a:pt x="483810" y="440488"/>
                  <a:pt x="440488" y="483810"/>
                  <a:pt x="387048" y="483810"/>
                </a:cubicBezTo>
                <a:lnTo>
                  <a:pt x="96762" y="483810"/>
                </a:lnTo>
                <a:cubicBezTo>
                  <a:pt x="43322" y="483810"/>
                  <a:pt x="0" y="440488"/>
                  <a:pt x="0" y="387048"/>
                </a:cubicBezTo>
                <a:lnTo>
                  <a:pt x="0" y="96762"/>
                </a:lnTo>
                <a:cubicBezTo>
                  <a:pt x="0" y="43358"/>
                  <a:pt x="43358" y="0"/>
                  <a:pt x="967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82952" y="5624286"/>
            <a:ext cx="193524" cy="193524"/>
          </a:xfrm>
          <a:custGeom>
            <a:avLst/>
            <a:gdLst/>
            <a:ahLst/>
            <a:cxnLst/>
            <a:rect l="l" t="t" r="r" b="b"/>
            <a:pathLst>
              <a:path w="193524" h="193524">
                <a:moveTo>
                  <a:pt x="24190" y="24190"/>
                </a:moveTo>
                <a:cubicBezTo>
                  <a:pt x="24190" y="17500"/>
                  <a:pt x="18785" y="12095"/>
                  <a:pt x="12095" y="12095"/>
                </a:cubicBezTo>
                <a:cubicBezTo>
                  <a:pt x="5405" y="12095"/>
                  <a:pt x="0" y="17500"/>
                  <a:pt x="0" y="24190"/>
                </a:cubicBezTo>
                <a:lnTo>
                  <a:pt x="0" y="151190"/>
                </a:lnTo>
                <a:cubicBezTo>
                  <a:pt x="0" y="167897"/>
                  <a:pt x="13532" y="181429"/>
                  <a:pt x="30238" y="181429"/>
                </a:cubicBezTo>
                <a:lnTo>
                  <a:pt x="181429" y="181429"/>
                </a:lnTo>
                <a:cubicBezTo>
                  <a:pt x="188119" y="181429"/>
                  <a:pt x="193524" y="176024"/>
                  <a:pt x="193524" y="169333"/>
                </a:cubicBezTo>
                <a:cubicBezTo>
                  <a:pt x="193524" y="162643"/>
                  <a:pt x="188119" y="157238"/>
                  <a:pt x="181429" y="157238"/>
                </a:cubicBezTo>
                <a:lnTo>
                  <a:pt x="30238" y="157238"/>
                </a:lnTo>
                <a:cubicBezTo>
                  <a:pt x="26912" y="157238"/>
                  <a:pt x="24190" y="154517"/>
                  <a:pt x="24190" y="151190"/>
                </a:cubicBezTo>
                <a:lnTo>
                  <a:pt x="24190" y="24190"/>
                </a:lnTo>
                <a:close/>
                <a:moveTo>
                  <a:pt x="177876" y="56923"/>
                </a:moveTo>
                <a:cubicBezTo>
                  <a:pt x="182600" y="52199"/>
                  <a:pt x="182600" y="44526"/>
                  <a:pt x="177876" y="39801"/>
                </a:cubicBezTo>
                <a:cubicBezTo>
                  <a:pt x="173151" y="35076"/>
                  <a:pt x="165478" y="35076"/>
                  <a:pt x="160753" y="39801"/>
                </a:cubicBezTo>
                <a:lnTo>
                  <a:pt x="120952" y="79640"/>
                </a:lnTo>
                <a:lnTo>
                  <a:pt x="99257" y="57982"/>
                </a:lnTo>
                <a:cubicBezTo>
                  <a:pt x="94532" y="53257"/>
                  <a:pt x="86859" y="53257"/>
                  <a:pt x="82134" y="57982"/>
                </a:cubicBezTo>
                <a:lnTo>
                  <a:pt x="45849" y="94267"/>
                </a:lnTo>
                <a:cubicBezTo>
                  <a:pt x="41124" y="98992"/>
                  <a:pt x="41124" y="106665"/>
                  <a:pt x="45849" y="111390"/>
                </a:cubicBezTo>
                <a:cubicBezTo>
                  <a:pt x="50573" y="116114"/>
                  <a:pt x="58246" y="116114"/>
                  <a:pt x="62971" y="111390"/>
                </a:cubicBezTo>
                <a:lnTo>
                  <a:pt x="90714" y="83646"/>
                </a:lnTo>
                <a:lnTo>
                  <a:pt x="112410" y="105342"/>
                </a:lnTo>
                <a:cubicBezTo>
                  <a:pt x="117135" y="110067"/>
                  <a:pt x="124808" y="110067"/>
                  <a:pt x="129532" y="105342"/>
                </a:cubicBezTo>
                <a:lnTo>
                  <a:pt x="177913" y="5696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366762" y="5479143"/>
            <a:ext cx="3652762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集群状态监控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66762" y="5817810"/>
            <a:ext cx="3640667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收集和展示集群健康状态、性能指标和运行日志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9857" y="6513286"/>
            <a:ext cx="7511143" cy="1947333"/>
          </a:xfrm>
          <a:custGeom>
            <a:avLst/>
            <a:gdLst/>
            <a:ahLst/>
            <a:cxnLst/>
            <a:rect l="l" t="t" r="r" b="b"/>
            <a:pathLst>
              <a:path w="7511143" h="1947333">
                <a:moveTo>
                  <a:pt x="96763" y="0"/>
                </a:moveTo>
                <a:lnTo>
                  <a:pt x="7414380" y="0"/>
                </a:lnTo>
                <a:cubicBezTo>
                  <a:pt x="7467821" y="0"/>
                  <a:pt x="7511143" y="43322"/>
                  <a:pt x="7511143" y="96763"/>
                </a:cubicBezTo>
                <a:lnTo>
                  <a:pt x="7511143" y="1850570"/>
                </a:lnTo>
                <a:cubicBezTo>
                  <a:pt x="7511143" y="1904011"/>
                  <a:pt x="7467821" y="1947333"/>
                  <a:pt x="7414380" y="1947333"/>
                </a:cubicBezTo>
                <a:lnTo>
                  <a:pt x="96763" y="1947333"/>
                </a:lnTo>
                <a:cubicBezTo>
                  <a:pt x="43322" y="1947333"/>
                  <a:pt x="0" y="1904011"/>
                  <a:pt x="0" y="1850570"/>
                </a:cubicBezTo>
                <a:lnTo>
                  <a:pt x="0" y="96763"/>
                </a:lnTo>
                <a:cubicBezTo>
                  <a:pt x="0" y="43322"/>
                  <a:pt x="43322" y="0"/>
                  <a:pt x="9676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9429" y="6712857"/>
            <a:ext cx="722085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4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高可用架构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25714" y="7245048"/>
            <a:ext cx="169333" cy="193524"/>
          </a:xfrm>
          <a:custGeom>
            <a:avLst/>
            <a:gdLst/>
            <a:ahLst/>
            <a:cxnLst/>
            <a:rect l="l" t="t" r="r" b="b"/>
            <a:pathLst>
              <a:path w="169333" h="193524">
                <a:moveTo>
                  <a:pt x="164344" y="26496"/>
                </a:moveTo>
                <a:cubicBezTo>
                  <a:pt x="169749" y="30427"/>
                  <a:pt x="170959" y="37987"/>
                  <a:pt x="167028" y="43392"/>
                </a:cubicBezTo>
                <a:lnTo>
                  <a:pt x="70266" y="176439"/>
                </a:lnTo>
                <a:cubicBezTo>
                  <a:pt x="68187" y="179312"/>
                  <a:pt x="64974" y="181088"/>
                  <a:pt x="61421" y="181391"/>
                </a:cubicBezTo>
                <a:cubicBezTo>
                  <a:pt x="57868" y="181693"/>
                  <a:pt x="54429" y="180370"/>
                  <a:pt x="51934" y="177876"/>
                </a:cubicBezTo>
                <a:lnTo>
                  <a:pt x="3553" y="129495"/>
                </a:lnTo>
                <a:cubicBezTo>
                  <a:pt x="-1172" y="124770"/>
                  <a:pt x="-1172" y="117097"/>
                  <a:pt x="3553" y="112372"/>
                </a:cubicBezTo>
                <a:cubicBezTo>
                  <a:pt x="8278" y="107648"/>
                  <a:pt x="15951" y="107648"/>
                  <a:pt x="20675" y="112372"/>
                </a:cubicBezTo>
                <a:lnTo>
                  <a:pt x="59040" y="150737"/>
                </a:lnTo>
                <a:lnTo>
                  <a:pt x="147486" y="29142"/>
                </a:lnTo>
                <a:cubicBezTo>
                  <a:pt x="151417" y="23737"/>
                  <a:pt x="158977" y="22527"/>
                  <a:pt x="164382" y="2645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28095" y="7196667"/>
            <a:ext cx="200781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HMaster支持主备模式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5714" y="7632095"/>
            <a:ext cx="169333" cy="193524"/>
          </a:xfrm>
          <a:custGeom>
            <a:avLst/>
            <a:gdLst/>
            <a:ahLst/>
            <a:cxnLst/>
            <a:rect l="l" t="t" r="r" b="b"/>
            <a:pathLst>
              <a:path w="169333" h="193524">
                <a:moveTo>
                  <a:pt x="164344" y="26496"/>
                </a:moveTo>
                <a:cubicBezTo>
                  <a:pt x="169749" y="30427"/>
                  <a:pt x="170959" y="37987"/>
                  <a:pt x="167028" y="43392"/>
                </a:cubicBezTo>
                <a:lnTo>
                  <a:pt x="70266" y="176439"/>
                </a:lnTo>
                <a:cubicBezTo>
                  <a:pt x="68187" y="179312"/>
                  <a:pt x="64974" y="181088"/>
                  <a:pt x="61421" y="181391"/>
                </a:cubicBezTo>
                <a:cubicBezTo>
                  <a:pt x="57868" y="181693"/>
                  <a:pt x="54429" y="180370"/>
                  <a:pt x="51934" y="177876"/>
                </a:cubicBezTo>
                <a:lnTo>
                  <a:pt x="3553" y="129495"/>
                </a:lnTo>
                <a:cubicBezTo>
                  <a:pt x="-1172" y="124770"/>
                  <a:pt x="-1172" y="117097"/>
                  <a:pt x="3553" y="112372"/>
                </a:cubicBezTo>
                <a:cubicBezTo>
                  <a:pt x="8278" y="107648"/>
                  <a:pt x="15951" y="107648"/>
                  <a:pt x="20675" y="112372"/>
                </a:cubicBezTo>
                <a:lnTo>
                  <a:pt x="59040" y="150737"/>
                </a:lnTo>
                <a:lnTo>
                  <a:pt x="147486" y="29142"/>
                </a:lnTo>
                <a:cubicBezTo>
                  <a:pt x="151417" y="23737"/>
                  <a:pt x="158977" y="22527"/>
                  <a:pt x="164382" y="2645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28095" y="7583714"/>
            <a:ext cx="284238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通过ZooKeeper实现Leader选举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5714" y="8019143"/>
            <a:ext cx="169333" cy="193524"/>
          </a:xfrm>
          <a:custGeom>
            <a:avLst/>
            <a:gdLst/>
            <a:ahLst/>
            <a:cxnLst/>
            <a:rect l="l" t="t" r="r" b="b"/>
            <a:pathLst>
              <a:path w="169333" h="193524">
                <a:moveTo>
                  <a:pt x="164344" y="26496"/>
                </a:moveTo>
                <a:cubicBezTo>
                  <a:pt x="169749" y="30427"/>
                  <a:pt x="170959" y="37987"/>
                  <a:pt x="167028" y="43392"/>
                </a:cubicBezTo>
                <a:lnTo>
                  <a:pt x="70266" y="176439"/>
                </a:lnTo>
                <a:cubicBezTo>
                  <a:pt x="68187" y="179312"/>
                  <a:pt x="64974" y="181088"/>
                  <a:pt x="61421" y="181391"/>
                </a:cubicBezTo>
                <a:cubicBezTo>
                  <a:pt x="57868" y="181693"/>
                  <a:pt x="54429" y="180370"/>
                  <a:pt x="51934" y="177876"/>
                </a:cubicBezTo>
                <a:lnTo>
                  <a:pt x="3553" y="129495"/>
                </a:lnTo>
                <a:cubicBezTo>
                  <a:pt x="-1172" y="124770"/>
                  <a:pt x="-1172" y="117097"/>
                  <a:pt x="3553" y="112372"/>
                </a:cubicBezTo>
                <a:cubicBezTo>
                  <a:pt x="8278" y="107648"/>
                  <a:pt x="15951" y="107648"/>
                  <a:pt x="20675" y="112372"/>
                </a:cubicBezTo>
                <a:lnTo>
                  <a:pt x="59040" y="150737"/>
                </a:lnTo>
                <a:lnTo>
                  <a:pt x="147486" y="29142"/>
                </a:lnTo>
                <a:cubicBezTo>
                  <a:pt x="151417" y="23737"/>
                  <a:pt x="158977" y="22527"/>
                  <a:pt x="164382" y="2645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28095" y="7970762"/>
            <a:ext cx="2806095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HMaster故障时自动切换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5000" y="1796143"/>
            <a:ext cx="7511143" cy="6664476"/>
          </a:xfrm>
          <a:custGeom>
            <a:avLst/>
            <a:gdLst/>
            <a:ahLst/>
            <a:cxnLst/>
            <a:rect l="l" t="t" r="r" b="b"/>
            <a:pathLst>
              <a:path w="7511143" h="6664476">
                <a:moveTo>
                  <a:pt x="96768" y="0"/>
                </a:moveTo>
                <a:lnTo>
                  <a:pt x="7414375" y="0"/>
                </a:lnTo>
                <a:cubicBezTo>
                  <a:pt x="7467818" y="0"/>
                  <a:pt x="7511143" y="43325"/>
                  <a:pt x="7511143" y="96768"/>
                </a:cubicBezTo>
                <a:lnTo>
                  <a:pt x="7511143" y="6567708"/>
                </a:lnTo>
                <a:cubicBezTo>
                  <a:pt x="7511143" y="6621152"/>
                  <a:pt x="7467818" y="6664476"/>
                  <a:pt x="7414375" y="6664476"/>
                </a:cubicBezTo>
                <a:lnTo>
                  <a:pt x="96768" y="6664476"/>
                </a:lnTo>
                <a:cubicBezTo>
                  <a:pt x="43325" y="6664476"/>
                  <a:pt x="0" y="6621152"/>
                  <a:pt x="0" y="6567708"/>
                </a:cubicBezTo>
                <a:lnTo>
                  <a:pt x="0" y="96768"/>
                </a:lnTo>
                <a:cubicBezTo>
                  <a:pt x="0" y="43360"/>
                  <a:pt x="43360" y="0"/>
                  <a:pt x="9676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02952" y="2044095"/>
            <a:ext cx="713619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5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Region分配逻辑(简化版)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2952" y="2675032"/>
            <a:ext cx="7015238" cy="1016000"/>
          </a:xfrm>
          <a:custGeom>
            <a:avLst/>
            <a:gdLst/>
            <a:ahLst/>
            <a:cxnLst/>
            <a:rect l="l" t="t" r="r" b="b"/>
            <a:pathLst>
              <a:path w="7015238" h="1016000">
                <a:moveTo>
                  <a:pt x="48382" y="0"/>
                </a:moveTo>
                <a:lnTo>
                  <a:pt x="6966856" y="0"/>
                </a:lnTo>
                <a:cubicBezTo>
                  <a:pt x="6993577" y="0"/>
                  <a:pt x="7015238" y="21661"/>
                  <a:pt x="7015238" y="48382"/>
                </a:cubicBezTo>
                <a:lnTo>
                  <a:pt x="7015238" y="967618"/>
                </a:lnTo>
                <a:cubicBezTo>
                  <a:pt x="7015238" y="994339"/>
                  <a:pt x="6993577" y="1016000"/>
                  <a:pt x="6966856" y="1016000"/>
                </a:cubicBezTo>
                <a:lnTo>
                  <a:pt x="48382" y="1016000"/>
                </a:lnTo>
                <a:cubicBezTo>
                  <a:pt x="21661" y="1016000"/>
                  <a:pt x="0" y="994339"/>
                  <a:pt x="0" y="967618"/>
                </a:cubicBezTo>
                <a:lnTo>
                  <a:pt x="0" y="48382"/>
                </a:lnTo>
                <a:cubicBezTo>
                  <a:pt x="0" y="21679"/>
                  <a:pt x="21679" y="0"/>
                  <a:pt x="483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96476" y="2868556"/>
            <a:ext cx="6724952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获取可用RegionServer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96476" y="3255603"/>
            <a:ext cx="6712857" cy="241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 onlineServers = getOnlineServers();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02952" y="3888525"/>
            <a:ext cx="7015238" cy="1257905"/>
          </a:xfrm>
          <a:custGeom>
            <a:avLst/>
            <a:gdLst/>
            <a:ahLst/>
            <a:cxnLst/>
            <a:rect l="l" t="t" r="r" b="b"/>
            <a:pathLst>
              <a:path w="7015238" h="1257905">
                <a:moveTo>
                  <a:pt x="48379" y="0"/>
                </a:moveTo>
                <a:lnTo>
                  <a:pt x="6966859" y="0"/>
                </a:lnTo>
                <a:cubicBezTo>
                  <a:pt x="6993578" y="0"/>
                  <a:pt x="7015238" y="21660"/>
                  <a:pt x="7015238" y="48379"/>
                </a:cubicBezTo>
                <a:lnTo>
                  <a:pt x="7015238" y="1209526"/>
                </a:lnTo>
                <a:cubicBezTo>
                  <a:pt x="7015238" y="1236245"/>
                  <a:pt x="6993578" y="1257905"/>
                  <a:pt x="6966859" y="1257905"/>
                </a:cubicBezTo>
                <a:lnTo>
                  <a:pt x="48379" y="1257905"/>
                </a:lnTo>
                <a:cubicBezTo>
                  <a:pt x="21660" y="1257905"/>
                  <a:pt x="0" y="1236245"/>
                  <a:pt x="0" y="1209526"/>
                </a:cubicBezTo>
                <a:lnTo>
                  <a:pt x="0" y="48379"/>
                </a:lnTo>
                <a:cubicBezTo>
                  <a:pt x="0" y="21660"/>
                  <a:pt x="21660" y="0"/>
                  <a:pt x="483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96476" y="4082048"/>
            <a:ext cx="6724952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负载均衡策略选择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96476" y="4469096"/>
            <a:ext cx="6712857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ServerName targetServer = loadBalancer .selectServer(regionInfo, onlineServers);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02952" y="5343922"/>
            <a:ext cx="7015238" cy="1257905"/>
          </a:xfrm>
          <a:custGeom>
            <a:avLst/>
            <a:gdLst/>
            <a:ahLst/>
            <a:cxnLst/>
            <a:rect l="l" t="t" r="r" b="b"/>
            <a:pathLst>
              <a:path w="7015238" h="1257905">
                <a:moveTo>
                  <a:pt x="48379" y="0"/>
                </a:moveTo>
                <a:lnTo>
                  <a:pt x="6966859" y="0"/>
                </a:lnTo>
                <a:cubicBezTo>
                  <a:pt x="6993578" y="0"/>
                  <a:pt x="7015238" y="21660"/>
                  <a:pt x="7015238" y="48379"/>
                </a:cubicBezTo>
                <a:lnTo>
                  <a:pt x="7015238" y="1209526"/>
                </a:lnTo>
                <a:cubicBezTo>
                  <a:pt x="7015238" y="1236245"/>
                  <a:pt x="6993578" y="1257905"/>
                  <a:pt x="6966859" y="1257905"/>
                </a:cubicBezTo>
                <a:lnTo>
                  <a:pt x="48379" y="1257905"/>
                </a:lnTo>
                <a:cubicBezTo>
                  <a:pt x="21660" y="1257905"/>
                  <a:pt x="0" y="1236245"/>
                  <a:pt x="0" y="1209526"/>
                </a:cubicBezTo>
                <a:lnTo>
                  <a:pt x="0" y="48379"/>
                </a:lnTo>
                <a:cubicBezTo>
                  <a:pt x="0" y="21660"/>
                  <a:pt x="21660" y="0"/>
                  <a:pt x="483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96476" y="5537446"/>
            <a:ext cx="6724952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创建分配节点并通知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96476" y="5924493"/>
            <a:ext cx="6712857" cy="4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createAssignmentNode(regionInfo, targetServer); notifyRegionServerLoadRegion(targetServer, regionInfo);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02952" y="6900333"/>
            <a:ext cx="7015238" cy="12095"/>
          </a:xfrm>
          <a:custGeom>
            <a:avLst/>
            <a:gdLst/>
            <a:ahLst/>
            <a:cxnLst/>
            <a:rect l="l" t="t" r="r" b="b"/>
            <a:pathLst>
              <a:path w="7015238" h="12095">
                <a:moveTo>
                  <a:pt x="0" y="0"/>
                </a:moveTo>
                <a:lnTo>
                  <a:pt x="7015238" y="0"/>
                </a:lnTo>
                <a:lnTo>
                  <a:pt x="7015238" y="12095"/>
                </a:lnTo>
                <a:lnTo>
                  <a:pt x="0" y="12095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02952" y="7099905"/>
            <a:ext cx="7112000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负载均衡策略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37726" y="7595810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811381" y="7535333"/>
            <a:ext cx="26488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考虑服务器负载、Region数量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37726" y="798285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811381" y="7922381"/>
            <a:ext cx="2419048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数据本地性、读写负载均衡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8000" y="8623614"/>
            <a:ext cx="48381" cy="483810"/>
          </a:xfrm>
          <a:custGeom>
            <a:avLst/>
            <a:gdLst/>
            <a:ahLst/>
            <a:cxnLst/>
            <a:rect l="l" t="t" r="r" b="b"/>
            <a:pathLst>
              <a:path w="48381" h="483810">
                <a:moveTo>
                  <a:pt x="0" y="0"/>
                </a:moveTo>
                <a:lnTo>
                  <a:pt x="48381" y="0"/>
                </a:lnTo>
                <a:lnTo>
                  <a:pt x="48381" y="483810"/>
                </a:lnTo>
                <a:lnTo>
                  <a:pt x="0" y="48381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49905" y="8774805"/>
            <a:ext cx="193524" cy="193524"/>
          </a:xfrm>
          <a:custGeom>
            <a:avLst/>
            <a:gdLst/>
            <a:ahLst/>
            <a:cxnLst/>
            <a:rect l="l" t="t" r="r" b="b"/>
            <a:pathLst>
              <a:path w="193524" h="193524">
                <a:moveTo>
                  <a:pt x="96762" y="193524"/>
                </a:moveTo>
                <a:cubicBezTo>
                  <a:pt x="150166" y="193524"/>
                  <a:pt x="193524" y="150166"/>
                  <a:pt x="193524" y="96762"/>
                </a:cubicBezTo>
                <a:cubicBezTo>
                  <a:pt x="193524" y="43358"/>
                  <a:pt x="150166" y="0"/>
                  <a:pt x="96762" y="0"/>
                </a:cubicBezTo>
                <a:cubicBezTo>
                  <a:pt x="43358" y="0"/>
                  <a:pt x="0" y="43358"/>
                  <a:pt x="0" y="96762"/>
                </a:cubicBezTo>
                <a:cubicBezTo>
                  <a:pt x="0" y="150166"/>
                  <a:pt x="43358" y="193524"/>
                  <a:pt x="96762" y="193524"/>
                </a:cubicBezTo>
                <a:close/>
                <a:moveTo>
                  <a:pt x="84667" y="60476"/>
                </a:moveTo>
                <a:cubicBezTo>
                  <a:pt x="84667" y="53801"/>
                  <a:pt x="90086" y="48381"/>
                  <a:pt x="96762" y="48381"/>
                </a:cubicBezTo>
                <a:cubicBezTo>
                  <a:pt x="103437" y="48381"/>
                  <a:pt x="108857" y="53801"/>
                  <a:pt x="108857" y="60476"/>
                </a:cubicBezTo>
                <a:cubicBezTo>
                  <a:pt x="108857" y="67152"/>
                  <a:pt x="103437" y="72571"/>
                  <a:pt x="96762" y="72571"/>
                </a:cubicBezTo>
                <a:cubicBezTo>
                  <a:pt x="90086" y="72571"/>
                  <a:pt x="84667" y="67152"/>
                  <a:pt x="84667" y="60476"/>
                </a:cubicBezTo>
                <a:close/>
                <a:moveTo>
                  <a:pt x="81643" y="84667"/>
                </a:moveTo>
                <a:lnTo>
                  <a:pt x="99786" y="84667"/>
                </a:lnTo>
                <a:cubicBezTo>
                  <a:pt x="104813" y="84667"/>
                  <a:pt x="108857" y="88711"/>
                  <a:pt x="108857" y="93738"/>
                </a:cubicBezTo>
                <a:lnTo>
                  <a:pt x="108857" y="127000"/>
                </a:lnTo>
                <a:lnTo>
                  <a:pt x="111881" y="127000"/>
                </a:lnTo>
                <a:cubicBezTo>
                  <a:pt x="116908" y="127000"/>
                  <a:pt x="120952" y="131044"/>
                  <a:pt x="120952" y="136071"/>
                </a:cubicBezTo>
                <a:cubicBezTo>
                  <a:pt x="120952" y="141099"/>
                  <a:pt x="116908" y="145143"/>
                  <a:pt x="111881" y="145143"/>
                </a:cubicBezTo>
                <a:lnTo>
                  <a:pt x="81643" y="145143"/>
                </a:lnTo>
                <a:cubicBezTo>
                  <a:pt x="76616" y="145143"/>
                  <a:pt x="72571" y="141099"/>
                  <a:pt x="72571" y="136071"/>
                </a:cubicBezTo>
                <a:cubicBezTo>
                  <a:pt x="72571" y="131044"/>
                  <a:pt x="76616" y="127000"/>
                  <a:pt x="81643" y="127000"/>
                </a:cubicBezTo>
                <a:lnTo>
                  <a:pt x="90714" y="127000"/>
                </a:lnTo>
                <a:lnTo>
                  <a:pt x="90714" y="102810"/>
                </a:lnTo>
                <a:lnTo>
                  <a:pt x="81643" y="102810"/>
                </a:lnTo>
                <a:cubicBezTo>
                  <a:pt x="76616" y="102810"/>
                  <a:pt x="72571" y="98765"/>
                  <a:pt x="72571" y="93738"/>
                </a:cubicBezTo>
                <a:cubicBezTo>
                  <a:pt x="72571" y="88711"/>
                  <a:pt x="76616" y="84667"/>
                  <a:pt x="81643" y="8466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059773" y="8720376"/>
            <a:ext cx="14809179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4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设计优势:</a:t>
            </a:r>
            <a:r>
              <a:rPr lang="en-US" sz="152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HMaster不直接处理读写请求,专注集群管理。即使HMaster故障,RegionServer仍可正常服务(需等待新HMaster完成Region重新分配)。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133" y="451556"/>
            <a:ext cx="1828800" cy="451556"/>
          </a:xfrm>
          <a:custGeom>
            <a:avLst/>
            <a:gdLst/>
            <a:ahLst/>
            <a:cxnLst/>
            <a:rect l="l" t="t" r="r" b="b"/>
            <a:pathLst>
              <a:path w="1828800" h="451556">
                <a:moveTo>
                  <a:pt x="0" y="0"/>
                </a:moveTo>
                <a:lnTo>
                  <a:pt x="1828800" y="0"/>
                </a:lnTo>
                <a:lnTo>
                  <a:pt x="1828800" y="451556"/>
                </a:lnTo>
                <a:lnTo>
                  <a:pt x="0" y="451556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74133" y="451556"/>
            <a:ext cx="45156" cy="451556"/>
          </a:xfrm>
          <a:custGeom>
            <a:avLst/>
            <a:gdLst/>
            <a:ahLst/>
            <a:cxnLst/>
            <a:rect l="l" t="t" r="r" b="b"/>
            <a:pathLst>
              <a:path w="45156" h="451556">
                <a:moveTo>
                  <a:pt x="0" y="0"/>
                </a:moveTo>
                <a:lnTo>
                  <a:pt x="45156" y="0"/>
                </a:lnTo>
                <a:lnTo>
                  <a:pt x="45156" y="451556"/>
                </a:lnTo>
                <a:lnTo>
                  <a:pt x="0" y="451556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77333" y="558800"/>
            <a:ext cx="153608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b="1" kern="0" spc="7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1556" y="1038578"/>
            <a:ext cx="15556089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RegionServer内部架构深度解析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75233"/>
            <a:ext cx="10148711" cy="6513688"/>
          </a:xfrm>
          <a:custGeom>
            <a:avLst/>
            <a:gdLst/>
            <a:ahLst/>
            <a:cxnLst/>
            <a:rect l="l" t="t" r="r" b="b"/>
            <a:pathLst>
              <a:path w="10148711" h="7202311">
                <a:moveTo>
                  <a:pt x="90317" y="0"/>
                </a:moveTo>
                <a:lnTo>
                  <a:pt x="10058394" y="0"/>
                </a:lnTo>
                <a:cubicBezTo>
                  <a:pt x="10108275" y="0"/>
                  <a:pt x="10148711" y="40436"/>
                  <a:pt x="10148711" y="90317"/>
                </a:cubicBezTo>
                <a:lnTo>
                  <a:pt x="10148711" y="7111994"/>
                </a:lnTo>
                <a:cubicBezTo>
                  <a:pt x="10148711" y="7161875"/>
                  <a:pt x="10108275" y="7202311"/>
                  <a:pt x="10058394" y="7202311"/>
                </a:cubicBezTo>
                <a:lnTo>
                  <a:pt x="90317" y="7202311"/>
                </a:lnTo>
                <a:cubicBezTo>
                  <a:pt x="40436" y="7202311"/>
                  <a:pt x="0" y="7161875"/>
                  <a:pt x="0" y="7111994"/>
                </a:cubicBezTo>
                <a:lnTo>
                  <a:pt x="0" y="90317"/>
                </a:lnTo>
                <a:cubicBezTo>
                  <a:pt x="0" y="40470"/>
                  <a:pt x="40470" y="0"/>
                  <a:pt x="9031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https://kimi-img.moonshot.cn/pub/slides/25-12-22-15:27:02-d54f5hja9jthf3kn53g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8622" y="1706654"/>
            <a:ext cx="8477956" cy="6050844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10842978" y="1475232"/>
            <a:ext cx="4955822" cy="1140178"/>
          </a:xfrm>
          <a:custGeom>
            <a:avLst/>
            <a:gdLst/>
            <a:ahLst/>
            <a:cxnLst/>
            <a:rect l="l" t="t" r="r" b="b"/>
            <a:pathLst>
              <a:path w="4955822" h="1140178">
                <a:moveTo>
                  <a:pt x="90313" y="0"/>
                </a:moveTo>
                <a:lnTo>
                  <a:pt x="4865509" y="0"/>
                </a:lnTo>
                <a:cubicBezTo>
                  <a:pt x="4915387" y="0"/>
                  <a:pt x="4955822" y="40435"/>
                  <a:pt x="4955822" y="90313"/>
                </a:cubicBezTo>
                <a:lnTo>
                  <a:pt x="4955822" y="1049864"/>
                </a:lnTo>
                <a:cubicBezTo>
                  <a:pt x="4955822" y="1099743"/>
                  <a:pt x="4915388" y="1140178"/>
                  <a:pt x="4865509" y="1140178"/>
                </a:cubicBezTo>
                <a:lnTo>
                  <a:pt x="90313" y="1140178"/>
                </a:lnTo>
                <a:cubicBezTo>
                  <a:pt x="40435" y="1140178"/>
                  <a:pt x="0" y="1099743"/>
                  <a:pt x="0" y="1049864"/>
                </a:cubicBezTo>
                <a:lnTo>
                  <a:pt x="0" y="90313"/>
                </a:lnTo>
                <a:cubicBezTo>
                  <a:pt x="0" y="40468"/>
                  <a:pt x="40468" y="0"/>
                  <a:pt x="9031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1025011" y="1672788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63500"/>
                </a:lnTo>
                <a:cubicBezTo>
                  <a:pt x="0" y="77510"/>
                  <a:pt x="11390" y="88900"/>
                  <a:pt x="25400" y="88900"/>
                </a:cubicBezTo>
                <a:lnTo>
                  <a:pt x="152400" y="88900"/>
                </a:lnTo>
                <a:cubicBezTo>
                  <a:pt x="166410" y="88900"/>
                  <a:pt x="177800" y="77510"/>
                  <a:pt x="177800" y="63500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  <a:moveTo>
                  <a:pt x="111125" y="41275"/>
                </a:moveTo>
                <a:cubicBezTo>
                  <a:pt x="116382" y="41275"/>
                  <a:pt x="120650" y="45543"/>
                  <a:pt x="120650" y="50800"/>
                </a:cubicBezTo>
                <a:cubicBezTo>
                  <a:pt x="120650" y="56057"/>
                  <a:pt x="116382" y="60325"/>
                  <a:pt x="111125" y="60325"/>
                </a:cubicBezTo>
                <a:cubicBezTo>
                  <a:pt x="105868" y="60325"/>
                  <a:pt x="101600" y="56057"/>
                  <a:pt x="101600" y="50800"/>
                </a:cubicBezTo>
                <a:cubicBezTo>
                  <a:pt x="101600" y="45543"/>
                  <a:pt x="105868" y="41275"/>
                  <a:pt x="111125" y="41275"/>
                </a:cubicBezTo>
                <a:close/>
                <a:moveTo>
                  <a:pt x="133350" y="50800"/>
                </a:moveTo>
                <a:cubicBezTo>
                  <a:pt x="133350" y="45543"/>
                  <a:pt x="137618" y="41275"/>
                  <a:pt x="142875" y="41275"/>
                </a:cubicBezTo>
                <a:cubicBezTo>
                  <a:pt x="148132" y="41275"/>
                  <a:pt x="152400" y="45543"/>
                  <a:pt x="152400" y="50800"/>
                </a:cubicBezTo>
                <a:cubicBezTo>
                  <a:pt x="152400" y="56057"/>
                  <a:pt x="148132" y="60325"/>
                  <a:pt x="142875" y="60325"/>
                </a:cubicBezTo>
                <a:cubicBezTo>
                  <a:pt x="137618" y="60325"/>
                  <a:pt x="133350" y="56057"/>
                  <a:pt x="133350" y="50800"/>
                </a:cubicBezTo>
                <a:close/>
                <a:moveTo>
                  <a:pt x="25400" y="114300"/>
                </a:moveTo>
                <a:cubicBezTo>
                  <a:pt x="11390" y="114300"/>
                  <a:pt x="0" y="125690"/>
                  <a:pt x="0" y="1397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39700"/>
                </a:lnTo>
                <a:cubicBezTo>
                  <a:pt x="177800" y="125690"/>
                  <a:pt x="166410" y="114300"/>
                  <a:pt x="152400" y="114300"/>
                </a:cubicBezTo>
                <a:lnTo>
                  <a:pt x="25400" y="114300"/>
                </a:lnTo>
                <a:close/>
                <a:moveTo>
                  <a:pt x="111125" y="142875"/>
                </a:moveTo>
                <a:cubicBezTo>
                  <a:pt x="116382" y="142875"/>
                  <a:pt x="120650" y="147143"/>
                  <a:pt x="120650" y="152400"/>
                </a:cubicBezTo>
                <a:cubicBezTo>
                  <a:pt x="120650" y="157657"/>
                  <a:pt x="116382" y="161925"/>
                  <a:pt x="111125" y="161925"/>
                </a:cubicBezTo>
                <a:cubicBezTo>
                  <a:pt x="105868" y="161925"/>
                  <a:pt x="101600" y="157657"/>
                  <a:pt x="101600" y="152400"/>
                </a:cubicBezTo>
                <a:cubicBezTo>
                  <a:pt x="101600" y="147143"/>
                  <a:pt x="105868" y="142875"/>
                  <a:pt x="111125" y="142875"/>
                </a:cubicBezTo>
                <a:close/>
                <a:moveTo>
                  <a:pt x="133350" y="152400"/>
                </a:moveTo>
                <a:cubicBezTo>
                  <a:pt x="133350" y="147143"/>
                  <a:pt x="137618" y="142875"/>
                  <a:pt x="142875" y="142875"/>
                </a:cubicBezTo>
                <a:cubicBezTo>
                  <a:pt x="148132" y="142875"/>
                  <a:pt x="152400" y="147143"/>
                  <a:pt x="152400" y="152400"/>
                </a:cubicBezTo>
                <a:cubicBezTo>
                  <a:pt x="152400" y="157657"/>
                  <a:pt x="148132" y="161925"/>
                  <a:pt x="142875" y="161925"/>
                </a:cubicBezTo>
                <a:cubicBezTo>
                  <a:pt x="137618" y="161925"/>
                  <a:pt x="133350" y="157657"/>
                  <a:pt x="133350" y="1524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328400" y="1616343"/>
            <a:ext cx="1162756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RPC Server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84089" y="2022743"/>
            <a:ext cx="4752622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基于Netty的高性能RPC服务器,处理客户端请求,支持多种序列化协议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842978" y="2762165"/>
            <a:ext cx="4955822" cy="1501422"/>
          </a:xfrm>
          <a:custGeom>
            <a:avLst/>
            <a:gdLst/>
            <a:ahLst/>
            <a:cxnLst/>
            <a:rect l="l" t="t" r="r" b="b"/>
            <a:pathLst>
              <a:path w="4955822" h="1501422">
                <a:moveTo>
                  <a:pt x="90311" y="0"/>
                </a:moveTo>
                <a:lnTo>
                  <a:pt x="4865512" y="0"/>
                </a:lnTo>
                <a:cubicBezTo>
                  <a:pt x="4915389" y="0"/>
                  <a:pt x="4955822" y="40433"/>
                  <a:pt x="4955822" y="90311"/>
                </a:cubicBezTo>
                <a:lnTo>
                  <a:pt x="4955822" y="1411112"/>
                </a:lnTo>
                <a:cubicBezTo>
                  <a:pt x="4955822" y="1460989"/>
                  <a:pt x="4915389" y="1501422"/>
                  <a:pt x="4865512" y="1501422"/>
                </a:cubicBezTo>
                <a:lnTo>
                  <a:pt x="90311" y="1501422"/>
                </a:lnTo>
                <a:cubicBezTo>
                  <a:pt x="40433" y="1501422"/>
                  <a:pt x="0" y="1460989"/>
                  <a:pt x="0" y="1411112"/>
                </a:cubicBezTo>
                <a:lnTo>
                  <a:pt x="0" y="90311"/>
                </a:lnTo>
                <a:cubicBezTo>
                  <a:pt x="0" y="40467"/>
                  <a:pt x="40467" y="0"/>
                  <a:pt x="90311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11012311" y="295972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1328400" y="2903276"/>
            <a:ext cx="1004711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Store层级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84089" y="3309676"/>
            <a:ext cx="4752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每个Region包含多个Store,每个Store对应一个列族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984089" y="3693499"/>
            <a:ext cx="90311" cy="90311"/>
          </a:xfrm>
          <a:custGeom>
            <a:avLst/>
            <a:gdLst/>
            <a:ahLst/>
            <a:cxnLst/>
            <a:rect l="l" t="t" r="r" b="b"/>
            <a:pathLst>
              <a:path w="90311" h="90311">
                <a:moveTo>
                  <a:pt x="45156" y="0"/>
                </a:moveTo>
                <a:lnTo>
                  <a:pt x="45156" y="0"/>
                </a:lnTo>
                <a:cubicBezTo>
                  <a:pt x="70078" y="0"/>
                  <a:pt x="90311" y="20234"/>
                  <a:pt x="90311" y="45156"/>
                </a:cubicBezTo>
                <a:lnTo>
                  <a:pt x="90311" y="45156"/>
                </a:lnTo>
                <a:cubicBezTo>
                  <a:pt x="90311" y="70078"/>
                  <a:pt x="70078" y="90311"/>
                  <a:pt x="45156" y="90311"/>
                </a:cubicBezTo>
                <a:lnTo>
                  <a:pt x="45156" y="90311"/>
                </a:lnTo>
                <a:cubicBezTo>
                  <a:pt x="20234" y="90311"/>
                  <a:pt x="0" y="70078"/>
                  <a:pt x="0" y="45156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1164711" y="3625765"/>
            <a:ext cx="1704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MemStore:</a:t>
            </a: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内存写缓冲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984089" y="3964432"/>
            <a:ext cx="90311" cy="90311"/>
          </a:xfrm>
          <a:custGeom>
            <a:avLst/>
            <a:gdLst/>
            <a:ahLst/>
            <a:cxnLst/>
            <a:rect l="l" t="t" r="r" b="b"/>
            <a:pathLst>
              <a:path w="90311" h="90311">
                <a:moveTo>
                  <a:pt x="45156" y="0"/>
                </a:moveTo>
                <a:lnTo>
                  <a:pt x="45156" y="0"/>
                </a:lnTo>
                <a:cubicBezTo>
                  <a:pt x="70078" y="0"/>
                  <a:pt x="90311" y="20234"/>
                  <a:pt x="90311" y="45156"/>
                </a:cubicBezTo>
                <a:lnTo>
                  <a:pt x="90311" y="45156"/>
                </a:lnTo>
                <a:cubicBezTo>
                  <a:pt x="90311" y="70078"/>
                  <a:pt x="70078" y="90311"/>
                  <a:pt x="45156" y="90311"/>
                </a:cubicBezTo>
                <a:lnTo>
                  <a:pt x="45156" y="90311"/>
                </a:lnTo>
                <a:cubicBezTo>
                  <a:pt x="20234" y="90311"/>
                  <a:pt x="0" y="70078"/>
                  <a:pt x="0" y="45156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1164711" y="3896699"/>
            <a:ext cx="1569156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StoreFiles:</a:t>
            </a: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磁盘HFile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842978" y="4410343"/>
            <a:ext cx="4955822" cy="914400"/>
          </a:xfrm>
          <a:custGeom>
            <a:avLst/>
            <a:gdLst/>
            <a:ahLst/>
            <a:cxnLst/>
            <a:rect l="l" t="t" r="r" b="b"/>
            <a:pathLst>
              <a:path w="4955822" h="914400">
                <a:moveTo>
                  <a:pt x="90315" y="0"/>
                </a:moveTo>
                <a:lnTo>
                  <a:pt x="4865507" y="0"/>
                </a:lnTo>
                <a:cubicBezTo>
                  <a:pt x="4915387" y="0"/>
                  <a:pt x="4955822" y="40436"/>
                  <a:pt x="4955822" y="90315"/>
                </a:cubicBezTo>
                <a:lnTo>
                  <a:pt x="4955822" y="824085"/>
                </a:lnTo>
                <a:cubicBezTo>
                  <a:pt x="4955822" y="873964"/>
                  <a:pt x="4915387" y="914400"/>
                  <a:pt x="4865507" y="914400"/>
                </a:cubicBezTo>
                <a:lnTo>
                  <a:pt x="90315" y="914400"/>
                </a:lnTo>
                <a:cubicBezTo>
                  <a:pt x="40436" y="914400"/>
                  <a:pt x="0" y="873964"/>
                  <a:pt x="0" y="824085"/>
                </a:cubicBezTo>
                <a:lnTo>
                  <a:pt x="0" y="90315"/>
                </a:lnTo>
                <a:cubicBezTo>
                  <a:pt x="0" y="40469"/>
                  <a:pt x="40469" y="0"/>
                  <a:pt x="9031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1012311" y="460789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11390" y="25400"/>
                  <a:pt x="0" y="36790"/>
                  <a:pt x="0" y="50800"/>
                </a:cubicBezTo>
                <a:lnTo>
                  <a:pt x="0" y="53737"/>
                </a:lnTo>
                <a:cubicBezTo>
                  <a:pt x="0" y="56436"/>
                  <a:pt x="1746" y="58737"/>
                  <a:pt x="4008" y="60206"/>
                </a:cubicBezTo>
                <a:cubicBezTo>
                  <a:pt x="9247" y="63619"/>
                  <a:pt x="12700" y="69493"/>
                  <a:pt x="12700" y="76200"/>
                </a:cubicBezTo>
                <a:cubicBezTo>
                  <a:pt x="12700" y="82907"/>
                  <a:pt x="9247" y="88781"/>
                  <a:pt x="4008" y="92194"/>
                </a:cubicBezTo>
                <a:cubicBezTo>
                  <a:pt x="1746" y="93663"/>
                  <a:pt x="0" y="95964"/>
                  <a:pt x="0" y="98663"/>
                </a:cubicBezTo>
                <a:lnTo>
                  <a:pt x="0" y="120650"/>
                </a:lnTo>
                <a:lnTo>
                  <a:pt x="203200" y="120650"/>
                </a:lnTo>
                <a:lnTo>
                  <a:pt x="203200" y="98663"/>
                </a:lnTo>
                <a:cubicBezTo>
                  <a:pt x="203200" y="95964"/>
                  <a:pt x="201454" y="93663"/>
                  <a:pt x="199192" y="92194"/>
                </a:cubicBezTo>
                <a:cubicBezTo>
                  <a:pt x="193953" y="88781"/>
                  <a:pt x="190500" y="82907"/>
                  <a:pt x="190500" y="76200"/>
                </a:cubicBezTo>
                <a:cubicBezTo>
                  <a:pt x="190500" y="69493"/>
                  <a:pt x="193953" y="63619"/>
                  <a:pt x="199192" y="60206"/>
                </a:cubicBezTo>
                <a:cubicBezTo>
                  <a:pt x="201454" y="58737"/>
                  <a:pt x="203200" y="56436"/>
                  <a:pt x="203200" y="53737"/>
                </a:cubicBezTo>
                <a:lnTo>
                  <a:pt x="203200" y="50800"/>
                </a:lnTo>
                <a:cubicBezTo>
                  <a:pt x="203200" y="36790"/>
                  <a:pt x="191810" y="25400"/>
                  <a:pt x="177800" y="25400"/>
                </a:cubicBezTo>
                <a:lnTo>
                  <a:pt x="25400" y="25400"/>
                </a:lnTo>
                <a:close/>
                <a:moveTo>
                  <a:pt x="203200" y="165100"/>
                </a:moveTo>
                <a:lnTo>
                  <a:pt x="203200" y="139700"/>
                </a:lnTo>
                <a:lnTo>
                  <a:pt x="0" y="139700"/>
                </a:lnTo>
                <a:lnTo>
                  <a:pt x="0" y="165100"/>
                </a:lnTo>
                <a:cubicBezTo>
                  <a:pt x="0" y="172125"/>
                  <a:pt x="5675" y="177800"/>
                  <a:pt x="12700" y="177800"/>
                </a:cubicBezTo>
                <a:lnTo>
                  <a:pt x="38100" y="177800"/>
                </a:lnTo>
                <a:lnTo>
                  <a:pt x="38100" y="168275"/>
                </a:lnTo>
                <a:cubicBezTo>
                  <a:pt x="38100" y="162997"/>
                  <a:pt x="42347" y="158750"/>
                  <a:pt x="47625" y="158750"/>
                </a:cubicBezTo>
                <a:cubicBezTo>
                  <a:pt x="52903" y="158750"/>
                  <a:pt x="57150" y="162997"/>
                  <a:pt x="57150" y="168275"/>
                </a:cubicBezTo>
                <a:lnTo>
                  <a:pt x="57150" y="177800"/>
                </a:lnTo>
                <a:lnTo>
                  <a:pt x="92075" y="177800"/>
                </a:lnTo>
                <a:lnTo>
                  <a:pt x="92075" y="168275"/>
                </a:lnTo>
                <a:cubicBezTo>
                  <a:pt x="92075" y="162997"/>
                  <a:pt x="96322" y="158750"/>
                  <a:pt x="101600" y="158750"/>
                </a:cubicBezTo>
                <a:cubicBezTo>
                  <a:pt x="106878" y="158750"/>
                  <a:pt x="111125" y="162997"/>
                  <a:pt x="111125" y="168275"/>
                </a:cubicBezTo>
                <a:lnTo>
                  <a:pt x="111125" y="177800"/>
                </a:lnTo>
                <a:lnTo>
                  <a:pt x="146050" y="177800"/>
                </a:lnTo>
                <a:lnTo>
                  <a:pt x="146050" y="168275"/>
                </a:lnTo>
                <a:cubicBezTo>
                  <a:pt x="146050" y="162997"/>
                  <a:pt x="150297" y="158750"/>
                  <a:pt x="155575" y="158750"/>
                </a:cubicBezTo>
                <a:cubicBezTo>
                  <a:pt x="160853" y="158750"/>
                  <a:pt x="165100" y="162997"/>
                  <a:pt x="165100" y="168275"/>
                </a:cubicBezTo>
                <a:lnTo>
                  <a:pt x="165100" y="177800"/>
                </a:ln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lose/>
                <a:moveTo>
                  <a:pt x="63500" y="63500"/>
                </a:moveTo>
                <a:lnTo>
                  <a:pt x="63500" y="88900"/>
                </a:lnTo>
                <a:cubicBezTo>
                  <a:pt x="63500" y="95925"/>
                  <a:pt x="57825" y="101600"/>
                  <a:pt x="50800" y="101600"/>
                </a:cubicBezTo>
                <a:cubicBezTo>
                  <a:pt x="43775" y="101600"/>
                  <a:pt x="38100" y="95925"/>
                  <a:pt x="38100" y="88900"/>
                </a:cubicBezTo>
                <a:lnTo>
                  <a:pt x="38100" y="63500"/>
                </a:lnTo>
                <a:cubicBezTo>
                  <a:pt x="38100" y="56475"/>
                  <a:pt x="43775" y="50800"/>
                  <a:pt x="50800" y="50800"/>
                </a:cubicBezTo>
                <a:cubicBezTo>
                  <a:pt x="57825" y="50800"/>
                  <a:pt x="63500" y="56475"/>
                  <a:pt x="63500" y="63500"/>
                </a:cubicBezTo>
                <a:close/>
                <a:moveTo>
                  <a:pt x="114300" y="63500"/>
                </a:moveTo>
                <a:lnTo>
                  <a:pt x="114300" y="88900"/>
                </a:lnTo>
                <a:cubicBezTo>
                  <a:pt x="114300" y="95925"/>
                  <a:pt x="108625" y="101600"/>
                  <a:pt x="101600" y="101600"/>
                </a:cubicBezTo>
                <a:cubicBezTo>
                  <a:pt x="94575" y="101600"/>
                  <a:pt x="88900" y="95925"/>
                  <a:pt x="88900" y="88900"/>
                </a:cubicBezTo>
                <a:lnTo>
                  <a:pt x="88900" y="63500"/>
                </a:lnTo>
                <a:cubicBezTo>
                  <a:pt x="88900" y="56475"/>
                  <a:pt x="94575" y="50800"/>
                  <a:pt x="101600" y="50800"/>
                </a:cubicBezTo>
                <a:cubicBezTo>
                  <a:pt x="108625" y="50800"/>
                  <a:pt x="114300" y="56475"/>
                  <a:pt x="114300" y="63500"/>
                </a:cubicBezTo>
                <a:close/>
                <a:moveTo>
                  <a:pt x="165100" y="63500"/>
                </a:moveTo>
                <a:lnTo>
                  <a:pt x="165100" y="88900"/>
                </a:lnTo>
                <a:cubicBezTo>
                  <a:pt x="165100" y="95925"/>
                  <a:pt x="159425" y="101600"/>
                  <a:pt x="152400" y="101600"/>
                </a:cubicBezTo>
                <a:cubicBezTo>
                  <a:pt x="145375" y="101600"/>
                  <a:pt x="139700" y="95925"/>
                  <a:pt x="139700" y="88900"/>
                </a:cubicBezTo>
                <a:lnTo>
                  <a:pt x="139700" y="63500"/>
                </a:lnTo>
                <a:cubicBezTo>
                  <a:pt x="139700" y="56475"/>
                  <a:pt x="145375" y="50800"/>
                  <a:pt x="152400" y="50800"/>
                </a:cubicBezTo>
                <a:cubicBezTo>
                  <a:pt x="159425" y="50800"/>
                  <a:pt x="165100" y="56475"/>
                  <a:pt x="165100" y="635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1328400" y="4551454"/>
            <a:ext cx="1196622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984089" y="4957854"/>
            <a:ext cx="4752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LRU缓存策略,多级缓存架构(L1/L2),缓存命中率监控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842978" y="5471499"/>
            <a:ext cx="4955822" cy="914400"/>
          </a:xfrm>
          <a:custGeom>
            <a:avLst/>
            <a:gdLst/>
            <a:ahLst/>
            <a:cxnLst/>
            <a:rect l="l" t="t" r="r" b="b"/>
            <a:pathLst>
              <a:path w="4955822" h="914400">
                <a:moveTo>
                  <a:pt x="90315" y="0"/>
                </a:moveTo>
                <a:lnTo>
                  <a:pt x="4865507" y="0"/>
                </a:lnTo>
                <a:cubicBezTo>
                  <a:pt x="4915387" y="0"/>
                  <a:pt x="4955822" y="40436"/>
                  <a:pt x="4955822" y="90315"/>
                </a:cubicBezTo>
                <a:lnTo>
                  <a:pt x="4955822" y="824085"/>
                </a:lnTo>
                <a:cubicBezTo>
                  <a:pt x="4955822" y="873964"/>
                  <a:pt x="4915387" y="914400"/>
                  <a:pt x="4865507" y="914400"/>
                </a:cubicBezTo>
                <a:lnTo>
                  <a:pt x="90315" y="914400"/>
                </a:lnTo>
                <a:cubicBezTo>
                  <a:pt x="40436" y="914400"/>
                  <a:pt x="0" y="873964"/>
                  <a:pt x="0" y="824085"/>
                </a:cubicBezTo>
                <a:lnTo>
                  <a:pt x="0" y="90315"/>
                </a:lnTo>
                <a:cubicBezTo>
                  <a:pt x="0" y="40469"/>
                  <a:pt x="40469" y="0"/>
                  <a:pt x="9031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11037711" y="5669054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47625" y="101600"/>
                </a:moveTo>
                <a:cubicBezTo>
                  <a:pt x="42347" y="101600"/>
                  <a:pt x="38100" y="105847"/>
                  <a:pt x="38100" y="111125"/>
                </a:cubicBezTo>
                <a:cubicBezTo>
                  <a:pt x="38100" y="116403"/>
                  <a:pt x="42347" y="120650"/>
                  <a:pt x="47625" y="120650"/>
                </a:cubicBezTo>
                <a:lnTo>
                  <a:pt x="104775" y="120650"/>
                </a:lnTo>
                <a:cubicBezTo>
                  <a:pt x="110053" y="120650"/>
                  <a:pt x="114300" y="116403"/>
                  <a:pt x="114300" y="111125"/>
                </a:cubicBezTo>
                <a:cubicBezTo>
                  <a:pt x="114300" y="105847"/>
                  <a:pt x="110053" y="101600"/>
                  <a:pt x="104775" y="101600"/>
                </a:cubicBezTo>
                <a:lnTo>
                  <a:pt x="47625" y="101600"/>
                </a:lnTo>
                <a:close/>
                <a:moveTo>
                  <a:pt x="47625" y="139700"/>
                </a:moveTo>
                <a:cubicBezTo>
                  <a:pt x="42347" y="139700"/>
                  <a:pt x="38100" y="143947"/>
                  <a:pt x="38100" y="149225"/>
                </a:cubicBezTo>
                <a:cubicBezTo>
                  <a:pt x="38100" y="154503"/>
                  <a:pt x="42347" y="158750"/>
                  <a:pt x="47625" y="158750"/>
                </a:cubicBezTo>
                <a:lnTo>
                  <a:pt x="104775" y="158750"/>
                </a:lnTo>
                <a:cubicBezTo>
                  <a:pt x="110053" y="158750"/>
                  <a:pt x="114300" y="154503"/>
                  <a:pt x="114300" y="149225"/>
                </a:cubicBezTo>
                <a:cubicBezTo>
                  <a:pt x="114300" y="143947"/>
                  <a:pt x="110053" y="139700"/>
                  <a:pt x="104775" y="139700"/>
                </a:cubicBezTo>
                <a:lnTo>
                  <a:pt x="47625" y="1397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11328400" y="5612610"/>
            <a:ext cx="1185333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HFile读取器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984089" y="6019010"/>
            <a:ext cx="4752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解析HFile格式和索引,布隆过滤器,数据块解码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842978" y="6532654"/>
            <a:ext cx="4955822" cy="1456267"/>
          </a:xfrm>
          <a:custGeom>
            <a:avLst/>
            <a:gdLst/>
            <a:ahLst/>
            <a:cxnLst/>
            <a:rect l="l" t="t" r="r" b="b"/>
            <a:pathLst>
              <a:path w="4955822" h="1456267">
                <a:moveTo>
                  <a:pt x="90318" y="0"/>
                </a:moveTo>
                <a:lnTo>
                  <a:pt x="4865505" y="0"/>
                </a:lnTo>
                <a:cubicBezTo>
                  <a:pt x="4915386" y="0"/>
                  <a:pt x="4955822" y="40437"/>
                  <a:pt x="4955822" y="90318"/>
                </a:cubicBezTo>
                <a:lnTo>
                  <a:pt x="4955822" y="1365949"/>
                </a:lnTo>
                <a:cubicBezTo>
                  <a:pt x="4955822" y="1415830"/>
                  <a:pt x="4915386" y="1456267"/>
                  <a:pt x="4865505" y="1456267"/>
                </a:cubicBezTo>
                <a:lnTo>
                  <a:pt x="90318" y="1456267"/>
                </a:lnTo>
                <a:cubicBezTo>
                  <a:pt x="40437" y="1456267"/>
                  <a:pt x="0" y="1415830"/>
                  <a:pt x="0" y="1365949"/>
                </a:cubicBezTo>
                <a:lnTo>
                  <a:pt x="0" y="90318"/>
                </a:lnTo>
                <a:cubicBezTo>
                  <a:pt x="0" y="40470"/>
                  <a:pt x="40470" y="0"/>
                  <a:pt x="9031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10986911" y="673021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1328400" y="6673765"/>
            <a:ext cx="914400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后台处理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984089" y="7080165"/>
            <a:ext cx="4752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MemStore刷写线程池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984089" y="7351099"/>
            <a:ext cx="4752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Compaction线程池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984089" y="7622032"/>
            <a:ext cx="47526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WAL管理线程池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74133" y="8116824"/>
            <a:ext cx="45156" cy="767644"/>
          </a:xfrm>
          <a:custGeom>
            <a:avLst/>
            <a:gdLst/>
            <a:ahLst/>
            <a:cxnLst/>
            <a:rect l="l" t="t" r="r" b="b"/>
            <a:pathLst>
              <a:path w="45156" h="767644">
                <a:moveTo>
                  <a:pt x="0" y="0"/>
                </a:moveTo>
                <a:lnTo>
                  <a:pt x="45156" y="0"/>
                </a:lnTo>
                <a:lnTo>
                  <a:pt x="45156" y="767644"/>
                </a:lnTo>
                <a:lnTo>
                  <a:pt x="0" y="76764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677333" y="8207135"/>
            <a:ext cx="486551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列族独立存储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7333" y="8568380"/>
            <a:ext cx="4854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不同列族拥有独立MemStore和StoreFile,支持差异化配置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651941" y="8116824"/>
            <a:ext cx="45156" cy="767644"/>
          </a:xfrm>
          <a:custGeom>
            <a:avLst/>
            <a:gdLst/>
            <a:ahLst/>
            <a:cxnLst/>
            <a:rect l="l" t="t" r="r" b="b"/>
            <a:pathLst>
              <a:path w="45156" h="767644">
                <a:moveTo>
                  <a:pt x="0" y="0"/>
                </a:moveTo>
                <a:lnTo>
                  <a:pt x="45156" y="0"/>
                </a:lnTo>
                <a:lnTo>
                  <a:pt x="45156" y="767644"/>
                </a:lnTo>
                <a:lnTo>
                  <a:pt x="0" y="76764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5855141" y="8207135"/>
            <a:ext cx="486551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异步处理机制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855141" y="8568380"/>
            <a:ext cx="4854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异步Flush和Compaction避免阻塞前台请求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0829749" y="8116824"/>
            <a:ext cx="45156" cy="767644"/>
          </a:xfrm>
          <a:custGeom>
            <a:avLst/>
            <a:gdLst/>
            <a:ahLst/>
            <a:cxnLst/>
            <a:rect l="l" t="t" r="r" b="b"/>
            <a:pathLst>
              <a:path w="45156" h="767644">
                <a:moveTo>
                  <a:pt x="0" y="0"/>
                </a:moveTo>
                <a:lnTo>
                  <a:pt x="45156" y="0"/>
                </a:lnTo>
                <a:lnTo>
                  <a:pt x="45156" y="767644"/>
                </a:lnTo>
                <a:lnTo>
                  <a:pt x="0" y="76764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11032949" y="8207135"/>
            <a:ext cx="486551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内存与磁盘协同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032949" y="8568380"/>
            <a:ext cx="4854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MemStore(内存)+HFile(磁盘)提供高性能读写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701800" cy="508000"/>
          </a:xfrm>
          <a:custGeom>
            <a:avLst/>
            <a:gdLst/>
            <a:ahLst/>
            <a:cxnLst/>
            <a:rect l="l" t="t" r="r" b="b"/>
            <a:pathLst>
              <a:path w="1701800" h="508000">
                <a:moveTo>
                  <a:pt x="0" y="0"/>
                </a:moveTo>
                <a:lnTo>
                  <a:pt x="1701800" y="0"/>
                </a:lnTo>
                <a:lnTo>
                  <a:pt x="1701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628650"/>
            <a:ext cx="13748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ZooKeeper:分布式协调与服务发现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1885950"/>
            <a:ext cx="5930900" cy="6261100"/>
          </a:xfrm>
          <a:custGeom>
            <a:avLst/>
            <a:gdLst/>
            <a:ahLst/>
            <a:cxnLst/>
            <a:rect l="l" t="t" r="r" b="b"/>
            <a:pathLst>
              <a:path w="5930900" h="6261100">
                <a:moveTo>
                  <a:pt x="101596" y="0"/>
                </a:moveTo>
                <a:lnTo>
                  <a:pt x="5829304" y="0"/>
                </a:lnTo>
                <a:cubicBezTo>
                  <a:pt x="5885414" y="0"/>
                  <a:pt x="5930900" y="45486"/>
                  <a:pt x="5930900" y="101596"/>
                </a:cubicBezTo>
                <a:lnTo>
                  <a:pt x="5930900" y="6159504"/>
                </a:lnTo>
                <a:cubicBezTo>
                  <a:pt x="5930900" y="6215614"/>
                  <a:pt x="5885414" y="6261100"/>
                  <a:pt x="5829304" y="6261100"/>
                </a:cubicBezTo>
                <a:lnTo>
                  <a:pt x="101596" y="6261100"/>
                </a:lnTo>
                <a:cubicBezTo>
                  <a:pt x="45486" y="6261100"/>
                  <a:pt x="0" y="6215614"/>
                  <a:pt x="0" y="61595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4700" y="21463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五大核心作用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4700" y="2705100"/>
            <a:ext cx="5410200" cy="914400"/>
          </a:xfrm>
          <a:custGeom>
            <a:avLst/>
            <a:gdLst/>
            <a:ahLst/>
            <a:cxnLst/>
            <a:rect l="l" t="t" r="r" b="b"/>
            <a:pathLst>
              <a:path w="5410200" h="914400">
                <a:moveTo>
                  <a:pt x="50804" y="0"/>
                </a:moveTo>
                <a:lnTo>
                  <a:pt x="5359396" y="0"/>
                </a:lnTo>
                <a:cubicBezTo>
                  <a:pt x="5387454" y="0"/>
                  <a:pt x="5410200" y="22746"/>
                  <a:pt x="5410200" y="50804"/>
                </a:cubicBezTo>
                <a:lnTo>
                  <a:pt x="5410200" y="863596"/>
                </a:lnTo>
                <a:cubicBezTo>
                  <a:pt x="5410200" y="891654"/>
                  <a:pt x="5387454" y="914400"/>
                  <a:pt x="53593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27100" y="2857500"/>
            <a:ext cx="520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集群成员管理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7100" y="3213100"/>
            <a:ext cx="519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维护活跃的RegionServer列表和集群成员状态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4700" y="3771900"/>
            <a:ext cx="5410200" cy="914400"/>
          </a:xfrm>
          <a:custGeom>
            <a:avLst/>
            <a:gdLst/>
            <a:ahLst/>
            <a:cxnLst/>
            <a:rect l="l" t="t" r="r" b="b"/>
            <a:pathLst>
              <a:path w="5410200" h="914400">
                <a:moveTo>
                  <a:pt x="50804" y="0"/>
                </a:moveTo>
                <a:lnTo>
                  <a:pt x="5359396" y="0"/>
                </a:lnTo>
                <a:cubicBezTo>
                  <a:pt x="5387454" y="0"/>
                  <a:pt x="5410200" y="22746"/>
                  <a:pt x="5410200" y="50804"/>
                </a:cubicBezTo>
                <a:lnTo>
                  <a:pt x="5410200" y="863596"/>
                </a:lnTo>
                <a:cubicBezTo>
                  <a:pt x="5410200" y="891654"/>
                  <a:pt x="5387454" y="914400"/>
                  <a:pt x="53593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27100" y="3924300"/>
            <a:ext cx="520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Leader选举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7100" y="4279900"/>
            <a:ext cx="519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协调HMaster的主备切换和Leader选举过程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" y="4838700"/>
            <a:ext cx="5410200" cy="914400"/>
          </a:xfrm>
          <a:custGeom>
            <a:avLst/>
            <a:gdLst/>
            <a:ahLst/>
            <a:cxnLst/>
            <a:rect l="l" t="t" r="r" b="b"/>
            <a:pathLst>
              <a:path w="5410200" h="914400">
                <a:moveTo>
                  <a:pt x="50804" y="0"/>
                </a:moveTo>
                <a:lnTo>
                  <a:pt x="5359396" y="0"/>
                </a:lnTo>
                <a:cubicBezTo>
                  <a:pt x="5387454" y="0"/>
                  <a:pt x="5410200" y="22746"/>
                  <a:pt x="5410200" y="50804"/>
                </a:cubicBezTo>
                <a:lnTo>
                  <a:pt x="5410200" y="863596"/>
                </a:lnTo>
                <a:cubicBezTo>
                  <a:pt x="5410200" y="891654"/>
                  <a:pt x="5387454" y="914400"/>
                  <a:pt x="53593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27100" y="4991100"/>
            <a:ext cx="520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元数据变更协调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" y="5346700"/>
            <a:ext cx="519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保证元数据变更的原子性和一致性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4700" y="5905500"/>
            <a:ext cx="5410200" cy="914400"/>
          </a:xfrm>
          <a:custGeom>
            <a:avLst/>
            <a:gdLst/>
            <a:ahLst/>
            <a:cxnLst/>
            <a:rect l="l" t="t" r="r" b="b"/>
            <a:pathLst>
              <a:path w="5410200" h="914400">
                <a:moveTo>
                  <a:pt x="50804" y="0"/>
                </a:moveTo>
                <a:lnTo>
                  <a:pt x="5359396" y="0"/>
                </a:lnTo>
                <a:cubicBezTo>
                  <a:pt x="5387454" y="0"/>
                  <a:pt x="5410200" y="22746"/>
                  <a:pt x="5410200" y="50804"/>
                </a:cubicBezTo>
                <a:lnTo>
                  <a:pt x="5410200" y="863596"/>
                </a:lnTo>
                <a:cubicBezTo>
                  <a:pt x="5410200" y="891654"/>
                  <a:pt x="5387454" y="914400"/>
                  <a:pt x="53593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27100" y="6057900"/>
            <a:ext cx="520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心跳检测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100" y="6413500"/>
            <a:ext cx="519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监控节点健康状态并触发故障检测和恢复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4700" y="6972300"/>
            <a:ext cx="5410200" cy="914400"/>
          </a:xfrm>
          <a:custGeom>
            <a:avLst/>
            <a:gdLst/>
            <a:ahLst/>
            <a:cxnLst/>
            <a:rect l="l" t="t" r="r" b="b"/>
            <a:pathLst>
              <a:path w="5410200" h="914400">
                <a:moveTo>
                  <a:pt x="50804" y="0"/>
                </a:moveTo>
                <a:lnTo>
                  <a:pt x="5359396" y="0"/>
                </a:lnTo>
                <a:cubicBezTo>
                  <a:pt x="5387454" y="0"/>
                  <a:pt x="5410200" y="22746"/>
                  <a:pt x="5410200" y="50804"/>
                </a:cubicBezTo>
                <a:lnTo>
                  <a:pt x="5410200" y="863596"/>
                </a:lnTo>
                <a:cubicBezTo>
                  <a:pt x="5410200" y="891654"/>
                  <a:pt x="5387454" y="914400"/>
                  <a:pt x="53593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27100" y="7124700"/>
            <a:ext cx="520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配置管理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100" y="7480300"/>
            <a:ext cx="519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分布式配置信息的存储和同步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11950" y="1885950"/>
            <a:ext cx="9029700" cy="6261100"/>
          </a:xfrm>
          <a:custGeom>
            <a:avLst/>
            <a:gdLst/>
            <a:ahLst/>
            <a:cxnLst/>
            <a:rect l="l" t="t" r="r" b="b"/>
            <a:pathLst>
              <a:path w="9029700" h="6261100">
                <a:moveTo>
                  <a:pt x="101618" y="0"/>
                </a:moveTo>
                <a:lnTo>
                  <a:pt x="8928082" y="0"/>
                </a:lnTo>
                <a:cubicBezTo>
                  <a:pt x="8984204" y="0"/>
                  <a:pt x="9029700" y="45496"/>
                  <a:pt x="9029700" y="101618"/>
                </a:cubicBezTo>
                <a:lnTo>
                  <a:pt x="9029700" y="6159482"/>
                </a:lnTo>
                <a:cubicBezTo>
                  <a:pt x="9029700" y="6215604"/>
                  <a:pt x="8984204" y="6261100"/>
                  <a:pt x="8928082" y="6261100"/>
                </a:cubicBezTo>
                <a:lnTo>
                  <a:pt x="101618" y="6261100"/>
                </a:lnTo>
                <a:cubicBezTo>
                  <a:pt x="45496" y="6261100"/>
                  <a:pt x="0" y="6215604"/>
                  <a:pt x="0" y="6159482"/>
                </a:cubicBezTo>
                <a:lnTo>
                  <a:pt x="0" y="101618"/>
                </a:lnTo>
                <a:cubicBezTo>
                  <a:pt x="0" y="45533"/>
                  <a:pt x="45533" y="0"/>
                  <a:pt x="10161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72300" y="2146300"/>
            <a:ext cx="863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组件交互时序图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77125" y="31051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772400" y="33845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123031"/>
                </a:moveTo>
                <a:cubicBezTo>
                  <a:pt x="143981" y="123031"/>
                  <a:pt x="170656" y="96356"/>
                  <a:pt x="170656" y="63500"/>
                </a:cubicBezTo>
                <a:cubicBezTo>
                  <a:pt x="170656" y="30644"/>
                  <a:pt x="143981" y="3969"/>
                  <a:pt x="111125" y="3969"/>
                </a:cubicBezTo>
                <a:cubicBezTo>
                  <a:pt x="78269" y="3969"/>
                  <a:pt x="51594" y="30644"/>
                  <a:pt x="51594" y="63500"/>
                </a:cubicBezTo>
                <a:cubicBezTo>
                  <a:pt x="51594" y="96356"/>
                  <a:pt x="78269" y="123031"/>
                  <a:pt x="111125" y="123031"/>
                </a:cubicBezTo>
                <a:close/>
                <a:moveTo>
                  <a:pt x="96391" y="150813"/>
                </a:moveTo>
                <a:cubicBezTo>
                  <a:pt x="47526" y="150813"/>
                  <a:pt x="7938" y="190401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199579" y="254000"/>
                </a:lnTo>
                <a:cubicBezTo>
                  <a:pt x="207714" y="254000"/>
                  <a:pt x="214313" y="247402"/>
                  <a:pt x="214313" y="239266"/>
                </a:cubicBezTo>
                <a:cubicBezTo>
                  <a:pt x="214313" y="190401"/>
                  <a:pt x="174724" y="150813"/>
                  <a:pt x="125859" y="150813"/>
                </a:cubicBezTo>
                <a:lnTo>
                  <a:pt x="96391" y="150813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921500" y="407035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72300" y="44767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927850" y="44767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 数据读写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72300" y="50355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927850" y="50355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12. 客户端重试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705975" y="31051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9969500" y="338455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5277" y="43259"/>
                </a:moveTo>
                <a:cubicBezTo>
                  <a:pt x="159841" y="39638"/>
                  <a:pt x="162719" y="34032"/>
                  <a:pt x="162719" y="27781"/>
                </a:cubicBezTo>
                <a:cubicBezTo>
                  <a:pt x="162719" y="16818"/>
                  <a:pt x="153839" y="7938"/>
                  <a:pt x="142875" y="7938"/>
                </a:cubicBezTo>
                <a:cubicBezTo>
                  <a:pt x="131911" y="7938"/>
                  <a:pt x="123031" y="16818"/>
                  <a:pt x="123031" y="27781"/>
                </a:cubicBezTo>
                <a:cubicBezTo>
                  <a:pt x="123031" y="34032"/>
                  <a:pt x="125958" y="39638"/>
                  <a:pt x="130473" y="43259"/>
                </a:cubicBezTo>
                <a:lnTo>
                  <a:pt x="96540" y="96639"/>
                </a:lnTo>
                <a:cubicBezTo>
                  <a:pt x="91579" y="104428"/>
                  <a:pt x="81012" y="106363"/>
                  <a:pt x="73620" y="100806"/>
                </a:cubicBezTo>
                <a:lnTo>
                  <a:pt x="44103" y="78730"/>
                </a:lnTo>
                <a:cubicBezTo>
                  <a:pt x="46335" y="75555"/>
                  <a:pt x="47625" y="71636"/>
                  <a:pt x="47625" y="67469"/>
                </a:cubicBezTo>
                <a:cubicBezTo>
                  <a:pt x="47625" y="56505"/>
                  <a:pt x="38745" y="47625"/>
                  <a:pt x="27781" y="47625"/>
                </a:cubicBezTo>
                <a:cubicBezTo>
                  <a:pt x="16818" y="47625"/>
                  <a:pt x="7938" y="56505"/>
                  <a:pt x="7938" y="67469"/>
                </a:cubicBezTo>
                <a:cubicBezTo>
                  <a:pt x="7938" y="78284"/>
                  <a:pt x="16619" y="87114"/>
                  <a:pt x="27384" y="87313"/>
                </a:cubicBezTo>
                <a:lnTo>
                  <a:pt x="43557" y="195213"/>
                </a:lnTo>
                <a:cubicBezTo>
                  <a:pt x="45889" y="210741"/>
                  <a:pt x="59234" y="222250"/>
                  <a:pt x="74960" y="222250"/>
                </a:cubicBezTo>
                <a:lnTo>
                  <a:pt x="210790" y="222250"/>
                </a:lnTo>
                <a:cubicBezTo>
                  <a:pt x="226516" y="222250"/>
                  <a:pt x="239861" y="210741"/>
                  <a:pt x="242193" y="195213"/>
                </a:cubicBezTo>
                <a:lnTo>
                  <a:pt x="258366" y="87313"/>
                </a:lnTo>
                <a:cubicBezTo>
                  <a:pt x="269131" y="87114"/>
                  <a:pt x="277813" y="78284"/>
                  <a:pt x="277813" y="67469"/>
                </a:cubicBezTo>
                <a:cubicBezTo>
                  <a:pt x="277813" y="56505"/>
                  <a:pt x="268932" y="47625"/>
                  <a:pt x="257969" y="47625"/>
                </a:cubicBezTo>
                <a:cubicBezTo>
                  <a:pt x="247005" y="47625"/>
                  <a:pt x="238125" y="56505"/>
                  <a:pt x="238125" y="67469"/>
                </a:cubicBezTo>
                <a:cubicBezTo>
                  <a:pt x="238125" y="71636"/>
                  <a:pt x="239415" y="75555"/>
                  <a:pt x="241647" y="78730"/>
                </a:cubicBezTo>
                <a:lnTo>
                  <a:pt x="212179" y="100856"/>
                </a:lnTo>
                <a:cubicBezTo>
                  <a:pt x="204788" y="106412"/>
                  <a:pt x="194221" y="104477"/>
                  <a:pt x="189260" y="96689"/>
                </a:cubicBezTo>
                <a:lnTo>
                  <a:pt x="155277" y="43259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150350" y="407035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HMaster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01150" y="44767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156700" y="44767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注册Active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201150" y="50355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156700" y="50355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分配Region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01150" y="55943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156700" y="55943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11. 重新分配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934825" y="31051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230100" y="33845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379200" y="407035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430000" y="44767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385550" y="44767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启动并注册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430000" y="50355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385550" y="50355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加载Region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430000" y="55943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385550" y="55943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10. 故障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4163675" y="31051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4443075" y="33845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3608050" y="407035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ZooKeeper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3658850" y="4476750"/>
            <a:ext cx="1828800" cy="711200"/>
          </a:xfrm>
          <a:custGeom>
            <a:avLst/>
            <a:gdLst/>
            <a:ahLst/>
            <a:cxnLst/>
            <a:rect l="l" t="t" r="r" b="b"/>
            <a:pathLst>
              <a:path w="1828800" h="711200">
                <a:moveTo>
                  <a:pt x="50801" y="0"/>
                </a:moveTo>
                <a:lnTo>
                  <a:pt x="1777999" y="0"/>
                </a:lnTo>
                <a:cubicBezTo>
                  <a:pt x="1806056" y="0"/>
                  <a:pt x="1828800" y="22744"/>
                  <a:pt x="1828800" y="50801"/>
                </a:cubicBezTo>
                <a:lnTo>
                  <a:pt x="1828800" y="660399"/>
                </a:lnTo>
                <a:cubicBezTo>
                  <a:pt x="1828800" y="688456"/>
                  <a:pt x="1806056" y="711200"/>
                  <a:pt x="17779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3614400" y="4476750"/>
            <a:ext cx="19177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创建ephemeral节点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3658850" y="5289550"/>
            <a:ext cx="1828800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50799" y="0"/>
                </a:moveTo>
                <a:lnTo>
                  <a:pt x="1778001" y="0"/>
                </a:lnTo>
                <a:cubicBezTo>
                  <a:pt x="1806056" y="0"/>
                  <a:pt x="1828800" y="22744"/>
                  <a:pt x="1828800" y="50799"/>
                </a:cubicBezTo>
                <a:lnTo>
                  <a:pt x="1828800" y="406401"/>
                </a:lnTo>
                <a:cubicBezTo>
                  <a:pt x="1828800" y="434456"/>
                  <a:pt x="1806056" y="457200"/>
                  <a:pt x="1778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3614400" y="5289550"/>
            <a:ext cx="1917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9. 心跳检测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972300" y="6457950"/>
            <a:ext cx="8509000" cy="12700"/>
          </a:xfrm>
          <a:custGeom>
            <a:avLst/>
            <a:gdLst/>
            <a:ahLst/>
            <a:cxnLst/>
            <a:rect l="l" t="t" r="r" b="b"/>
            <a:pathLst>
              <a:path w="8509000" h="12700">
                <a:moveTo>
                  <a:pt x="0" y="0"/>
                </a:moveTo>
                <a:lnTo>
                  <a:pt x="8509000" y="0"/>
                </a:lnTo>
                <a:lnTo>
                  <a:pt x="8509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3D4A5C">
              <a:alpha val="4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972300" y="6667500"/>
            <a:ext cx="4178300" cy="1219200"/>
          </a:xfrm>
          <a:custGeom>
            <a:avLst/>
            <a:gdLst/>
            <a:ahLst/>
            <a:cxnLst/>
            <a:rect l="l" t="t" r="r" b="b"/>
            <a:pathLst>
              <a:path w="4178300" h="1219200">
                <a:moveTo>
                  <a:pt x="50804" y="0"/>
                </a:moveTo>
                <a:lnTo>
                  <a:pt x="4127496" y="0"/>
                </a:lnTo>
                <a:cubicBezTo>
                  <a:pt x="4155554" y="0"/>
                  <a:pt x="4178300" y="22746"/>
                  <a:pt x="4178300" y="50804"/>
                </a:cubicBezTo>
                <a:lnTo>
                  <a:pt x="4178300" y="1168396"/>
                </a:lnTo>
                <a:cubicBezTo>
                  <a:pt x="4178300" y="1196454"/>
                  <a:pt x="4155554" y="1219200"/>
                  <a:pt x="4127496" y="1219200"/>
                </a:cubicBezTo>
                <a:lnTo>
                  <a:pt x="50804" y="1219200"/>
                </a:lnTo>
                <a:cubicBezTo>
                  <a:pt x="22746" y="1219200"/>
                  <a:pt x="0" y="1196454"/>
                  <a:pt x="0" y="11683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7124700" y="68199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ephemeral节点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24700" y="7226300"/>
            <a:ext cx="396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临时节点,会话断开时自动删除,用于故障检测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303000" y="6667500"/>
            <a:ext cx="4178300" cy="1219200"/>
          </a:xfrm>
          <a:custGeom>
            <a:avLst/>
            <a:gdLst/>
            <a:ahLst/>
            <a:cxnLst/>
            <a:rect l="l" t="t" r="r" b="b"/>
            <a:pathLst>
              <a:path w="4178300" h="1219200">
                <a:moveTo>
                  <a:pt x="50804" y="0"/>
                </a:moveTo>
                <a:lnTo>
                  <a:pt x="4127496" y="0"/>
                </a:lnTo>
                <a:cubicBezTo>
                  <a:pt x="4155554" y="0"/>
                  <a:pt x="4178300" y="22746"/>
                  <a:pt x="4178300" y="50804"/>
                </a:cubicBezTo>
                <a:lnTo>
                  <a:pt x="4178300" y="1168396"/>
                </a:lnTo>
                <a:cubicBezTo>
                  <a:pt x="4178300" y="1196454"/>
                  <a:pt x="4155554" y="1219200"/>
                  <a:pt x="4127496" y="1219200"/>
                </a:cubicBezTo>
                <a:lnTo>
                  <a:pt x="50804" y="1219200"/>
                </a:lnTo>
                <a:cubicBezTo>
                  <a:pt x="22746" y="1219200"/>
                  <a:pt x="0" y="1196454"/>
                  <a:pt x="0" y="11683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455400" y="68199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故障恢复流程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455400" y="72263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RegionServer故障 → ephemeral节点删除 → HMaster检测 → Region重新分配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33400" y="83566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787400" y="85153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17600" y="8458200"/>
            <a:ext cx="147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协调机制:</a:t>
            </a: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ZooKeeper通过ephemeral节点和Watcher机制实现实时故障检测,确保HBase的高可用性和自动故障恢复能力,完全遵循分布式协调的经典模式。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439333" cy="423333"/>
          </a:xfrm>
          <a:custGeom>
            <a:avLst/>
            <a:gdLst/>
            <a:ahLst/>
            <a:cxnLst/>
            <a:rect l="l" t="t" r="r" b="b"/>
            <a:pathLst>
              <a:path w="1439333" h="423333">
                <a:moveTo>
                  <a:pt x="0" y="0"/>
                </a:moveTo>
                <a:lnTo>
                  <a:pt x="1439333" y="0"/>
                </a:lnTo>
                <a:lnTo>
                  <a:pt x="1439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116590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PATH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写路径核心流程:从</a:t>
            </a:r>
            <a:r>
              <a:rPr lang="en-US" sz="3000" dirty="0">
                <a:solidFill>
                  <a:srgbClr val="E5E7EB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</a:t>
            </a: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到</a:t>
            </a:r>
            <a:r>
              <a:rPr lang="en-US" sz="3000" dirty="0">
                <a:solidFill>
                  <a:srgbClr val="E5E7EB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10191750" cy="4839800"/>
          </a:xfrm>
          <a:custGeom>
            <a:avLst/>
            <a:gdLst/>
            <a:ahLst/>
            <a:cxnLst/>
            <a:rect l="l" t="t" r="r" b="b"/>
            <a:pathLst>
              <a:path w="10191750" h="7874000">
                <a:moveTo>
                  <a:pt x="84646" y="0"/>
                </a:moveTo>
                <a:lnTo>
                  <a:pt x="10107105" y="0"/>
                </a:lnTo>
                <a:cubicBezTo>
                  <a:pt x="10153853" y="0"/>
                  <a:pt x="10191750" y="37897"/>
                  <a:pt x="10191750" y="84645"/>
                </a:cubicBezTo>
                <a:lnTo>
                  <a:pt x="10191750" y="7789355"/>
                </a:lnTo>
                <a:cubicBezTo>
                  <a:pt x="10191750" y="7836103"/>
                  <a:pt x="10153853" y="7874000"/>
                  <a:pt x="10107104" y="7874000"/>
                </a:cubicBezTo>
                <a:lnTo>
                  <a:pt x="84646" y="7874000"/>
                </a:lnTo>
                <a:cubicBezTo>
                  <a:pt x="37897" y="7874000"/>
                  <a:pt x="0" y="7836103"/>
                  <a:pt x="0" y="7789355"/>
                </a:cubicBezTo>
                <a:lnTo>
                  <a:pt x="0" y="84646"/>
                </a:lnTo>
                <a:cubicBezTo>
                  <a:pt x="0" y="37928"/>
                  <a:pt x="37928" y="0"/>
                  <a:pt x="8464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9863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HBase写路径流程图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5583" y="2254250"/>
            <a:ext cx="793750" cy="423333"/>
          </a:xfrm>
          <a:custGeom>
            <a:avLst/>
            <a:gdLst/>
            <a:ahLst/>
            <a:cxnLst/>
            <a:rect l="l" t="t" r="r" b="b"/>
            <a:pathLst>
              <a:path w="793750" h="423333">
                <a:moveTo>
                  <a:pt x="84667" y="0"/>
                </a:moveTo>
                <a:lnTo>
                  <a:pt x="709083" y="0"/>
                </a:lnTo>
                <a:cubicBezTo>
                  <a:pt x="755843" y="0"/>
                  <a:pt x="793750" y="37907"/>
                  <a:pt x="793750" y="84667"/>
                </a:cubicBezTo>
                <a:lnTo>
                  <a:pt x="793750" y="338667"/>
                </a:lnTo>
                <a:cubicBezTo>
                  <a:pt x="793750" y="385427"/>
                  <a:pt x="755843" y="423333"/>
                  <a:pt x="709083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5583" y="2254250"/>
            <a:ext cx="878417" cy="423333"/>
          </a:xfrm>
          <a:prstGeom prst="rect">
            <a:avLst/>
          </a:prstGeom>
          <a:noFill/>
          <a:ln/>
        </p:spPr>
        <p:txBody>
          <a:bodyPr wrap="square" lIns="169333" tIns="84667" rIns="169333" bIns="84667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1298" y="23600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07781" y="115176"/>
                </a:moveTo>
                <a:cubicBezTo>
                  <a:pt x="212948" y="110009"/>
                  <a:pt x="212948" y="101617"/>
                  <a:pt x="207781" y="96449"/>
                </a:cubicBezTo>
                <a:lnTo>
                  <a:pt x="141635" y="30303"/>
                </a:lnTo>
                <a:cubicBezTo>
                  <a:pt x="136467" y="25135"/>
                  <a:pt x="128075" y="25135"/>
                  <a:pt x="122907" y="30303"/>
                </a:cubicBezTo>
                <a:cubicBezTo>
                  <a:pt x="117740" y="35471"/>
                  <a:pt x="117740" y="43863"/>
                  <a:pt x="122907" y="49031"/>
                </a:cubicBezTo>
                <a:lnTo>
                  <a:pt x="166481" y="92604"/>
                </a:lnTo>
                <a:lnTo>
                  <a:pt x="13229" y="92604"/>
                </a:ln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166481" y="119063"/>
                </a:lnTo>
                <a:lnTo>
                  <a:pt x="122907" y="162636"/>
                </a:lnTo>
                <a:cubicBezTo>
                  <a:pt x="117740" y="167804"/>
                  <a:pt x="117740" y="176196"/>
                  <a:pt x="122907" y="181364"/>
                </a:cubicBezTo>
                <a:cubicBezTo>
                  <a:pt x="128075" y="186531"/>
                  <a:pt x="136467" y="186531"/>
                  <a:pt x="141635" y="181364"/>
                </a:cubicBezTo>
                <a:lnTo>
                  <a:pt x="207781" y="11521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838320" y="2254250"/>
            <a:ext cx="1375833" cy="423333"/>
          </a:xfrm>
          <a:custGeom>
            <a:avLst/>
            <a:gdLst/>
            <a:ahLst/>
            <a:cxnLst/>
            <a:rect l="l" t="t" r="r" b="b"/>
            <a:pathLst>
              <a:path w="1375833" h="423333">
                <a:moveTo>
                  <a:pt x="84667" y="0"/>
                </a:moveTo>
                <a:lnTo>
                  <a:pt x="1291167" y="0"/>
                </a:lnTo>
                <a:cubicBezTo>
                  <a:pt x="1337927" y="0"/>
                  <a:pt x="1375833" y="37907"/>
                  <a:pt x="1375833" y="84667"/>
                </a:cubicBezTo>
                <a:lnTo>
                  <a:pt x="1375833" y="338667"/>
                </a:lnTo>
                <a:cubicBezTo>
                  <a:pt x="1375833" y="385427"/>
                  <a:pt x="1337927" y="423333"/>
                  <a:pt x="12911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38320" y="2254250"/>
            <a:ext cx="1460500" cy="423333"/>
          </a:xfrm>
          <a:prstGeom prst="rect">
            <a:avLst/>
          </a:prstGeom>
          <a:noFill/>
          <a:ln/>
        </p:spPr>
        <p:txBody>
          <a:bodyPr wrap="square" lIns="169333" tIns="84667" rIns="169333" bIns="84667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12732" y="23600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07781" y="115176"/>
                </a:moveTo>
                <a:cubicBezTo>
                  <a:pt x="212948" y="110009"/>
                  <a:pt x="212948" y="101617"/>
                  <a:pt x="207781" y="96449"/>
                </a:cubicBezTo>
                <a:lnTo>
                  <a:pt x="141635" y="30303"/>
                </a:lnTo>
                <a:cubicBezTo>
                  <a:pt x="136467" y="25135"/>
                  <a:pt x="128075" y="25135"/>
                  <a:pt x="122907" y="30303"/>
                </a:cubicBezTo>
                <a:cubicBezTo>
                  <a:pt x="117740" y="35471"/>
                  <a:pt x="117740" y="43863"/>
                  <a:pt x="122907" y="49031"/>
                </a:cubicBezTo>
                <a:lnTo>
                  <a:pt x="166481" y="92604"/>
                </a:lnTo>
                <a:lnTo>
                  <a:pt x="13229" y="92604"/>
                </a:ln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166481" y="119063"/>
                </a:lnTo>
                <a:lnTo>
                  <a:pt x="122907" y="162636"/>
                </a:lnTo>
                <a:cubicBezTo>
                  <a:pt x="117740" y="167804"/>
                  <a:pt x="117740" y="176196"/>
                  <a:pt x="122907" y="181364"/>
                </a:cubicBezTo>
                <a:cubicBezTo>
                  <a:pt x="128075" y="186531"/>
                  <a:pt x="136467" y="186531"/>
                  <a:pt x="141635" y="181364"/>
                </a:cubicBezTo>
                <a:lnTo>
                  <a:pt x="207781" y="11521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619754" y="2254250"/>
            <a:ext cx="783167" cy="423333"/>
          </a:xfrm>
          <a:custGeom>
            <a:avLst/>
            <a:gdLst/>
            <a:ahLst/>
            <a:cxnLst/>
            <a:rect l="l" t="t" r="r" b="b"/>
            <a:pathLst>
              <a:path w="783167" h="423333">
                <a:moveTo>
                  <a:pt x="84667" y="0"/>
                </a:moveTo>
                <a:lnTo>
                  <a:pt x="698500" y="0"/>
                </a:lnTo>
                <a:cubicBezTo>
                  <a:pt x="745260" y="0"/>
                  <a:pt x="783167" y="37907"/>
                  <a:pt x="783167" y="84667"/>
                </a:cubicBezTo>
                <a:lnTo>
                  <a:pt x="783167" y="338667"/>
                </a:lnTo>
                <a:cubicBezTo>
                  <a:pt x="783167" y="385427"/>
                  <a:pt x="745260" y="423333"/>
                  <a:pt x="698500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619754" y="2254250"/>
            <a:ext cx="867833" cy="423333"/>
          </a:xfrm>
          <a:prstGeom prst="rect">
            <a:avLst/>
          </a:prstGeom>
          <a:noFill/>
          <a:ln/>
        </p:spPr>
        <p:txBody>
          <a:bodyPr wrap="square" lIns="169333" tIns="84667" rIns="169333" bIns="84667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583" y="327546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08542" y="3275466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" y="3317800"/>
            <a:ext cx="462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Client根据RowKey查询hbase:meta表定位目标RegionServer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5583" y="36988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8542" y="3698800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1250" y="3741133"/>
            <a:ext cx="3026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RegionServer获取行锁,确保行级原子性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5583" y="41221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8542" y="4122133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" y="4164466"/>
            <a:ext cx="3577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写入WAL(Write-Ahead Log)确保崩溃恢复能力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583" y="454546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08542" y="4545466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1250" y="4587800"/>
            <a:ext cx="397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将数据写入MemStore内存结构,按列族维护有序数据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5583" y="49688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08542" y="4968800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1250" y="5011133"/>
            <a:ext cx="2497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释放行锁,向客户端返回成功响应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5583" y="53921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8542" y="5392133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250" y="5434466"/>
            <a:ext cx="3767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MemStore达到阈值时异步刷写到HDFS生成HFile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583" y="5815466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8542" y="5815466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1250" y="5857800"/>
            <a:ext cx="3788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后台定期执行Compaction合并多个HFile优化存储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42625" y="1571625"/>
            <a:ext cx="4984750" cy="4328583"/>
          </a:xfrm>
          <a:custGeom>
            <a:avLst/>
            <a:gdLst/>
            <a:ahLst/>
            <a:cxnLst/>
            <a:rect l="l" t="t" r="r" b="b"/>
            <a:pathLst>
              <a:path w="4984750" h="4328583">
                <a:moveTo>
                  <a:pt x="84667" y="0"/>
                </a:moveTo>
                <a:lnTo>
                  <a:pt x="4900083" y="0"/>
                </a:lnTo>
                <a:cubicBezTo>
                  <a:pt x="4946843" y="0"/>
                  <a:pt x="4984750" y="37907"/>
                  <a:pt x="4984750" y="84667"/>
                </a:cubicBezTo>
                <a:lnTo>
                  <a:pt x="4984750" y="4243916"/>
                </a:lnTo>
                <a:cubicBezTo>
                  <a:pt x="4984750" y="4290677"/>
                  <a:pt x="4946843" y="4328583"/>
                  <a:pt x="4900083" y="4328583"/>
                </a:cubicBezTo>
                <a:lnTo>
                  <a:pt x="84667" y="4328583"/>
                </a:lnTo>
                <a:cubicBezTo>
                  <a:pt x="37907" y="4328583"/>
                  <a:pt x="0" y="4290677"/>
                  <a:pt x="0" y="4243916"/>
                </a:cubicBezTo>
                <a:lnTo>
                  <a:pt x="0" y="84667"/>
                </a:lnTo>
                <a:cubicBezTo>
                  <a:pt x="0" y="37938"/>
                  <a:pt x="37938" y="0"/>
                  <a:pt x="8466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059583" y="1788583"/>
            <a:ext cx="4656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写路径关键特性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59583" y="2254250"/>
            <a:ext cx="4550833" cy="762000"/>
          </a:xfrm>
          <a:custGeom>
            <a:avLst/>
            <a:gdLst/>
            <a:ahLst/>
            <a:cxnLst/>
            <a:rect l="l" t="t" r="r" b="b"/>
            <a:pathLst>
              <a:path w="4550833" h="762000">
                <a:moveTo>
                  <a:pt x="42337" y="0"/>
                </a:moveTo>
                <a:lnTo>
                  <a:pt x="4508497" y="0"/>
                </a:lnTo>
                <a:cubicBezTo>
                  <a:pt x="4531879" y="0"/>
                  <a:pt x="4550833" y="18955"/>
                  <a:pt x="4550833" y="42337"/>
                </a:cubicBezTo>
                <a:lnTo>
                  <a:pt x="4550833" y="719663"/>
                </a:lnTo>
                <a:cubicBezTo>
                  <a:pt x="4550833" y="743045"/>
                  <a:pt x="4531879" y="762000"/>
                  <a:pt x="45084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186583" y="2381250"/>
            <a:ext cx="438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日志先行原则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186583" y="2677583"/>
            <a:ext cx="437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所有数据变更必须先写入WAL后才能写入MemStore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59583" y="3143250"/>
            <a:ext cx="4550833" cy="762000"/>
          </a:xfrm>
          <a:custGeom>
            <a:avLst/>
            <a:gdLst/>
            <a:ahLst/>
            <a:cxnLst/>
            <a:rect l="l" t="t" r="r" b="b"/>
            <a:pathLst>
              <a:path w="4550833" h="762000">
                <a:moveTo>
                  <a:pt x="42337" y="0"/>
                </a:moveTo>
                <a:lnTo>
                  <a:pt x="4508497" y="0"/>
                </a:lnTo>
                <a:cubicBezTo>
                  <a:pt x="4531879" y="0"/>
                  <a:pt x="4550833" y="18955"/>
                  <a:pt x="4550833" y="42337"/>
                </a:cubicBezTo>
                <a:lnTo>
                  <a:pt x="4550833" y="719663"/>
                </a:lnTo>
                <a:cubicBezTo>
                  <a:pt x="4550833" y="743045"/>
                  <a:pt x="4531879" y="762000"/>
                  <a:pt x="45084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186583" y="3270250"/>
            <a:ext cx="438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顺序写入优化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86583" y="3566583"/>
            <a:ext cx="437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WAL采用顺序追加模式,避免随机磁盘I/O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59583" y="4032250"/>
            <a:ext cx="4550833" cy="762000"/>
          </a:xfrm>
          <a:custGeom>
            <a:avLst/>
            <a:gdLst/>
            <a:ahLst/>
            <a:cxnLst/>
            <a:rect l="l" t="t" r="r" b="b"/>
            <a:pathLst>
              <a:path w="4550833" h="762000">
                <a:moveTo>
                  <a:pt x="42337" y="0"/>
                </a:moveTo>
                <a:lnTo>
                  <a:pt x="4508497" y="0"/>
                </a:lnTo>
                <a:cubicBezTo>
                  <a:pt x="4531879" y="0"/>
                  <a:pt x="4550833" y="18955"/>
                  <a:pt x="4550833" y="42337"/>
                </a:cubicBezTo>
                <a:lnTo>
                  <a:pt x="4550833" y="719663"/>
                </a:lnTo>
                <a:cubicBezTo>
                  <a:pt x="4550833" y="743045"/>
                  <a:pt x="4531879" y="762000"/>
                  <a:pt x="45084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186583" y="4159250"/>
            <a:ext cx="438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批量提交优化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86583" y="4455583"/>
            <a:ext cx="437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支持批量写入减少磁盘I/O次数,提升吞吐量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59583" y="4921250"/>
            <a:ext cx="4550833" cy="762000"/>
          </a:xfrm>
          <a:custGeom>
            <a:avLst/>
            <a:gdLst/>
            <a:ahLst/>
            <a:cxnLst/>
            <a:rect l="l" t="t" r="r" b="b"/>
            <a:pathLst>
              <a:path w="4550833" h="762000">
                <a:moveTo>
                  <a:pt x="42337" y="0"/>
                </a:moveTo>
                <a:lnTo>
                  <a:pt x="4508497" y="0"/>
                </a:lnTo>
                <a:cubicBezTo>
                  <a:pt x="4531879" y="0"/>
                  <a:pt x="4550833" y="18955"/>
                  <a:pt x="4550833" y="42337"/>
                </a:cubicBezTo>
                <a:lnTo>
                  <a:pt x="4550833" y="719663"/>
                </a:lnTo>
                <a:cubicBezTo>
                  <a:pt x="4550833" y="743045"/>
                  <a:pt x="4531879" y="762000"/>
                  <a:pt x="45084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186583" y="5048250"/>
            <a:ext cx="438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异步刷写机制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86583" y="5344583"/>
            <a:ext cx="437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Flush异步执行,不阻塞前台请求处理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842625" y="6080125"/>
            <a:ext cx="4984750" cy="2042583"/>
          </a:xfrm>
          <a:custGeom>
            <a:avLst/>
            <a:gdLst/>
            <a:ahLst/>
            <a:cxnLst/>
            <a:rect l="l" t="t" r="r" b="b"/>
            <a:pathLst>
              <a:path w="4984750" h="2042583">
                <a:moveTo>
                  <a:pt x="84665" y="0"/>
                </a:moveTo>
                <a:lnTo>
                  <a:pt x="4900085" y="0"/>
                </a:lnTo>
                <a:cubicBezTo>
                  <a:pt x="4946844" y="0"/>
                  <a:pt x="4984750" y="37906"/>
                  <a:pt x="4984750" y="84665"/>
                </a:cubicBezTo>
                <a:lnTo>
                  <a:pt x="4984750" y="1957918"/>
                </a:lnTo>
                <a:cubicBezTo>
                  <a:pt x="4984750" y="2004677"/>
                  <a:pt x="4946844" y="2042583"/>
                  <a:pt x="4900085" y="2042583"/>
                </a:cubicBezTo>
                <a:lnTo>
                  <a:pt x="84665" y="2042583"/>
                </a:lnTo>
                <a:cubicBezTo>
                  <a:pt x="37906" y="2042583"/>
                  <a:pt x="0" y="2004677"/>
                  <a:pt x="0" y="1957918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017250" y="6254750"/>
            <a:ext cx="473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MemStore数据结构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049000" y="672041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313583" y="6678083"/>
            <a:ext cx="2656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使用跳表(SkipList)维护有序键值对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049000" y="705908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313583" y="7016750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支持快速插入和范围查询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049000" y="7397750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313583" y="7355417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按列族独立管理,支持不同刷写阈值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49000" y="773641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313583" y="7694083"/>
            <a:ext cx="2296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定期刷写到磁盘生成StoreFile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4500" y="8502532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656167" y="8634824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4083" y="52917"/>
                </a:moveTo>
                <a:cubicBezTo>
                  <a:pt x="74083" y="47076"/>
                  <a:pt x="78826" y="42333"/>
                  <a:pt x="84667" y="42333"/>
                </a:cubicBezTo>
                <a:cubicBezTo>
                  <a:pt x="90508" y="42333"/>
                  <a:pt x="95250" y="47076"/>
                  <a:pt x="95250" y="52917"/>
                </a:cubicBezTo>
                <a:cubicBezTo>
                  <a:pt x="95250" y="58758"/>
                  <a:pt x="90508" y="63500"/>
                  <a:pt x="84667" y="63500"/>
                </a:cubicBezTo>
                <a:cubicBezTo>
                  <a:pt x="78826" y="63500"/>
                  <a:pt x="74083" y="58758"/>
                  <a:pt x="74083" y="52917"/>
                </a:cubicBezTo>
                <a:close/>
                <a:moveTo>
                  <a:pt x="71438" y="74083"/>
                </a:moveTo>
                <a:lnTo>
                  <a:pt x="87313" y="74083"/>
                </a:lnTo>
                <a:cubicBezTo>
                  <a:pt x="91711" y="74083"/>
                  <a:pt x="95250" y="77622"/>
                  <a:pt x="95250" y="82021"/>
                </a:cubicBezTo>
                <a:lnTo>
                  <a:pt x="95250" y="111125"/>
                </a:lnTo>
                <a:lnTo>
                  <a:pt x="97896" y="111125"/>
                </a:lnTo>
                <a:cubicBezTo>
                  <a:pt x="102295" y="111125"/>
                  <a:pt x="105833" y="114664"/>
                  <a:pt x="105833" y="119063"/>
                </a:cubicBezTo>
                <a:cubicBezTo>
                  <a:pt x="105833" y="123461"/>
                  <a:pt x="102295" y="127000"/>
                  <a:pt x="97896" y="127000"/>
                </a:cubicBezTo>
                <a:lnTo>
                  <a:pt x="71438" y="127000"/>
                </a:lnTo>
                <a:cubicBezTo>
                  <a:pt x="67039" y="127000"/>
                  <a:pt x="63500" y="123461"/>
                  <a:pt x="63500" y="119063"/>
                </a:cubicBezTo>
                <a:cubicBezTo>
                  <a:pt x="63500" y="114664"/>
                  <a:pt x="67039" y="111125"/>
                  <a:pt x="71438" y="111125"/>
                </a:cubicBezTo>
                <a:lnTo>
                  <a:pt x="79375" y="111125"/>
                </a:lnTo>
                <a:lnTo>
                  <a:pt x="79375" y="89958"/>
                </a:lnTo>
                <a:lnTo>
                  <a:pt x="71438" y="89958"/>
                </a:lnTo>
                <a:cubicBezTo>
                  <a:pt x="67039" y="89958"/>
                  <a:pt x="63500" y="86420"/>
                  <a:pt x="63500" y="82021"/>
                </a:cubicBezTo>
                <a:cubicBezTo>
                  <a:pt x="63500" y="77622"/>
                  <a:pt x="67039" y="74083"/>
                  <a:pt x="71438" y="7408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17222" y="8587199"/>
            <a:ext cx="150001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LSM-tree架构:</a:t>
            </a: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写路径体现了LSM-tree(Log-Structured Merge-tree)的核心思想:顺序写入+内存累积+后台合并。这种架构通过权衡读放大、写放大和空间放大,实现极高的写入吞吐量。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2400300" cy="508000"/>
          </a:xfrm>
          <a:custGeom>
            <a:avLst/>
            <a:gdLst/>
            <a:ahLst/>
            <a:cxnLst/>
            <a:rect l="l" t="t" r="r" b="b"/>
            <a:pathLst>
              <a:path w="2400300" h="508000">
                <a:moveTo>
                  <a:pt x="0" y="0"/>
                </a:moveTo>
                <a:lnTo>
                  <a:pt x="2400300" y="0"/>
                </a:lnTo>
                <a:lnTo>
                  <a:pt x="24003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2000" y="628650"/>
            <a:ext cx="20698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 &amp; MEMSTORE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168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WAL机制与MemStore内存管理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1885950"/>
            <a:ext cx="7480300" cy="5651500"/>
          </a:xfrm>
          <a:custGeom>
            <a:avLst/>
            <a:gdLst/>
            <a:ahLst/>
            <a:cxnLst/>
            <a:rect l="l" t="t" r="r" b="b"/>
            <a:pathLst>
              <a:path w="7480300" h="5651500">
                <a:moveTo>
                  <a:pt x="101614" y="0"/>
                </a:moveTo>
                <a:lnTo>
                  <a:pt x="7378686" y="0"/>
                </a:lnTo>
                <a:cubicBezTo>
                  <a:pt x="7434806" y="0"/>
                  <a:pt x="7480300" y="45494"/>
                  <a:pt x="7480300" y="101614"/>
                </a:cubicBezTo>
                <a:lnTo>
                  <a:pt x="7480300" y="5549886"/>
                </a:lnTo>
                <a:cubicBezTo>
                  <a:pt x="7480300" y="5606006"/>
                  <a:pt x="7434806" y="5651500"/>
                  <a:pt x="7378686" y="5651500"/>
                </a:cubicBezTo>
                <a:lnTo>
                  <a:pt x="101614" y="5651500"/>
                </a:lnTo>
                <a:cubicBezTo>
                  <a:pt x="45494" y="5651500"/>
                  <a:pt x="0" y="5606006"/>
                  <a:pt x="0" y="55498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38200" y="21971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59531" y="127000"/>
                </a:moveTo>
                <a:cubicBezTo>
                  <a:pt x="52933" y="127000"/>
                  <a:pt x="47625" y="132308"/>
                  <a:pt x="47625" y="138906"/>
                </a:cubicBezTo>
                <a:cubicBezTo>
                  <a:pt x="47625" y="145504"/>
                  <a:pt x="52933" y="150813"/>
                  <a:pt x="59531" y="150813"/>
                </a:cubicBezTo>
                <a:lnTo>
                  <a:pt x="130969" y="150813"/>
                </a:lnTo>
                <a:cubicBezTo>
                  <a:pt x="137567" y="150813"/>
                  <a:pt x="142875" y="145504"/>
                  <a:pt x="142875" y="138906"/>
                </a:cubicBezTo>
                <a:cubicBezTo>
                  <a:pt x="142875" y="132308"/>
                  <a:pt x="137567" y="127000"/>
                  <a:pt x="130969" y="127000"/>
                </a:cubicBezTo>
                <a:lnTo>
                  <a:pt x="59531" y="12700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30969" y="198438"/>
                </a:lnTo>
                <a:cubicBezTo>
                  <a:pt x="137567" y="198438"/>
                  <a:pt x="142875" y="193129"/>
                  <a:pt x="142875" y="186531"/>
                </a:cubicBezTo>
                <a:cubicBezTo>
                  <a:pt x="142875" y="179933"/>
                  <a:pt x="137567" y="174625"/>
                  <a:pt x="130969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93800" y="2146300"/>
            <a:ext cx="334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WAL(Write-Ahead Log)机制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705100"/>
            <a:ext cx="706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WAL是HBase保证数据持久性的核心机制,采用顺序写入模式提供高效的日志记录。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4700" y="3517900"/>
            <a:ext cx="6959600" cy="2032000"/>
          </a:xfrm>
          <a:custGeom>
            <a:avLst/>
            <a:gdLst/>
            <a:ahLst/>
            <a:cxnLst/>
            <a:rect l="l" t="t" r="r" b="b"/>
            <a:pathLst>
              <a:path w="6959600" h="2032000">
                <a:moveTo>
                  <a:pt x="50800" y="0"/>
                </a:moveTo>
                <a:lnTo>
                  <a:pt x="6908800" y="0"/>
                </a:lnTo>
                <a:cubicBezTo>
                  <a:pt x="6936837" y="0"/>
                  <a:pt x="6959600" y="22763"/>
                  <a:pt x="6959600" y="50800"/>
                </a:cubicBezTo>
                <a:lnTo>
                  <a:pt x="6959600" y="1981200"/>
                </a:lnTo>
                <a:cubicBezTo>
                  <a:pt x="6959600" y="2009237"/>
                  <a:pt x="6936837" y="2032000"/>
                  <a:pt x="69088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7100" y="36703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核心作用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3613" y="41148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50950" y="4076700"/>
            <a:ext cx="359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日志先行原则: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所有数据变更必须先写入WAL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3613" y="4470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50950" y="4432300"/>
            <a:ext cx="377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崩溃恢复保障: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通过WAL回放恢复未持久化数据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3613" y="4826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250950" y="4787900"/>
            <a:ext cx="327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批量提交优化: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支持批量写入减少磁盘I/O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3613" y="5181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250950" y="51435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多副本存储:</a:t>
            </a: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WAL在HDFS上存储多个副本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4700" y="5702300"/>
            <a:ext cx="6959600" cy="1574800"/>
          </a:xfrm>
          <a:custGeom>
            <a:avLst/>
            <a:gdLst/>
            <a:ahLst/>
            <a:cxnLst/>
            <a:rect l="l" t="t" r="r" b="b"/>
            <a:pathLst>
              <a:path w="6959600" h="1574800">
                <a:moveTo>
                  <a:pt x="50803" y="0"/>
                </a:moveTo>
                <a:lnTo>
                  <a:pt x="6908797" y="0"/>
                </a:lnTo>
                <a:cubicBezTo>
                  <a:pt x="6936855" y="0"/>
                  <a:pt x="6959600" y="22745"/>
                  <a:pt x="6959600" y="50803"/>
                </a:cubicBezTo>
                <a:lnTo>
                  <a:pt x="6959600" y="1523997"/>
                </a:lnTo>
                <a:cubicBezTo>
                  <a:pt x="6959600" y="1552055"/>
                  <a:pt x="6936855" y="1574800"/>
                  <a:pt x="6908797" y="1574800"/>
                </a:cubicBezTo>
                <a:lnTo>
                  <a:pt x="50803" y="1574800"/>
                </a:lnTo>
                <a:cubicBezTo>
                  <a:pt x="22745" y="1574800"/>
                  <a:pt x="0" y="1552055"/>
                  <a:pt x="0" y="15239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27100" y="58547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配置调优要点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100" y="62611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WAL块大小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39495" y="62611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hlog.blocksize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7100" y="6565900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最大WAL文件数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9098" y="656590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maxlogs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7100" y="68707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异步刷写间隔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79579" y="6870700"/>
            <a:ext cx="199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optionallogflushinterval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61350" y="1885950"/>
            <a:ext cx="7480300" cy="5956300"/>
          </a:xfrm>
          <a:custGeom>
            <a:avLst/>
            <a:gdLst/>
            <a:ahLst/>
            <a:cxnLst/>
            <a:rect l="l" t="t" r="r" b="b"/>
            <a:pathLst>
              <a:path w="7480300" h="5956300">
                <a:moveTo>
                  <a:pt x="101614" y="0"/>
                </a:moveTo>
                <a:lnTo>
                  <a:pt x="7378686" y="0"/>
                </a:lnTo>
                <a:cubicBezTo>
                  <a:pt x="7434806" y="0"/>
                  <a:pt x="7480300" y="45494"/>
                  <a:pt x="7480300" y="101614"/>
                </a:cubicBezTo>
                <a:lnTo>
                  <a:pt x="7480300" y="5854686"/>
                </a:lnTo>
                <a:cubicBezTo>
                  <a:pt x="7480300" y="5910806"/>
                  <a:pt x="7434806" y="5956300"/>
                  <a:pt x="7378686" y="5956300"/>
                </a:cubicBezTo>
                <a:lnTo>
                  <a:pt x="101614" y="5956300"/>
                </a:lnTo>
                <a:cubicBezTo>
                  <a:pt x="45494" y="5956300"/>
                  <a:pt x="0" y="5910806"/>
                  <a:pt x="0" y="58546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53450" y="2197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40800" y="21463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MemStore内存管理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21700" y="2705100"/>
            <a:ext cx="706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MemStore是HBase的内存存储结构,用于累积数据变更并提供高效的内存读写。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21700" y="3517900"/>
            <a:ext cx="6959600" cy="2032000"/>
          </a:xfrm>
          <a:custGeom>
            <a:avLst/>
            <a:gdLst/>
            <a:ahLst/>
            <a:cxnLst/>
            <a:rect l="l" t="t" r="r" b="b"/>
            <a:pathLst>
              <a:path w="6959600" h="2032000">
                <a:moveTo>
                  <a:pt x="50800" y="0"/>
                </a:moveTo>
                <a:lnTo>
                  <a:pt x="6908800" y="0"/>
                </a:lnTo>
                <a:cubicBezTo>
                  <a:pt x="6936837" y="0"/>
                  <a:pt x="6959600" y="22763"/>
                  <a:pt x="6959600" y="50800"/>
                </a:cubicBezTo>
                <a:lnTo>
                  <a:pt x="6959600" y="1981200"/>
                </a:lnTo>
                <a:cubicBezTo>
                  <a:pt x="6959600" y="2009237"/>
                  <a:pt x="6936837" y="2032000"/>
                  <a:pt x="69088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74100" y="36703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74100" y="4083050"/>
            <a:ext cx="84316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列族独立: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79756" y="4083050"/>
            <a:ext cx="289252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每个列族拥有独立的MemStore实例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74100" y="4438650"/>
            <a:ext cx="119876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有序数据结构: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35356" y="4438650"/>
            <a:ext cx="20447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采用跳表维护有序键值对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74100" y="4794250"/>
            <a:ext cx="84316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内存控制: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79756" y="4794250"/>
            <a:ext cx="18669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通过参数控制最大大小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74100" y="5149850"/>
            <a:ext cx="84316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全局限制: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79756" y="5149850"/>
            <a:ext cx="34515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控制整个RegionServer的MemStore总大小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21700" y="5702300"/>
            <a:ext cx="6959600" cy="1879600"/>
          </a:xfrm>
          <a:custGeom>
            <a:avLst/>
            <a:gdLst/>
            <a:ahLst/>
            <a:cxnLst/>
            <a:rect l="l" t="t" r="r" b="b"/>
            <a:pathLst>
              <a:path w="6959600" h="1879600">
                <a:moveTo>
                  <a:pt x="50806" y="0"/>
                </a:moveTo>
                <a:lnTo>
                  <a:pt x="6908794" y="0"/>
                </a:lnTo>
                <a:cubicBezTo>
                  <a:pt x="6936854" y="0"/>
                  <a:pt x="6959600" y="22746"/>
                  <a:pt x="6959600" y="50806"/>
                </a:cubicBezTo>
                <a:lnTo>
                  <a:pt x="6959600" y="1828794"/>
                </a:lnTo>
                <a:cubicBezTo>
                  <a:pt x="6959600" y="1856854"/>
                  <a:pt x="6936854" y="1879600"/>
                  <a:pt x="6908794" y="1879600"/>
                </a:cubicBezTo>
                <a:lnTo>
                  <a:pt x="50806" y="1879600"/>
                </a:lnTo>
                <a:cubicBezTo>
                  <a:pt x="22746" y="1879600"/>
                  <a:pt x="0" y="1856854"/>
                  <a:pt x="0" y="1828794"/>
                </a:cubicBezTo>
                <a:lnTo>
                  <a:pt x="0" y="50806"/>
                </a:lnTo>
                <a:cubicBezTo>
                  <a:pt x="0" y="22765"/>
                  <a:pt x="22765" y="0"/>
                  <a:pt x="508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74100" y="58547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刷写触发条件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674100" y="63373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877300" y="6261100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大小阈值: 单个MemStore达到128MB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74100" y="6642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877300" y="6565900"/>
            <a:ext cx="370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全局限制: 所有MemStore总和达到堆内存40%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674100" y="6946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877300" y="6870700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时间间隔: 定期刷写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74100" y="7251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877300" y="71755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手动触发: 通过API或Shell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3400" y="80518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62000" y="8153400"/>
            <a:ext cx="736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WAL模式选择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2000" y="8559800"/>
            <a:ext cx="735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SYNC_WAL(最安全) / ASYNC_WAL(平衡) / SKIP_WAL(最高性能)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55000" y="80518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483600" y="8153400"/>
            <a:ext cx="736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MemStore优化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83600" y="8559800"/>
            <a:ext cx="735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合理设置刷写阈值,启用压缩减少内存占用,避免频繁刷写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826" y="441739"/>
            <a:ext cx="1424609" cy="441739"/>
          </a:xfrm>
          <a:custGeom>
            <a:avLst/>
            <a:gdLst/>
            <a:ahLst/>
            <a:cxnLst/>
            <a:rect l="l" t="t" r="r" b="b"/>
            <a:pathLst>
              <a:path w="1424609" h="441739">
                <a:moveTo>
                  <a:pt x="0" y="0"/>
                </a:moveTo>
                <a:lnTo>
                  <a:pt x="1424609" y="0"/>
                </a:lnTo>
                <a:lnTo>
                  <a:pt x="1424609" y="441739"/>
                </a:lnTo>
                <a:lnTo>
                  <a:pt x="0" y="441739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63826" y="441739"/>
            <a:ext cx="44174" cy="441739"/>
          </a:xfrm>
          <a:custGeom>
            <a:avLst/>
            <a:gdLst/>
            <a:ahLst/>
            <a:cxnLst/>
            <a:rect l="l" t="t" r="r" b="b"/>
            <a:pathLst>
              <a:path w="44174" h="441739">
                <a:moveTo>
                  <a:pt x="0" y="0"/>
                </a:moveTo>
                <a:lnTo>
                  <a:pt x="44174" y="0"/>
                </a:lnTo>
                <a:lnTo>
                  <a:pt x="44174" y="441739"/>
                </a:lnTo>
                <a:lnTo>
                  <a:pt x="0" y="441739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62609" y="546652"/>
            <a:ext cx="1139204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kern="0" spc="70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 PATH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1739" y="1016000"/>
            <a:ext cx="15571304" cy="441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3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读路径优化:BlockCache与BloomFilter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7261" y="1639957"/>
            <a:ext cx="7564783" cy="4781826"/>
          </a:xfrm>
          <a:custGeom>
            <a:avLst/>
            <a:gdLst/>
            <a:ahLst/>
            <a:cxnLst/>
            <a:rect l="l" t="t" r="r" b="b"/>
            <a:pathLst>
              <a:path w="7564783" h="4781826">
                <a:moveTo>
                  <a:pt x="88368" y="0"/>
                </a:moveTo>
                <a:lnTo>
                  <a:pt x="7476414" y="0"/>
                </a:lnTo>
                <a:cubicBezTo>
                  <a:pt x="7525219" y="0"/>
                  <a:pt x="7564783" y="39564"/>
                  <a:pt x="7564783" y="88368"/>
                </a:cubicBezTo>
                <a:lnTo>
                  <a:pt x="7564783" y="4693458"/>
                </a:lnTo>
                <a:cubicBezTo>
                  <a:pt x="7564783" y="4742262"/>
                  <a:pt x="7525219" y="4781826"/>
                  <a:pt x="7476414" y="4781826"/>
                </a:cubicBezTo>
                <a:lnTo>
                  <a:pt x="88368" y="4781826"/>
                </a:lnTo>
                <a:cubicBezTo>
                  <a:pt x="39564" y="4781826"/>
                  <a:pt x="0" y="4742262"/>
                  <a:pt x="0" y="4693458"/>
                </a:cubicBezTo>
                <a:lnTo>
                  <a:pt x="0" y="88368"/>
                </a:lnTo>
                <a:cubicBezTo>
                  <a:pt x="0" y="39596"/>
                  <a:pt x="39596" y="0"/>
                  <a:pt x="8836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73652" y="1866348"/>
            <a:ext cx="7222435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读路径六步流程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3652" y="2352261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88348" y="0"/>
                </a:moveTo>
                <a:lnTo>
                  <a:pt x="265043" y="0"/>
                </a:lnTo>
                <a:cubicBezTo>
                  <a:pt x="313837" y="0"/>
                  <a:pt x="353391" y="39555"/>
                  <a:pt x="353391" y="88348"/>
                </a:cubicBezTo>
                <a:lnTo>
                  <a:pt x="353391" y="265043"/>
                </a:lnTo>
                <a:cubicBezTo>
                  <a:pt x="353391" y="313837"/>
                  <a:pt x="313837" y="353391"/>
                  <a:pt x="265043" y="353391"/>
                </a:cubicBezTo>
                <a:lnTo>
                  <a:pt x="88348" y="353391"/>
                </a:lnTo>
                <a:cubicBezTo>
                  <a:pt x="39555" y="353391"/>
                  <a:pt x="0" y="313837"/>
                  <a:pt x="0" y="265043"/>
                </a:cubicBezTo>
                <a:lnTo>
                  <a:pt x="0" y="88348"/>
                </a:lnTo>
                <a:cubicBezTo>
                  <a:pt x="0" y="39587"/>
                  <a:pt x="39587" y="0"/>
                  <a:pt x="8834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35000" y="2352261"/>
            <a:ext cx="4306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9565" y="2352261"/>
            <a:ext cx="4881217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客户端路由定位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9565" y="2661478"/>
            <a:ext cx="4870174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Client根据RowKey查询hbase:meta表确定目标Region和RegionServer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3652" y="3014870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88348" y="0"/>
                </a:moveTo>
                <a:lnTo>
                  <a:pt x="265043" y="0"/>
                </a:lnTo>
                <a:cubicBezTo>
                  <a:pt x="313837" y="0"/>
                  <a:pt x="353391" y="39555"/>
                  <a:pt x="353391" y="88348"/>
                </a:cubicBezTo>
                <a:lnTo>
                  <a:pt x="353391" y="265043"/>
                </a:lnTo>
                <a:cubicBezTo>
                  <a:pt x="353391" y="313837"/>
                  <a:pt x="313837" y="353391"/>
                  <a:pt x="265043" y="353391"/>
                </a:cubicBezTo>
                <a:lnTo>
                  <a:pt x="88348" y="353391"/>
                </a:lnTo>
                <a:cubicBezTo>
                  <a:pt x="39555" y="353391"/>
                  <a:pt x="0" y="313837"/>
                  <a:pt x="0" y="265043"/>
                </a:cubicBezTo>
                <a:lnTo>
                  <a:pt x="0" y="88348"/>
                </a:lnTo>
                <a:cubicBezTo>
                  <a:pt x="0" y="39587"/>
                  <a:pt x="39587" y="0"/>
                  <a:pt x="8834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5000" y="3014870"/>
            <a:ext cx="4306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9565" y="3014870"/>
            <a:ext cx="322469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BlockCache查找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9565" y="3324087"/>
            <a:ext cx="3213652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首先在内存缓存中查找数据块,命中则直接返回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652" y="3677478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88348" y="0"/>
                </a:moveTo>
                <a:lnTo>
                  <a:pt x="265043" y="0"/>
                </a:lnTo>
                <a:cubicBezTo>
                  <a:pt x="313837" y="0"/>
                  <a:pt x="353391" y="39555"/>
                  <a:pt x="353391" y="88348"/>
                </a:cubicBezTo>
                <a:lnTo>
                  <a:pt x="353391" y="265043"/>
                </a:lnTo>
                <a:cubicBezTo>
                  <a:pt x="353391" y="313837"/>
                  <a:pt x="313837" y="353391"/>
                  <a:pt x="265043" y="353391"/>
                </a:cubicBezTo>
                <a:lnTo>
                  <a:pt x="88348" y="353391"/>
                </a:lnTo>
                <a:cubicBezTo>
                  <a:pt x="39555" y="353391"/>
                  <a:pt x="0" y="313837"/>
                  <a:pt x="0" y="265043"/>
                </a:cubicBezTo>
                <a:lnTo>
                  <a:pt x="0" y="88348"/>
                </a:lnTo>
                <a:cubicBezTo>
                  <a:pt x="0" y="39587"/>
                  <a:pt x="39587" y="0"/>
                  <a:pt x="8834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5000" y="3677478"/>
            <a:ext cx="4306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9565" y="3677478"/>
            <a:ext cx="373269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BloomFilter过滤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9565" y="3986696"/>
            <a:ext cx="3721652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使用BloomFilter快速判断HFile是否可能包含目标数据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3652" y="4340087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88348" y="0"/>
                </a:moveTo>
                <a:lnTo>
                  <a:pt x="265043" y="0"/>
                </a:lnTo>
                <a:cubicBezTo>
                  <a:pt x="313837" y="0"/>
                  <a:pt x="353391" y="39555"/>
                  <a:pt x="353391" y="88348"/>
                </a:cubicBezTo>
                <a:lnTo>
                  <a:pt x="353391" y="265043"/>
                </a:lnTo>
                <a:cubicBezTo>
                  <a:pt x="353391" y="313837"/>
                  <a:pt x="313837" y="353391"/>
                  <a:pt x="265043" y="353391"/>
                </a:cubicBezTo>
                <a:lnTo>
                  <a:pt x="88348" y="353391"/>
                </a:lnTo>
                <a:cubicBezTo>
                  <a:pt x="39555" y="353391"/>
                  <a:pt x="0" y="313837"/>
                  <a:pt x="0" y="265043"/>
                </a:cubicBezTo>
                <a:lnTo>
                  <a:pt x="0" y="88348"/>
                </a:lnTo>
                <a:cubicBezTo>
                  <a:pt x="0" y="39587"/>
                  <a:pt x="39587" y="0"/>
                  <a:pt x="8834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5000" y="4340087"/>
            <a:ext cx="4306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59565" y="4340087"/>
            <a:ext cx="3390348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多数据源合并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9565" y="4649304"/>
            <a:ext cx="3379304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扫描MemStore和相关HFile,合并内存和磁盘数据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3652" y="5002696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88348" y="0"/>
                </a:moveTo>
                <a:lnTo>
                  <a:pt x="265043" y="0"/>
                </a:lnTo>
                <a:cubicBezTo>
                  <a:pt x="313837" y="0"/>
                  <a:pt x="353391" y="39555"/>
                  <a:pt x="353391" y="88348"/>
                </a:cubicBezTo>
                <a:lnTo>
                  <a:pt x="353391" y="265043"/>
                </a:lnTo>
                <a:cubicBezTo>
                  <a:pt x="353391" y="313837"/>
                  <a:pt x="313837" y="353391"/>
                  <a:pt x="265043" y="353391"/>
                </a:cubicBezTo>
                <a:lnTo>
                  <a:pt x="88348" y="353391"/>
                </a:lnTo>
                <a:cubicBezTo>
                  <a:pt x="39555" y="353391"/>
                  <a:pt x="0" y="313837"/>
                  <a:pt x="0" y="265043"/>
                </a:cubicBezTo>
                <a:lnTo>
                  <a:pt x="0" y="88348"/>
                </a:lnTo>
                <a:cubicBezTo>
                  <a:pt x="0" y="39587"/>
                  <a:pt x="39587" y="0"/>
                  <a:pt x="8834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35000" y="5002696"/>
            <a:ext cx="4306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59565" y="5002696"/>
            <a:ext cx="33793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版本合并与过滤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9565" y="5311913"/>
            <a:ext cx="3368261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按时间戳和版本号合并数据,应用过滤器返回结果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3652" y="5665304"/>
            <a:ext cx="353391" cy="353391"/>
          </a:xfrm>
          <a:custGeom>
            <a:avLst/>
            <a:gdLst/>
            <a:ahLst/>
            <a:cxnLst/>
            <a:rect l="l" t="t" r="r" b="b"/>
            <a:pathLst>
              <a:path w="353391" h="353391">
                <a:moveTo>
                  <a:pt x="88348" y="0"/>
                </a:moveTo>
                <a:lnTo>
                  <a:pt x="265043" y="0"/>
                </a:lnTo>
                <a:cubicBezTo>
                  <a:pt x="313837" y="0"/>
                  <a:pt x="353391" y="39555"/>
                  <a:pt x="353391" y="88348"/>
                </a:cubicBezTo>
                <a:lnTo>
                  <a:pt x="353391" y="265043"/>
                </a:lnTo>
                <a:cubicBezTo>
                  <a:pt x="353391" y="313837"/>
                  <a:pt x="313837" y="353391"/>
                  <a:pt x="265043" y="353391"/>
                </a:cubicBezTo>
                <a:lnTo>
                  <a:pt x="88348" y="353391"/>
                </a:lnTo>
                <a:cubicBezTo>
                  <a:pt x="39555" y="353391"/>
                  <a:pt x="0" y="313837"/>
                  <a:pt x="0" y="265043"/>
                </a:cubicBezTo>
                <a:lnTo>
                  <a:pt x="0" y="88348"/>
                </a:lnTo>
                <a:cubicBezTo>
                  <a:pt x="0" y="39587"/>
                  <a:pt x="39587" y="0"/>
                  <a:pt x="88348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35000" y="5665304"/>
            <a:ext cx="430696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1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9565" y="5665304"/>
            <a:ext cx="3401391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缓存预热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9565" y="5974522"/>
            <a:ext cx="3390348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将热点数据块加入BlockCache提升后续读取性能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3957" y="1639957"/>
            <a:ext cx="7564783" cy="3721652"/>
          </a:xfrm>
          <a:custGeom>
            <a:avLst/>
            <a:gdLst/>
            <a:ahLst/>
            <a:cxnLst/>
            <a:rect l="l" t="t" r="r" b="b"/>
            <a:pathLst>
              <a:path w="7564783" h="3721652">
                <a:moveTo>
                  <a:pt x="88352" y="0"/>
                </a:moveTo>
                <a:lnTo>
                  <a:pt x="7476431" y="0"/>
                </a:lnTo>
                <a:cubicBezTo>
                  <a:pt x="7525226" y="0"/>
                  <a:pt x="7564783" y="39557"/>
                  <a:pt x="7564783" y="88352"/>
                </a:cubicBezTo>
                <a:lnTo>
                  <a:pt x="7564783" y="3633300"/>
                </a:lnTo>
                <a:cubicBezTo>
                  <a:pt x="7564783" y="3682096"/>
                  <a:pt x="7525226" y="3721652"/>
                  <a:pt x="7476431" y="3721652"/>
                </a:cubicBezTo>
                <a:lnTo>
                  <a:pt x="88352" y="3721652"/>
                </a:lnTo>
                <a:cubicBezTo>
                  <a:pt x="39557" y="3721652"/>
                  <a:pt x="0" y="3682096"/>
                  <a:pt x="0" y="3633300"/>
                </a:cubicBezTo>
                <a:lnTo>
                  <a:pt x="0" y="88352"/>
                </a:lnTo>
                <a:cubicBezTo>
                  <a:pt x="0" y="39589"/>
                  <a:pt x="39589" y="0"/>
                  <a:pt x="8835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70348" y="1866348"/>
            <a:ext cx="7222435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BlockCache缓存机制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70348" y="2352261"/>
            <a:ext cx="7112000" cy="839304"/>
          </a:xfrm>
          <a:custGeom>
            <a:avLst/>
            <a:gdLst/>
            <a:ahLst/>
            <a:cxnLst/>
            <a:rect l="l" t="t" r="r" b="b"/>
            <a:pathLst>
              <a:path w="7112000" h="839304">
                <a:moveTo>
                  <a:pt x="44173" y="0"/>
                </a:moveTo>
                <a:lnTo>
                  <a:pt x="7067827" y="0"/>
                </a:lnTo>
                <a:cubicBezTo>
                  <a:pt x="7092223" y="0"/>
                  <a:pt x="7112000" y="19777"/>
                  <a:pt x="7112000" y="44173"/>
                </a:cubicBezTo>
                <a:lnTo>
                  <a:pt x="7112000" y="795132"/>
                </a:lnTo>
                <a:cubicBezTo>
                  <a:pt x="7112000" y="819528"/>
                  <a:pt x="7092223" y="839304"/>
                  <a:pt x="7067827" y="839304"/>
                </a:cubicBezTo>
                <a:lnTo>
                  <a:pt x="44173" y="839304"/>
                </a:lnTo>
                <a:cubicBezTo>
                  <a:pt x="19777" y="839304"/>
                  <a:pt x="0" y="819528"/>
                  <a:pt x="0" y="795132"/>
                </a:cubicBezTo>
                <a:lnTo>
                  <a:pt x="0" y="44173"/>
                </a:lnTo>
                <a:cubicBezTo>
                  <a:pt x="0" y="19777"/>
                  <a:pt x="19777" y="0"/>
                  <a:pt x="441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02870" y="2484783"/>
            <a:ext cx="69353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LRUBlockCache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02870" y="2838174"/>
            <a:ext cx="6924261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基于LRU算法的堆内缓存,适合中小规模数据和强热点场景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70348" y="3324087"/>
            <a:ext cx="7112000" cy="839304"/>
          </a:xfrm>
          <a:custGeom>
            <a:avLst/>
            <a:gdLst/>
            <a:ahLst/>
            <a:cxnLst/>
            <a:rect l="l" t="t" r="r" b="b"/>
            <a:pathLst>
              <a:path w="7112000" h="839304">
                <a:moveTo>
                  <a:pt x="44173" y="0"/>
                </a:moveTo>
                <a:lnTo>
                  <a:pt x="7067827" y="0"/>
                </a:lnTo>
                <a:cubicBezTo>
                  <a:pt x="7092223" y="0"/>
                  <a:pt x="7112000" y="19777"/>
                  <a:pt x="7112000" y="44173"/>
                </a:cubicBezTo>
                <a:lnTo>
                  <a:pt x="7112000" y="795132"/>
                </a:lnTo>
                <a:cubicBezTo>
                  <a:pt x="7112000" y="819528"/>
                  <a:pt x="7092223" y="839304"/>
                  <a:pt x="7067827" y="839304"/>
                </a:cubicBezTo>
                <a:lnTo>
                  <a:pt x="44173" y="839304"/>
                </a:lnTo>
                <a:cubicBezTo>
                  <a:pt x="19777" y="839304"/>
                  <a:pt x="0" y="819528"/>
                  <a:pt x="0" y="795132"/>
                </a:cubicBezTo>
                <a:lnTo>
                  <a:pt x="0" y="44173"/>
                </a:lnTo>
                <a:cubicBezTo>
                  <a:pt x="0" y="19777"/>
                  <a:pt x="19777" y="0"/>
                  <a:pt x="441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02870" y="3456609"/>
            <a:ext cx="69353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BucketCache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02870" y="3810000"/>
            <a:ext cx="6924261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堆外或文件缓存,分桶管理减少GC压力,适合大规模数据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70348" y="4295913"/>
            <a:ext cx="7112000" cy="839304"/>
          </a:xfrm>
          <a:custGeom>
            <a:avLst/>
            <a:gdLst/>
            <a:ahLst/>
            <a:cxnLst/>
            <a:rect l="l" t="t" r="r" b="b"/>
            <a:pathLst>
              <a:path w="7112000" h="839304">
                <a:moveTo>
                  <a:pt x="44173" y="0"/>
                </a:moveTo>
                <a:lnTo>
                  <a:pt x="7067827" y="0"/>
                </a:lnTo>
                <a:cubicBezTo>
                  <a:pt x="7092223" y="0"/>
                  <a:pt x="7112000" y="19777"/>
                  <a:pt x="7112000" y="44173"/>
                </a:cubicBezTo>
                <a:lnTo>
                  <a:pt x="7112000" y="795132"/>
                </a:lnTo>
                <a:cubicBezTo>
                  <a:pt x="7112000" y="819528"/>
                  <a:pt x="7092223" y="839304"/>
                  <a:pt x="7067827" y="839304"/>
                </a:cubicBezTo>
                <a:lnTo>
                  <a:pt x="44173" y="839304"/>
                </a:lnTo>
                <a:cubicBezTo>
                  <a:pt x="19777" y="839304"/>
                  <a:pt x="0" y="819528"/>
                  <a:pt x="0" y="795132"/>
                </a:cubicBezTo>
                <a:lnTo>
                  <a:pt x="0" y="44173"/>
                </a:lnTo>
                <a:cubicBezTo>
                  <a:pt x="0" y="19777"/>
                  <a:pt x="19777" y="0"/>
                  <a:pt x="4417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602870" y="4428435"/>
            <a:ext cx="69353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分层缓存策略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02870" y="4781826"/>
            <a:ext cx="6924261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L1(堆内)和L2(堆外)协同工作,平衡性能和内存使用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3957" y="5549348"/>
            <a:ext cx="7564783" cy="2744304"/>
          </a:xfrm>
          <a:custGeom>
            <a:avLst/>
            <a:gdLst/>
            <a:ahLst/>
            <a:cxnLst/>
            <a:rect l="l" t="t" r="r" b="b"/>
            <a:pathLst>
              <a:path w="7564783" h="2970696">
                <a:moveTo>
                  <a:pt x="88348" y="0"/>
                </a:moveTo>
                <a:lnTo>
                  <a:pt x="7476434" y="0"/>
                </a:lnTo>
                <a:cubicBezTo>
                  <a:pt x="7525228" y="0"/>
                  <a:pt x="7564783" y="39555"/>
                  <a:pt x="7564783" y="88348"/>
                </a:cubicBezTo>
                <a:lnTo>
                  <a:pt x="7564783" y="2882347"/>
                </a:lnTo>
                <a:cubicBezTo>
                  <a:pt x="7564783" y="2931141"/>
                  <a:pt x="7525228" y="2970696"/>
                  <a:pt x="7476434" y="2970696"/>
                </a:cubicBezTo>
                <a:lnTo>
                  <a:pt x="88348" y="2970696"/>
                </a:lnTo>
                <a:cubicBezTo>
                  <a:pt x="39555" y="2970696"/>
                  <a:pt x="0" y="2931141"/>
                  <a:pt x="0" y="2882347"/>
                </a:cubicBezTo>
                <a:lnTo>
                  <a:pt x="0" y="88348"/>
                </a:lnTo>
                <a:cubicBezTo>
                  <a:pt x="0" y="39588"/>
                  <a:pt x="39588" y="0"/>
                  <a:pt x="8834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470348" y="5775739"/>
            <a:ext cx="7222435" cy="30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9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BloomFilter优化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70348" y="6261652"/>
            <a:ext cx="3489739" cy="750957"/>
          </a:xfrm>
          <a:custGeom>
            <a:avLst/>
            <a:gdLst/>
            <a:ahLst/>
            <a:cxnLst/>
            <a:rect l="l" t="t" r="r" b="b"/>
            <a:pathLst>
              <a:path w="3489739" h="750957">
                <a:moveTo>
                  <a:pt x="44171" y="0"/>
                </a:moveTo>
                <a:lnTo>
                  <a:pt x="3445568" y="0"/>
                </a:lnTo>
                <a:cubicBezTo>
                  <a:pt x="3469963" y="0"/>
                  <a:pt x="3489739" y="19776"/>
                  <a:pt x="3489739" y="44171"/>
                </a:cubicBezTo>
                <a:lnTo>
                  <a:pt x="3489739" y="706785"/>
                </a:lnTo>
                <a:cubicBezTo>
                  <a:pt x="3489739" y="731180"/>
                  <a:pt x="3469963" y="750957"/>
                  <a:pt x="3445568" y="750957"/>
                </a:cubicBezTo>
                <a:lnTo>
                  <a:pt x="44171" y="750957"/>
                </a:lnTo>
                <a:cubicBezTo>
                  <a:pt x="19776" y="750957"/>
                  <a:pt x="0" y="731180"/>
                  <a:pt x="0" y="706785"/>
                </a:cubicBezTo>
                <a:lnTo>
                  <a:pt x="0" y="44171"/>
                </a:lnTo>
                <a:cubicBezTo>
                  <a:pt x="0" y="19776"/>
                  <a:pt x="19776" y="0"/>
                  <a:pt x="441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02870" y="6394174"/>
            <a:ext cx="3302000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ROW级别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02870" y="6659217"/>
            <a:ext cx="3302000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判断行键是否存在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092609" y="6261652"/>
            <a:ext cx="3489739" cy="750957"/>
          </a:xfrm>
          <a:custGeom>
            <a:avLst/>
            <a:gdLst/>
            <a:ahLst/>
            <a:cxnLst/>
            <a:rect l="l" t="t" r="r" b="b"/>
            <a:pathLst>
              <a:path w="3489739" h="750957">
                <a:moveTo>
                  <a:pt x="44171" y="0"/>
                </a:moveTo>
                <a:lnTo>
                  <a:pt x="3445568" y="0"/>
                </a:lnTo>
                <a:cubicBezTo>
                  <a:pt x="3469963" y="0"/>
                  <a:pt x="3489739" y="19776"/>
                  <a:pt x="3489739" y="44171"/>
                </a:cubicBezTo>
                <a:lnTo>
                  <a:pt x="3489739" y="706785"/>
                </a:lnTo>
                <a:cubicBezTo>
                  <a:pt x="3489739" y="731180"/>
                  <a:pt x="3469963" y="750957"/>
                  <a:pt x="3445568" y="750957"/>
                </a:cubicBezTo>
                <a:lnTo>
                  <a:pt x="44171" y="750957"/>
                </a:lnTo>
                <a:cubicBezTo>
                  <a:pt x="19776" y="750957"/>
                  <a:pt x="0" y="731180"/>
                  <a:pt x="0" y="706785"/>
                </a:cubicBezTo>
                <a:lnTo>
                  <a:pt x="0" y="44171"/>
                </a:lnTo>
                <a:cubicBezTo>
                  <a:pt x="0" y="19776"/>
                  <a:pt x="19776" y="0"/>
                  <a:pt x="441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225130" y="6394174"/>
            <a:ext cx="3302000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ROWCOL级别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225130" y="6659217"/>
            <a:ext cx="3302000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判断行列是否存在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70348" y="7145130"/>
            <a:ext cx="7112000" cy="1148522"/>
          </a:xfrm>
          <a:custGeom>
            <a:avLst/>
            <a:gdLst/>
            <a:ahLst/>
            <a:cxnLst/>
            <a:rect l="l" t="t" r="r" b="b"/>
            <a:pathLst>
              <a:path w="7112000" h="1148522">
                <a:moveTo>
                  <a:pt x="44172" y="0"/>
                </a:moveTo>
                <a:lnTo>
                  <a:pt x="7067828" y="0"/>
                </a:lnTo>
                <a:cubicBezTo>
                  <a:pt x="7092223" y="0"/>
                  <a:pt x="7112000" y="19777"/>
                  <a:pt x="7112000" y="44172"/>
                </a:cubicBezTo>
                <a:lnTo>
                  <a:pt x="7112000" y="1104350"/>
                </a:lnTo>
                <a:cubicBezTo>
                  <a:pt x="7112000" y="1128745"/>
                  <a:pt x="7092223" y="1148522"/>
                  <a:pt x="7067828" y="1148522"/>
                </a:cubicBezTo>
                <a:lnTo>
                  <a:pt x="44172" y="1148522"/>
                </a:lnTo>
                <a:cubicBezTo>
                  <a:pt x="19777" y="1148522"/>
                  <a:pt x="0" y="1128745"/>
                  <a:pt x="0" y="1104350"/>
                </a:cubicBezTo>
                <a:lnTo>
                  <a:pt x="0" y="44172"/>
                </a:lnTo>
                <a:cubicBezTo>
                  <a:pt x="0" y="19793"/>
                  <a:pt x="19793" y="0"/>
                  <a:pt x="441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602870" y="7277652"/>
            <a:ext cx="69353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634620" y="7664174"/>
            <a:ext cx="135283" cy="154609"/>
          </a:xfrm>
          <a:custGeom>
            <a:avLst/>
            <a:gdLst/>
            <a:ahLst/>
            <a:cxnLst/>
            <a:rect l="l" t="t" r="r" b="b"/>
            <a:pathLst>
              <a:path w="135283" h="154609">
                <a:moveTo>
                  <a:pt x="131297" y="21168"/>
                </a:moveTo>
                <a:cubicBezTo>
                  <a:pt x="135615" y="24309"/>
                  <a:pt x="136581" y="30348"/>
                  <a:pt x="133441" y="34666"/>
                </a:cubicBezTo>
                <a:lnTo>
                  <a:pt x="56136" y="140960"/>
                </a:lnTo>
                <a:cubicBezTo>
                  <a:pt x="54475" y="143255"/>
                  <a:pt x="51909" y="144674"/>
                  <a:pt x="49070" y="144915"/>
                </a:cubicBezTo>
                <a:cubicBezTo>
                  <a:pt x="46232" y="145157"/>
                  <a:pt x="43484" y="144100"/>
                  <a:pt x="41491" y="142107"/>
                </a:cubicBezTo>
                <a:lnTo>
                  <a:pt x="2839" y="103455"/>
                </a:lnTo>
                <a:cubicBezTo>
                  <a:pt x="-936" y="99680"/>
                  <a:pt x="-936" y="93550"/>
                  <a:pt x="2839" y="89776"/>
                </a:cubicBezTo>
                <a:cubicBezTo>
                  <a:pt x="6613" y="86001"/>
                  <a:pt x="12743" y="86001"/>
                  <a:pt x="16518" y="89776"/>
                </a:cubicBezTo>
                <a:lnTo>
                  <a:pt x="47168" y="120426"/>
                </a:lnTo>
                <a:lnTo>
                  <a:pt x="117829" y="23282"/>
                </a:lnTo>
                <a:cubicBezTo>
                  <a:pt x="120969" y="18964"/>
                  <a:pt x="127009" y="17997"/>
                  <a:pt x="131327" y="211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884478" y="7631043"/>
            <a:ext cx="695739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读多写少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102272" y="7664174"/>
            <a:ext cx="135283" cy="154609"/>
          </a:xfrm>
          <a:custGeom>
            <a:avLst/>
            <a:gdLst/>
            <a:ahLst/>
            <a:cxnLst/>
            <a:rect l="l" t="t" r="r" b="b"/>
            <a:pathLst>
              <a:path w="135283" h="154609">
                <a:moveTo>
                  <a:pt x="131297" y="21168"/>
                </a:moveTo>
                <a:cubicBezTo>
                  <a:pt x="135615" y="24309"/>
                  <a:pt x="136581" y="30348"/>
                  <a:pt x="133441" y="34666"/>
                </a:cubicBezTo>
                <a:lnTo>
                  <a:pt x="56136" y="140960"/>
                </a:lnTo>
                <a:cubicBezTo>
                  <a:pt x="54475" y="143255"/>
                  <a:pt x="51909" y="144674"/>
                  <a:pt x="49070" y="144915"/>
                </a:cubicBezTo>
                <a:cubicBezTo>
                  <a:pt x="46232" y="145157"/>
                  <a:pt x="43484" y="144100"/>
                  <a:pt x="41491" y="142107"/>
                </a:cubicBezTo>
                <a:lnTo>
                  <a:pt x="2839" y="103455"/>
                </a:lnTo>
                <a:cubicBezTo>
                  <a:pt x="-936" y="99680"/>
                  <a:pt x="-936" y="93550"/>
                  <a:pt x="2839" y="89776"/>
                </a:cubicBezTo>
                <a:cubicBezTo>
                  <a:pt x="6613" y="86001"/>
                  <a:pt x="12743" y="86001"/>
                  <a:pt x="16518" y="89776"/>
                </a:cubicBezTo>
                <a:lnTo>
                  <a:pt x="47168" y="120426"/>
                </a:lnTo>
                <a:lnTo>
                  <a:pt x="117829" y="23282"/>
                </a:lnTo>
                <a:cubicBezTo>
                  <a:pt x="120969" y="18964"/>
                  <a:pt x="127009" y="17997"/>
                  <a:pt x="131327" y="211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2352130" y="7631043"/>
            <a:ext cx="695739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随机读取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634620" y="7973391"/>
            <a:ext cx="135283" cy="154609"/>
          </a:xfrm>
          <a:custGeom>
            <a:avLst/>
            <a:gdLst/>
            <a:ahLst/>
            <a:cxnLst/>
            <a:rect l="l" t="t" r="r" b="b"/>
            <a:pathLst>
              <a:path w="135283" h="154609">
                <a:moveTo>
                  <a:pt x="131297" y="21168"/>
                </a:moveTo>
                <a:cubicBezTo>
                  <a:pt x="135615" y="24309"/>
                  <a:pt x="136581" y="30348"/>
                  <a:pt x="133441" y="34666"/>
                </a:cubicBezTo>
                <a:lnTo>
                  <a:pt x="56136" y="140960"/>
                </a:lnTo>
                <a:cubicBezTo>
                  <a:pt x="54475" y="143255"/>
                  <a:pt x="51909" y="144674"/>
                  <a:pt x="49070" y="144915"/>
                </a:cubicBezTo>
                <a:cubicBezTo>
                  <a:pt x="46232" y="145157"/>
                  <a:pt x="43484" y="144100"/>
                  <a:pt x="41491" y="142107"/>
                </a:cubicBezTo>
                <a:lnTo>
                  <a:pt x="2839" y="103455"/>
                </a:lnTo>
                <a:cubicBezTo>
                  <a:pt x="-936" y="99680"/>
                  <a:pt x="-936" y="93550"/>
                  <a:pt x="2839" y="89776"/>
                </a:cubicBezTo>
                <a:cubicBezTo>
                  <a:pt x="6613" y="86001"/>
                  <a:pt x="12743" y="86001"/>
                  <a:pt x="16518" y="89776"/>
                </a:cubicBezTo>
                <a:lnTo>
                  <a:pt x="47168" y="120426"/>
                </a:lnTo>
                <a:lnTo>
                  <a:pt x="117829" y="23282"/>
                </a:lnTo>
                <a:cubicBezTo>
                  <a:pt x="120969" y="18964"/>
                  <a:pt x="127009" y="17997"/>
                  <a:pt x="131327" y="211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884478" y="7940261"/>
            <a:ext cx="695739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大表查询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102272" y="7973391"/>
            <a:ext cx="135283" cy="154609"/>
          </a:xfrm>
          <a:custGeom>
            <a:avLst/>
            <a:gdLst/>
            <a:ahLst/>
            <a:cxnLst/>
            <a:rect l="l" t="t" r="r" b="b"/>
            <a:pathLst>
              <a:path w="135283" h="154609">
                <a:moveTo>
                  <a:pt x="131297" y="21168"/>
                </a:moveTo>
                <a:cubicBezTo>
                  <a:pt x="135615" y="24309"/>
                  <a:pt x="136581" y="30348"/>
                  <a:pt x="133441" y="34666"/>
                </a:cubicBezTo>
                <a:lnTo>
                  <a:pt x="56136" y="140960"/>
                </a:lnTo>
                <a:cubicBezTo>
                  <a:pt x="54475" y="143255"/>
                  <a:pt x="51909" y="144674"/>
                  <a:pt x="49070" y="144915"/>
                </a:cubicBezTo>
                <a:cubicBezTo>
                  <a:pt x="46232" y="145157"/>
                  <a:pt x="43484" y="144100"/>
                  <a:pt x="41491" y="142107"/>
                </a:cubicBezTo>
                <a:lnTo>
                  <a:pt x="2839" y="103455"/>
                </a:lnTo>
                <a:cubicBezTo>
                  <a:pt x="-936" y="99680"/>
                  <a:pt x="-936" y="93550"/>
                  <a:pt x="2839" y="89776"/>
                </a:cubicBezTo>
                <a:cubicBezTo>
                  <a:pt x="6613" y="86001"/>
                  <a:pt x="12743" y="86001"/>
                  <a:pt x="16518" y="89776"/>
                </a:cubicBezTo>
                <a:lnTo>
                  <a:pt x="47168" y="120426"/>
                </a:lnTo>
                <a:lnTo>
                  <a:pt x="117829" y="23282"/>
                </a:lnTo>
                <a:cubicBezTo>
                  <a:pt x="120969" y="18964"/>
                  <a:pt x="127009" y="17997"/>
                  <a:pt x="131327" y="2113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2352130" y="7940261"/>
            <a:ext cx="695739" cy="220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内存充足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63826" y="8534790"/>
            <a:ext cx="44174" cy="441739"/>
          </a:xfrm>
          <a:custGeom>
            <a:avLst/>
            <a:gdLst/>
            <a:ahLst/>
            <a:cxnLst/>
            <a:rect l="l" t="t" r="r" b="b"/>
            <a:pathLst>
              <a:path w="44174" h="441739">
                <a:moveTo>
                  <a:pt x="0" y="0"/>
                </a:moveTo>
                <a:lnTo>
                  <a:pt x="44174" y="0"/>
                </a:lnTo>
                <a:lnTo>
                  <a:pt x="44174" y="441739"/>
                </a:lnTo>
                <a:lnTo>
                  <a:pt x="0" y="441739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684696" y="8672833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77304" y="55217"/>
                </a:moveTo>
                <a:cubicBezTo>
                  <a:pt x="77304" y="49122"/>
                  <a:pt x="82253" y="44174"/>
                  <a:pt x="88348" y="44174"/>
                </a:cubicBezTo>
                <a:cubicBezTo>
                  <a:pt x="94443" y="44174"/>
                  <a:pt x="99391" y="49122"/>
                  <a:pt x="99391" y="55217"/>
                </a:cubicBezTo>
                <a:cubicBezTo>
                  <a:pt x="99391" y="61312"/>
                  <a:pt x="94443" y="66261"/>
                  <a:pt x="88348" y="66261"/>
                </a:cubicBezTo>
                <a:cubicBezTo>
                  <a:pt x="82253" y="66261"/>
                  <a:pt x="77304" y="61312"/>
                  <a:pt x="77304" y="55217"/>
                </a:cubicBezTo>
                <a:close/>
                <a:moveTo>
                  <a:pt x="74543" y="77304"/>
                </a:moveTo>
                <a:lnTo>
                  <a:pt x="91109" y="77304"/>
                </a:lnTo>
                <a:cubicBezTo>
                  <a:pt x="95699" y="77304"/>
                  <a:pt x="99391" y="80997"/>
                  <a:pt x="99391" y="85587"/>
                </a:cubicBezTo>
                <a:lnTo>
                  <a:pt x="99391" y="115957"/>
                </a:lnTo>
                <a:lnTo>
                  <a:pt x="102152" y="115957"/>
                </a:lnTo>
                <a:cubicBezTo>
                  <a:pt x="106742" y="115957"/>
                  <a:pt x="110435" y="119649"/>
                  <a:pt x="110435" y="124239"/>
                </a:cubicBezTo>
                <a:cubicBezTo>
                  <a:pt x="110435" y="128829"/>
                  <a:pt x="106742" y="132522"/>
                  <a:pt x="102152" y="132522"/>
                </a:cubicBezTo>
                <a:lnTo>
                  <a:pt x="74543" y="132522"/>
                </a:lnTo>
                <a:cubicBezTo>
                  <a:pt x="69954" y="132522"/>
                  <a:pt x="66261" y="128829"/>
                  <a:pt x="66261" y="124239"/>
                </a:cubicBezTo>
                <a:cubicBezTo>
                  <a:pt x="66261" y="119649"/>
                  <a:pt x="69954" y="115957"/>
                  <a:pt x="74543" y="115957"/>
                </a:cubicBezTo>
                <a:lnTo>
                  <a:pt x="82826" y="115957"/>
                </a:lnTo>
                <a:lnTo>
                  <a:pt x="82826" y="93870"/>
                </a:lnTo>
                <a:lnTo>
                  <a:pt x="74543" y="93870"/>
                </a:lnTo>
                <a:cubicBezTo>
                  <a:pt x="69954" y="93870"/>
                  <a:pt x="66261" y="90177"/>
                  <a:pt x="66261" y="85587"/>
                </a:cubicBezTo>
                <a:cubicBezTo>
                  <a:pt x="66261" y="80997"/>
                  <a:pt x="69954" y="77304"/>
                  <a:pt x="74543" y="77304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960302" y="8623138"/>
            <a:ext cx="1494230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91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性能优化:</a:t>
            </a:r>
            <a:r>
              <a:rPr lang="en-US" sz="139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BlockCache命中可节省磁盘I/O 90%以上。BloomFilter可过滤80%以上的无效HFile读取。合理配置可将读取延迟从100ms降低到10ms以内。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703917" cy="423333"/>
          </a:xfrm>
          <a:custGeom>
            <a:avLst/>
            <a:gdLst/>
            <a:ahLst/>
            <a:cxnLst/>
            <a:rect l="l" t="t" r="r" b="b"/>
            <a:pathLst>
              <a:path w="1703917" h="423333">
                <a:moveTo>
                  <a:pt x="0" y="0"/>
                </a:moveTo>
                <a:lnTo>
                  <a:pt x="1703917" y="0"/>
                </a:lnTo>
                <a:lnTo>
                  <a:pt x="170391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14251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读写性能优化实践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7588250" cy="7498291"/>
          </a:xfrm>
          <a:custGeom>
            <a:avLst/>
            <a:gdLst/>
            <a:ahLst/>
            <a:cxnLst/>
            <a:rect l="l" t="t" r="r" b="b"/>
            <a:pathLst>
              <a:path w="7588250" h="10181167">
                <a:moveTo>
                  <a:pt x="84685" y="0"/>
                </a:moveTo>
                <a:lnTo>
                  <a:pt x="7503565" y="0"/>
                </a:lnTo>
                <a:cubicBezTo>
                  <a:pt x="7550335" y="0"/>
                  <a:pt x="7588250" y="37915"/>
                  <a:pt x="7588250" y="84685"/>
                </a:cubicBezTo>
                <a:lnTo>
                  <a:pt x="7588250" y="10096482"/>
                </a:lnTo>
                <a:cubicBezTo>
                  <a:pt x="7588250" y="10143252"/>
                  <a:pt x="7550335" y="10181167"/>
                  <a:pt x="7503565" y="10181167"/>
                </a:cubicBezTo>
                <a:lnTo>
                  <a:pt x="84685" y="10181167"/>
                </a:lnTo>
                <a:cubicBezTo>
                  <a:pt x="37915" y="10181167"/>
                  <a:pt x="0" y="10143252"/>
                  <a:pt x="0" y="10096482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2042" y="18309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45893" y="8764"/>
                </a:moveTo>
                <a:lnTo>
                  <a:pt x="127331" y="27326"/>
                </a:lnTo>
                <a:lnTo>
                  <a:pt x="184340" y="84336"/>
                </a:lnTo>
                <a:lnTo>
                  <a:pt x="202902" y="65774"/>
                </a:lnTo>
                <a:cubicBezTo>
                  <a:pt x="208525" y="60193"/>
                  <a:pt x="211667" y="52586"/>
                  <a:pt x="211667" y="44648"/>
                </a:cubicBezTo>
                <a:cubicBezTo>
                  <a:pt x="211667" y="36711"/>
                  <a:pt x="208525" y="29104"/>
                  <a:pt x="202902" y="23523"/>
                </a:cubicBezTo>
                <a:lnTo>
                  <a:pt x="188144" y="8764"/>
                </a:lnTo>
                <a:cubicBezTo>
                  <a:pt x="182563" y="3142"/>
                  <a:pt x="174956" y="0"/>
                  <a:pt x="167018" y="0"/>
                </a:cubicBezTo>
                <a:cubicBezTo>
                  <a:pt x="159081" y="0"/>
                  <a:pt x="151474" y="3142"/>
                  <a:pt x="145893" y="8764"/>
                </a:cubicBezTo>
                <a:close/>
                <a:moveTo>
                  <a:pt x="113316" y="41341"/>
                </a:moveTo>
                <a:lnTo>
                  <a:pt x="24350" y="130266"/>
                </a:lnTo>
                <a:cubicBezTo>
                  <a:pt x="19926" y="134689"/>
                  <a:pt x="16702" y="140229"/>
                  <a:pt x="15007" y="146265"/>
                </a:cubicBezTo>
                <a:lnTo>
                  <a:pt x="372" y="199099"/>
                </a:lnTo>
                <a:cubicBezTo>
                  <a:pt x="-579" y="202530"/>
                  <a:pt x="372" y="206251"/>
                  <a:pt x="2935" y="208773"/>
                </a:cubicBezTo>
                <a:cubicBezTo>
                  <a:pt x="5498" y="211295"/>
                  <a:pt x="9178" y="212287"/>
                  <a:pt x="12609" y="211336"/>
                </a:cubicBezTo>
                <a:lnTo>
                  <a:pt x="65443" y="196660"/>
                </a:lnTo>
                <a:cubicBezTo>
                  <a:pt x="71479" y="194965"/>
                  <a:pt x="76977" y="191782"/>
                  <a:pt x="81442" y="187317"/>
                </a:cubicBezTo>
                <a:lnTo>
                  <a:pt x="170326" y="98351"/>
                </a:lnTo>
                <a:lnTo>
                  <a:pt x="113316" y="41341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94833" y="1788583"/>
            <a:ext cx="158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写路径性能优化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5583" y="2254250"/>
            <a:ext cx="7154333" cy="2159000"/>
          </a:xfrm>
          <a:custGeom>
            <a:avLst/>
            <a:gdLst/>
            <a:ahLst/>
            <a:cxnLst/>
            <a:rect l="l" t="t" r="r" b="b"/>
            <a:pathLst>
              <a:path w="7154333" h="2159000">
                <a:moveTo>
                  <a:pt x="42338" y="0"/>
                </a:moveTo>
                <a:lnTo>
                  <a:pt x="7111995" y="0"/>
                </a:lnTo>
                <a:cubicBezTo>
                  <a:pt x="7135378" y="0"/>
                  <a:pt x="7154333" y="18955"/>
                  <a:pt x="7154333" y="42338"/>
                </a:cubicBezTo>
                <a:lnTo>
                  <a:pt x="7154333" y="2116662"/>
                </a:lnTo>
                <a:cubicBezTo>
                  <a:pt x="7154333" y="2140045"/>
                  <a:pt x="7135378" y="2159000"/>
                  <a:pt x="7111995" y="2159000"/>
                </a:cubicBezTo>
                <a:lnTo>
                  <a:pt x="42338" y="2159000"/>
                </a:lnTo>
                <a:cubicBezTo>
                  <a:pt x="18955" y="2159000"/>
                  <a:pt x="0" y="2140045"/>
                  <a:pt x="0" y="21166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2583" y="2381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批量写入优化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583" y="2719917"/>
            <a:ext cx="6974417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 puts = new ArrayList&lt;&gt;();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(int i = 0; i &lt; 1000; i++) {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Put put = new Put(Bytes.toBytes("row" + i));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puts.add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(put);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}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table.put(puts); // 批量提交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583" y="4074583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批量操作可减少90%+ RPC调用,显著提升吞吐量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5583" y="4540250"/>
            <a:ext cx="7154333" cy="1397001"/>
          </a:xfrm>
          <a:custGeom>
            <a:avLst/>
            <a:gdLst/>
            <a:ahLst/>
            <a:cxnLst/>
            <a:rect l="l" t="t" r="r" b="b"/>
            <a:pathLst>
              <a:path w="7154333" h="1651000">
                <a:moveTo>
                  <a:pt x="42332" y="0"/>
                </a:moveTo>
                <a:lnTo>
                  <a:pt x="7112002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1608668"/>
                </a:lnTo>
                <a:cubicBezTo>
                  <a:pt x="7154333" y="1632047"/>
                  <a:pt x="7135381" y="1651000"/>
                  <a:pt x="7112002" y="1651000"/>
                </a:cubicBezTo>
                <a:lnTo>
                  <a:pt x="42332" y="1651000"/>
                </a:lnTo>
                <a:cubicBezTo>
                  <a:pt x="18953" y="1651000"/>
                  <a:pt x="0" y="1632047"/>
                  <a:pt x="0" y="1608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2583" y="4667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异步写入模式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2583" y="5005918"/>
            <a:ext cx="6974417" cy="87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AsyncConnection asyncConn = ConnectionFactory.createAsyncConnection(conf).get(); </a:t>
            </a:r>
          </a:p>
          <a:p>
            <a:pPr>
              <a:lnSpc>
                <a:spcPct val="120000"/>
              </a:lnSpc>
            </a:pP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AsyncTable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table = asyncConn.getTable(TableName.valueOf("my_table")); </a:t>
            </a:r>
          </a:p>
          <a:p>
            <a:pPr>
              <a:lnSpc>
                <a:spcPct val="120000"/>
              </a:lnSpc>
            </a:pP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CompletableFuture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future = table.put(put);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583" y="6043930"/>
            <a:ext cx="7154333" cy="1312333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42336" y="0"/>
                </a:moveTo>
                <a:lnTo>
                  <a:pt x="7111997" y="0"/>
                </a:lnTo>
                <a:cubicBezTo>
                  <a:pt x="7135379" y="0"/>
                  <a:pt x="7154333" y="18954"/>
                  <a:pt x="7154333" y="42336"/>
                </a:cubicBezTo>
                <a:lnTo>
                  <a:pt x="7154333" y="1269997"/>
                </a:lnTo>
                <a:cubicBezTo>
                  <a:pt x="7154333" y="1293379"/>
                  <a:pt x="7135379" y="1312333"/>
                  <a:pt x="7111997" y="1312333"/>
                </a:cubicBezTo>
                <a:lnTo>
                  <a:pt x="42336" y="1312333"/>
                </a:lnTo>
                <a:cubicBezTo>
                  <a:pt x="18954" y="1312333"/>
                  <a:pt x="0" y="1293379"/>
                  <a:pt x="0" y="1269997"/>
                </a:cubicBezTo>
                <a:lnTo>
                  <a:pt x="0" y="42336"/>
                </a:lnTo>
                <a:cubicBezTo>
                  <a:pt x="0" y="18954"/>
                  <a:pt x="18954" y="0"/>
                  <a:pt x="423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2583" y="617093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WAL模式选择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2583" y="6509597"/>
            <a:ext cx="85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SYNC_WAL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98212" y="6509597"/>
            <a:ext cx="1153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最安全,性能最低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583" y="6763597"/>
            <a:ext cx="95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ASYNC_WAL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7583" y="6763597"/>
            <a:ext cx="125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平衡性能与安全性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583" y="7017597"/>
            <a:ext cx="772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SKIP_WAL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1879" y="7017597"/>
            <a:ext cx="1449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最高性能,可能丢数据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583" y="7483263"/>
            <a:ext cx="7154333" cy="1312333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42336" y="0"/>
                </a:moveTo>
                <a:lnTo>
                  <a:pt x="7111997" y="0"/>
                </a:lnTo>
                <a:cubicBezTo>
                  <a:pt x="7135379" y="0"/>
                  <a:pt x="7154333" y="18954"/>
                  <a:pt x="7154333" y="42336"/>
                </a:cubicBezTo>
                <a:lnTo>
                  <a:pt x="7154333" y="1269997"/>
                </a:lnTo>
                <a:cubicBezTo>
                  <a:pt x="7154333" y="1293379"/>
                  <a:pt x="7135379" y="1312333"/>
                  <a:pt x="7111997" y="1312333"/>
                </a:cubicBezTo>
                <a:lnTo>
                  <a:pt x="42336" y="1312333"/>
                </a:lnTo>
                <a:cubicBezTo>
                  <a:pt x="18954" y="1312333"/>
                  <a:pt x="0" y="1293379"/>
                  <a:pt x="0" y="1269997"/>
                </a:cubicBezTo>
                <a:lnTo>
                  <a:pt x="0" y="42336"/>
                </a:lnTo>
                <a:cubicBezTo>
                  <a:pt x="0" y="18954"/>
                  <a:pt x="18954" y="0"/>
                  <a:pt x="423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2583" y="7610263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MemStore配置优化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583" y="794893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合理设置刷写阈值避免频繁刷写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2583" y="820293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调整全局MemStore比例平衡内存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2583" y="845693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启用压缩减少内存占用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39125" y="1571625"/>
            <a:ext cx="7588250" cy="7498291"/>
          </a:xfrm>
          <a:custGeom>
            <a:avLst/>
            <a:gdLst/>
            <a:ahLst/>
            <a:cxnLst/>
            <a:rect l="l" t="t" r="r" b="b"/>
            <a:pathLst>
              <a:path w="7588250" h="10181167">
                <a:moveTo>
                  <a:pt x="84685" y="0"/>
                </a:moveTo>
                <a:lnTo>
                  <a:pt x="7503565" y="0"/>
                </a:lnTo>
                <a:cubicBezTo>
                  <a:pt x="7550335" y="0"/>
                  <a:pt x="7588250" y="37915"/>
                  <a:pt x="7588250" y="84685"/>
                </a:cubicBezTo>
                <a:lnTo>
                  <a:pt x="7588250" y="10096482"/>
                </a:lnTo>
                <a:cubicBezTo>
                  <a:pt x="7588250" y="10143252"/>
                  <a:pt x="7550335" y="10181167"/>
                  <a:pt x="7503565" y="10181167"/>
                </a:cubicBezTo>
                <a:lnTo>
                  <a:pt x="84685" y="10181167"/>
                </a:lnTo>
                <a:cubicBezTo>
                  <a:pt x="37915" y="10181167"/>
                  <a:pt x="0" y="10143252"/>
                  <a:pt x="0" y="10096482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82542" y="18309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71979" y="85990"/>
                </a:moveTo>
                <a:cubicBezTo>
                  <a:pt x="171979" y="104965"/>
                  <a:pt x="165819" y="122494"/>
                  <a:pt x="155443" y="136715"/>
                </a:cubicBezTo>
                <a:lnTo>
                  <a:pt x="207781" y="189094"/>
                </a:lnTo>
                <a:cubicBezTo>
                  <a:pt x="212948" y="194262"/>
                  <a:pt x="212948" y="202654"/>
                  <a:pt x="207781" y="207822"/>
                </a:cubicBezTo>
                <a:cubicBezTo>
                  <a:pt x="202613" y="212990"/>
                  <a:pt x="194221" y="212990"/>
                  <a:pt x="189053" y="207822"/>
                </a:cubicBezTo>
                <a:lnTo>
                  <a:pt x="136715" y="155443"/>
                </a:lnTo>
                <a:cubicBezTo>
                  <a:pt x="122494" y="165819"/>
                  <a:pt x="104965" y="171979"/>
                  <a:pt x="85990" y="171979"/>
                </a:cubicBezTo>
                <a:cubicBezTo>
                  <a:pt x="38489" y="171979"/>
                  <a:pt x="0" y="133491"/>
                  <a:pt x="0" y="85990"/>
                </a:cubicBezTo>
                <a:cubicBezTo>
                  <a:pt x="0" y="38489"/>
                  <a:pt x="38489" y="0"/>
                  <a:pt x="85990" y="0"/>
                </a:cubicBezTo>
                <a:cubicBezTo>
                  <a:pt x="133491" y="0"/>
                  <a:pt x="171979" y="38489"/>
                  <a:pt x="171979" y="85990"/>
                </a:cubicBezTo>
                <a:close/>
                <a:moveTo>
                  <a:pt x="85990" y="145521"/>
                </a:moveTo>
                <a:cubicBezTo>
                  <a:pt x="118846" y="145521"/>
                  <a:pt x="145521" y="118846"/>
                  <a:pt x="145521" y="85990"/>
                </a:cubicBezTo>
                <a:cubicBezTo>
                  <a:pt x="145521" y="53133"/>
                  <a:pt x="118846" y="26458"/>
                  <a:pt x="85990" y="26458"/>
                </a:cubicBezTo>
                <a:cubicBezTo>
                  <a:pt x="53133" y="26458"/>
                  <a:pt x="26458" y="53133"/>
                  <a:pt x="26458" y="85990"/>
                </a:cubicBezTo>
                <a:cubicBezTo>
                  <a:pt x="26458" y="118846"/>
                  <a:pt x="53133" y="145521"/>
                  <a:pt x="85990" y="14552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05333" y="1788583"/>
            <a:ext cx="1587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读路径性能优化</a:t>
            </a:r>
            <a:endParaRPr lang="en-US" sz="16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6104A71-A41B-4505-1F73-6433902B8772}"/>
              </a:ext>
            </a:extLst>
          </p:cNvPr>
          <p:cNvGrpSpPr/>
          <p:nvPr/>
        </p:nvGrpSpPr>
        <p:grpSpPr>
          <a:xfrm>
            <a:off x="8456083" y="2254250"/>
            <a:ext cx="7154333" cy="1524000"/>
            <a:chOff x="8456083" y="2254250"/>
            <a:chExt cx="7154333" cy="1524000"/>
          </a:xfrm>
        </p:grpSpPr>
        <p:sp>
          <p:nvSpPr>
            <p:cNvPr id="32" name="Shape 30"/>
            <p:cNvSpPr/>
            <p:nvPr/>
          </p:nvSpPr>
          <p:spPr>
            <a:xfrm>
              <a:off x="8456083" y="2254250"/>
              <a:ext cx="7154333" cy="1524000"/>
            </a:xfrm>
            <a:custGeom>
              <a:avLst/>
              <a:gdLst/>
              <a:ahLst/>
              <a:cxnLst/>
              <a:rect l="l" t="t" r="r" b="b"/>
              <a:pathLst>
                <a:path w="7154333" h="1524000">
                  <a:moveTo>
                    <a:pt x="42337" y="0"/>
                  </a:moveTo>
                  <a:lnTo>
                    <a:pt x="7111997" y="0"/>
                  </a:lnTo>
                  <a:cubicBezTo>
                    <a:pt x="7135379" y="0"/>
                    <a:pt x="7154333" y="18955"/>
                    <a:pt x="7154333" y="42337"/>
                  </a:cubicBezTo>
                  <a:lnTo>
                    <a:pt x="7154333" y="1481663"/>
                  </a:lnTo>
                  <a:cubicBezTo>
                    <a:pt x="7154333" y="1505045"/>
                    <a:pt x="7135379" y="1524000"/>
                    <a:pt x="7111997" y="1524000"/>
                  </a:cubicBezTo>
                  <a:lnTo>
                    <a:pt x="42337" y="1524000"/>
                  </a:lnTo>
                  <a:cubicBezTo>
                    <a:pt x="18955" y="1524000"/>
                    <a:pt x="0" y="1505045"/>
                    <a:pt x="0" y="1481663"/>
                  </a:cubicBezTo>
                  <a:lnTo>
                    <a:pt x="0" y="42337"/>
                  </a:lnTo>
                  <a:cubicBezTo>
                    <a:pt x="0" y="18955"/>
                    <a:pt x="18955" y="0"/>
                    <a:pt x="42337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8583083" y="2381250"/>
              <a:ext cx="69850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b="1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1. 缓存配置优化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583083" y="2719917"/>
              <a:ext cx="6974417" cy="63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hfile.block.cache.size=0.4 # 40%堆内存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hbase.bucketcache.size=2048 # 2GB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BucketCache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hbase.bucketcache.ioengine=offheap # 堆外内存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583083" y="3439583"/>
              <a:ext cx="6974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6B728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合理配置缓存大小和策略,理想命中率&gt;90%</a:t>
              </a:r>
              <a:endParaRPr lang="en-US" sz="1600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7CB3B5E3-D0D9-D14D-FF1F-4410CEC50E09}"/>
              </a:ext>
            </a:extLst>
          </p:cNvPr>
          <p:cNvGrpSpPr/>
          <p:nvPr/>
        </p:nvGrpSpPr>
        <p:grpSpPr>
          <a:xfrm>
            <a:off x="8456083" y="3875334"/>
            <a:ext cx="7154333" cy="1524001"/>
            <a:chOff x="8456083" y="3905250"/>
            <a:chExt cx="7154333" cy="1524001"/>
          </a:xfrm>
        </p:grpSpPr>
        <p:sp>
          <p:nvSpPr>
            <p:cNvPr id="36" name="Shape 34"/>
            <p:cNvSpPr/>
            <p:nvPr/>
          </p:nvSpPr>
          <p:spPr>
            <a:xfrm>
              <a:off x="8456083" y="3905250"/>
              <a:ext cx="7154333" cy="1524001"/>
            </a:xfrm>
            <a:custGeom>
              <a:avLst/>
              <a:gdLst/>
              <a:ahLst/>
              <a:cxnLst/>
              <a:rect l="l" t="t" r="r" b="b"/>
              <a:pathLst>
                <a:path w="7154333" h="2074333">
                  <a:moveTo>
                    <a:pt x="42337" y="0"/>
                  </a:moveTo>
                  <a:lnTo>
                    <a:pt x="7111996" y="0"/>
                  </a:lnTo>
                  <a:cubicBezTo>
                    <a:pt x="7135378" y="0"/>
                    <a:pt x="7154333" y="18955"/>
                    <a:pt x="7154333" y="42337"/>
                  </a:cubicBezTo>
                  <a:lnTo>
                    <a:pt x="7154333" y="2031996"/>
                  </a:lnTo>
                  <a:cubicBezTo>
                    <a:pt x="7154333" y="2055378"/>
                    <a:pt x="7135378" y="2074333"/>
                    <a:pt x="7111996" y="2074333"/>
                  </a:cubicBezTo>
                  <a:lnTo>
                    <a:pt x="42337" y="2074333"/>
                  </a:lnTo>
                  <a:cubicBezTo>
                    <a:pt x="18955" y="2074333"/>
                    <a:pt x="0" y="2055378"/>
                    <a:pt x="0" y="2031996"/>
                  </a:cubicBezTo>
                  <a:lnTo>
                    <a:pt x="0" y="42337"/>
                  </a:lnTo>
                  <a:cubicBezTo>
                    <a:pt x="0" y="18955"/>
                    <a:pt x="18955" y="0"/>
                    <a:pt x="42337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8583083" y="4032250"/>
              <a:ext cx="69850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b="1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2. BloomFilter启用策略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583083" y="4370918"/>
              <a:ext cx="6974417" cy="9946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# </a:t>
              </a: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读多写少的列族启用</a:t>
              </a:r>
              <a:endPara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ROWCOL alter 'table', {NAME =&gt; 'stats', BLOOMFILTER =&gt; 'ROWCOL’}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# </a:t>
              </a: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随机读取的列族启用</a:t>
              </a:r>
              <a:endPara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ROW alter 'table', {NAME =&gt; 'profile', BLOOMFILTER =&gt; 'ROW'}</a:t>
              </a:r>
              <a:endParaRPr lang="en-US" sz="1600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8DFCF72-A275-D4AD-1354-C6E986341D86}"/>
              </a:ext>
            </a:extLst>
          </p:cNvPr>
          <p:cNvGrpSpPr/>
          <p:nvPr/>
        </p:nvGrpSpPr>
        <p:grpSpPr>
          <a:xfrm>
            <a:off x="8456083" y="5496419"/>
            <a:ext cx="7154333" cy="1947333"/>
            <a:chOff x="8456083" y="5594519"/>
            <a:chExt cx="7154333" cy="1947333"/>
          </a:xfrm>
        </p:grpSpPr>
        <p:sp>
          <p:nvSpPr>
            <p:cNvPr id="39" name="Shape 37"/>
            <p:cNvSpPr/>
            <p:nvPr/>
          </p:nvSpPr>
          <p:spPr>
            <a:xfrm>
              <a:off x="8456083" y="5594519"/>
              <a:ext cx="7154333" cy="1947333"/>
            </a:xfrm>
            <a:custGeom>
              <a:avLst/>
              <a:gdLst/>
              <a:ahLst/>
              <a:cxnLst/>
              <a:rect l="l" t="t" r="r" b="b"/>
              <a:pathLst>
                <a:path w="7154333" h="1947333">
                  <a:moveTo>
                    <a:pt x="42335" y="0"/>
                  </a:moveTo>
                  <a:lnTo>
                    <a:pt x="7111998" y="0"/>
                  </a:lnTo>
                  <a:cubicBezTo>
                    <a:pt x="7135379" y="0"/>
                    <a:pt x="7154333" y="18954"/>
                    <a:pt x="7154333" y="42335"/>
                  </a:cubicBezTo>
                  <a:lnTo>
                    <a:pt x="7154333" y="1904998"/>
                  </a:lnTo>
                  <a:cubicBezTo>
                    <a:pt x="7154333" y="1928379"/>
                    <a:pt x="7135379" y="1947333"/>
                    <a:pt x="7111998" y="1947333"/>
                  </a:cubicBezTo>
                  <a:lnTo>
                    <a:pt x="42335" y="1947333"/>
                  </a:lnTo>
                  <a:cubicBezTo>
                    <a:pt x="18954" y="1947333"/>
                    <a:pt x="0" y="1928379"/>
                    <a:pt x="0" y="1904998"/>
                  </a:cubicBezTo>
                  <a:lnTo>
                    <a:pt x="0" y="42335"/>
                  </a:lnTo>
                  <a:cubicBezTo>
                    <a:pt x="0" y="18970"/>
                    <a:pt x="18970" y="0"/>
                    <a:pt x="42335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583083" y="5721519"/>
              <a:ext cx="69850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b="1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3. 扫描优化技巧</a:t>
              </a:r>
              <a:endParaRPr lang="en-US" sz="16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583083" y="6060185"/>
              <a:ext cx="6974417" cy="1312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Scan scan = new Scan();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scan.setRowPrefixFilter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(Bytes.toBytes("user_"));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scan.addFamily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(Bytes.toBytes("basic"));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scan.setMaxVersions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(1);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scan.setCaching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(1000); // </a:t>
              </a: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批量获取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scan.setCacheBlocks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(false); // </a:t>
              </a: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跳过缓存</a:t>
              </a:r>
              <a:endParaRPr lang="en-US" sz="16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83CE227-604A-4570-D203-A9C3B3AA0A87}"/>
              </a:ext>
            </a:extLst>
          </p:cNvPr>
          <p:cNvGrpSpPr/>
          <p:nvPr/>
        </p:nvGrpSpPr>
        <p:grpSpPr>
          <a:xfrm>
            <a:off x="8456083" y="7540837"/>
            <a:ext cx="7154333" cy="1371549"/>
            <a:chOff x="8456083" y="7613989"/>
            <a:chExt cx="7154333" cy="1371549"/>
          </a:xfrm>
        </p:grpSpPr>
        <p:sp>
          <p:nvSpPr>
            <p:cNvPr id="42" name="Shape 40"/>
            <p:cNvSpPr/>
            <p:nvPr/>
          </p:nvSpPr>
          <p:spPr>
            <a:xfrm>
              <a:off x="8456083" y="7613989"/>
              <a:ext cx="7154333" cy="1371549"/>
            </a:xfrm>
            <a:custGeom>
              <a:avLst/>
              <a:gdLst/>
              <a:ahLst/>
              <a:cxnLst/>
              <a:rect l="l" t="t" r="r" b="b"/>
              <a:pathLst>
                <a:path w="7154333" h="1651000">
                  <a:moveTo>
                    <a:pt x="42332" y="0"/>
                  </a:moveTo>
                  <a:lnTo>
                    <a:pt x="7112002" y="0"/>
                  </a:lnTo>
                  <a:cubicBezTo>
                    <a:pt x="7135381" y="0"/>
                    <a:pt x="7154333" y="18953"/>
                    <a:pt x="7154333" y="42332"/>
                  </a:cubicBezTo>
                  <a:lnTo>
                    <a:pt x="7154333" y="1608668"/>
                  </a:lnTo>
                  <a:cubicBezTo>
                    <a:pt x="7154333" y="1632047"/>
                    <a:pt x="7135381" y="1651000"/>
                    <a:pt x="7112002" y="1651000"/>
                  </a:cubicBezTo>
                  <a:lnTo>
                    <a:pt x="42332" y="1651000"/>
                  </a:lnTo>
                  <a:cubicBezTo>
                    <a:pt x="18953" y="1651000"/>
                    <a:pt x="0" y="1632047"/>
                    <a:pt x="0" y="1608668"/>
                  </a:cubicBezTo>
                  <a:lnTo>
                    <a:pt x="0" y="42332"/>
                  </a:lnTo>
                  <a:cubicBezTo>
                    <a:pt x="0" y="18968"/>
                    <a:pt x="18968" y="0"/>
                    <a:pt x="42332" y="0"/>
                  </a:cubicBezTo>
                  <a:close/>
                </a:path>
              </a:pathLst>
            </a:custGeom>
            <a:solidFill>
              <a:srgbClr val="1A1D21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8583083" y="7740989"/>
              <a:ext cx="698500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b="1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4. 异步读取模式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8583083" y="8079655"/>
              <a:ext cx="6974417" cy="8266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AsyncConnection asyncConn = ConnectionFactory.createAsyncConnection(conf).get();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AsyncTable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table = asyncConn.getTable(TableName.valueOf("my_table")); </a:t>
              </a:r>
            </a:p>
            <a:p>
              <a:pPr>
                <a:lnSpc>
                  <a:spcPct val="120000"/>
                </a:lnSpc>
              </a:pPr>
              <a:r>
                <a:rPr lang="en-US" sz="1167" dirty="0" err="1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CompletableFuture</a:t>
              </a:r>
              <a:r>
                <a:rPr lang="en-US" sz="1167" dirty="0">
                  <a:solidFill>
                    <a:srgbClr val="E5E7E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 future = table.get(get);</a:t>
              </a:r>
              <a:endParaRPr lang="en-US" sz="1600" dirty="0"/>
            </a:p>
          </p:txBody>
        </p:sp>
      </p:grpSp>
      <p:sp>
        <p:nvSpPr>
          <p:cNvPr id="45" name="Shape 43"/>
          <p:cNvSpPr/>
          <p:nvPr/>
        </p:nvSpPr>
        <p:spPr>
          <a:xfrm>
            <a:off x="3974084" y="886309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206917" y="1018600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446806" y="970975"/>
            <a:ext cx="150001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优化建议:</a:t>
            </a: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批量写入可提升吞吐量5-10倍,异步客户端可降低延迟50%以上,合理配置缓存可将读取性能提升3-5倍。根据业务场景选择合适的优化策略。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60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60400" y="8128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182880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存储引擎与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性能优化实践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45212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08000" y="5105400"/>
            <a:ext cx="9296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精通HFile、BlockCache、Compaction与Region管理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掌握关键参数调优与监控运维,构建高性能分布式存储系统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3400" y="67056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63600" y="67056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HFile存储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" y="71628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分层索引、压缩、BloomFilter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57800" y="67056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588000" y="67056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88000" y="71628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多级缓存、内存优化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3400" y="77724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63600" y="77724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3600" y="822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Minor/Major合并策略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57800" y="77724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5588000" y="7772400"/>
            <a:ext cx="417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Region管理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88000" y="822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分裂、合并、负载均衡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857250" cy="423333"/>
          </a:xfrm>
          <a:custGeom>
            <a:avLst/>
            <a:gdLst/>
            <a:ahLst/>
            <a:cxnLst/>
            <a:rect l="l" t="t" r="r" b="b"/>
            <a:pathLst>
              <a:path w="857250" h="423333">
                <a:moveTo>
                  <a:pt x="0" y="0"/>
                </a:moveTo>
                <a:lnTo>
                  <a:pt x="857250" y="0"/>
                </a:lnTo>
                <a:lnTo>
                  <a:pt x="85725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57952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HFile存储结构与版本演进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9154583" cy="5323417"/>
          </a:xfrm>
          <a:custGeom>
            <a:avLst/>
            <a:gdLst/>
            <a:ahLst/>
            <a:cxnLst/>
            <a:rect l="l" t="t" r="r" b="b"/>
            <a:pathLst>
              <a:path w="9154583" h="9345083">
                <a:moveTo>
                  <a:pt x="84680" y="0"/>
                </a:moveTo>
                <a:lnTo>
                  <a:pt x="9069903" y="0"/>
                </a:lnTo>
                <a:cubicBezTo>
                  <a:pt x="9116671" y="0"/>
                  <a:pt x="9154583" y="37912"/>
                  <a:pt x="9154583" y="84680"/>
                </a:cubicBezTo>
                <a:lnTo>
                  <a:pt x="9154583" y="9260403"/>
                </a:lnTo>
                <a:cubicBezTo>
                  <a:pt x="9154583" y="9307171"/>
                  <a:pt x="9116671" y="9345083"/>
                  <a:pt x="9069903" y="9345083"/>
                </a:cubicBezTo>
                <a:lnTo>
                  <a:pt x="84680" y="9345083"/>
                </a:lnTo>
                <a:cubicBezTo>
                  <a:pt x="37912" y="9345083"/>
                  <a:pt x="0" y="9307171"/>
                  <a:pt x="0" y="9260403"/>
                </a:cubicBezTo>
                <a:lnTo>
                  <a:pt x="0" y="84680"/>
                </a:lnTo>
                <a:cubicBezTo>
                  <a:pt x="0" y="37944"/>
                  <a:pt x="37944" y="0"/>
                  <a:pt x="8468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8826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 v3 完整结构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6750" y="2254250"/>
            <a:ext cx="8699500" cy="804333"/>
          </a:xfrm>
          <a:custGeom>
            <a:avLst/>
            <a:gdLst/>
            <a:ahLst/>
            <a:cxnLst/>
            <a:rect l="l" t="t" r="r" b="b"/>
            <a:pathLst>
              <a:path w="8699500" h="804333">
                <a:moveTo>
                  <a:pt x="42332" y="0"/>
                </a:moveTo>
                <a:lnTo>
                  <a:pt x="8657168" y="0"/>
                </a:lnTo>
                <a:cubicBezTo>
                  <a:pt x="8680547" y="0"/>
                  <a:pt x="8699500" y="18953"/>
                  <a:pt x="8699500" y="42332"/>
                </a:cubicBezTo>
                <a:lnTo>
                  <a:pt x="8699500" y="762001"/>
                </a:lnTo>
                <a:cubicBezTo>
                  <a:pt x="8699500" y="785381"/>
                  <a:pt x="8680547" y="804333"/>
                  <a:pt x="86571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66750" y="225425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4917" y="2381250"/>
            <a:ext cx="850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数据块区 (Data Blocks)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917" y="2719917"/>
            <a:ext cx="849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存储实际的键值对数据,默认大小64KB-256KB。块大小影响扫描性能和压缩效率。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6750" y="3143250"/>
            <a:ext cx="8699500" cy="804333"/>
          </a:xfrm>
          <a:custGeom>
            <a:avLst/>
            <a:gdLst/>
            <a:ahLst/>
            <a:cxnLst/>
            <a:rect l="l" t="t" r="r" b="b"/>
            <a:pathLst>
              <a:path w="8699500" h="804333">
                <a:moveTo>
                  <a:pt x="42332" y="0"/>
                </a:moveTo>
                <a:lnTo>
                  <a:pt x="8657168" y="0"/>
                </a:lnTo>
                <a:cubicBezTo>
                  <a:pt x="8680547" y="0"/>
                  <a:pt x="8699500" y="18953"/>
                  <a:pt x="8699500" y="42332"/>
                </a:cubicBezTo>
                <a:lnTo>
                  <a:pt x="8699500" y="762001"/>
                </a:lnTo>
                <a:cubicBezTo>
                  <a:pt x="8699500" y="785381"/>
                  <a:pt x="8680547" y="804333"/>
                  <a:pt x="86571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66750" y="314325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4917" y="3270250"/>
            <a:ext cx="850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元数据区 (Meta Blocks) - 可选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917" y="3608917"/>
            <a:ext cx="849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存储元数据信息,如BloomFilter数据等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6750" y="4032250"/>
            <a:ext cx="8699500" cy="804333"/>
          </a:xfrm>
          <a:custGeom>
            <a:avLst/>
            <a:gdLst/>
            <a:ahLst/>
            <a:cxnLst/>
            <a:rect l="l" t="t" r="r" b="b"/>
            <a:pathLst>
              <a:path w="8699500" h="804333">
                <a:moveTo>
                  <a:pt x="42332" y="0"/>
                </a:moveTo>
                <a:lnTo>
                  <a:pt x="8657168" y="0"/>
                </a:lnTo>
                <a:cubicBezTo>
                  <a:pt x="8680547" y="0"/>
                  <a:pt x="8699500" y="18953"/>
                  <a:pt x="8699500" y="42332"/>
                </a:cubicBezTo>
                <a:lnTo>
                  <a:pt x="8699500" y="762001"/>
                </a:lnTo>
                <a:cubicBezTo>
                  <a:pt x="8699500" y="785381"/>
                  <a:pt x="8680547" y="804333"/>
                  <a:pt x="86571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66750" y="403225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14917" y="4159250"/>
            <a:ext cx="850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文件信息区 (File Info)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4917" y="4497917"/>
            <a:ext cx="849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存储全局统计信息,如平均键长、压缩算法、创建时间等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6750" y="4921250"/>
            <a:ext cx="8699500" cy="804333"/>
          </a:xfrm>
          <a:custGeom>
            <a:avLst/>
            <a:gdLst/>
            <a:ahLst/>
            <a:cxnLst/>
            <a:rect l="l" t="t" r="r" b="b"/>
            <a:pathLst>
              <a:path w="8699500" h="804333">
                <a:moveTo>
                  <a:pt x="42332" y="0"/>
                </a:moveTo>
                <a:lnTo>
                  <a:pt x="8657168" y="0"/>
                </a:lnTo>
                <a:cubicBezTo>
                  <a:pt x="8680547" y="0"/>
                  <a:pt x="8699500" y="18953"/>
                  <a:pt x="8699500" y="42332"/>
                </a:cubicBezTo>
                <a:lnTo>
                  <a:pt x="8699500" y="762001"/>
                </a:lnTo>
                <a:cubicBezTo>
                  <a:pt x="8699500" y="785381"/>
                  <a:pt x="8680547" y="804333"/>
                  <a:pt x="86571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6750" y="492125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4A5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14917" y="5048250"/>
            <a:ext cx="850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数据索引区 (Data Index)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4917" y="5386917"/>
            <a:ext cx="849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提供数据块的快速定位,支持多级索引降低查找复杂度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6750" y="5810250"/>
            <a:ext cx="8699500" cy="804333"/>
          </a:xfrm>
          <a:custGeom>
            <a:avLst/>
            <a:gdLst/>
            <a:ahLst/>
            <a:cxnLst/>
            <a:rect l="l" t="t" r="r" b="b"/>
            <a:pathLst>
              <a:path w="8699500" h="804333">
                <a:moveTo>
                  <a:pt x="42332" y="0"/>
                </a:moveTo>
                <a:lnTo>
                  <a:pt x="8657168" y="0"/>
                </a:lnTo>
                <a:cubicBezTo>
                  <a:pt x="8680547" y="0"/>
                  <a:pt x="8699500" y="18953"/>
                  <a:pt x="8699500" y="42332"/>
                </a:cubicBezTo>
                <a:lnTo>
                  <a:pt x="8699500" y="762001"/>
                </a:lnTo>
                <a:cubicBezTo>
                  <a:pt x="8699500" y="785381"/>
                  <a:pt x="8680547" y="804333"/>
                  <a:pt x="86571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66750" y="581025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14917" y="5937250"/>
            <a:ext cx="850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尾部区 (Trailer)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4917" y="6275917"/>
            <a:ext cx="849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包含关键指针和元数据,用于快速文件解析和完整性校验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801159" y="730377"/>
            <a:ext cx="6021917" cy="3566583"/>
          </a:xfrm>
          <a:custGeom>
            <a:avLst/>
            <a:gdLst/>
            <a:ahLst/>
            <a:cxnLst/>
            <a:rect l="l" t="t" r="r" b="b"/>
            <a:pathLst>
              <a:path w="6021917" h="3566583">
                <a:moveTo>
                  <a:pt x="84671" y="0"/>
                </a:moveTo>
                <a:lnTo>
                  <a:pt x="5937246" y="0"/>
                </a:lnTo>
                <a:cubicBezTo>
                  <a:pt x="5984008" y="0"/>
                  <a:pt x="6021917" y="37908"/>
                  <a:pt x="6021917" y="84671"/>
                </a:cubicBezTo>
                <a:lnTo>
                  <a:pt x="6021917" y="3481913"/>
                </a:lnTo>
                <a:cubicBezTo>
                  <a:pt x="6021917" y="3528675"/>
                  <a:pt x="5984008" y="3566583"/>
                  <a:pt x="5937246" y="3566583"/>
                </a:cubicBezTo>
                <a:lnTo>
                  <a:pt x="84671" y="3566583"/>
                </a:lnTo>
                <a:cubicBezTo>
                  <a:pt x="37908" y="3566583"/>
                  <a:pt x="0" y="3528675"/>
                  <a:pt x="0" y="3481913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018117" y="947335"/>
            <a:ext cx="5693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HFile版本演进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18117" y="1413002"/>
            <a:ext cx="5588000" cy="804333"/>
          </a:xfrm>
          <a:custGeom>
            <a:avLst/>
            <a:gdLst/>
            <a:ahLst/>
            <a:cxnLst/>
            <a:rect l="l" t="t" r="r" b="b"/>
            <a:pathLst>
              <a:path w="5588000" h="804333">
                <a:moveTo>
                  <a:pt x="42332" y="0"/>
                </a:moveTo>
                <a:lnTo>
                  <a:pt x="5545668" y="0"/>
                </a:lnTo>
                <a:cubicBezTo>
                  <a:pt x="5569047" y="0"/>
                  <a:pt x="5588000" y="18953"/>
                  <a:pt x="5588000" y="42332"/>
                </a:cubicBezTo>
                <a:lnTo>
                  <a:pt x="5588000" y="762001"/>
                </a:lnTo>
                <a:cubicBezTo>
                  <a:pt x="5588000" y="785381"/>
                  <a:pt x="5569047" y="804333"/>
                  <a:pt x="5545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145117" y="1540002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 v1 (HBase 0.20)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45117" y="1878669"/>
            <a:ext cx="540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基础格式,单层索引。简单可靠但查询性能有限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18117" y="2344335"/>
            <a:ext cx="5588000" cy="804333"/>
          </a:xfrm>
          <a:custGeom>
            <a:avLst/>
            <a:gdLst/>
            <a:ahLst/>
            <a:cxnLst/>
            <a:rect l="l" t="t" r="r" b="b"/>
            <a:pathLst>
              <a:path w="5588000" h="804333">
                <a:moveTo>
                  <a:pt x="42332" y="0"/>
                </a:moveTo>
                <a:lnTo>
                  <a:pt x="5545668" y="0"/>
                </a:lnTo>
                <a:cubicBezTo>
                  <a:pt x="5569047" y="0"/>
                  <a:pt x="5588000" y="18953"/>
                  <a:pt x="5588000" y="42332"/>
                </a:cubicBezTo>
                <a:lnTo>
                  <a:pt x="5588000" y="762001"/>
                </a:lnTo>
                <a:cubicBezTo>
                  <a:pt x="5588000" y="785381"/>
                  <a:pt x="5569047" y="804333"/>
                  <a:pt x="5545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145117" y="2471335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 v2 (HBase 0.92)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45117" y="2810002"/>
            <a:ext cx="540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分层索引、内联BloomFilter。</a:t>
            </a:r>
            <a:r>
              <a:rPr lang="en-US" sz="11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查询性能显著提升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18117" y="3275669"/>
            <a:ext cx="5588000" cy="804333"/>
          </a:xfrm>
          <a:custGeom>
            <a:avLst/>
            <a:gdLst/>
            <a:ahLst/>
            <a:cxnLst/>
            <a:rect l="l" t="t" r="r" b="b"/>
            <a:pathLst>
              <a:path w="5588000" h="804333">
                <a:moveTo>
                  <a:pt x="42332" y="0"/>
                </a:moveTo>
                <a:lnTo>
                  <a:pt x="5545668" y="0"/>
                </a:lnTo>
                <a:cubicBezTo>
                  <a:pt x="5569047" y="0"/>
                  <a:pt x="5588000" y="18953"/>
                  <a:pt x="5588000" y="42332"/>
                </a:cubicBezTo>
                <a:lnTo>
                  <a:pt x="5588000" y="762001"/>
                </a:lnTo>
                <a:cubicBezTo>
                  <a:pt x="5588000" y="785381"/>
                  <a:pt x="5569047" y="804333"/>
                  <a:pt x="5545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145117" y="3402669"/>
            <a:ext cx="541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 v3 (HBase 2.0)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45117" y="3741335"/>
            <a:ext cx="540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标签支持、改进的压缩。</a:t>
            </a:r>
            <a:r>
              <a:rPr lang="en-US" sz="11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更好的安全性和压缩效率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01159" y="4476877"/>
            <a:ext cx="6021917" cy="4032250"/>
          </a:xfrm>
          <a:custGeom>
            <a:avLst/>
            <a:gdLst/>
            <a:ahLst/>
            <a:cxnLst/>
            <a:rect l="l" t="t" r="r" b="b"/>
            <a:pathLst>
              <a:path w="6021917" h="4032250">
                <a:moveTo>
                  <a:pt x="84677" y="0"/>
                </a:moveTo>
                <a:lnTo>
                  <a:pt x="5937239" y="0"/>
                </a:lnTo>
                <a:cubicBezTo>
                  <a:pt x="5984005" y="0"/>
                  <a:pt x="6021917" y="37911"/>
                  <a:pt x="6021917" y="84677"/>
                </a:cubicBezTo>
                <a:lnTo>
                  <a:pt x="6021917" y="3947573"/>
                </a:lnTo>
                <a:cubicBezTo>
                  <a:pt x="6021917" y="3994339"/>
                  <a:pt x="5984005" y="4032250"/>
                  <a:pt x="5937239" y="4032250"/>
                </a:cubicBezTo>
                <a:lnTo>
                  <a:pt x="84677" y="4032250"/>
                </a:lnTo>
                <a:cubicBezTo>
                  <a:pt x="37911" y="4032250"/>
                  <a:pt x="0" y="3994339"/>
                  <a:pt x="0" y="3947573"/>
                </a:cubicBezTo>
                <a:lnTo>
                  <a:pt x="0" y="84677"/>
                </a:lnTo>
                <a:cubicBezTo>
                  <a:pt x="0" y="37943"/>
                  <a:pt x="37943" y="0"/>
                  <a:pt x="8467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018117" y="4693835"/>
            <a:ext cx="5693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数据块优化策略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18117" y="5159502"/>
            <a:ext cx="567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BlockSize配置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18117" y="5498169"/>
            <a:ext cx="56620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{NAME =&gt; 'random_cf', BLOCKSIZE =&gt; '65536'}, {NAME =&gt; 'scan_cf', BLOCKSIZE =&gt; '262144'}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18117" y="6260169"/>
            <a:ext cx="567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压缩算法选择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018117" y="6598835"/>
            <a:ext cx="1809750" cy="592667"/>
          </a:xfrm>
          <a:custGeom>
            <a:avLst/>
            <a:gdLst/>
            <a:ahLst/>
            <a:cxnLst/>
            <a:rect l="l" t="t" r="r" b="b"/>
            <a:pathLst>
              <a:path w="1809750" h="592667">
                <a:moveTo>
                  <a:pt x="42334" y="0"/>
                </a:moveTo>
                <a:lnTo>
                  <a:pt x="1767416" y="0"/>
                </a:lnTo>
                <a:cubicBezTo>
                  <a:pt x="1790796" y="0"/>
                  <a:pt x="1809750" y="18954"/>
                  <a:pt x="1809750" y="42334"/>
                </a:cubicBezTo>
                <a:lnTo>
                  <a:pt x="1809750" y="550332"/>
                </a:lnTo>
                <a:cubicBezTo>
                  <a:pt x="1809750" y="573713"/>
                  <a:pt x="1790796" y="592667"/>
                  <a:pt x="1767416" y="592667"/>
                </a:cubicBezTo>
                <a:lnTo>
                  <a:pt x="42334" y="592667"/>
                </a:lnTo>
                <a:cubicBezTo>
                  <a:pt x="18954" y="592667"/>
                  <a:pt x="0" y="573713"/>
                  <a:pt x="0" y="550332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065742" y="6683502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65742" y="6895169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通用场景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910384" y="6598835"/>
            <a:ext cx="1809750" cy="592667"/>
          </a:xfrm>
          <a:custGeom>
            <a:avLst/>
            <a:gdLst/>
            <a:ahLst/>
            <a:cxnLst/>
            <a:rect l="l" t="t" r="r" b="b"/>
            <a:pathLst>
              <a:path w="1809750" h="592667">
                <a:moveTo>
                  <a:pt x="42334" y="0"/>
                </a:moveTo>
                <a:lnTo>
                  <a:pt x="1767416" y="0"/>
                </a:lnTo>
                <a:cubicBezTo>
                  <a:pt x="1790796" y="0"/>
                  <a:pt x="1809750" y="18954"/>
                  <a:pt x="1809750" y="42334"/>
                </a:cubicBezTo>
                <a:lnTo>
                  <a:pt x="1809750" y="550332"/>
                </a:lnTo>
                <a:cubicBezTo>
                  <a:pt x="1809750" y="573713"/>
                  <a:pt x="1790796" y="592667"/>
                  <a:pt x="1767416" y="592667"/>
                </a:cubicBezTo>
                <a:lnTo>
                  <a:pt x="42334" y="592667"/>
                </a:lnTo>
                <a:cubicBezTo>
                  <a:pt x="18954" y="592667"/>
                  <a:pt x="0" y="573713"/>
                  <a:pt x="0" y="550332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958009" y="6683502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GZ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958009" y="6895169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高压缩比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3802734" y="6598835"/>
            <a:ext cx="1809750" cy="592667"/>
          </a:xfrm>
          <a:custGeom>
            <a:avLst/>
            <a:gdLst/>
            <a:ahLst/>
            <a:cxnLst/>
            <a:rect l="l" t="t" r="r" b="b"/>
            <a:pathLst>
              <a:path w="1809750" h="592667">
                <a:moveTo>
                  <a:pt x="42334" y="0"/>
                </a:moveTo>
                <a:lnTo>
                  <a:pt x="1767416" y="0"/>
                </a:lnTo>
                <a:cubicBezTo>
                  <a:pt x="1790796" y="0"/>
                  <a:pt x="1809750" y="18954"/>
                  <a:pt x="1809750" y="42334"/>
                </a:cubicBezTo>
                <a:lnTo>
                  <a:pt x="1809750" y="550332"/>
                </a:lnTo>
                <a:cubicBezTo>
                  <a:pt x="1809750" y="573713"/>
                  <a:pt x="1790796" y="592667"/>
                  <a:pt x="1767416" y="592667"/>
                </a:cubicBezTo>
                <a:lnTo>
                  <a:pt x="42334" y="592667"/>
                </a:lnTo>
                <a:cubicBezTo>
                  <a:pt x="18954" y="592667"/>
                  <a:pt x="0" y="573713"/>
                  <a:pt x="0" y="550332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3850359" y="6683502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LZ4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3850359" y="6895169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高速压缩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18117" y="7318502"/>
            <a:ext cx="567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BloomFilter配置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18117" y="7657169"/>
            <a:ext cx="56620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{NAME =&gt; 'cf1', BLOOMFILTER =&gt; 'ROW'}, {NAME =&gt; 'cf2', BLOOMFILTER =&gt; 'ROWCOL'}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44500" y="8604165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656167" y="873645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4083" y="52917"/>
                </a:moveTo>
                <a:cubicBezTo>
                  <a:pt x="74083" y="47076"/>
                  <a:pt x="78826" y="42333"/>
                  <a:pt x="84667" y="42333"/>
                </a:cubicBezTo>
                <a:cubicBezTo>
                  <a:pt x="90508" y="42333"/>
                  <a:pt x="95250" y="47076"/>
                  <a:pt x="95250" y="52917"/>
                </a:cubicBezTo>
                <a:cubicBezTo>
                  <a:pt x="95250" y="58758"/>
                  <a:pt x="90508" y="63500"/>
                  <a:pt x="84667" y="63500"/>
                </a:cubicBezTo>
                <a:cubicBezTo>
                  <a:pt x="78826" y="63500"/>
                  <a:pt x="74083" y="58758"/>
                  <a:pt x="74083" y="52917"/>
                </a:cubicBezTo>
                <a:close/>
                <a:moveTo>
                  <a:pt x="71438" y="74083"/>
                </a:moveTo>
                <a:lnTo>
                  <a:pt x="87313" y="74083"/>
                </a:lnTo>
                <a:cubicBezTo>
                  <a:pt x="91711" y="74083"/>
                  <a:pt x="95250" y="77622"/>
                  <a:pt x="95250" y="82021"/>
                </a:cubicBezTo>
                <a:lnTo>
                  <a:pt x="95250" y="111125"/>
                </a:lnTo>
                <a:lnTo>
                  <a:pt x="97896" y="111125"/>
                </a:lnTo>
                <a:cubicBezTo>
                  <a:pt x="102295" y="111125"/>
                  <a:pt x="105833" y="114664"/>
                  <a:pt x="105833" y="119063"/>
                </a:cubicBezTo>
                <a:cubicBezTo>
                  <a:pt x="105833" y="123461"/>
                  <a:pt x="102295" y="127000"/>
                  <a:pt x="97896" y="127000"/>
                </a:cubicBezTo>
                <a:lnTo>
                  <a:pt x="71438" y="127000"/>
                </a:lnTo>
                <a:cubicBezTo>
                  <a:pt x="67039" y="127000"/>
                  <a:pt x="63500" y="123461"/>
                  <a:pt x="63500" y="119063"/>
                </a:cubicBezTo>
                <a:cubicBezTo>
                  <a:pt x="63500" y="114664"/>
                  <a:pt x="67039" y="111125"/>
                  <a:pt x="71438" y="111125"/>
                </a:cubicBezTo>
                <a:lnTo>
                  <a:pt x="79375" y="111125"/>
                </a:lnTo>
                <a:lnTo>
                  <a:pt x="79375" y="89958"/>
                </a:lnTo>
                <a:lnTo>
                  <a:pt x="71438" y="89958"/>
                </a:lnTo>
                <a:cubicBezTo>
                  <a:pt x="67039" y="89958"/>
                  <a:pt x="63500" y="86420"/>
                  <a:pt x="63500" y="82021"/>
                </a:cubicBezTo>
                <a:cubicBezTo>
                  <a:pt x="63500" y="77622"/>
                  <a:pt x="67039" y="74083"/>
                  <a:pt x="71438" y="7408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17222" y="8688832"/>
            <a:ext cx="150001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版本建议:</a:t>
            </a: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生产环境推荐使用HFile v3获得最佳性能和特性支持。HFile v2适用于兼容性要求高的场景。HFile v1已弃用,不建议在新项目中使用。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576917" cy="423333"/>
          </a:xfrm>
          <a:custGeom>
            <a:avLst/>
            <a:gdLst/>
            <a:ahLst/>
            <a:cxnLst/>
            <a:rect l="l" t="t" r="r" b="b"/>
            <a:pathLst>
              <a:path w="1576917" h="423333">
                <a:moveTo>
                  <a:pt x="0" y="0"/>
                </a:moveTo>
                <a:lnTo>
                  <a:pt x="1576917" y="0"/>
                </a:lnTo>
                <a:lnTo>
                  <a:pt x="157691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130340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BlockCache机制与内存优化策略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7588250" cy="3735917"/>
          </a:xfrm>
          <a:custGeom>
            <a:avLst/>
            <a:gdLst/>
            <a:ahLst/>
            <a:cxnLst/>
            <a:rect l="l" t="t" r="r" b="b"/>
            <a:pathLst>
              <a:path w="7588250" h="3735917">
                <a:moveTo>
                  <a:pt x="84656" y="0"/>
                </a:moveTo>
                <a:lnTo>
                  <a:pt x="7503594" y="0"/>
                </a:lnTo>
                <a:cubicBezTo>
                  <a:pt x="7550348" y="0"/>
                  <a:pt x="7588250" y="37902"/>
                  <a:pt x="7588250" y="84656"/>
                </a:cubicBezTo>
                <a:lnTo>
                  <a:pt x="7588250" y="3651261"/>
                </a:lnTo>
                <a:cubicBezTo>
                  <a:pt x="7588250" y="3698015"/>
                  <a:pt x="7550348" y="3735917"/>
                  <a:pt x="7503594" y="3735917"/>
                </a:cubicBezTo>
                <a:lnTo>
                  <a:pt x="84656" y="3735917"/>
                </a:lnTo>
                <a:cubicBezTo>
                  <a:pt x="37902" y="3735917"/>
                  <a:pt x="0" y="3698015"/>
                  <a:pt x="0" y="3651261"/>
                </a:cubicBezTo>
                <a:lnTo>
                  <a:pt x="0" y="84656"/>
                </a:lnTo>
                <a:cubicBezTo>
                  <a:pt x="0" y="37933"/>
                  <a:pt x="37933" y="0"/>
                  <a:pt x="8465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CombinedBlockCache架构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583" y="2254250"/>
            <a:ext cx="723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 2.0+默认使用CombinedBlockCache,整合LruBlockCache和BucketCache优势。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5583" y="2677583"/>
            <a:ext cx="7154333" cy="1058333"/>
          </a:xfrm>
          <a:custGeom>
            <a:avLst/>
            <a:gdLst/>
            <a:ahLst/>
            <a:cxnLst/>
            <a:rect l="l" t="t" r="r" b="b"/>
            <a:pathLst>
              <a:path w="7154333" h="1058333">
                <a:moveTo>
                  <a:pt x="42333" y="0"/>
                </a:moveTo>
                <a:lnTo>
                  <a:pt x="7112000" y="0"/>
                </a:lnTo>
                <a:cubicBezTo>
                  <a:pt x="7135380" y="0"/>
                  <a:pt x="7154333" y="18953"/>
                  <a:pt x="7154333" y="42333"/>
                </a:cubicBezTo>
                <a:lnTo>
                  <a:pt x="7154333" y="1016000"/>
                </a:lnTo>
                <a:cubicBezTo>
                  <a:pt x="7154333" y="1039380"/>
                  <a:pt x="7135380" y="1058333"/>
                  <a:pt x="7112000" y="1058333"/>
                </a:cubicBezTo>
                <a:lnTo>
                  <a:pt x="42333" y="1058333"/>
                </a:lnTo>
                <a:cubicBezTo>
                  <a:pt x="18953" y="1058333"/>
                  <a:pt x="0" y="1039380"/>
                  <a:pt x="0" y="1016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2583" y="2804583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L1: LruBlockCache (堆内缓存)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583" y="3143250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基于Java堆内存的LRU缓存,提供快速访问但受限于堆内存大小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583" y="3439583"/>
            <a:ext cx="6963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hfile.block.cache.size=0.4 # 40%堆内存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5583" y="3862917"/>
            <a:ext cx="7154333" cy="1227667"/>
          </a:xfrm>
          <a:custGeom>
            <a:avLst/>
            <a:gdLst/>
            <a:ahLst/>
            <a:cxnLst/>
            <a:rect l="l" t="t" r="r" b="b"/>
            <a:pathLst>
              <a:path w="7154333" h="1227667">
                <a:moveTo>
                  <a:pt x="42330" y="0"/>
                </a:moveTo>
                <a:lnTo>
                  <a:pt x="7112003" y="0"/>
                </a:lnTo>
                <a:cubicBezTo>
                  <a:pt x="7135382" y="0"/>
                  <a:pt x="7154333" y="18952"/>
                  <a:pt x="7154333" y="42330"/>
                </a:cubicBezTo>
                <a:lnTo>
                  <a:pt x="7154333" y="1185337"/>
                </a:lnTo>
                <a:cubicBezTo>
                  <a:pt x="7154333" y="1208715"/>
                  <a:pt x="7135382" y="1227667"/>
                  <a:pt x="7112003" y="1227667"/>
                </a:cubicBezTo>
                <a:lnTo>
                  <a:pt x="42330" y="1227667"/>
                </a:lnTo>
                <a:cubicBezTo>
                  <a:pt x="18952" y="1227667"/>
                  <a:pt x="0" y="1208715"/>
                  <a:pt x="0" y="1185337"/>
                </a:cubicBezTo>
                <a:lnTo>
                  <a:pt x="0" y="42330"/>
                </a:lnTo>
                <a:cubicBezTo>
                  <a:pt x="0" y="18952"/>
                  <a:pt x="18952" y="0"/>
                  <a:pt x="423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2583" y="398991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L2: BucketCache (堆外/文件缓存)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2583" y="4328583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堆外内存或文件缓存,解决GC压力和大容量缓存需求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583" y="4624917"/>
            <a:ext cx="6963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hbase.bucketcache.ioengine=offheap hbase.bucketcache.size=4096 # 4GB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8625" y="5487458"/>
            <a:ext cx="7588250" cy="1703917"/>
          </a:xfrm>
          <a:custGeom>
            <a:avLst/>
            <a:gdLst/>
            <a:ahLst/>
            <a:cxnLst/>
            <a:rect l="l" t="t" r="r" b="b"/>
            <a:pathLst>
              <a:path w="7588250" h="1703917">
                <a:moveTo>
                  <a:pt x="84668" y="0"/>
                </a:moveTo>
                <a:lnTo>
                  <a:pt x="7503582" y="0"/>
                </a:lnTo>
                <a:cubicBezTo>
                  <a:pt x="7550343" y="0"/>
                  <a:pt x="7588250" y="37907"/>
                  <a:pt x="7588250" y="84668"/>
                </a:cubicBezTo>
                <a:lnTo>
                  <a:pt x="7588250" y="1619249"/>
                </a:lnTo>
                <a:cubicBezTo>
                  <a:pt x="7588250" y="1666010"/>
                  <a:pt x="7550343" y="1703917"/>
                  <a:pt x="7503582" y="1703917"/>
                </a:cubicBezTo>
                <a:lnTo>
                  <a:pt x="84668" y="1703917"/>
                </a:lnTo>
                <a:cubicBezTo>
                  <a:pt x="37907" y="1703917"/>
                  <a:pt x="0" y="1666010"/>
                  <a:pt x="0" y="1619249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03250" y="5662083"/>
            <a:ext cx="733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读取请求处理流程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250" y="608541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4" y="0"/>
                </a:moveTo>
                <a:lnTo>
                  <a:pt x="211666" y="0"/>
                </a:lnTo>
                <a:cubicBezTo>
                  <a:pt x="235046" y="0"/>
                  <a:pt x="254000" y="18954"/>
                  <a:pt x="254000" y="42334"/>
                </a:cubicBezTo>
                <a:lnTo>
                  <a:pt x="254000" y="211666"/>
                </a:lnTo>
                <a:cubicBezTo>
                  <a:pt x="254000" y="235046"/>
                  <a:pt x="235046" y="254000"/>
                  <a:pt x="2116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66208" y="6085417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917" y="6085417"/>
            <a:ext cx="159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检查L1 (LRU Cache)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250" y="642408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4" y="0"/>
                </a:moveTo>
                <a:lnTo>
                  <a:pt x="211666" y="0"/>
                </a:lnTo>
                <a:cubicBezTo>
                  <a:pt x="235046" y="0"/>
                  <a:pt x="254000" y="18954"/>
                  <a:pt x="254000" y="42334"/>
                </a:cubicBezTo>
                <a:lnTo>
                  <a:pt x="254000" y="211666"/>
                </a:lnTo>
                <a:cubicBezTo>
                  <a:pt x="254000" y="235046"/>
                  <a:pt x="235046" y="254000"/>
                  <a:pt x="2116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66208" y="6424083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917" y="6424083"/>
            <a:ext cx="1788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检查L2 (BucketCache)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250" y="6762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4" y="0"/>
                </a:moveTo>
                <a:lnTo>
                  <a:pt x="211666" y="0"/>
                </a:lnTo>
                <a:cubicBezTo>
                  <a:pt x="235046" y="0"/>
                  <a:pt x="254000" y="18954"/>
                  <a:pt x="254000" y="42334"/>
                </a:cubicBezTo>
                <a:lnTo>
                  <a:pt x="254000" y="211666"/>
                </a:lnTo>
                <a:cubicBezTo>
                  <a:pt x="254000" y="235046"/>
                  <a:pt x="235046" y="254000"/>
                  <a:pt x="2116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66208" y="6762750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917" y="6762750"/>
            <a:ext cx="1312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磁盘读取 (HFile)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39125" y="1571625"/>
            <a:ext cx="7588250" cy="4455583"/>
          </a:xfrm>
          <a:custGeom>
            <a:avLst/>
            <a:gdLst/>
            <a:ahLst/>
            <a:cxnLst/>
            <a:rect l="l" t="t" r="r" b="b"/>
            <a:pathLst>
              <a:path w="7588250" h="4455583">
                <a:moveTo>
                  <a:pt x="84656" y="0"/>
                </a:moveTo>
                <a:lnTo>
                  <a:pt x="7503594" y="0"/>
                </a:lnTo>
                <a:cubicBezTo>
                  <a:pt x="7550348" y="0"/>
                  <a:pt x="7588250" y="37902"/>
                  <a:pt x="7588250" y="84656"/>
                </a:cubicBezTo>
                <a:lnTo>
                  <a:pt x="7588250" y="4370927"/>
                </a:lnTo>
                <a:cubicBezTo>
                  <a:pt x="7588250" y="4417682"/>
                  <a:pt x="7550348" y="4455583"/>
                  <a:pt x="7503594" y="4455583"/>
                </a:cubicBezTo>
                <a:lnTo>
                  <a:pt x="84656" y="4455583"/>
                </a:lnTo>
                <a:cubicBezTo>
                  <a:pt x="37902" y="4455583"/>
                  <a:pt x="0" y="4417682"/>
                  <a:pt x="0" y="4370927"/>
                </a:cubicBezTo>
                <a:lnTo>
                  <a:pt x="0" y="84656"/>
                </a:lnTo>
                <a:cubicBezTo>
                  <a:pt x="0" y="37902"/>
                  <a:pt x="37902" y="0"/>
                  <a:pt x="8465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4560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存储引擎对比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56083" y="2254250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42332" y="0"/>
                </a:moveTo>
                <a:lnTo>
                  <a:pt x="7112002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1058335"/>
                </a:lnTo>
                <a:cubicBezTo>
                  <a:pt x="7154333" y="1081714"/>
                  <a:pt x="7135381" y="1100667"/>
                  <a:pt x="7112002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83083" y="2381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offheap (堆外内存)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83083" y="2725208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58130" y="2725208"/>
            <a:ext cx="1360785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零GC压力,性能最佳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075583" y="2725208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劣势: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450630" y="2725208"/>
            <a:ext cx="1111250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需配置堆外内存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3083" y="3021542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58130" y="3021542"/>
            <a:ext cx="963083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生产环境首选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56083" y="3481917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42332" y="0"/>
                </a:moveTo>
                <a:lnTo>
                  <a:pt x="7112002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1058335"/>
                </a:lnTo>
                <a:cubicBezTo>
                  <a:pt x="7154333" y="1081714"/>
                  <a:pt x="7135381" y="1100667"/>
                  <a:pt x="7112002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583083" y="360891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(磁盘文件)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3083" y="3952875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58130" y="3952875"/>
            <a:ext cx="518583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075583" y="3952875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劣势: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450630" y="3952875"/>
            <a:ext cx="1061062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性能较差,有I/O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3083" y="4249208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58130" y="4249208"/>
            <a:ext cx="1111250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大容量缓存需求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56083" y="4709583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42332" y="0"/>
                </a:moveTo>
                <a:lnTo>
                  <a:pt x="7112002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1058335"/>
                </a:lnTo>
                <a:cubicBezTo>
                  <a:pt x="7154333" y="1081714"/>
                  <a:pt x="7135381" y="1100667"/>
                  <a:pt x="7112002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83083" y="4836583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mmap (内存映射)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83083" y="5180542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58130" y="5180542"/>
            <a:ext cx="666750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平衡性能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075583" y="5180542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劣势: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450630" y="5180542"/>
            <a:ext cx="1111250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系统资源占用多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83083" y="5476875"/>
            <a:ext cx="406301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58130" y="5476875"/>
            <a:ext cx="963083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特殊优化场景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39125" y="6207125"/>
            <a:ext cx="7588250" cy="2169583"/>
          </a:xfrm>
          <a:custGeom>
            <a:avLst/>
            <a:gdLst/>
            <a:ahLst/>
            <a:cxnLst/>
            <a:rect l="l" t="t" r="r" b="b"/>
            <a:pathLst>
              <a:path w="7588250" h="2169583">
                <a:moveTo>
                  <a:pt x="84657" y="0"/>
                </a:moveTo>
                <a:lnTo>
                  <a:pt x="7503593" y="0"/>
                </a:lnTo>
                <a:cubicBezTo>
                  <a:pt x="7550348" y="0"/>
                  <a:pt x="7588250" y="37902"/>
                  <a:pt x="7588250" y="84657"/>
                </a:cubicBezTo>
                <a:lnTo>
                  <a:pt x="7588250" y="2084926"/>
                </a:lnTo>
                <a:cubicBezTo>
                  <a:pt x="7588250" y="2131681"/>
                  <a:pt x="7550348" y="2169583"/>
                  <a:pt x="7503593" y="2169583"/>
                </a:cubicBezTo>
                <a:lnTo>
                  <a:pt x="84657" y="2169583"/>
                </a:lnTo>
                <a:cubicBezTo>
                  <a:pt x="37902" y="2169583"/>
                  <a:pt x="0" y="2131681"/>
                  <a:pt x="0" y="2084926"/>
                </a:cubicBezTo>
                <a:lnTo>
                  <a:pt x="0" y="84657"/>
                </a:lnTo>
                <a:cubicBezTo>
                  <a:pt x="0" y="37902"/>
                  <a:pt x="37902" y="0"/>
                  <a:pt x="8465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456083" y="64240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缓存优化最佳实践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87833" y="693208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752417" y="6889750"/>
            <a:ext cx="3259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热点表优先缓存:</a:t>
            </a:r>
            <a:r>
              <a:rPr lang="en-US" sz="1167" dirty="0">
                <a:solidFill>
                  <a:srgbClr val="E5E7EB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BLOCKCACHE =&gt; 'true'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87833" y="7270750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52417" y="7228417"/>
            <a:ext cx="352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冷数据表禁用缓存:</a:t>
            </a:r>
            <a:r>
              <a:rPr lang="en-US" sz="1167" dirty="0">
                <a:solidFill>
                  <a:srgbClr val="E5E7EB"/>
                </a:solidFill>
                <a:highlight>
                  <a:srgbClr val="1A1D21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BLOCKCACHE =&gt; 'false'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87833" y="760941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752417" y="7567083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调整块大小优化命中率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87833" y="794808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752417" y="790575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监控缓存命中率(理想&gt;90%)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4500" y="849640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56167" y="862869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4083" y="52917"/>
                </a:moveTo>
                <a:cubicBezTo>
                  <a:pt x="74083" y="47076"/>
                  <a:pt x="78826" y="42333"/>
                  <a:pt x="84667" y="42333"/>
                </a:cubicBezTo>
                <a:cubicBezTo>
                  <a:pt x="90508" y="42333"/>
                  <a:pt x="95250" y="47076"/>
                  <a:pt x="95250" y="52917"/>
                </a:cubicBezTo>
                <a:cubicBezTo>
                  <a:pt x="95250" y="58758"/>
                  <a:pt x="90508" y="63500"/>
                  <a:pt x="84667" y="63500"/>
                </a:cubicBezTo>
                <a:cubicBezTo>
                  <a:pt x="78826" y="63500"/>
                  <a:pt x="74083" y="58758"/>
                  <a:pt x="74083" y="52917"/>
                </a:cubicBezTo>
                <a:close/>
                <a:moveTo>
                  <a:pt x="71438" y="74083"/>
                </a:moveTo>
                <a:lnTo>
                  <a:pt x="87313" y="74083"/>
                </a:lnTo>
                <a:cubicBezTo>
                  <a:pt x="91711" y="74083"/>
                  <a:pt x="95250" y="77622"/>
                  <a:pt x="95250" y="82021"/>
                </a:cubicBezTo>
                <a:lnTo>
                  <a:pt x="95250" y="111125"/>
                </a:lnTo>
                <a:lnTo>
                  <a:pt x="97896" y="111125"/>
                </a:lnTo>
                <a:cubicBezTo>
                  <a:pt x="102295" y="111125"/>
                  <a:pt x="105833" y="114664"/>
                  <a:pt x="105833" y="119063"/>
                </a:cubicBezTo>
                <a:cubicBezTo>
                  <a:pt x="105833" y="123461"/>
                  <a:pt x="102295" y="127000"/>
                  <a:pt x="97896" y="127000"/>
                </a:cubicBezTo>
                <a:lnTo>
                  <a:pt x="71438" y="127000"/>
                </a:lnTo>
                <a:cubicBezTo>
                  <a:pt x="67039" y="127000"/>
                  <a:pt x="63500" y="123461"/>
                  <a:pt x="63500" y="119063"/>
                </a:cubicBezTo>
                <a:cubicBezTo>
                  <a:pt x="63500" y="114664"/>
                  <a:pt x="67039" y="111125"/>
                  <a:pt x="71438" y="111125"/>
                </a:cubicBezTo>
                <a:lnTo>
                  <a:pt x="79375" y="111125"/>
                </a:lnTo>
                <a:lnTo>
                  <a:pt x="79375" y="89958"/>
                </a:lnTo>
                <a:lnTo>
                  <a:pt x="71438" y="89958"/>
                </a:lnTo>
                <a:cubicBezTo>
                  <a:pt x="67039" y="89958"/>
                  <a:pt x="63500" y="86420"/>
                  <a:pt x="63500" y="82021"/>
                </a:cubicBezTo>
                <a:cubicBezTo>
                  <a:pt x="63500" y="77622"/>
                  <a:pt x="67039" y="74083"/>
                  <a:pt x="71438" y="7408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917222" y="8581070"/>
            <a:ext cx="150001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内存分配建议:</a:t>
            </a: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总内存的70-80%用于Java进程。LruBlockCache占堆内存40-50%(热点数据),BucketCache占剩余内存60-70%(温冷数据),MemStore占堆内存40%(根据写负载调整)。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753" y="431194"/>
            <a:ext cx="1606196" cy="431194"/>
          </a:xfrm>
          <a:custGeom>
            <a:avLst/>
            <a:gdLst/>
            <a:ahLst/>
            <a:cxnLst/>
            <a:rect l="l" t="t" r="r" b="b"/>
            <a:pathLst>
              <a:path w="1606196" h="431194">
                <a:moveTo>
                  <a:pt x="0" y="0"/>
                </a:moveTo>
                <a:lnTo>
                  <a:pt x="1606196" y="0"/>
                </a:lnTo>
                <a:lnTo>
                  <a:pt x="1606196" y="431194"/>
                </a:lnTo>
                <a:lnTo>
                  <a:pt x="0" y="431194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2753" y="431194"/>
            <a:ext cx="43119" cy="431194"/>
          </a:xfrm>
          <a:custGeom>
            <a:avLst/>
            <a:gdLst/>
            <a:ahLst/>
            <a:cxnLst/>
            <a:rect l="l" t="t" r="r" b="b"/>
            <a:pathLst>
              <a:path w="43119" h="431194">
                <a:moveTo>
                  <a:pt x="0" y="0"/>
                </a:moveTo>
                <a:lnTo>
                  <a:pt x="43119" y="0"/>
                </a:lnTo>
                <a:lnTo>
                  <a:pt x="43119" y="431194"/>
                </a:lnTo>
                <a:lnTo>
                  <a:pt x="0" y="431194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6790" y="533602"/>
            <a:ext cx="1322468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kern="0" spc="68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1194" y="991745"/>
            <a:ext cx="15587650" cy="43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56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Compaction策略:Minor vs Major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584" y="1491078"/>
            <a:ext cx="7578228" cy="4616467"/>
          </a:xfrm>
          <a:custGeom>
            <a:avLst/>
            <a:gdLst/>
            <a:ahLst/>
            <a:cxnLst/>
            <a:rect l="l" t="t" r="r" b="b"/>
            <a:pathLst>
              <a:path w="7578228" h="5777995">
                <a:moveTo>
                  <a:pt x="86265" y="0"/>
                </a:moveTo>
                <a:lnTo>
                  <a:pt x="7491963" y="0"/>
                </a:lnTo>
                <a:cubicBezTo>
                  <a:pt x="7539606" y="0"/>
                  <a:pt x="7578228" y="38622"/>
                  <a:pt x="7578228" y="86265"/>
                </a:cubicBezTo>
                <a:lnTo>
                  <a:pt x="7578228" y="5691729"/>
                </a:lnTo>
                <a:cubicBezTo>
                  <a:pt x="7578228" y="5739372"/>
                  <a:pt x="7539606" y="5777995"/>
                  <a:pt x="7491963" y="5777995"/>
                </a:cubicBezTo>
                <a:lnTo>
                  <a:pt x="86265" y="5777995"/>
                </a:lnTo>
                <a:cubicBezTo>
                  <a:pt x="38622" y="5777995"/>
                  <a:pt x="0" y="5739372"/>
                  <a:pt x="0" y="5691729"/>
                </a:cubicBezTo>
                <a:lnTo>
                  <a:pt x="0" y="86265"/>
                </a:lnTo>
                <a:cubicBezTo>
                  <a:pt x="0" y="38654"/>
                  <a:pt x="38654" y="0"/>
                  <a:pt x="8626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4520" y="1755184"/>
            <a:ext cx="215597" cy="215597"/>
          </a:xfrm>
          <a:custGeom>
            <a:avLst/>
            <a:gdLst/>
            <a:ahLst/>
            <a:cxnLst/>
            <a:rect l="l" t="t" r="r" b="b"/>
            <a:pathLst>
              <a:path w="215597" h="215597">
                <a:moveTo>
                  <a:pt x="185068" y="2948"/>
                </a:moveTo>
                <a:cubicBezTo>
                  <a:pt x="189026" y="-1011"/>
                  <a:pt x="195427" y="-1011"/>
                  <a:pt x="199343" y="2948"/>
                </a:cubicBezTo>
                <a:lnTo>
                  <a:pt x="212818" y="16422"/>
                </a:lnTo>
                <a:cubicBezTo>
                  <a:pt x="216776" y="20381"/>
                  <a:pt x="216776" y="26781"/>
                  <a:pt x="212818" y="30697"/>
                </a:cubicBezTo>
                <a:lnTo>
                  <a:pt x="176183" y="67332"/>
                </a:lnTo>
                <a:lnTo>
                  <a:pt x="192605" y="83754"/>
                </a:lnTo>
                <a:cubicBezTo>
                  <a:pt x="195511" y="86660"/>
                  <a:pt x="196353" y="90997"/>
                  <a:pt x="194795" y="94787"/>
                </a:cubicBezTo>
                <a:cubicBezTo>
                  <a:pt x="193237" y="98577"/>
                  <a:pt x="189574" y="101061"/>
                  <a:pt x="185489" y="101061"/>
                </a:cubicBezTo>
                <a:lnTo>
                  <a:pt x="124852" y="101061"/>
                </a:lnTo>
                <a:cubicBezTo>
                  <a:pt x="119252" y="101061"/>
                  <a:pt x="114746" y="96555"/>
                  <a:pt x="114746" y="90955"/>
                </a:cubicBezTo>
                <a:lnTo>
                  <a:pt x="114746" y="30318"/>
                </a:lnTo>
                <a:cubicBezTo>
                  <a:pt x="114746" y="26234"/>
                  <a:pt x="117189" y="22528"/>
                  <a:pt x="120978" y="20970"/>
                </a:cubicBezTo>
                <a:cubicBezTo>
                  <a:pt x="124768" y="19412"/>
                  <a:pt x="129105" y="20254"/>
                  <a:pt x="132011" y="23160"/>
                </a:cubicBezTo>
                <a:lnTo>
                  <a:pt x="148433" y="39582"/>
                </a:lnTo>
                <a:lnTo>
                  <a:pt x="185068" y="2948"/>
                </a:lnTo>
                <a:close/>
                <a:moveTo>
                  <a:pt x="30529" y="114536"/>
                </a:moveTo>
                <a:lnTo>
                  <a:pt x="91165" y="114536"/>
                </a:lnTo>
                <a:cubicBezTo>
                  <a:pt x="96766" y="114536"/>
                  <a:pt x="101272" y="119041"/>
                  <a:pt x="101272" y="124642"/>
                </a:cubicBezTo>
                <a:lnTo>
                  <a:pt x="101272" y="185279"/>
                </a:lnTo>
                <a:cubicBezTo>
                  <a:pt x="101272" y="189363"/>
                  <a:pt x="98829" y="193069"/>
                  <a:pt x="95039" y="194627"/>
                </a:cubicBezTo>
                <a:cubicBezTo>
                  <a:pt x="91250" y="196185"/>
                  <a:pt x="86912" y="195343"/>
                  <a:pt x="84007" y="192437"/>
                </a:cubicBezTo>
                <a:lnTo>
                  <a:pt x="67585" y="176015"/>
                </a:lnTo>
                <a:lnTo>
                  <a:pt x="30950" y="212649"/>
                </a:lnTo>
                <a:cubicBezTo>
                  <a:pt x="26992" y="216607"/>
                  <a:pt x="20591" y="216607"/>
                  <a:pt x="16675" y="212649"/>
                </a:cubicBezTo>
                <a:lnTo>
                  <a:pt x="3200" y="199174"/>
                </a:lnTo>
                <a:cubicBezTo>
                  <a:pt x="-758" y="195216"/>
                  <a:pt x="-758" y="188816"/>
                  <a:pt x="3200" y="184900"/>
                </a:cubicBezTo>
                <a:lnTo>
                  <a:pt x="39835" y="148265"/>
                </a:lnTo>
                <a:lnTo>
                  <a:pt x="23412" y="131843"/>
                </a:lnTo>
                <a:cubicBezTo>
                  <a:pt x="20507" y="128937"/>
                  <a:pt x="19665" y="124600"/>
                  <a:pt x="21223" y="120810"/>
                </a:cubicBezTo>
                <a:cubicBezTo>
                  <a:pt x="22781" y="117020"/>
                  <a:pt x="26444" y="114536"/>
                  <a:pt x="30529" y="11453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13305" y="1712065"/>
            <a:ext cx="2781199" cy="3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Minor Compaction (小合并)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7570" y="2186378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86928" y="2315736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928" y="2660691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合并较小的HFile,减少文件数量和元数据开销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7570" y="3135004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86928" y="3264362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触发条件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928" y="3609317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HFile数量达到阈值(默认3-10个)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7570" y="4083630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86928" y="4212988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6928" y="4557943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增量合并,I/O开销较小,频率较高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7570" y="5032256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86928" y="5161614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优化效果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928" y="5506569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降低读放大,提升扫描性能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38746" y="1491078"/>
            <a:ext cx="7578228" cy="4616467"/>
          </a:xfrm>
          <a:custGeom>
            <a:avLst/>
            <a:gdLst/>
            <a:ahLst/>
            <a:cxnLst/>
            <a:rect l="l" t="t" r="r" b="b"/>
            <a:pathLst>
              <a:path w="7578228" h="5777995">
                <a:moveTo>
                  <a:pt x="86265" y="0"/>
                </a:moveTo>
                <a:lnTo>
                  <a:pt x="7491963" y="0"/>
                </a:lnTo>
                <a:cubicBezTo>
                  <a:pt x="7539606" y="0"/>
                  <a:pt x="7578228" y="38622"/>
                  <a:pt x="7578228" y="86265"/>
                </a:cubicBezTo>
                <a:lnTo>
                  <a:pt x="7578228" y="5691729"/>
                </a:lnTo>
                <a:cubicBezTo>
                  <a:pt x="7578228" y="5739372"/>
                  <a:pt x="7539606" y="5777995"/>
                  <a:pt x="7491963" y="5777995"/>
                </a:cubicBezTo>
                <a:lnTo>
                  <a:pt x="86265" y="5777995"/>
                </a:lnTo>
                <a:cubicBezTo>
                  <a:pt x="38622" y="5777995"/>
                  <a:pt x="0" y="5739372"/>
                  <a:pt x="0" y="5691729"/>
                </a:cubicBezTo>
                <a:lnTo>
                  <a:pt x="0" y="86265"/>
                </a:lnTo>
                <a:cubicBezTo>
                  <a:pt x="0" y="38654"/>
                  <a:pt x="38654" y="0"/>
                  <a:pt x="8626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486682" y="1755184"/>
            <a:ext cx="215597" cy="215597"/>
          </a:xfrm>
          <a:custGeom>
            <a:avLst/>
            <a:gdLst/>
            <a:ahLst/>
            <a:cxnLst/>
            <a:rect l="l" t="t" r="r" b="b"/>
            <a:pathLst>
              <a:path w="215597" h="215597">
                <a:moveTo>
                  <a:pt x="97903" y="2190"/>
                </a:moveTo>
                <a:cubicBezTo>
                  <a:pt x="104177" y="-716"/>
                  <a:pt x="111420" y="-716"/>
                  <a:pt x="117694" y="2190"/>
                </a:cubicBezTo>
                <a:lnTo>
                  <a:pt x="209744" y="44719"/>
                </a:lnTo>
                <a:cubicBezTo>
                  <a:pt x="213323" y="46362"/>
                  <a:pt x="215597" y="49941"/>
                  <a:pt x="215597" y="53899"/>
                </a:cubicBezTo>
                <a:cubicBezTo>
                  <a:pt x="215597" y="57857"/>
                  <a:pt x="213323" y="61437"/>
                  <a:pt x="209744" y="63079"/>
                </a:cubicBezTo>
                <a:lnTo>
                  <a:pt x="117694" y="105609"/>
                </a:lnTo>
                <a:cubicBezTo>
                  <a:pt x="111420" y="108514"/>
                  <a:pt x="104177" y="108514"/>
                  <a:pt x="97903" y="105609"/>
                </a:cubicBezTo>
                <a:lnTo>
                  <a:pt x="5853" y="63079"/>
                </a:lnTo>
                <a:cubicBezTo>
                  <a:pt x="2274" y="61395"/>
                  <a:pt x="0" y="57815"/>
                  <a:pt x="0" y="53899"/>
                </a:cubicBezTo>
                <a:cubicBezTo>
                  <a:pt x="0" y="49983"/>
                  <a:pt x="2274" y="46362"/>
                  <a:pt x="5853" y="44719"/>
                </a:cubicBezTo>
                <a:lnTo>
                  <a:pt x="97903" y="2190"/>
                </a:lnTo>
                <a:close/>
                <a:moveTo>
                  <a:pt x="20254" y="91966"/>
                </a:moveTo>
                <a:lnTo>
                  <a:pt x="89439" y="123926"/>
                </a:lnTo>
                <a:cubicBezTo>
                  <a:pt x="101103" y="129316"/>
                  <a:pt x="114536" y="129316"/>
                  <a:pt x="126200" y="123926"/>
                </a:cubicBezTo>
                <a:lnTo>
                  <a:pt x="195385" y="91966"/>
                </a:lnTo>
                <a:lnTo>
                  <a:pt x="209744" y="98619"/>
                </a:lnTo>
                <a:cubicBezTo>
                  <a:pt x="213323" y="100261"/>
                  <a:pt x="215597" y="103840"/>
                  <a:pt x="215597" y="107798"/>
                </a:cubicBezTo>
                <a:cubicBezTo>
                  <a:pt x="215597" y="111757"/>
                  <a:pt x="213323" y="115336"/>
                  <a:pt x="209744" y="116978"/>
                </a:cubicBezTo>
                <a:lnTo>
                  <a:pt x="117694" y="159508"/>
                </a:lnTo>
                <a:cubicBezTo>
                  <a:pt x="111420" y="162413"/>
                  <a:pt x="104177" y="162413"/>
                  <a:pt x="97903" y="159508"/>
                </a:cubicBezTo>
                <a:lnTo>
                  <a:pt x="5853" y="116978"/>
                </a:lnTo>
                <a:cubicBezTo>
                  <a:pt x="2274" y="115294"/>
                  <a:pt x="0" y="111715"/>
                  <a:pt x="0" y="107798"/>
                </a:cubicBezTo>
                <a:cubicBezTo>
                  <a:pt x="0" y="103882"/>
                  <a:pt x="2274" y="100261"/>
                  <a:pt x="5853" y="98619"/>
                </a:cubicBezTo>
                <a:lnTo>
                  <a:pt x="20212" y="91966"/>
                </a:lnTo>
                <a:close/>
                <a:moveTo>
                  <a:pt x="5853" y="152518"/>
                </a:moveTo>
                <a:lnTo>
                  <a:pt x="20212" y="145865"/>
                </a:lnTo>
                <a:lnTo>
                  <a:pt x="89397" y="177825"/>
                </a:lnTo>
                <a:cubicBezTo>
                  <a:pt x="101061" y="183215"/>
                  <a:pt x="114494" y="183215"/>
                  <a:pt x="126158" y="177825"/>
                </a:cubicBezTo>
                <a:lnTo>
                  <a:pt x="195343" y="145865"/>
                </a:lnTo>
                <a:lnTo>
                  <a:pt x="209702" y="152518"/>
                </a:lnTo>
                <a:cubicBezTo>
                  <a:pt x="213281" y="154160"/>
                  <a:pt x="215555" y="157739"/>
                  <a:pt x="215555" y="161698"/>
                </a:cubicBezTo>
                <a:cubicBezTo>
                  <a:pt x="215555" y="165656"/>
                  <a:pt x="213281" y="169235"/>
                  <a:pt x="209702" y="170877"/>
                </a:cubicBezTo>
                <a:lnTo>
                  <a:pt x="117652" y="213407"/>
                </a:lnTo>
                <a:cubicBezTo>
                  <a:pt x="111378" y="216313"/>
                  <a:pt x="104135" y="216313"/>
                  <a:pt x="97861" y="213407"/>
                </a:cubicBezTo>
                <a:lnTo>
                  <a:pt x="5853" y="170877"/>
                </a:lnTo>
                <a:cubicBezTo>
                  <a:pt x="2274" y="169193"/>
                  <a:pt x="0" y="165614"/>
                  <a:pt x="0" y="161698"/>
                </a:cubicBezTo>
                <a:cubicBezTo>
                  <a:pt x="0" y="157781"/>
                  <a:pt x="2274" y="154160"/>
                  <a:pt x="5853" y="15251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15468" y="1712065"/>
            <a:ext cx="2770419" cy="3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9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Compaction (大合并)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59733" y="2186378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89091" y="2315736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9091" y="2660691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全量合并所有HFile,清理删除标记和过期版本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59733" y="3135004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89091" y="3264362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触发条件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9091" y="3609317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周期性触发(默认7天)或手动触发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59733" y="4083630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89091" y="4212988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89091" y="4557943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完全重写,I/O开销大,频率较低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59733" y="5032256"/>
            <a:ext cx="7136255" cy="819268"/>
          </a:xfrm>
          <a:custGeom>
            <a:avLst/>
            <a:gdLst/>
            <a:ahLst/>
            <a:cxnLst/>
            <a:rect l="l" t="t" r="r" b="b"/>
            <a:pathLst>
              <a:path w="7136255" h="819268">
                <a:moveTo>
                  <a:pt x="43118" y="0"/>
                </a:moveTo>
                <a:lnTo>
                  <a:pt x="7093137" y="0"/>
                </a:lnTo>
                <a:cubicBezTo>
                  <a:pt x="7116950" y="0"/>
                  <a:pt x="7136255" y="19305"/>
                  <a:pt x="7136255" y="43118"/>
                </a:cubicBezTo>
                <a:lnTo>
                  <a:pt x="7136255" y="776150"/>
                </a:lnTo>
                <a:cubicBezTo>
                  <a:pt x="7136255" y="799963"/>
                  <a:pt x="7116950" y="819268"/>
                  <a:pt x="7093137" y="819268"/>
                </a:cubicBezTo>
                <a:lnTo>
                  <a:pt x="43118" y="819268"/>
                </a:lnTo>
                <a:cubicBezTo>
                  <a:pt x="19305" y="819268"/>
                  <a:pt x="0" y="799963"/>
                  <a:pt x="0" y="776150"/>
                </a:cubicBezTo>
                <a:lnTo>
                  <a:pt x="0" y="43118"/>
                </a:lnTo>
                <a:cubicBezTo>
                  <a:pt x="0" y="19321"/>
                  <a:pt x="19321" y="0"/>
                  <a:pt x="431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89091" y="5161614"/>
            <a:ext cx="696377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优化效果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9091" y="5506569"/>
            <a:ext cx="695299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彻底优化存储布局,回收存储空间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6584" y="6279203"/>
            <a:ext cx="7578228" cy="1816403"/>
          </a:xfrm>
          <a:custGeom>
            <a:avLst/>
            <a:gdLst/>
            <a:ahLst/>
            <a:cxnLst/>
            <a:rect l="l" t="t" r="r" b="b"/>
            <a:pathLst>
              <a:path w="7578228" h="2770419">
                <a:moveTo>
                  <a:pt x="86243" y="0"/>
                </a:moveTo>
                <a:lnTo>
                  <a:pt x="7491985" y="0"/>
                </a:lnTo>
                <a:cubicBezTo>
                  <a:pt x="7539616" y="0"/>
                  <a:pt x="7578228" y="38612"/>
                  <a:pt x="7578228" y="86243"/>
                </a:cubicBezTo>
                <a:lnTo>
                  <a:pt x="7578228" y="2684176"/>
                </a:lnTo>
                <a:cubicBezTo>
                  <a:pt x="7578228" y="2731807"/>
                  <a:pt x="7539616" y="2770419"/>
                  <a:pt x="7491985" y="2770419"/>
                </a:cubicBezTo>
                <a:lnTo>
                  <a:pt x="86243" y="2770419"/>
                </a:lnTo>
                <a:cubicBezTo>
                  <a:pt x="38612" y="2770419"/>
                  <a:pt x="0" y="2731807"/>
                  <a:pt x="0" y="2684176"/>
                </a:cubicBezTo>
                <a:lnTo>
                  <a:pt x="0" y="86243"/>
                </a:lnTo>
                <a:cubicBezTo>
                  <a:pt x="0" y="38644"/>
                  <a:pt x="38644" y="0"/>
                  <a:pt x="8624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14451" y="6457071"/>
            <a:ext cx="7319512" cy="3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Compaction算法对比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4451" y="6888264"/>
            <a:ext cx="85160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RatioBased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8925" y="6888264"/>
            <a:ext cx="1325920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简单稳定,通用场景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4451" y="7190100"/>
            <a:ext cx="722249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8007" y="7190100"/>
            <a:ext cx="147683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选择最优方案,写密集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4451" y="7491935"/>
            <a:ext cx="398854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72722" y="7491935"/>
            <a:ext cx="1735554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优先合并旧文件,TTL数据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4451" y="7793771"/>
            <a:ext cx="517432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88925" y="7793771"/>
            <a:ext cx="1325920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分层合并,混合负载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8746" y="6279203"/>
            <a:ext cx="7578228" cy="2770419"/>
          </a:xfrm>
          <a:custGeom>
            <a:avLst/>
            <a:gdLst/>
            <a:ahLst/>
            <a:cxnLst/>
            <a:rect l="l" t="t" r="r" b="b"/>
            <a:pathLst>
              <a:path w="7578228" h="2770419">
                <a:moveTo>
                  <a:pt x="86243" y="0"/>
                </a:moveTo>
                <a:lnTo>
                  <a:pt x="7491985" y="0"/>
                </a:lnTo>
                <a:cubicBezTo>
                  <a:pt x="7539616" y="0"/>
                  <a:pt x="7578228" y="38612"/>
                  <a:pt x="7578228" y="86243"/>
                </a:cubicBezTo>
                <a:lnTo>
                  <a:pt x="7578228" y="2684176"/>
                </a:lnTo>
                <a:cubicBezTo>
                  <a:pt x="7578228" y="2731807"/>
                  <a:pt x="7539616" y="2770419"/>
                  <a:pt x="7491985" y="2770419"/>
                </a:cubicBezTo>
                <a:lnTo>
                  <a:pt x="86243" y="2770419"/>
                </a:lnTo>
                <a:cubicBezTo>
                  <a:pt x="38612" y="2770419"/>
                  <a:pt x="0" y="2731807"/>
                  <a:pt x="0" y="2684176"/>
                </a:cubicBezTo>
                <a:lnTo>
                  <a:pt x="0" y="86243"/>
                </a:lnTo>
                <a:cubicBezTo>
                  <a:pt x="0" y="38644"/>
                  <a:pt x="38644" y="0"/>
                  <a:pt x="86243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416613" y="6457071"/>
            <a:ext cx="7319512" cy="30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8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调优与节流控制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16613" y="6888264"/>
            <a:ext cx="7222493" cy="603671"/>
          </a:xfrm>
          <a:custGeom>
            <a:avLst/>
            <a:gdLst/>
            <a:ahLst/>
            <a:cxnLst/>
            <a:rect l="l" t="t" r="r" b="b"/>
            <a:pathLst>
              <a:path w="7222493" h="603671">
                <a:moveTo>
                  <a:pt x="43120" y="0"/>
                </a:moveTo>
                <a:lnTo>
                  <a:pt x="7179373" y="0"/>
                </a:lnTo>
                <a:cubicBezTo>
                  <a:pt x="7203188" y="0"/>
                  <a:pt x="7222493" y="19306"/>
                  <a:pt x="7222493" y="43120"/>
                </a:cubicBezTo>
                <a:lnTo>
                  <a:pt x="7222493" y="560551"/>
                </a:lnTo>
                <a:cubicBezTo>
                  <a:pt x="7222493" y="584366"/>
                  <a:pt x="7203188" y="603671"/>
                  <a:pt x="7179373" y="603671"/>
                </a:cubicBezTo>
                <a:lnTo>
                  <a:pt x="43120" y="603671"/>
                </a:lnTo>
                <a:cubicBezTo>
                  <a:pt x="19322" y="603671"/>
                  <a:pt x="0" y="584350"/>
                  <a:pt x="0" y="560551"/>
                </a:cubicBezTo>
                <a:lnTo>
                  <a:pt x="0" y="43120"/>
                </a:lnTo>
                <a:cubicBezTo>
                  <a:pt x="0" y="19322"/>
                  <a:pt x="19322" y="0"/>
                  <a:pt x="431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02852" y="6974503"/>
            <a:ext cx="7125475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调整阈值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02852" y="7233219"/>
            <a:ext cx="7114695" cy="17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写密集:增大min/max; 读密集:减小min/max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16613" y="7578174"/>
            <a:ext cx="7222493" cy="603671"/>
          </a:xfrm>
          <a:custGeom>
            <a:avLst/>
            <a:gdLst/>
            <a:ahLst/>
            <a:cxnLst/>
            <a:rect l="l" t="t" r="r" b="b"/>
            <a:pathLst>
              <a:path w="7222493" h="603671">
                <a:moveTo>
                  <a:pt x="43120" y="0"/>
                </a:moveTo>
                <a:lnTo>
                  <a:pt x="7179373" y="0"/>
                </a:lnTo>
                <a:cubicBezTo>
                  <a:pt x="7203188" y="0"/>
                  <a:pt x="7222493" y="19306"/>
                  <a:pt x="7222493" y="43120"/>
                </a:cubicBezTo>
                <a:lnTo>
                  <a:pt x="7222493" y="560551"/>
                </a:lnTo>
                <a:cubicBezTo>
                  <a:pt x="7222493" y="584366"/>
                  <a:pt x="7203188" y="603671"/>
                  <a:pt x="7179373" y="603671"/>
                </a:cubicBezTo>
                <a:lnTo>
                  <a:pt x="43120" y="603671"/>
                </a:lnTo>
                <a:cubicBezTo>
                  <a:pt x="19322" y="603671"/>
                  <a:pt x="0" y="584350"/>
                  <a:pt x="0" y="560551"/>
                </a:cubicBezTo>
                <a:lnTo>
                  <a:pt x="0" y="43120"/>
                </a:lnTo>
                <a:cubicBezTo>
                  <a:pt x="0" y="19322"/>
                  <a:pt x="19322" y="0"/>
                  <a:pt x="431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502852" y="7664413"/>
            <a:ext cx="7125475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Compaction周期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02852" y="7923129"/>
            <a:ext cx="7114695" cy="17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生产环境建议7-30天,避免频繁全量合并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16613" y="8268084"/>
            <a:ext cx="7222493" cy="603671"/>
          </a:xfrm>
          <a:custGeom>
            <a:avLst/>
            <a:gdLst/>
            <a:ahLst/>
            <a:cxnLst/>
            <a:rect l="l" t="t" r="r" b="b"/>
            <a:pathLst>
              <a:path w="7222493" h="603671">
                <a:moveTo>
                  <a:pt x="43120" y="0"/>
                </a:moveTo>
                <a:lnTo>
                  <a:pt x="7179373" y="0"/>
                </a:lnTo>
                <a:cubicBezTo>
                  <a:pt x="7203188" y="0"/>
                  <a:pt x="7222493" y="19306"/>
                  <a:pt x="7222493" y="43120"/>
                </a:cubicBezTo>
                <a:lnTo>
                  <a:pt x="7222493" y="560551"/>
                </a:lnTo>
                <a:cubicBezTo>
                  <a:pt x="7222493" y="584366"/>
                  <a:pt x="7203188" y="603671"/>
                  <a:pt x="7179373" y="603671"/>
                </a:cubicBezTo>
                <a:lnTo>
                  <a:pt x="43120" y="603671"/>
                </a:lnTo>
                <a:cubicBezTo>
                  <a:pt x="19322" y="603671"/>
                  <a:pt x="0" y="584350"/>
                  <a:pt x="0" y="560551"/>
                </a:cubicBezTo>
                <a:lnTo>
                  <a:pt x="0" y="43120"/>
                </a:lnTo>
                <a:cubicBezTo>
                  <a:pt x="0" y="19322"/>
                  <a:pt x="19322" y="0"/>
                  <a:pt x="431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02852" y="8354323"/>
            <a:ext cx="7125475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维护窗口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02852" y="8613039"/>
            <a:ext cx="7114695" cy="17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19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在业务低峰期(晚上10点-早上6点)执行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2370667" cy="423333"/>
          </a:xfrm>
          <a:custGeom>
            <a:avLst/>
            <a:gdLst/>
            <a:ahLst/>
            <a:cxnLst/>
            <a:rect l="l" t="t" r="r" b="b"/>
            <a:pathLst>
              <a:path w="2370667" h="423333">
                <a:moveTo>
                  <a:pt x="0" y="0"/>
                </a:moveTo>
                <a:lnTo>
                  <a:pt x="2370667" y="0"/>
                </a:lnTo>
                <a:lnTo>
                  <a:pt x="2370667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2095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Region管理:分裂、合并与负载均衡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7588250" cy="5884333"/>
          </a:xfrm>
          <a:custGeom>
            <a:avLst/>
            <a:gdLst/>
            <a:ahLst/>
            <a:cxnLst/>
            <a:rect l="l" t="t" r="r" b="b"/>
            <a:pathLst>
              <a:path w="7588250" h="5884333">
                <a:moveTo>
                  <a:pt x="84676" y="0"/>
                </a:moveTo>
                <a:lnTo>
                  <a:pt x="7503574" y="0"/>
                </a:lnTo>
                <a:cubicBezTo>
                  <a:pt x="7550339" y="0"/>
                  <a:pt x="7588250" y="37911"/>
                  <a:pt x="7588250" y="84676"/>
                </a:cubicBezTo>
                <a:lnTo>
                  <a:pt x="7588250" y="5799658"/>
                </a:lnTo>
                <a:cubicBezTo>
                  <a:pt x="7588250" y="5846423"/>
                  <a:pt x="7550339" y="5884333"/>
                  <a:pt x="7503574" y="5884333"/>
                </a:cubicBezTo>
                <a:lnTo>
                  <a:pt x="84676" y="5884333"/>
                </a:lnTo>
                <a:cubicBezTo>
                  <a:pt x="37911" y="5884333"/>
                  <a:pt x="0" y="5846423"/>
                  <a:pt x="0" y="5799658"/>
                </a:cubicBezTo>
                <a:lnTo>
                  <a:pt x="0" y="84676"/>
                </a:lnTo>
                <a:cubicBezTo>
                  <a:pt x="0" y="37911"/>
                  <a:pt x="37911" y="0"/>
                  <a:pt x="8467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Region分裂机制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583" y="2254250"/>
            <a:ext cx="723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Region分裂是HBase实现水平扩展的核心机制,通过将过大的Region分割成更小的单元来分布负载和优化性能。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5583" y="2931583"/>
            <a:ext cx="7154333" cy="1312333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42336" y="0"/>
                </a:moveTo>
                <a:lnTo>
                  <a:pt x="7111997" y="0"/>
                </a:lnTo>
                <a:cubicBezTo>
                  <a:pt x="7135379" y="0"/>
                  <a:pt x="7154333" y="18954"/>
                  <a:pt x="7154333" y="42336"/>
                </a:cubicBezTo>
                <a:lnTo>
                  <a:pt x="7154333" y="1269997"/>
                </a:lnTo>
                <a:cubicBezTo>
                  <a:pt x="7154333" y="1293379"/>
                  <a:pt x="7135379" y="1312333"/>
                  <a:pt x="7111997" y="1312333"/>
                </a:cubicBezTo>
                <a:lnTo>
                  <a:pt x="42336" y="1312333"/>
                </a:lnTo>
                <a:cubicBezTo>
                  <a:pt x="18954" y="1312333"/>
                  <a:pt x="0" y="1293379"/>
                  <a:pt x="0" y="1269997"/>
                </a:cubicBezTo>
                <a:lnTo>
                  <a:pt x="0" y="42336"/>
                </a:lnTo>
                <a:cubicBezTo>
                  <a:pt x="0" y="18954"/>
                  <a:pt x="18954" y="0"/>
                  <a:pt x="423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72583" y="3058583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分裂触发条件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3010" y="342900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2458" y="3397250"/>
            <a:ext cx="187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大小阈值: Region达到10GB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3010" y="368300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42458" y="3651250"/>
            <a:ext cx="2487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文件数量: Store中HFile数量超过阈值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3010" y="393700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25826" y="20286"/>
                </a:moveTo>
                <a:cubicBezTo>
                  <a:pt x="129964" y="23296"/>
                  <a:pt x="130890" y="29083"/>
                  <a:pt x="127881" y="33222"/>
                </a:cubicBezTo>
                <a:lnTo>
                  <a:pt x="53797" y="135086"/>
                </a:lnTo>
                <a:cubicBezTo>
                  <a:pt x="52206" y="137286"/>
                  <a:pt x="49746" y="138646"/>
                  <a:pt x="47026" y="138877"/>
                </a:cubicBezTo>
                <a:cubicBezTo>
                  <a:pt x="44305" y="139109"/>
                  <a:pt x="41672" y="138096"/>
                  <a:pt x="39762" y="136186"/>
                </a:cubicBezTo>
                <a:lnTo>
                  <a:pt x="2720" y="99144"/>
                </a:lnTo>
                <a:cubicBezTo>
                  <a:pt x="-897" y="95527"/>
                  <a:pt x="-897" y="89652"/>
                  <a:pt x="2720" y="86035"/>
                </a:cubicBezTo>
                <a:cubicBezTo>
                  <a:pt x="6338" y="82418"/>
                  <a:pt x="12212" y="82418"/>
                  <a:pt x="15830" y="86035"/>
                </a:cubicBezTo>
                <a:lnTo>
                  <a:pt x="45202" y="115408"/>
                </a:lnTo>
                <a:lnTo>
                  <a:pt x="112919" y="22312"/>
                </a:lnTo>
                <a:cubicBezTo>
                  <a:pt x="115929" y="18174"/>
                  <a:pt x="121717" y="17248"/>
                  <a:pt x="125855" y="20257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42458" y="3905250"/>
            <a:ext cx="222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手动触发: 通过Admin API或Shell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5583" y="4370917"/>
            <a:ext cx="7154333" cy="2868083"/>
          </a:xfrm>
          <a:custGeom>
            <a:avLst/>
            <a:gdLst/>
            <a:ahLst/>
            <a:cxnLst/>
            <a:rect l="l" t="t" r="r" b="b"/>
            <a:pathLst>
              <a:path w="7154333" h="2868083">
                <a:moveTo>
                  <a:pt x="42333" y="0"/>
                </a:moveTo>
                <a:lnTo>
                  <a:pt x="7112000" y="0"/>
                </a:lnTo>
                <a:cubicBezTo>
                  <a:pt x="7135380" y="0"/>
                  <a:pt x="7154333" y="18953"/>
                  <a:pt x="7154333" y="42333"/>
                </a:cubicBezTo>
                <a:lnTo>
                  <a:pt x="7154333" y="2825750"/>
                </a:lnTo>
                <a:cubicBezTo>
                  <a:pt x="7154333" y="2849130"/>
                  <a:pt x="7135380" y="2868083"/>
                  <a:pt x="7112000" y="2868083"/>
                </a:cubicBezTo>
                <a:lnTo>
                  <a:pt x="42333" y="2868083"/>
                </a:lnTo>
                <a:cubicBezTo>
                  <a:pt x="18953" y="2868083"/>
                  <a:pt x="0" y="2849130"/>
                  <a:pt x="0" y="282575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72583" y="449791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预分裂策略示例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583" y="4836583"/>
            <a:ext cx="6963833" cy="2275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均匀预分裂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'table', 'cf', {SPLITS =&gt; ['0','1','2','3','4','5','6','7','8','9','a','b','c','d','e','f’]}</a:t>
            </a:r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#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基于时间预分裂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'time_table', 'cf', {SPLITS =&gt; ['202401','202402','202403',...]}</a:t>
            </a:r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#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基于业务维度预分裂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'business_table', 'cf', {SPLITS =&gt; ['user_0000','user_1000',...]}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39125" y="1571625"/>
            <a:ext cx="7588250" cy="4709583"/>
          </a:xfrm>
          <a:custGeom>
            <a:avLst/>
            <a:gdLst/>
            <a:ahLst/>
            <a:cxnLst/>
            <a:rect l="l" t="t" r="r" b="b"/>
            <a:pathLst>
              <a:path w="7588250" h="6106583">
                <a:moveTo>
                  <a:pt x="84637" y="0"/>
                </a:moveTo>
                <a:lnTo>
                  <a:pt x="7503613" y="0"/>
                </a:lnTo>
                <a:cubicBezTo>
                  <a:pt x="7550357" y="0"/>
                  <a:pt x="7588250" y="37893"/>
                  <a:pt x="7588250" y="84637"/>
                </a:cubicBezTo>
                <a:lnTo>
                  <a:pt x="7588250" y="6021946"/>
                </a:lnTo>
                <a:cubicBezTo>
                  <a:pt x="7588250" y="6068690"/>
                  <a:pt x="7550357" y="6106583"/>
                  <a:pt x="7503613" y="6106583"/>
                </a:cubicBezTo>
                <a:lnTo>
                  <a:pt x="84637" y="6106583"/>
                </a:lnTo>
                <a:cubicBezTo>
                  <a:pt x="37893" y="6106583"/>
                  <a:pt x="0" y="6068690"/>
                  <a:pt x="0" y="6021946"/>
                </a:cubicBezTo>
                <a:lnTo>
                  <a:pt x="0" y="84637"/>
                </a:lnTo>
                <a:cubicBezTo>
                  <a:pt x="0" y="37925"/>
                  <a:pt x="37925" y="0"/>
                  <a:pt x="84637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560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Region合并与负载均衡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56083" y="2254250"/>
            <a:ext cx="7154333" cy="1397000"/>
          </a:xfrm>
          <a:custGeom>
            <a:avLst/>
            <a:gdLst/>
            <a:ahLst/>
            <a:cxnLst/>
            <a:rect l="l" t="t" r="r" b="b"/>
            <a:pathLst>
              <a:path w="7154333" h="1397000">
                <a:moveTo>
                  <a:pt x="42329" y="0"/>
                </a:moveTo>
                <a:lnTo>
                  <a:pt x="7112004" y="0"/>
                </a:lnTo>
                <a:cubicBezTo>
                  <a:pt x="7135382" y="0"/>
                  <a:pt x="7154333" y="18951"/>
                  <a:pt x="7154333" y="42329"/>
                </a:cubicBezTo>
                <a:lnTo>
                  <a:pt x="7154333" y="1354671"/>
                </a:lnTo>
                <a:cubicBezTo>
                  <a:pt x="7154333" y="1378049"/>
                  <a:pt x="7135382" y="1397000"/>
                  <a:pt x="7112004" y="1397000"/>
                </a:cubicBezTo>
                <a:lnTo>
                  <a:pt x="42329" y="1397000"/>
                </a:lnTo>
                <a:cubicBezTo>
                  <a:pt x="18951" y="1397000"/>
                  <a:pt x="0" y="1378049"/>
                  <a:pt x="0" y="1354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83083" y="2381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Region合并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3083" y="271991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用于优化过多小Region的场景,减少元数据开销和提升管理效率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3083" y="3016250"/>
            <a:ext cx="696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手动合并</a:t>
            </a:r>
            <a:endParaRPr lang="en-US" sz="1000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 merge_region 'region1_encoded_name', 'region2_encoded_name'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56083" y="3778250"/>
            <a:ext cx="7154333" cy="1255099"/>
          </a:xfrm>
          <a:custGeom>
            <a:avLst/>
            <a:gdLst/>
            <a:ahLst/>
            <a:cxnLst/>
            <a:rect l="l" t="t" r="r" b="b"/>
            <a:pathLst>
              <a:path w="7154333" h="2455333">
                <a:moveTo>
                  <a:pt x="42330" y="0"/>
                </a:moveTo>
                <a:lnTo>
                  <a:pt x="7112003" y="0"/>
                </a:lnTo>
                <a:cubicBezTo>
                  <a:pt x="7135382" y="0"/>
                  <a:pt x="7154333" y="18952"/>
                  <a:pt x="7154333" y="42330"/>
                </a:cubicBezTo>
                <a:lnTo>
                  <a:pt x="7154333" y="2413003"/>
                </a:lnTo>
                <a:cubicBezTo>
                  <a:pt x="7154333" y="2436382"/>
                  <a:pt x="7135382" y="2455333"/>
                  <a:pt x="7112003" y="2455333"/>
                </a:cubicBezTo>
                <a:lnTo>
                  <a:pt x="42330" y="2455333"/>
                </a:lnTo>
                <a:cubicBezTo>
                  <a:pt x="18952" y="2455333"/>
                  <a:pt x="0" y="2436382"/>
                  <a:pt x="0" y="2413003"/>
                </a:cubicBezTo>
                <a:lnTo>
                  <a:pt x="0" y="42330"/>
                </a:lnTo>
                <a:cubicBezTo>
                  <a:pt x="0" y="18952"/>
                  <a:pt x="18952" y="0"/>
                  <a:pt x="423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83083" y="3905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自动化负载均衡配置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3083" y="4243918"/>
            <a:ext cx="6963833" cy="75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hbase.balancer.period 300000 </a:t>
            </a:r>
          </a:p>
          <a:p>
            <a:pPr>
              <a:lnSpc>
                <a:spcPct val="140000"/>
              </a:lnSpc>
            </a:pP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hbase.regions.slop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0.2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6083" y="5038556"/>
            <a:ext cx="7154333" cy="1100667"/>
          </a:xfrm>
          <a:custGeom>
            <a:avLst/>
            <a:gdLst/>
            <a:ahLst/>
            <a:cxnLst/>
            <a:rect l="l" t="t" r="r" b="b"/>
            <a:pathLst>
              <a:path w="7154333" h="1100667">
                <a:moveTo>
                  <a:pt x="42332" y="0"/>
                </a:moveTo>
                <a:lnTo>
                  <a:pt x="7112002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1058335"/>
                </a:lnTo>
                <a:cubicBezTo>
                  <a:pt x="7154333" y="1081714"/>
                  <a:pt x="7135381" y="1100667"/>
                  <a:pt x="7112002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83083" y="5165556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负载均衡命令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83083" y="5504222"/>
            <a:ext cx="696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balance_switch true #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开启负载均衡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balance_switch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false #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关闭负载均衡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# 立即执行负载均衡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33833" y="6413944"/>
            <a:ext cx="7588250" cy="2042583"/>
          </a:xfrm>
          <a:custGeom>
            <a:avLst/>
            <a:gdLst/>
            <a:ahLst/>
            <a:cxnLst/>
            <a:rect l="l" t="t" r="r" b="b"/>
            <a:pathLst>
              <a:path w="7588250" h="2042583">
                <a:moveTo>
                  <a:pt x="84665" y="0"/>
                </a:moveTo>
                <a:lnTo>
                  <a:pt x="7503585" y="0"/>
                </a:lnTo>
                <a:cubicBezTo>
                  <a:pt x="7550344" y="0"/>
                  <a:pt x="7588250" y="37906"/>
                  <a:pt x="7588250" y="84665"/>
                </a:cubicBezTo>
                <a:lnTo>
                  <a:pt x="7588250" y="1957918"/>
                </a:lnTo>
                <a:cubicBezTo>
                  <a:pt x="7588250" y="2004677"/>
                  <a:pt x="7550344" y="2042583"/>
                  <a:pt x="7503585" y="2042583"/>
                </a:cubicBezTo>
                <a:lnTo>
                  <a:pt x="84665" y="2042583"/>
                </a:lnTo>
                <a:cubicBezTo>
                  <a:pt x="37906" y="2042583"/>
                  <a:pt x="0" y="2004677"/>
                  <a:pt x="0" y="1957918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08458" y="6588569"/>
            <a:ext cx="733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分裂算法实现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08458" y="7011903"/>
            <a:ext cx="7239000" cy="1270000"/>
          </a:xfrm>
          <a:custGeom>
            <a:avLst/>
            <a:gdLst/>
            <a:ahLst/>
            <a:cxnLst/>
            <a:rect l="l" t="t" r="r" b="b"/>
            <a:pathLst>
              <a:path w="7239000" h="1270000">
                <a:moveTo>
                  <a:pt x="42329" y="0"/>
                </a:moveTo>
                <a:lnTo>
                  <a:pt x="7196671" y="0"/>
                </a:lnTo>
                <a:cubicBezTo>
                  <a:pt x="7220049" y="0"/>
                  <a:pt x="7239000" y="18951"/>
                  <a:pt x="7239000" y="42329"/>
                </a:cubicBezTo>
                <a:lnTo>
                  <a:pt x="7239000" y="1227671"/>
                </a:lnTo>
                <a:cubicBezTo>
                  <a:pt x="7239000" y="1251049"/>
                  <a:pt x="7220049" y="1270000"/>
                  <a:pt x="7196671" y="1270000"/>
                </a:cubicBezTo>
                <a:lnTo>
                  <a:pt x="42329" y="1270000"/>
                </a:lnTo>
                <a:cubicBezTo>
                  <a:pt x="18951" y="1270000"/>
                  <a:pt x="0" y="1251049"/>
                  <a:pt x="0" y="12276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535458" y="7138903"/>
            <a:ext cx="704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默认策略:取中间点</a:t>
            </a:r>
            <a:endParaRPr lang="en-US" sz="1000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public byte[] getSplitPoint() {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byte[] startKey = region.getRegionInfo().</a:t>
            </a:r>
            <a:r>
              <a:rPr lang="en-US" sz="1000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getStartKey</a:t>
            </a: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byte[] endKey = region.getRegionInfo().getEndKey(); 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Bytes.split(startKey, endKey, 1)[1];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}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4500" y="8569605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56167" y="8701896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74083" y="52917"/>
                </a:moveTo>
                <a:cubicBezTo>
                  <a:pt x="74083" y="47076"/>
                  <a:pt x="78826" y="42333"/>
                  <a:pt x="84667" y="42333"/>
                </a:cubicBezTo>
                <a:cubicBezTo>
                  <a:pt x="90508" y="42333"/>
                  <a:pt x="95250" y="47076"/>
                  <a:pt x="95250" y="52917"/>
                </a:cubicBezTo>
                <a:cubicBezTo>
                  <a:pt x="95250" y="58758"/>
                  <a:pt x="90508" y="63500"/>
                  <a:pt x="84667" y="63500"/>
                </a:cubicBezTo>
                <a:cubicBezTo>
                  <a:pt x="78826" y="63500"/>
                  <a:pt x="74083" y="58758"/>
                  <a:pt x="74083" y="52917"/>
                </a:cubicBezTo>
                <a:close/>
                <a:moveTo>
                  <a:pt x="71438" y="74083"/>
                </a:moveTo>
                <a:lnTo>
                  <a:pt x="87313" y="74083"/>
                </a:lnTo>
                <a:cubicBezTo>
                  <a:pt x="91711" y="74083"/>
                  <a:pt x="95250" y="77622"/>
                  <a:pt x="95250" y="82021"/>
                </a:cubicBezTo>
                <a:lnTo>
                  <a:pt x="95250" y="111125"/>
                </a:lnTo>
                <a:lnTo>
                  <a:pt x="97896" y="111125"/>
                </a:lnTo>
                <a:cubicBezTo>
                  <a:pt x="102295" y="111125"/>
                  <a:pt x="105833" y="114664"/>
                  <a:pt x="105833" y="119063"/>
                </a:cubicBezTo>
                <a:cubicBezTo>
                  <a:pt x="105833" y="123461"/>
                  <a:pt x="102295" y="127000"/>
                  <a:pt x="97896" y="127000"/>
                </a:cubicBezTo>
                <a:lnTo>
                  <a:pt x="71438" y="127000"/>
                </a:lnTo>
                <a:cubicBezTo>
                  <a:pt x="67039" y="127000"/>
                  <a:pt x="63500" y="123461"/>
                  <a:pt x="63500" y="119063"/>
                </a:cubicBezTo>
                <a:cubicBezTo>
                  <a:pt x="63500" y="114664"/>
                  <a:pt x="67039" y="111125"/>
                  <a:pt x="71438" y="111125"/>
                </a:cubicBezTo>
                <a:lnTo>
                  <a:pt x="79375" y="111125"/>
                </a:lnTo>
                <a:lnTo>
                  <a:pt x="79375" y="89958"/>
                </a:lnTo>
                <a:lnTo>
                  <a:pt x="71438" y="89958"/>
                </a:lnTo>
                <a:cubicBezTo>
                  <a:pt x="67039" y="89958"/>
                  <a:pt x="63500" y="86420"/>
                  <a:pt x="63500" y="82021"/>
                </a:cubicBezTo>
                <a:cubicBezTo>
                  <a:pt x="63500" y="77622"/>
                  <a:pt x="67039" y="74083"/>
                  <a:pt x="71438" y="7408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17222" y="8654271"/>
            <a:ext cx="150001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最佳实践:</a:t>
            </a: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预分裂可避免90%以上的初始热点问题。合理配置负载均衡周期(5分钟)和负载差异阈值(20%)可确保Region均匀分布。定期监控Region大小并预警,及时处理过大Region。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2444750" cy="423333"/>
          </a:xfrm>
          <a:custGeom>
            <a:avLst/>
            <a:gdLst/>
            <a:ahLst/>
            <a:cxnLst/>
            <a:rect l="l" t="t" r="r" b="b"/>
            <a:pathLst>
              <a:path w="2444750" h="423333">
                <a:moveTo>
                  <a:pt x="0" y="0"/>
                </a:moveTo>
                <a:lnTo>
                  <a:pt x="2444750" y="0"/>
                </a:lnTo>
                <a:lnTo>
                  <a:pt x="2444750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35000" y="523875"/>
            <a:ext cx="216429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TUNING &amp; MONITORING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973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5E7E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关键参数调优与监控运维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571625"/>
            <a:ext cx="7588250" cy="1740958"/>
          </a:xfrm>
          <a:custGeom>
            <a:avLst/>
            <a:gdLst/>
            <a:ahLst/>
            <a:cxnLst/>
            <a:rect l="l" t="t" r="r" b="b"/>
            <a:pathLst>
              <a:path w="7588250" h="4413250">
                <a:moveTo>
                  <a:pt x="84646" y="0"/>
                </a:moveTo>
                <a:lnTo>
                  <a:pt x="7503604" y="0"/>
                </a:lnTo>
                <a:cubicBezTo>
                  <a:pt x="7550353" y="0"/>
                  <a:pt x="7588250" y="37897"/>
                  <a:pt x="7588250" y="84646"/>
                </a:cubicBezTo>
                <a:lnTo>
                  <a:pt x="7588250" y="4328604"/>
                </a:lnTo>
                <a:cubicBezTo>
                  <a:pt x="7588250" y="4375353"/>
                  <a:pt x="7550353" y="4413250"/>
                  <a:pt x="7503604" y="4413250"/>
                </a:cubicBezTo>
                <a:lnTo>
                  <a:pt x="84646" y="4413250"/>
                </a:lnTo>
                <a:cubicBezTo>
                  <a:pt x="37897" y="4413250"/>
                  <a:pt x="0" y="4375353"/>
                  <a:pt x="0" y="4328604"/>
                </a:cubicBezTo>
                <a:lnTo>
                  <a:pt x="0" y="84646"/>
                </a:lnTo>
                <a:cubicBezTo>
                  <a:pt x="0" y="37897"/>
                  <a:pt x="37897" y="0"/>
                  <a:pt x="84646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55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MemStore调优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5583" y="2254250"/>
            <a:ext cx="7228417" cy="1058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hbase.hregion.memstore.flush.size 134217728 </a:t>
            </a:r>
          </a:p>
          <a:p>
            <a:pPr>
              <a:lnSpc>
                <a:spcPct val="120000"/>
              </a:lnSpc>
            </a:pP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hbase.regionserver.global.memstore.size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0.4 </a:t>
            </a:r>
          </a:p>
          <a:p>
            <a:pPr>
              <a:lnSpc>
                <a:spcPct val="120000"/>
              </a:lnSpc>
            </a:pP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hbase.hregion.memstore.block.multiplier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" y="3481917"/>
            <a:ext cx="7588250" cy="1740958"/>
          </a:xfrm>
          <a:custGeom>
            <a:avLst/>
            <a:gdLst/>
            <a:ahLst/>
            <a:cxnLst/>
            <a:rect l="l" t="t" r="r" b="b"/>
            <a:pathLst>
              <a:path w="7588250" h="2677583">
                <a:moveTo>
                  <a:pt x="84665" y="0"/>
                </a:moveTo>
                <a:lnTo>
                  <a:pt x="7503585" y="0"/>
                </a:lnTo>
                <a:cubicBezTo>
                  <a:pt x="7550344" y="0"/>
                  <a:pt x="7588250" y="37906"/>
                  <a:pt x="7588250" y="84665"/>
                </a:cubicBezTo>
                <a:lnTo>
                  <a:pt x="7588250" y="2592918"/>
                </a:lnTo>
                <a:cubicBezTo>
                  <a:pt x="7588250" y="2639677"/>
                  <a:pt x="7550344" y="2677583"/>
                  <a:pt x="7503585" y="2677583"/>
                </a:cubicBezTo>
                <a:lnTo>
                  <a:pt x="84665" y="2677583"/>
                </a:lnTo>
                <a:cubicBezTo>
                  <a:pt x="37906" y="2677583"/>
                  <a:pt x="0" y="2639677"/>
                  <a:pt x="0" y="2592918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9125" y="3656541"/>
            <a:ext cx="733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HFile与压缩调优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125" y="4079874"/>
            <a:ext cx="7313083" cy="1027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HFile块大小配置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{NAME =&gt; 'random_cf', BLOCKSIZE =&gt; '65536'}, {NAME =&gt; 'scan_cf', BLOCKSIZE =&gt; '262144'} # 压缩算法选择 alter 'table', {NAME =&gt; 'snappy_cf', COMPRESSION =&gt; 'SNAPPY'}, {NAME =&gt; 'gzip_cf', COMPRESSION =&gt; 'GZ'}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8625" y="5344540"/>
            <a:ext cx="7588250" cy="1740959"/>
          </a:xfrm>
          <a:custGeom>
            <a:avLst/>
            <a:gdLst/>
            <a:ahLst/>
            <a:cxnLst/>
            <a:rect l="l" t="t" r="r" b="b"/>
            <a:pathLst>
              <a:path w="7588250" h="2677583">
                <a:moveTo>
                  <a:pt x="84665" y="0"/>
                </a:moveTo>
                <a:lnTo>
                  <a:pt x="7503585" y="0"/>
                </a:lnTo>
                <a:cubicBezTo>
                  <a:pt x="7550344" y="0"/>
                  <a:pt x="7588250" y="37906"/>
                  <a:pt x="7588250" y="84665"/>
                </a:cubicBezTo>
                <a:lnTo>
                  <a:pt x="7588250" y="2592918"/>
                </a:lnTo>
                <a:cubicBezTo>
                  <a:pt x="7588250" y="2639677"/>
                  <a:pt x="7550344" y="2677583"/>
                  <a:pt x="7503585" y="2677583"/>
                </a:cubicBezTo>
                <a:lnTo>
                  <a:pt x="84665" y="2677583"/>
                </a:lnTo>
                <a:cubicBezTo>
                  <a:pt x="37906" y="2677583"/>
                  <a:pt x="0" y="2639677"/>
                  <a:pt x="0" y="2592918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03250" y="5519165"/>
            <a:ext cx="7334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版本与TTL管理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" y="5942498"/>
            <a:ext cx="7313083" cy="1197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版本控制配置</a:t>
            </a:r>
            <a:endParaRPr lang="en-US" sz="1167" dirty="0">
              <a:solidFill>
                <a:srgbClr val="E5E7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alter 'table', {NAME =&gt; 'cf1', VERSIONS =&gt; 1}, {NAME =&gt; 'cf2', VERSIONS =&gt; 3}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</a:t>
            </a:r>
            <a:r>
              <a:rPr lang="en-US" sz="1167" dirty="0" err="1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TTL配置</a:t>
            </a: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 'table', {NAME =&gt; 'realtime', TTL =&gt; 86400}, {NAME =&gt; 'history', TTL =&gt; 2592000}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39125" y="1571625"/>
            <a:ext cx="7588250" cy="5005917"/>
          </a:xfrm>
          <a:custGeom>
            <a:avLst/>
            <a:gdLst/>
            <a:ahLst/>
            <a:cxnLst/>
            <a:rect l="l" t="t" r="r" b="b"/>
            <a:pathLst>
              <a:path w="7588250" h="5005917">
                <a:moveTo>
                  <a:pt x="84650" y="0"/>
                </a:moveTo>
                <a:lnTo>
                  <a:pt x="7503600" y="0"/>
                </a:lnTo>
                <a:cubicBezTo>
                  <a:pt x="7550351" y="0"/>
                  <a:pt x="7588250" y="37899"/>
                  <a:pt x="7588250" y="84650"/>
                </a:cubicBezTo>
                <a:lnTo>
                  <a:pt x="7588250" y="4921267"/>
                </a:lnTo>
                <a:cubicBezTo>
                  <a:pt x="7588250" y="4968018"/>
                  <a:pt x="7550351" y="5005917"/>
                  <a:pt x="7503600" y="5005917"/>
                </a:cubicBezTo>
                <a:lnTo>
                  <a:pt x="84650" y="5005917"/>
                </a:lnTo>
                <a:cubicBezTo>
                  <a:pt x="37899" y="5005917"/>
                  <a:pt x="0" y="4968018"/>
                  <a:pt x="0" y="4921267"/>
                </a:cubicBezTo>
                <a:lnTo>
                  <a:pt x="0" y="84650"/>
                </a:lnTo>
                <a:cubicBezTo>
                  <a:pt x="0" y="37930"/>
                  <a:pt x="37930" y="0"/>
                  <a:pt x="84650" y="0"/>
                </a:cubicBezTo>
                <a:close/>
              </a:path>
            </a:pathLst>
          </a:custGeom>
          <a:solidFill>
            <a:srgbClr val="3D4A5C">
              <a:alpha val="20000"/>
            </a:srgbClr>
          </a:solidFill>
          <a:ln w="12700">
            <a:solidFill>
              <a:srgbClr val="3D4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56083" y="1788583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关键监控指标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56083" y="2254250"/>
            <a:ext cx="7154333" cy="804333"/>
          </a:xfrm>
          <a:custGeom>
            <a:avLst/>
            <a:gdLst/>
            <a:ahLst/>
            <a:cxnLst/>
            <a:rect l="l" t="t" r="r" b="b"/>
            <a:pathLst>
              <a:path w="7154333" h="804333">
                <a:moveTo>
                  <a:pt x="42332" y="0"/>
                </a:moveTo>
                <a:lnTo>
                  <a:pt x="7112001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762001"/>
                </a:lnTo>
                <a:cubicBezTo>
                  <a:pt x="7154333" y="785381"/>
                  <a:pt x="7135381" y="804333"/>
                  <a:pt x="71120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83083" y="2381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Region状态监控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3083" y="2719917"/>
            <a:ext cx="6974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hbase shell&gt; status 'detailed'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6083" y="3185583"/>
            <a:ext cx="7154333" cy="1058333"/>
          </a:xfrm>
          <a:custGeom>
            <a:avLst/>
            <a:gdLst/>
            <a:ahLst/>
            <a:cxnLst/>
            <a:rect l="l" t="t" r="r" b="b"/>
            <a:pathLst>
              <a:path w="7154333" h="1058333">
                <a:moveTo>
                  <a:pt x="42333" y="0"/>
                </a:moveTo>
                <a:lnTo>
                  <a:pt x="7112000" y="0"/>
                </a:lnTo>
                <a:cubicBezTo>
                  <a:pt x="7135380" y="0"/>
                  <a:pt x="7154333" y="18953"/>
                  <a:pt x="7154333" y="42333"/>
                </a:cubicBezTo>
                <a:lnTo>
                  <a:pt x="7154333" y="1016000"/>
                </a:lnTo>
                <a:cubicBezTo>
                  <a:pt x="7154333" y="1039380"/>
                  <a:pt x="7135380" y="1058333"/>
                  <a:pt x="7112000" y="1058333"/>
                </a:cubicBezTo>
                <a:lnTo>
                  <a:pt x="42333" y="1058333"/>
                </a:lnTo>
                <a:cubicBezTo>
                  <a:pt x="18953" y="1058333"/>
                  <a:pt x="0" y="1039380"/>
                  <a:pt x="0" y="1016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83083" y="3312583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MemStore使用情况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3083" y="3651250"/>
            <a:ext cx="1058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memStoreSize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890750" y="3651250"/>
            <a:ext cx="666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当前大小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3083" y="3905250"/>
            <a:ext cx="1333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flushQueueLength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594417" y="3905250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刷写队列长度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56083" y="4370917"/>
            <a:ext cx="7154333" cy="1058333"/>
          </a:xfrm>
          <a:custGeom>
            <a:avLst/>
            <a:gdLst/>
            <a:ahLst/>
            <a:cxnLst/>
            <a:rect l="l" t="t" r="r" b="b"/>
            <a:pathLst>
              <a:path w="7154333" h="1058333">
                <a:moveTo>
                  <a:pt x="42333" y="0"/>
                </a:moveTo>
                <a:lnTo>
                  <a:pt x="7112000" y="0"/>
                </a:lnTo>
                <a:cubicBezTo>
                  <a:pt x="7135380" y="0"/>
                  <a:pt x="7154333" y="18953"/>
                  <a:pt x="7154333" y="42333"/>
                </a:cubicBezTo>
                <a:lnTo>
                  <a:pt x="7154333" y="1016000"/>
                </a:lnTo>
                <a:cubicBezTo>
                  <a:pt x="7154333" y="1039380"/>
                  <a:pt x="7135380" y="1058333"/>
                  <a:pt x="7112000" y="1058333"/>
                </a:cubicBezTo>
                <a:lnTo>
                  <a:pt x="42333" y="1058333"/>
                </a:lnTo>
                <a:cubicBezTo>
                  <a:pt x="18953" y="1058333"/>
                  <a:pt x="0" y="1039380"/>
                  <a:pt x="0" y="1016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83083" y="4497917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Compaction状态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3083" y="4836583"/>
            <a:ext cx="1799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compactionQueueLength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12900" y="4836583"/>
            <a:ext cx="84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正常值 &lt; 10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3083" y="5090583"/>
            <a:ext cx="793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numHFiles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707691" y="5090583"/>
            <a:ext cx="84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建议5-20个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56083" y="5556250"/>
            <a:ext cx="7154333" cy="804333"/>
          </a:xfrm>
          <a:custGeom>
            <a:avLst/>
            <a:gdLst/>
            <a:ahLst/>
            <a:cxnLst/>
            <a:rect l="l" t="t" r="r" b="b"/>
            <a:pathLst>
              <a:path w="7154333" h="804333">
                <a:moveTo>
                  <a:pt x="42332" y="0"/>
                </a:moveTo>
                <a:lnTo>
                  <a:pt x="7112001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762001"/>
                </a:lnTo>
                <a:cubicBezTo>
                  <a:pt x="7154333" y="785381"/>
                  <a:pt x="7135381" y="804333"/>
                  <a:pt x="71120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83083" y="5683250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BlockCache效率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3083" y="6021917"/>
            <a:ext cx="140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blockCacheHitRatio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561509" y="6021917"/>
            <a:ext cx="99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理想值 &gt; 90%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4500" y="8278013"/>
            <a:ext cx="42333" cy="423333"/>
          </a:xfrm>
          <a:custGeom>
            <a:avLst/>
            <a:gdLst/>
            <a:ahLst/>
            <a:cxnLst/>
            <a:rect l="l" t="t" r="r" b="b"/>
            <a:pathLst>
              <a:path w="42333" h="423333">
                <a:moveTo>
                  <a:pt x="0" y="0"/>
                </a:moveTo>
                <a:lnTo>
                  <a:pt x="42333" y="0"/>
                </a:lnTo>
                <a:lnTo>
                  <a:pt x="42333" y="423333"/>
                </a:lnTo>
                <a:lnTo>
                  <a:pt x="0" y="423333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77333" y="8410304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17222" y="8362679"/>
            <a:ext cx="150001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7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运维建议:</a:t>
            </a:r>
            <a:r>
              <a:rPr lang="en-US" sz="1333" dirty="0">
                <a:solidFill>
                  <a:srgbClr val="E5E7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建立完善的监控告警体系,关注关键指标趋势。定期进行性能调优和压力测试。建立自动化运维体系,减少人工干预,提高运维效率。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4319</Words>
  <Application>Microsoft Macintosh PowerPoint</Application>
  <PresentationFormat>自定义</PresentationFormat>
  <Paragraphs>881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Liter</vt:lpstr>
      <vt:lpstr>MiSans</vt:lpstr>
      <vt:lpstr>Arial</vt:lpstr>
      <vt:lpstr>KaiTi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HBase 设计与实现</dc:title>
  <dc:subject>HBase 设计与实现</dc:subject>
  <dc:creator>Kimi</dc:creator>
  <cp:lastModifiedBy>王 天青</cp:lastModifiedBy>
  <cp:revision>20</cp:revision>
  <dcterms:created xsi:type="dcterms:W3CDTF">2025-12-22T07:27:03Z</dcterms:created>
  <dcterms:modified xsi:type="dcterms:W3CDTF">2025-12-22T09:15:38Z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{"Label":"HBase 设计与实现","ContentProducer":"001191110108MACG2KBH8F10000","ProduceID":"19b44e4b-9bc2-80a6-8000-00003dc46437","ReservedCode1":"","ContentPropagator":"001191110108MACG2KBH8F20000","PropagateID":"19b44e4b-9bc2-80a6-8000-00003dc46437","ReservedCode2":""}</vt:lpwstr>
  </property>
</Properties>
</file>