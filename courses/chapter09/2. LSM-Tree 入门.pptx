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6256000" cy="9144000"/>
  <p:notesSz cx="9144000" cy="16256000"/>
  <p:embeddedFontLst>
    <p:embeddedFont>
      <p:font typeface="得意黑" pitchFamily="2" charset="-122"/>
      <p:regular r:id="rId28"/>
      <p:italic r:id="rId29"/>
    </p:embeddedFont>
    <p:embeddedFont>
      <p:font typeface="MiSans" pitchFamily="2" charset="-122"/>
      <p:regular r:id="rId3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63701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c1b226600c87cdbd2684f212ac368cfcd7369962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5000" b="50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80000"/>
                </a:srgbClr>
              </a:gs>
              <a:gs pos="50000">
                <a:srgbClr val="5C7A96">
                  <a:alpha val="40000"/>
                </a:srgbClr>
              </a:gs>
              <a:gs pos="100000">
                <a:srgbClr val="1A1D21">
                  <a:alpha val="9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20700" y="927100"/>
            <a:ext cx="3556000" cy="533400"/>
          </a:xfrm>
          <a:custGeom>
            <a:avLst/>
            <a:gdLst/>
            <a:ahLst/>
            <a:cxnLst/>
            <a:rect l="l" t="t" r="r" b="b"/>
            <a:pathLst>
              <a:path w="3556000" h="533400">
                <a:moveTo>
                  <a:pt x="50801" y="0"/>
                </a:moveTo>
                <a:lnTo>
                  <a:pt x="3505199" y="0"/>
                </a:lnTo>
                <a:cubicBezTo>
                  <a:pt x="3533256" y="0"/>
                  <a:pt x="3556000" y="22744"/>
                  <a:pt x="3556000" y="50801"/>
                </a:cubicBezTo>
                <a:lnTo>
                  <a:pt x="3556000" y="482599"/>
                </a:lnTo>
                <a:cubicBezTo>
                  <a:pt x="3556000" y="510656"/>
                  <a:pt x="3533256" y="533400"/>
                  <a:pt x="3505199" y="533400"/>
                </a:cubicBezTo>
                <a:lnTo>
                  <a:pt x="50801" y="533400"/>
                </a:lnTo>
                <a:cubicBezTo>
                  <a:pt x="22744" y="533400"/>
                  <a:pt x="0" y="510656"/>
                  <a:pt x="0" y="4825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87400" y="1060450"/>
            <a:ext cx="31199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48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DATABASE STORAGE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3378200"/>
            <a:ext cx="2875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kern="0" spc="-600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621855" y="3378200"/>
            <a:ext cx="33147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12000" b="1" kern="0" spc="-600" dirty="0">
                <a:solidFill>
                  <a:srgbClr val="5C7A9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-Tree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08000" y="55626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930400" y="5359400"/>
            <a:ext cx="8115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kern="0" spc="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Log-Structured Merge Tree 核心原理与实现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5150" y="78994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1041400" y="78740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存储引擎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03500" y="789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38410" y="3096"/>
                </a:moveTo>
                <a:cubicBezTo>
                  <a:pt x="147280" y="-1012"/>
                  <a:pt x="157520" y="-1012"/>
                  <a:pt x="166390" y="3096"/>
                </a:cubicBezTo>
                <a:lnTo>
                  <a:pt x="296525" y="63222"/>
                </a:lnTo>
                <a:cubicBezTo>
                  <a:pt x="301585" y="65544"/>
                  <a:pt x="304800" y="70604"/>
                  <a:pt x="304800" y="76200"/>
                </a:cubicBezTo>
                <a:cubicBezTo>
                  <a:pt x="304800" y="81796"/>
                  <a:pt x="301585" y="86856"/>
                  <a:pt x="296525" y="89178"/>
                </a:cubicBezTo>
                <a:lnTo>
                  <a:pt x="166390" y="149304"/>
                </a:lnTo>
                <a:cubicBezTo>
                  <a:pt x="157520" y="153412"/>
                  <a:pt x="147280" y="153412"/>
                  <a:pt x="138410" y="149304"/>
                </a:cubicBezTo>
                <a:lnTo>
                  <a:pt x="8275" y="89178"/>
                </a:lnTo>
                <a:cubicBezTo>
                  <a:pt x="3215" y="86797"/>
                  <a:pt x="0" y="81736"/>
                  <a:pt x="0" y="76200"/>
                </a:cubicBezTo>
                <a:cubicBezTo>
                  <a:pt x="0" y="70664"/>
                  <a:pt x="3215" y="65544"/>
                  <a:pt x="8275" y="63222"/>
                </a:cubicBezTo>
                <a:lnTo>
                  <a:pt x="138410" y="3096"/>
                </a:lnTo>
                <a:close/>
                <a:moveTo>
                  <a:pt x="28635" y="130016"/>
                </a:moveTo>
                <a:lnTo>
                  <a:pt x="126444" y="175200"/>
                </a:lnTo>
                <a:cubicBezTo>
                  <a:pt x="142935" y="182820"/>
                  <a:pt x="161925" y="182820"/>
                  <a:pt x="178415" y="175200"/>
                </a:cubicBezTo>
                <a:lnTo>
                  <a:pt x="276225" y="130016"/>
                </a:lnTo>
                <a:lnTo>
                  <a:pt x="296525" y="139422"/>
                </a:lnTo>
                <a:cubicBezTo>
                  <a:pt x="301585" y="141744"/>
                  <a:pt x="304800" y="146804"/>
                  <a:pt x="304800" y="152400"/>
                </a:cubicBezTo>
                <a:cubicBezTo>
                  <a:pt x="304800" y="157996"/>
                  <a:pt x="301585" y="163056"/>
                  <a:pt x="296525" y="165378"/>
                </a:cubicBezTo>
                <a:lnTo>
                  <a:pt x="166390" y="225504"/>
                </a:lnTo>
                <a:cubicBezTo>
                  <a:pt x="157520" y="229612"/>
                  <a:pt x="147280" y="229612"/>
                  <a:pt x="138410" y="225504"/>
                </a:cubicBezTo>
                <a:lnTo>
                  <a:pt x="8275" y="165378"/>
                </a:lnTo>
                <a:cubicBezTo>
                  <a:pt x="3215" y="162997"/>
                  <a:pt x="0" y="157936"/>
                  <a:pt x="0" y="152400"/>
                </a:cubicBezTo>
                <a:cubicBezTo>
                  <a:pt x="0" y="146864"/>
                  <a:pt x="3215" y="141744"/>
                  <a:pt x="8275" y="139422"/>
                </a:cubicBezTo>
                <a:lnTo>
                  <a:pt x="28575" y="130016"/>
                </a:lnTo>
                <a:close/>
                <a:moveTo>
                  <a:pt x="8275" y="215622"/>
                </a:moveTo>
                <a:lnTo>
                  <a:pt x="28575" y="206216"/>
                </a:lnTo>
                <a:lnTo>
                  <a:pt x="126385" y="251400"/>
                </a:lnTo>
                <a:cubicBezTo>
                  <a:pt x="142875" y="259020"/>
                  <a:pt x="161865" y="259020"/>
                  <a:pt x="178356" y="251400"/>
                </a:cubicBezTo>
                <a:lnTo>
                  <a:pt x="276165" y="206216"/>
                </a:lnTo>
                <a:lnTo>
                  <a:pt x="296466" y="215622"/>
                </a:lnTo>
                <a:cubicBezTo>
                  <a:pt x="301526" y="217944"/>
                  <a:pt x="304740" y="223004"/>
                  <a:pt x="304740" y="228600"/>
                </a:cubicBezTo>
                <a:cubicBezTo>
                  <a:pt x="304740" y="234196"/>
                  <a:pt x="301526" y="239256"/>
                  <a:pt x="296466" y="241578"/>
                </a:cubicBezTo>
                <a:lnTo>
                  <a:pt x="166330" y="301704"/>
                </a:lnTo>
                <a:cubicBezTo>
                  <a:pt x="157460" y="305812"/>
                  <a:pt x="147221" y="305812"/>
                  <a:pt x="138351" y="301704"/>
                </a:cubicBezTo>
                <a:lnTo>
                  <a:pt x="8275" y="241578"/>
                </a:lnTo>
                <a:cubicBezTo>
                  <a:pt x="3215" y="239197"/>
                  <a:pt x="0" y="234136"/>
                  <a:pt x="0" y="228600"/>
                </a:cubicBezTo>
                <a:cubicBezTo>
                  <a:pt x="0" y="223064"/>
                  <a:pt x="3215" y="217944"/>
                  <a:pt x="8275" y="215622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098800" y="78740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660900" y="78994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156200" y="7874000"/>
            <a:ext cx="1257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高性能写入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4153257" y="789940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16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2025年技术教学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目录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508000" y="1320800"/>
            <a:ext cx="1016000" cy="50800"/>
          </a:xfrm>
          <a:custGeom>
            <a:avLst/>
            <a:gdLst/>
            <a:ahLst/>
            <a:cxnLst/>
            <a:rect l="l" t="t" r="r" b="b"/>
            <a:pathLst>
              <a:path w="1016000" h="50800">
                <a:moveTo>
                  <a:pt x="0" y="0"/>
                </a:moveTo>
                <a:lnTo>
                  <a:pt x="1016000" y="0"/>
                </a:lnTo>
                <a:lnTo>
                  <a:pt x="10160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33400" y="1778000"/>
            <a:ext cx="7391400" cy="3225800"/>
          </a:xfrm>
          <a:custGeom>
            <a:avLst/>
            <a:gdLst/>
            <a:ahLst/>
            <a:cxnLst/>
            <a:rect l="l" t="t" r="r" b="b"/>
            <a:pathLst>
              <a:path w="7391400" h="3225800">
                <a:moveTo>
                  <a:pt x="0" y="0"/>
                </a:moveTo>
                <a:lnTo>
                  <a:pt x="7391400" y="0"/>
                </a:lnTo>
                <a:lnTo>
                  <a:pt x="73914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778000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77900" y="29972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787400" h="787400">
                <a:moveTo>
                  <a:pt x="50803" y="0"/>
                </a:moveTo>
                <a:lnTo>
                  <a:pt x="736597" y="0"/>
                </a:lnTo>
                <a:cubicBezTo>
                  <a:pt x="764655" y="0"/>
                  <a:pt x="787400" y="22745"/>
                  <a:pt x="787400" y="50803"/>
                </a:cubicBezTo>
                <a:lnTo>
                  <a:pt x="787400" y="736597"/>
                </a:lnTo>
                <a:cubicBezTo>
                  <a:pt x="787400" y="764655"/>
                  <a:pt x="764655" y="787400"/>
                  <a:pt x="736597" y="787400"/>
                </a:cubicBezTo>
                <a:lnTo>
                  <a:pt x="50803" y="787400"/>
                </a:lnTo>
                <a:cubicBezTo>
                  <a:pt x="22745" y="787400"/>
                  <a:pt x="0" y="764655"/>
                  <a:pt x="0" y="7365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77230" y="3162300"/>
            <a:ext cx="584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81200" y="26543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 经典论文简介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81200" y="3213100"/>
            <a:ext cx="565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从1996年经典论文出发，探索LSM-Tree的理论基础与历史影响，理解其核心思想与理论创新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56600" y="1778000"/>
            <a:ext cx="7391400" cy="3225800"/>
          </a:xfrm>
          <a:custGeom>
            <a:avLst/>
            <a:gdLst/>
            <a:ahLst/>
            <a:cxnLst/>
            <a:rect l="l" t="t" r="r" b="b"/>
            <a:pathLst>
              <a:path w="7391400" h="3225800">
                <a:moveTo>
                  <a:pt x="0" y="0"/>
                </a:moveTo>
                <a:lnTo>
                  <a:pt x="7391400" y="0"/>
                </a:lnTo>
                <a:lnTo>
                  <a:pt x="73914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356600" y="1778000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8801100" y="29972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787400" h="787400">
                <a:moveTo>
                  <a:pt x="50803" y="0"/>
                </a:moveTo>
                <a:lnTo>
                  <a:pt x="736597" y="0"/>
                </a:lnTo>
                <a:cubicBezTo>
                  <a:pt x="764655" y="0"/>
                  <a:pt x="787400" y="22745"/>
                  <a:pt x="787400" y="50803"/>
                </a:cubicBezTo>
                <a:lnTo>
                  <a:pt x="787400" y="736597"/>
                </a:lnTo>
                <a:cubicBezTo>
                  <a:pt x="787400" y="764655"/>
                  <a:pt x="764655" y="787400"/>
                  <a:pt x="736597" y="787400"/>
                </a:cubicBezTo>
                <a:lnTo>
                  <a:pt x="50803" y="787400"/>
                </a:lnTo>
                <a:cubicBezTo>
                  <a:pt x="22745" y="787400"/>
                  <a:pt x="0" y="764655"/>
                  <a:pt x="0" y="7365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968284" y="31623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804400" y="26543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 核心原理与组件实现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804400" y="3213100"/>
            <a:ext cx="565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深入剖析整体架构、分层存储、MemTable、SSTable、WAL机制、Compaction策略等核心组件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5410200"/>
            <a:ext cx="7391400" cy="3225800"/>
          </a:xfrm>
          <a:custGeom>
            <a:avLst/>
            <a:gdLst/>
            <a:ahLst/>
            <a:cxnLst/>
            <a:rect l="l" t="t" r="r" b="b"/>
            <a:pathLst>
              <a:path w="7391400" h="3225800">
                <a:moveTo>
                  <a:pt x="0" y="0"/>
                </a:moveTo>
                <a:lnTo>
                  <a:pt x="7391400" y="0"/>
                </a:lnTo>
                <a:lnTo>
                  <a:pt x="73914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533400" y="5410200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77900" y="66294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787400" h="787400">
                <a:moveTo>
                  <a:pt x="50803" y="0"/>
                </a:moveTo>
                <a:lnTo>
                  <a:pt x="736597" y="0"/>
                </a:lnTo>
                <a:cubicBezTo>
                  <a:pt x="764655" y="0"/>
                  <a:pt x="787400" y="22745"/>
                  <a:pt x="787400" y="50803"/>
                </a:cubicBezTo>
                <a:lnTo>
                  <a:pt x="787400" y="736597"/>
                </a:lnTo>
                <a:cubicBezTo>
                  <a:pt x="787400" y="764655"/>
                  <a:pt x="764655" y="787400"/>
                  <a:pt x="736597" y="787400"/>
                </a:cubicBezTo>
                <a:lnTo>
                  <a:pt x="50803" y="787400"/>
                </a:lnTo>
                <a:cubicBezTo>
                  <a:pt x="22745" y="787400"/>
                  <a:pt x="0" y="764655"/>
                  <a:pt x="0" y="7365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0123" y="67945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81200" y="62865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 操作流程详解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981200" y="6845300"/>
            <a:ext cx="565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通过具体示例剖析写入操作、读取操作、删除操作和Compaction过程的完整流程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356600" y="5410200"/>
            <a:ext cx="7391400" cy="3225800"/>
          </a:xfrm>
          <a:custGeom>
            <a:avLst/>
            <a:gdLst/>
            <a:ahLst/>
            <a:cxnLst/>
            <a:rect l="l" t="t" r="r" b="b"/>
            <a:pathLst>
              <a:path w="7391400" h="3225800">
                <a:moveTo>
                  <a:pt x="0" y="0"/>
                </a:moveTo>
                <a:lnTo>
                  <a:pt x="7391400" y="0"/>
                </a:lnTo>
                <a:lnTo>
                  <a:pt x="73914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356600" y="5410200"/>
            <a:ext cx="50800" cy="3225800"/>
          </a:xfrm>
          <a:custGeom>
            <a:avLst/>
            <a:gdLst/>
            <a:ahLst/>
            <a:cxnLst/>
            <a:rect l="l" t="t" r="r" b="b"/>
            <a:pathLst>
              <a:path w="50800" h="3225800">
                <a:moveTo>
                  <a:pt x="0" y="0"/>
                </a:moveTo>
                <a:lnTo>
                  <a:pt x="50800" y="0"/>
                </a:lnTo>
                <a:lnTo>
                  <a:pt x="50800" y="3225800"/>
                </a:lnTo>
                <a:lnTo>
                  <a:pt x="0" y="3225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801100" y="6629400"/>
            <a:ext cx="787400" cy="787400"/>
          </a:xfrm>
          <a:custGeom>
            <a:avLst/>
            <a:gdLst/>
            <a:ahLst/>
            <a:cxnLst/>
            <a:rect l="l" t="t" r="r" b="b"/>
            <a:pathLst>
              <a:path w="787400" h="787400">
                <a:moveTo>
                  <a:pt x="50803" y="0"/>
                </a:moveTo>
                <a:lnTo>
                  <a:pt x="736597" y="0"/>
                </a:lnTo>
                <a:cubicBezTo>
                  <a:pt x="764655" y="0"/>
                  <a:pt x="787400" y="22745"/>
                  <a:pt x="787400" y="50803"/>
                </a:cubicBezTo>
                <a:lnTo>
                  <a:pt x="787400" y="736597"/>
                </a:lnTo>
                <a:cubicBezTo>
                  <a:pt x="787400" y="764655"/>
                  <a:pt x="764655" y="787400"/>
                  <a:pt x="736597" y="787400"/>
                </a:cubicBezTo>
                <a:lnTo>
                  <a:pt x="50803" y="787400"/>
                </a:lnTo>
                <a:cubicBezTo>
                  <a:pt x="22745" y="787400"/>
                  <a:pt x="0" y="764655"/>
                  <a:pt x="0" y="736597"/>
                </a:cubicBezTo>
                <a:lnTo>
                  <a:pt x="0" y="50803"/>
                </a:lnTo>
                <a:cubicBezTo>
                  <a:pt x="0" y="22764"/>
                  <a:pt x="22764" y="0"/>
                  <a:pt x="50803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963720" y="6794500"/>
            <a:ext cx="64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804400" y="6286500"/>
            <a:ext cx="5727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804400" y="6845300"/>
            <a:ext cx="56515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回顾核心优势、适用场景，并展望LSM-Tree的技术发展趋势与未来方向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b0b00242ac1aa243c9fc999c83c49f50f987710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4986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932160" y="1905000"/>
            <a:ext cx="1155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2352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606800"/>
            <a:ext cx="8915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经典论文简介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6197600"/>
            <a:ext cx="861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从1996年经典论文出发，探索LSM-Tree的理论基础与历史影响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467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24000" y="7315200"/>
            <a:ext cx="2387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Patrick O'Neil • 1996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477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83220" y="762000"/>
            <a:ext cx="38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6718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论文背景与核心思想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66800"/>
            <a:ext cx="6591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Log-Structured Merge-Tree (LSM-Tree) • Acta Informatica 1996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5748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18923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809625" y="1943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19707" y="-6449"/>
                </a:moveTo>
                <a:cubicBezTo>
                  <a:pt x="114052" y="-7590"/>
                  <a:pt x="108248" y="-7590"/>
                  <a:pt x="102592" y="-6449"/>
                </a:cubicBezTo>
                <a:lnTo>
                  <a:pt x="9575" y="12154"/>
                </a:lnTo>
                <a:cubicBezTo>
                  <a:pt x="4018" y="13246"/>
                  <a:pt x="0" y="18157"/>
                  <a:pt x="0" y="23812"/>
                </a:cubicBezTo>
                <a:cubicBezTo>
                  <a:pt x="0" y="28922"/>
                  <a:pt x="3225" y="33387"/>
                  <a:pt x="7938" y="35024"/>
                </a:cubicBezTo>
                <a:lnTo>
                  <a:pt x="7938" y="71438"/>
                </a:lnTo>
                <a:lnTo>
                  <a:pt x="149" y="110430"/>
                </a:lnTo>
                <a:cubicBezTo>
                  <a:pt x="50" y="110877"/>
                  <a:pt x="0" y="111373"/>
                  <a:pt x="0" y="111869"/>
                </a:cubicBezTo>
                <a:cubicBezTo>
                  <a:pt x="0" y="115838"/>
                  <a:pt x="3225" y="119112"/>
                  <a:pt x="7243" y="119112"/>
                </a:cubicBezTo>
                <a:lnTo>
                  <a:pt x="24557" y="119112"/>
                </a:lnTo>
                <a:cubicBezTo>
                  <a:pt x="28525" y="119112"/>
                  <a:pt x="31800" y="115888"/>
                  <a:pt x="31800" y="111869"/>
                </a:cubicBezTo>
                <a:cubicBezTo>
                  <a:pt x="31800" y="111373"/>
                  <a:pt x="31750" y="110927"/>
                  <a:pt x="31651" y="110430"/>
                </a:cubicBezTo>
                <a:lnTo>
                  <a:pt x="23812" y="71438"/>
                </a:lnTo>
                <a:lnTo>
                  <a:pt x="23812" y="38348"/>
                </a:lnTo>
                <a:lnTo>
                  <a:pt x="47625" y="43111"/>
                </a:lnTo>
                <a:lnTo>
                  <a:pt x="47625" y="71438"/>
                </a:lnTo>
                <a:cubicBezTo>
                  <a:pt x="47625" y="106511"/>
                  <a:pt x="76051" y="134938"/>
                  <a:pt x="111125" y="134938"/>
                </a:cubicBezTo>
                <a:cubicBezTo>
                  <a:pt x="146199" y="134938"/>
                  <a:pt x="174625" y="106511"/>
                  <a:pt x="174625" y="71438"/>
                </a:cubicBezTo>
                <a:lnTo>
                  <a:pt x="174625" y="43111"/>
                </a:lnTo>
                <a:lnTo>
                  <a:pt x="212675" y="35520"/>
                </a:lnTo>
                <a:cubicBezTo>
                  <a:pt x="218232" y="34379"/>
                  <a:pt x="222250" y="29468"/>
                  <a:pt x="222250" y="23812"/>
                </a:cubicBezTo>
                <a:cubicBezTo>
                  <a:pt x="222250" y="18157"/>
                  <a:pt x="218232" y="13246"/>
                  <a:pt x="212675" y="12154"/>
                </a:cubicBezTo>
                <a:lnTo>
                  <a:pt x="119707" y="-6449"/>
                </a:lnTo>
                <a:close/>
                <a:moveTo>
                  <a:pt x="111125" y="111125"/>
                </a:moveTo>
                <a:cubicBezTo>
                  <a:pt x="89198" y="111125"/>
                  <a:pt x="71438" y="93365"/>
                  <a:pt x="71438" y="71438"/>
                </a:cubicBezTo>
                <a:lnTo>
                  <a:pt x="150813" y="71438"/>
                </a:lnTo>
                <a:cubicBezTo>
                  <a:pt x="150813" y="93365"/>
                  <a:pt x="133052" y="111125"/>
                  <a:pt x="111125" y="111125"/>
                </a:cubicBezTo>
                <a:close/>
                <a:moveTo>
                  <a:pt x="59581" y="158800"/>
                </a:moveTo>
                <a:cubicBezTo>
                  <a:pt x="29121" y="172789"/>
                  <a:pt x="7938" y="203547"/>
                  <a:pt x="7938" y="239266"/>
                </a:cubicBezTo>
                <a:cubicBezTo>
                  <a:pt x="7938" y="247402"/>
                  <a:pt x="14536" y="254000"/>
                  <a:pt x="22671" y="254000"/>
                </a:cubicBezTo>
                <a:lnTo>
                  <a:pt x="99219" y="254000"/>
                </a:lnTo>
                <a:lnTo>
                  <a:pt x="99219" y="181570"/>
                </a:lnTo>
                <a:lnTo>
                  <a:pt x="70743" y="160238"/>
                </a:lnTo>
                <a:cubicBezTo>
                  <a:pt x="67518" y="157807"/>
                  <a:pt x="63202" y="157163"/>
                  <a:pt x="59531" y="158849"/>
                </a:cubicBezTo>
                <a:close/>
                <a:moveTo>
                  <a:pt x="123031" y="254000"/>
                </a:moveTo>
                <a:lnTo>
                  <a:pt x="199579" y="254000"/>
                </a:lnTo>
                <a:cubicBezTo>
                  <a:pt x="207714" y="254000"/>
                  <a:pt x="214313" y="247402"/>
                  <a:pt x="214313" y="239266"/>
                </a:cubicBezTo>
                <a:cubicBezTo>
                  <a:pt x="214313" y="203547"/>
                  <a:pt x="193129" y="172789"/>
                  <a:pt x="162669" y="158849"/>
                </a:cubicBezTo>
                <a:cubicBezTo>
                  <a:pt x="158998" y="157163"/>
                  <a:pt x="154682" y="157807"/>
                  <a:pt x="151457" y="160238"/>
                </a:cubicBezTo>
                <a:lnTo>
                  <a:pt x="122982" y="181570"/>
                </a:lnTo>
                <a:lnTo>
                  <a:pt x="122982" y="25400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81100" y="18923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论文作者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2349500"/>
            <a:ext cx="4787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Patrick O'Neil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等人于1996年发表，是数据库存储领域的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里程碑式论文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81067" y="18923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41417" y="1943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328767" y="18923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核心目标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09667" y="2349500"/>
            <a:ext cx="47879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解决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B+Tree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在大量写入操作时的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随机I/O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性能瓶颈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828834" y="1892300"/>
            <a:ext cx="50800" cy="1117600"/>
          </a:xfrm>
          <a:custGeom>
            <a:avLst/>
            <a:gdLst/>
            <a:ahLst/>
            <a:cxnLst/>
            <a:rect l="l" t="t" r="r" b="b"/>
            <a:pathLst>
              <a:path w="50800" h="1117600">
                <a:moveTo>
                  <a:pt x="0" y="0"/>
                </a:moveTo>
                <a:lnTo>
                  <a:pt x="50800" y="0"/>
                </a:lnTo>
                <a:lnTo>
                  <a:pt x="50800" y="1117600"/>
                </a:lnTo>
                <a:lnTo>
                  <a:pt x="0" y="1117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11120934" y="1943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476534" y="1892300"/>
            <a:ext cx="939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创新思想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57434" y="2349500"/>
            <a:ext cx="4787900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随机写入转换为顺序写入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，充分利用磁盘的顺序访问优势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32766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46100" y="35941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0" y="38100"/>
                </a:moveTo>
                <a:cubicBezTo>
                  <a:pt x="114300" y="27563"/>
                  <a:pt x="122813" y="19050"/>
                  <a:pt x="133350" y="19050"/>
                </a:cubicBezTo>
                <a:lnTo>
                  <a:pt x="171450" y="19050"/>
                </a:lnTo>
                <a:cubicBezTo>
                  <a:pt x="181987" y="19050"/>
                  <a:pt x="190500" y="27563"/>
                  <a:pt x="190500" y="38100"/>
                </a:cubicBezTo>
                <a:lnTo>
                  <a:pt x="190500" y="76200"/>
                </a:lnTo>
                <a:cubicBezTo>
                  <a:pt x="190500" y="86737"/>
                  <a:pt x="181987" y="95250"/>
                  <a:pt x="171450" y="95250"/>
                </a:cubicBezTo>
                <a:lnTo>
                  <a:pt x="166688" y="95250"/>
                </a:lnTo>
                <a:lnTo>
                  <a:pt x="166688" y="133350"/>
                </a:lnTo>
                <a:lnTo>
                  <a:pt x="238125" y="133350"/>
                </a:lnTo>
                <a:cubicBezTo>
                  <a:pt x="261818" y="133350"/>
                  <a:pt x="280987" y="152519"/>
                  <a:pt x="280987" y="176212"/>
                </a:cubicBezTo>
                <a:lnTo>
                  <a:pt x="280987" y="209550"/>
                </a:lnTo>
                <a:lnTo>
                  <a:pt x="285750" y="209550"/>
                </a:lnTo>
                <a:cubicBezTo>
                  <a:pt x="296287" y="209550"/>
                  <a:pt x="304800" y="218063"/>
                  <a:pt x="304800" y="228600"/>
                </a:cubicBezTo>
                <a:lnTo>
                  <a:pt x="304800" y="266700"/>
                </a:lnTo>
                <a:cubicBezTo>
                  <a:pt x="304800" y="277237"/>
                  <a:pt x="296287" y="285750"/>
                  <a:pt x="285750" y="285750"/>
                </a:cubicBezTo>
                <a:lnTo>
                  <a:pt x="247650" y="285750"/>
                </a:lnTo>
                <a:cubicBezTo>
                  <a:pt x="237113" y="285750"/>
                  <a:pt x="228600" y="277237"/>
                  <a:pt x="228600" y="266700"/>
                </a:cubicBezTo>
                <a:lnTo>
                  <a:pt x="228600" y="228600"/>
                </a:lnTo>
                <a:cubicBezTo>
                  <a:pt x="228600" y="218063"/>
                  <a:pt x="237113" y="209550"/>
                  <a:pt x="247650" y="209550"/>
                </a:cubicBezTo>
                <a:lnTo>
                  <a:pt x="252413" y="209550"/>
                </a:lnTo>
                <a:lnTo>
                  <a:pt x="252413" y="176212"/>
                </a:lnTo>
                <a:cubicBezTo>
                  <a:pt x="252413" y="168295"/>
                  <a:pt x="246043" y="161925"/>
                  <a:pt x="238125" y="161925"/>
                </a:cubicBezTo>
                <a:lnTo>
                  <a:pt x="166688" y="161925"/>
                </a:lnTo>
                <a:lnTo>
                  <a:pt x="166688" y="209550"/>
                </a:lnTo>
                <a:lnTo>
                  <a:pt x="171450" y="209550"/>
                </a:lnTo>
                <a:cubicBezTo>
                  <a:pt x="181987" y="209550"/>
                  <a:pt x="190500" y="218063"/>
                  <a:pt x="190500" y="228600"/>
                </a:cubicBezTo>
                <a:lnTo>
                  <a:pt x="190500" y="266700"/>
                </a:lnTo>
                <a:cubicBezTo>
                  <a:pt x="190500" y="277237"/>
                  <a:pt x="181987" y="285750"/>
                  <a:pt x="171450" y="285750"/>
                </a:cubicBezTo>
                <a:lnTo>
                  <a:pt x="133350" y="285750"/>
                </a:lnTo>
                <a:cubicBezTo>
                  <a:pt x="122813" y="285750"/>
                  <a:pt x="114300" y="277237"/>
                  <a:pt x="114300" y="266700"/>
                </a:cubicBezTo>
                <a:lnTo>
                  <a:pt x="114300" y="228600"/>
                </a:lnTo>
                <a:cubicBezTo>
                  <a:pt x="114300" y="218063"/>
                  <a:pt x="122813" y="209550"/>
                  <a:pt x="133350" y="209550"/>
                </a:cubicBezTo>
                <a:lnTo>
                  <a:pt x="138113" y="209550"/>
                </a:lnTo>
                <a:lnTo>
                  <a:pt x="138113" y="161925"/>
                </a:lnTo>
                <a:lnTo>
                  <a:pt x="66675" y="161925"/>
                </a:lnTo>
                <a:cubicBezTo>
                  <a:pt x="58757" y="161925"/>
                  <a:pt x="52388" y="168295"/>
                  <a:pt x="52388" y="176212"/>
                </a:cubicBezTo>
                <a:lnTo>
                  <a:pt x="52388" y="209550"/>
                </a:lnTo>
                <a:lnTo>
                  <a:pt x="57150" y="209550"/>
                </a:lnTo>
                <a:cubicBezTo>
                  <a:pt x="67687" y="209550"/>
                  <a:pt x="76200" y="218063"/>
                  <a:pt x="76200" y="228600"/>
                </a:cubicBezTo>
                <a:lnTo>
                  <a:pt x="76200" y="266700"/>
                </a:lnTo>
                <a:cubicBezTo>
                  <a:pt x="76200" y="277237"/>
                  <a:pt x="67687" y="285750"/>
                  <a:pt x="57150" y="285750"/>
                </a:cubicBezTo>
                <a:lnTo>
                  <a:pt x="19050" y="285750"/>
                </a:lnTo>
                <a:cubicBezTo>
                  <a:pt x="8513" y="285750"/>
                  <a:pt x="0" y="277237"/>
                  <a:pt x="0" y="266700"/>
                </a:cubicBezTo>
                <a:lnTo>
                  <a:pt x="0" y="228600"/>
                </a:lnTo>
                <a:cubicBezTo>
                  <a:pt x="0" y="218063"/>
                  <a:pt x="8513" y="209550"/>
                  <a:pt x="19050" y="209550"/>
                </a:cubicBezTo>
                <a:lnTo>
                  <a:pt x="23813" y="209550"/>
                </a:lnTo>
                <a:lnTo>
                  <a:pt x="23813" y="176212"/>
                </a:lnTo>
                <a:cubicBezTo>
                  <a:pt x="23813" y="152519"/>
                  <a:pt x="42982" y="133350"/>
                  <a:pt x="66675" y="133350"/>
                </a:cubicBezTo>
                <a:lnTo>
                  <a:pt x="138113" y="133350"/>
                </a:lnTo>
                <a:lnTo>
                  <a:pt x="138113" y="95250"/>
                </a:lnTo>
                <a:lnTo>
                  <a:pt x="133350" y="95250"/>
                </a:lnTo>
                <a:cubicBezTo>
                  <a:pt x="122813" y="95250"/>
                  <a:pt x="114300" y="86737"/>
                  <a:pt x="114300" y="76200"/>
                </a:cubicBezTo>
                <a:lnTo>
                  <a:pt x="114300" y="3810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89000" y="3543300"/>
            <a:ext cx="1501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核心设计思想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14350" y="415925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393700" h="393700">
                <a:moveTo>
                  <a:pt x="0" y="0"/>
                </a:moveTo>
                <a:lnTo>
                  <a:pt x="393700" y="0"/>
                </a:lnTo>
                <a:lnTo>
                  <a:pt x="393700" y="393700"/>
                </a:lnTo>
                <a:lnTo>
                  <a:pt x="0" y="393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71215" y="4203700"/>
            <a:ext cx="17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6000" y="4178300"/>
            <a:ext cx="12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分层存储架构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8000" y="4660900"/>
            <a:ext cx="5041900" cy="660400"/>
          </a:xfrm>
          <a:prstGeom prst="rect">
            <a:avLst/>
          </a:prstGeom>
          <a:noFill/>
          <a:ln/>
        </p:spPr>
        <p:txBody>
          <a:bodyPr wrap="square" lIns="508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内存层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C₀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磁盘层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C₁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，现代实现为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+ 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 Levels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662017" y="415925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393700" h="393700">
                <a:moveTo>
                  <a:pt x="0" y="0"/>
                </a:moveTo>
                <a:lnTo>
                  <a:pt x="393700" y="0"/>
                </a:lnTo>
                <a:lnTo>
                  <a:pt x="393700" y="393700"/>
                </a:lnTo>
                <a:lnTo>
                  <a:pt x="0" y="393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801717" y="420370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163667" y="4178300"/>
            <a:ext cx="1206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顺序写入优化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55667" y="4660900"/>
            <a:ext cx="5041900" cy="660400"/>
          </a:xfrm>
          <a:prstGeom prst="rect">
            <a:avLst/>
          </a:prstGeom>
          <a:noFill/>
          <a:ln/>
        </p:spPr>
        <p:txBody>
          <a:bodyPr wrap="square" lIns="508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所有磁盘写入都是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顺序的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，避免随机I/O的性能损失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0809784" y="4159250"/>
            <a:ext cx="393700" cy="393700"/>
          </a:xfrm>
          <a:custGeom>
            <a:avLst/>
            <a:gdLst/>
            <a:ahLst/>
            <a:cxnLst/>
            <a:rect l="l" t="t" r="r" b="b"/>
            <a:pathLst>
              <a:path w="393700" h="393700">
                <a:moveTo>
                  <a:pt x="0" y="0"/>
                </a:moveTo>
                <a:lnTo>
                  <a:pt x="393700" y="0"/>
                </a:lnTo>
                <a:lnTo>
                  <a:pt x="393700" y="393700"/>
                </a:lnTo>
                <a:lnTo>
                  <a:pt x="0" y="393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10946805" y="4203700"/>
            <a:ext cx="2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11434" y="4178300"/>
            <a:ext cx="1244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Rolling Merge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803434" y="4660900"/>
            <a:ext cx="5041900" cy="660400"/>
          </a:xfrm>
          <a:prstGeom prst="rect">
            <a:avLst/>
          </a:prstGeom>
          <a:noFill/>
          <a:ln/>
        </p:spPr>
        <p:txBody>
          <a:bodyPr wrap="square" lIns="50800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后台合并过程，将小文件逐步合并为大文件，保持数据的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有序性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08000" y="5588000"/>
            <a:ext cx="15240000" cy="25400"/>
          </a:xfrm>
          <a:custGeom>
            <a:avLst/>
            <a:gdLst/>
            <a:ahLst/>
            <a:cxnLst/>
            <a:rect l="l" t="t" r="r" b="b"/>
            <a:pathLst>
              <a:path w="15240000" h="25400">
                <a:moveTo>
                  <a:pt x="0" y="0"/>
                </a:moveTo>
                <a:lnTo>
                  <a:pt x="15240000" y="0"/>
                </a:lnTo>
                <a:lnTo>
                  <a:pt x="152400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08000" y="5854700"/>
            <a:ext cx="763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B+Tree 写入成本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20700" y="6324600"/>
            <a:ext cx="1689100" cy="584200"/>
          </a:xfrm>
          <a:custGeom>
            <a:avLst/>
            <a:gdLst/>
            <a:ahLst/>
            <a:cxnLst/>
            <a:rect l="l" t="t" r="r" b="b"/>
            <a:pathLst>
              <a:path w="1689100" h="584200">
                <a:moveTo>
                  <a:pt x="0" y="0"/>
                </a:moveTo>
                <a:lnTo>
                  <a:pt x="1689100" y="0"/>
                </a:lnTo>
                <a:lnTo>
                  <a:pt x="16891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>
              <a:alpha val="10196"/>
            </a:srgbClr>
          </a:solidFill>
          <a:ln w="25400">
            <a:solidFill>
              <a:srgbClr val="FB2C3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36600" y="6445250"/>
            <a:ext cx="1379538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O(log_B N)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319338" y="6464300"/>
            <a:ext cx="1054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次随机 I/O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0" y="5854700"/>
            <a:ext cx="763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 写入成本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242300" y="6324600"/>
            <a:ext cx="889000" cy="584200"/>
          </a:xfrm>
          <a:custGeom>
            <a:avLst/>
            <a:gdLst/>
            <a:ahLst/>
            <a:cxnLst/>
            <a:rect l="l" t="t" r="r" b="b"/>
            <a:pathLst>
              <a:path w="889000" h="584200">
                <a:moveTo>
                  <a:pt x="0" y="0"/>
                </a:moveTo>
                <a:lnTo>
                  <a:pt x="889000" y="0"/>
                </a:lnTo>
                <a:lnTo>
                  <a:pt x="8890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>
              <a:alpha val="10196"/>
            </a:srgbClr>
          </a:solidFill>
          <a:ln w="25400">
            <a:solidFill>
              <a:srgbClr val="00C95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58200" y="6445250"/>
            <a:ext cx="578445" cy="33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239845" y="6464300"/>
            <a:ext cx="251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次顺序 I/O + 后台合并成本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46500" y="508000"/>
            <a:ext cx="25400" cy="8128000"/>
          </a:xfrm>
          <a:custGeom>
            <a:avLst/>
            <a:gdLst/>
            <a:ahLst/>
            <a:cxnLst/>
            <a:rect l="l" t="t" r="r" b="b"/>
            <a:pathLst>
              <a:path w="25400" h="8128000">
                <a:moveTo>
                  <a:pt x="0" y="0"/>
                </a:moveTo>
                <a:lnTo>
                  <a:pt x="25400" y="0"/>
                </a:lnTo>
                <a:lnTo>
                  <a:pt x="25400" y="8128000"/>
                </a:lnTo>
                <a:lnTo>
                  <a:pt x="0" y="8128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520700" y="520700"/>
            <a:ext cx="482600" cy="482600"/>
          </a:xfrm>
          <a:custGeom>
            <a:avLst/>
            <a:gdLst/>
            <a:ahLst/>
            <a:cxnLst/>
            <a:rect l="l" t="t" r="r" b="b"/>
            <a:pathLst>
              <a:path w="482600" h="482600">
                <a:moveTo>
                  <a:pt x="0" y="0"/>
                </a:moveTo>
                <a:lnTo>
                  <a:pt x="482600" y="0"/>
                </a:lnTo>
                <a:lnTo>
                  <a:pt x="482600" y="482600"/>
                </a:lnTo>
                <a:lnTo>
                  <a:pt x="0" y="48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5319" y="584200"/>
            <a:ext cx="34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68400" y="558800"/>
            <a:ext cx="2349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理论创新与历史影响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168400"/>
            <a:ext cx="2921000" cy="12700"/>
          </a:xfrm>
          <a:custGeom>
            <a:avLst/>
            <a:gdLst/>
            <a:ahLst/>
            <a:cxnLst/>
            <a:rect l="l" t="t" r="r" b="b"/>
            <a:pathLst>
              <a:path w="2921000" h="12700">
                <a:moveTo>
                  <a:pt x="0" y="0"/>
                </a:moveTo>
                <a:lnTo>
                  <a:pt x="2921000" y="0"/>
                </a:lnTo>
                <a:lnTo>
                  <a:pt x="2921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33400" y="1485900"/>
            <a:ext cx="50800" cy="1041400"/>
          </a:xfrm>
          <a:custGeom>
            <a:avLst/>
            <a:gdLst/>
            <a:ahLst/>
            <a:cxnLst/>
            <a:rect l="l" t="t" r="r" b="b"/>
            <a:pathLst>
              <a:path w="50800" h="1041400">
                <a:moveTo>
                  <a:pt x="0" y="0"/>
                </a:moveTo>
                <a:lnTo>
                  <a:pt x="50800" y="0"/>
                </a:lnTo>
                <a:lnTo>
                  <a:pt x="50800" y="1041400"/>
                </a:lnTo>
                <a:lnTo>
                  <a:pt x="0" y="1041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2950" y="1549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03300" y="14859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性能分析模型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1200" y="1943100"/>
            <a:ext cx="2806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提供了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B+Tree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的数学性能对比模型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33400" y="2724150"/>
            <a:ext cx="50800" cy="1041400"/>
          </a:xfrm>
          <a:custGeom>
            <a:avLst/>
            <a:gdLst/>
            <a:ahLst/>
            <a:cxnLst/>
            <a:rect l="l" t="t" r="r" b="b"/>
            <a:pathLst>
              <a:path w="50800" h="1041400">
                <a:moveTo>
                  <a:pt x="0" y="0"/>
                </a:moveTo>
                <a:lnTo>
                  <a:pt x="50800" y="0"/>
                </a:lnTo>
                <a:lnTo>
                  <a:pt x="50800" y="1041400"/>
                </a:lnTo>
                <a:lnTo>
                  <a:pt x="0" y="1041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71525" y="27876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03300" y="272415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写入成本分析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1200" y="3181350"/>
            <a:ext cx="2806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证明LSM-Tree的写入成本为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次顺序I/O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" y="3962400"/>
            <a:ext cx="50800" cy="749300"/>
          </a:xfrm>
          <a:custGeom>
            <a:avLst/>
            <a:gdLst/>
            <a:ahLst/>
            <a:cxnLst/>
            <a:rect l="l" t="t" r="r" b="b"/>
            <a:pathLst>
              <a:path w="50800" h="749300">
                <a:moveTo>
                  <a:pt x="0" y="0"/>
                </a:moveTo>
                <a:lnTo>
                  <a:pt x="50800" y="0"/>
                </a:lnTo>
                <a:lnTo>
                  <a:pt x="50800" y="749300"/>
                </a:lnTo>
                <a:lnTo>
                  <a:pt x="0" y="7493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742950" y="40259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57" y="85725"/>
                </a:moveTo>
                <a:lnTo>
                  <a:pt x="217884" y="85725"/>
                </a:lnTo>
                <a:cubicBezTo>
                  <a:pt x="223823" y="85725"/>
                  <a:pt x="228600" y="80948"/>
                  <a:pt x="228600" y="75009"/>
                </a:cubicBezTo>
                <a:lnTo>
                  <a:pt x="228600" y="10716"/>
                </a:lnTo>
                <a:cubicBezTo>
                  <a:pt x="228600" y="6385"/>
                  <a:pt x="226010" y="2456"/>
                  <a:pt x="221992" y="804"/>
                </a:cubicBezTo>
                <a:cubicBezTo>
                  <a:pt x="217974" y="-848"/>
                  <a:pt x="213375" y="89"/>
                  <a:pt x="210294" y="3125"/>
                </a:cubicBezTo>
                <a:lnTo>
                  <a:pt x="187211" y="26253"/>
                </a:lnTo>
                <a:cubicBezTo>
                  <a:pt x="167432" y="9867"/>
                  <a:pt x="141982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ubicBezTo>
                  <a:pt x="35362" y="60499"/>
                  <a:pt x="71125" y="28575"/>
                  <a:pt x="114300" y="28575"/>
                </a:cubicBezTo>
                <a:cubicBezTo>
                  <a:pt x="134124" y="28575"/>
                  <a:pt x="152340" y="35272"/>
                  <a:pt x="166851" y="46568"/>
                </a:cubicBezTo>
                <a:lnTo>
                  <a:pt x="146000" y="67419"/>
                </a:lnTo>
                <a:cubicBezTo>
                  <a:pt x="142920" y="70500"/>
                  <a:pt x="142027" y="75099"/>
                  <a:pt x="143679" y="79117"/>
                </a:cubicBezTo>
                <a:cubicBezTo>
                  <a:pt x="145331" y="83135"/>
                  <a:pt x="149260" y="85725"/>
                  <a:pt x="153591" y="85725"/>
                </a:cubicBezTo>
                <a:lnTo>
                  <a:pt x="214357" y="85725"/>
                </a:lnTo>
                <a:close/>
                <a:moveTo>
                  <a:pt x="227484" y="130597"/>
                </a:moveTo>
                <a:cubicBezTo>
                  <a:pt x="228600" y="122783"/>
                  <a:pt x="223153" y="115550"/>
                  <a:pt x="215384" y="114434"/>
                </a:cubicBezTo>
                <a:cubicBezTo>
                  <a:pt x="207615" y="113318"/>
                  <a:pt x="200338" y="118765"/>
                  <a:pt x="199221" y="126534"/>
                </a:cubicBezTo>
                <a:cubicBezTo>
                  <a:pt x="193283" y="168057"/>
                  <a:pt x="157520" y="199980"/>
                  <a:pt x="114345" y="199980"/>
                </a:cubicBezTo>
                <a:cubicBezTo>
                  <a:pt x="94521" y="199980"/>
                  <a:pt x="76304" y="193283"/>
                  <a:pt x="61793" y="181987"/>
                </a:cubicBezTo>
                <a:lnTo>
                  <a:pt x="82600" y="161181"/>
                </a:lnTo>
                <a:cubicBezTo>
                  <a:pt x="85680" y="158100"/>
                  <a:pt x="86573" y="153501"/>
                  <a:pt x="84921" y="149483"/>
                </a:cubicBezTo>
                <a:cubicBezTo>
                  <a:pt x="83269" y="145465"/>
                  <a:pt x="79340" y="142875"/>
                  <a:pt x="75009" y="142875"/>
                </a:cubicBezTo>
                <a:lnTo>
                  <a:pt x="10716" y="142875"/>
                </a:lnTo>
                <a:cubicBezTo>
                  <a:pt x="4777" y="142875"/>
                  <a:pt x="0" y="147652"/>
                  <a:pt x="0" y="153591"/>
                </a:cubicBezTo>
                <a:lnTo>
                  <a:pt x="0" y="217884"/>
                </a:lnTo>
                <a:cubicBezTo>
                  <a:pt x="0" y="222215"/>
                  <a:pt x="2590" y="226144"/>
                  <a:pt x="6608" y="227796"/>
                </a:cubicBezTo>
                <a:cubicBezTo>
                  <a:pt x="10626" y="229448"/>
                  <a:pt x="15225" y="228511"/>
                  <a:pt x="18306" y="225475"/>
                </a:cubicBezTo>
                <a:lnTo>
                  <a:pt x="41434" y="202347"/>
                </a:lnTo>
                <a:cubicBezTo>
                  <a:pt x="61168" y="218733"/>
                  <a:pt x="86618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003300" y="3962400"/>
            <a:ext cx="2540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Rolling Merge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11200" y="4419600"/>
            <a:ext cx="2806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设计了高效的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多路归并算法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08000" y="7359650"/>
            <a:ext cx="2921000" cy="12700"/>
          </a:xfrm>
          <a:custGeom>
            <a:avLst/>
            <a:gdLst/>
            <a:ahLst/>
            <a:cxnLst/>
            <a:rect l="l" t="t" r="r" b="b"/>
            <a:pathLst>
              <a:path w="2921000" h="12700">
                <a:moveTo>
                  <a:pt x="0" y="0"/>
                </a:moveTo>
                <a:lnTo>
                  <a:pt x="2921000" y="0"/>
                </a:lnTo>
                <a:lnTo>
                  <a:pt x="2921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508000" y="7569200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写入性能对比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8000" y="8026400"/>
            <a:ext cx="685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B+Tree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894880" y="8026400"/>
            <a:ext cx="1625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O(log_B N) 随机I/O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8000" y="8382000"/>
            <a:ext cx="90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455664" y="83820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 顺序I/O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83050" y="5588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71450" y="38100"/>
                </a:moveTo>
                <a:cubicBezTo>
                  <a:pt x="234553" y="38100"/>
                  <a:pt x="285750" y="89297"/>
                  <a:pt x="285750" y="152400"/>
                </a:cubicBezTo>
                <a:cubicBezTo>
                  <a:pt x="285750" y="215503"/>
                  <a:pt x="234553" y="266700"/>
                  <a:pt x="171450" y="266700"/>
                </a:cubicBezTo>
                <a:cubicBezTo>
                  <a:pt x="132636" y="266700"/>
                  <a:pt x="98286" y="247352"/>
                  <a:pt x="77629" y="217706"/>
                </a:cubicBezTo>
                <a:cubicBezTo>
                  <a:pt x="71616" y="209074"/>
                  <a:pt x="59710" y="206990"/>
                  <a:pt x="51078" y="213003"/>
                </a:cubicBezTo>
                <a:cubicBezTo>
                  <a:pt x="42446" y="219015"/>
                  <a:pt x="40362" y="230922"/>
                  <a:pt x="46375" y="239554"/>
                </a:cubicBezTo>
                <a:cubicBezTo>
                  <a:pt x="73878" y="278963"/>
                  <a:pt x="119658" y="304800"/>
                  <a:pt x="171450" y="304800"/>
                </a:cubicBezTo>
                <a:cubicBezTo>
                  <a:pt x="255627" y="304800"/>
                  <a:pt x="323850" y="236577"/>
                  <a:pt x="323850" y="152400"/>
                </a:cubicBezTo>
                <a:cubicBezTo>
                  <a:pt x="323850" y="68223"/>
                  <a:pt x="255627" y="0"/>
                  <a:pt x="171450" y="0"/>
                </a:cubicBezTo>
                <a:cubicBezTo>
                  <a:pt x="120432" y="0"/>
                  <a:pt x="75307" y="25063"/>
                  <a:pt x="47625" y="63520"/>
                </a:cubicBezTo>
                <a:lnTo>
                  <a:pt x="47625" y="47625"/>
                </a:lnTo>
                <a:cubicBezTo>
                  <a:pt x="47625" y="37088"/>
                  <a:pt x="39112" y="28575"/>
                  <a:pt x="28575" y="28575"/>
                </a:cubicBezTo>
                <a:cubicBezTo>
                  <a:pt x="18038" y="28575"/>
                  <a:pt x="9525" y="37088"/>
                  <a:pt x="9525" y="47625"/>
                </a:cubicBezTo>
                <a:lnTo>
                  <a:pt x="9525" y="114300"/>
                </a:lnTo>
                <a:cubicBezTo>
                  <a:pt x="9525" y="124837"/>
                  <a:pt x="18038" y="133350"/>
                  <a:pt x="28575" y="133350"/>
                </a:cubicBezTo>
                <a:lnTo>
                  <a:pt x="43220" y="133350"/>
                </a:lnTo>
                <a:cubicBezTo>
                  <a:pt x="43517" y="133350"/>
                  <a:pt x="43815" y="133350"/>
                  <a:pt x="44113" y="133350"/>
                </a:cubicBezTo>
                <a:lnTo>
                  <a:pt x="95310" y="133350"/>
                </a:lnTo>
                <a:cubicBezTo>
                  <a:pt x="105847" y="133350"/>
                  <a:pt x="114360" y="124837"/>
                  <a:pt x="114360" y="114300"/>
                </a:cubicBezTo>
                <a:cubicBezTo>
                  <a:pt x="114360" y="103763"/>
                  <a:pt x="105847" y="95250"/>
                  <a:pt x="95310" y="95250"/>
                </a:cubicBezTo>
                <a:lnTo>
                  <a:pt x="72509" y="95250"/>
                </a:lnTo>
                <a:cubicBezTo>
                  <a:pt x="92214" y="61079"/>
                  <a:pt x="129183" y="38100"/>
                  <a:pt x="171450" y="38100"/>
                </a:cubicBezTo>
                <a:close/>
                <a:moveTo>
                  <a:pt x="185738" y="90488"/>
                </a:moveTo>
                <a:cubicBezTo>
                  <a:pt x="185738" y="82570"/>
                  <a:pt x="179368" y="76200"/>
                  <a:pt x="171450" y="76200"/>
                </a:cubicBezTo>
                <a:cubicBezTo>
                  <a:pt x="163532" y="76200"/>
                  <a:pt x="157163" y="82570"/>
                  <a:pt x="157163" y="90488"/>
                </a:cubicBezTo>
                <a:lnTo>
                  <a:pt x="157163" y="152400"/>
                </a:lnTo>
                <a:cubicBezTo>
                  <a:pt x="157163" y="156210"/>
                  <a:pt x="158651" y="159841"/>
                  <a:pt x="161330" y="162520"/>
                </a:cubicBezTo>
                <a:lnTo>
                  <a:pt x="204192" y="205383"/>
                </a:lnTo>
                <a:cubicBezTo>
                  <a:pt x="209788" y="210979"/>
                  <a:pt x="218837" y="210979"/>
                  <a:pt x="224373" y="205383"/>
                </a:cubicBezTo>
                <a:cubicBezTo>
                  <a:pt x="229910" y="199787"/>
                  <a:pt x="229969" y="190738"/>
                  <a:pt x="224373" y="185202"/>
                </a:cubicBezTo>
                <a:lnTo>
                  <a:pt x="185678" y="146506"/>
                </a:lnTo>
                <a:lnTo>
                  <a:pt x="185678" y="9048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445000" y="508000"/>
            <a:ext cx="11455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历史影响与现代应用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064000" y="1066800"/>
            <a:ext cx="1178560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这篇论文为后来的许多知名系统提供了理论基础，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深远地影响了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现代数据库存储系统的发展方向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89400" y="1701800"/>
            <a:ext cx="50800" cy="2946400"/>
          </a:xfrm>
          <a:custGeom>
            <a:avLst/>
            <a:gdLst/>
            <a:ahLst/>
            <a:cxnLst/>
            <a:rect l="l" t="t" r="r" b="b"/>
            <a:pathLst>
              <a:path w="50800" h="2946400">
                <a:moveTo>
                  <a:pt x="0" y="0"/>
                </a:moveTo>
                <a:lnTo>
                  <a:pt x="50800" y="0"/>
                </a:lnTo>
                <a:lnTo>
                  <a:pt x="50800" y="2946400"/>
                </a:lnTo>
                <a:lnTo>
                  <a:pt x="0" y="2946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4356100" y="2529681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7656" y="155853"/>
                </a:moveTo>
                <a:cubicBezTo>
                  <a:pt x="297656" y="240090"/>
                  <a:pt x="239970" y="300038"/>
                  <a:pt x="154781" y="300038"/>
                </a:cubicBezTo>
                <a:cubicBezTo>
                  <a:pt x="73104" y="300038"/>
                  <a:pt x="7144" y="234077"/>
                  <a:pt x="7144" y="152400"/>
                </a:cubicBezTo>
                <a:cubicBezTo>
                  <a:pt x="7144" y="70723"/>
                  <a:pt x="73104" y="4763"/>
                  <a:pt x="154781" y="4763"/>
                </a:cubicBezTo>
                <a:cubicBezTo>
                  <a:pt x="194548" y="4763"/>
                  <a:pt x="228005" y="19348"/>
                  <a:pt x="253782" y="43398"/>
                </a:cubicBezTo>
                <a:lnTo>
                  <a:pt x="213598" y="82034"/>
                </a:lnTo>
                <a:cubicBezTo>
                  <a:pt x="161032" y="31313"/>
                  <a:pt x="63282" y="69413"/>
                  <a:pt x="63282" y="152400"/>
                </a:cubicBezTo>
                <a:cubicBezTo>
                  <a:pt x="63282" y="203895"/>
                  <a:pt x="104418" y="245626"/>
                  <a:pt x="154781" y="245626"/>
                </a:cubicBezTo>
                <a:cubicBezTo>
                  <a:pt x="213241" y="245626"/>
                  <a:pt x="235148" y="203716"/>
                  <a:pt x="238601" y="181987"/>
                </a:cubicBezTo>
                <a:lnTo>
                  <a:pt x="154781" y="181987"/>
                </a:lnTo>
                <a:lnTo>
                  <a:pt x="154781" y="131207"/>
                </a:lnTo>
                <a:lnTo>
                  <a:pt x="295335" y="131207"/>
                </a:lnTo>
                <a:cubicBezTo>
                  <a:pt x="296704" y="138767"/>
                  <a:pt x="297656" y="146030"/>
                  <a:pt x="297656" y="15585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851400" y="2529681"/>
            <a:ext cx="2120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BigTable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51400" y="2885281"/>
            <a:ext cx="20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Google的分布式存储系统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318000" y="3240881"/>
            <a:ext cx="55753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Google的分布式存储系统，采用了LSM-Tree的核心思想，为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NoSQL数据库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奠定基础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33000" y="1701800"/>
            <a:ext cx="50800" cy="2946400"/>
          </a:xfrm>
          <a:custGeom>
            <a:avLst/>
            <a:gdLst/>
            <a:ahLst/>
            <a:cxnLst/>
            <a:rect l="l" t="t" r="r" b="b"/>
            <a:pathLst>
              <a:path w="50800" h="2946400">
                <a:moveTo>
                  <a:pt x="0" y="0"/>
                </a:moveTo>
                <a:lnTo>
                  <a:pt x="50800" y="0"/>
                </a:lnTo>
                <a:lnTo>
                  <a:pt x="50800" y="2946400"/>
                </a:lnTo>
                <a:lnTo>
                  <a:pt x="0" y="2946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10318750" y="2674144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0795000" y="2674144"/>
            <a:ext cx="167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LevelDB / RocksDB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0795000" y="3029744"/>
            <a:ext cx="1651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单机存储引擎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0261600" y="3385344"/>
            <a:ext cx="557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广泛使用的单机存储引擎，被众多分布式系统作为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底层存储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089400" y="4849813"/>
            <a:ext cx="50800" cy="2654300"/>
          </a:xfrm>
          <a:custGeom>
            <a:avLst/>
            <a:gdLst/>
            <a:ahLst/>
            <a:cxnLst/>
            <a:rect l="l" t="t" r="r" b="b"/>
            <a:pathLst>
              <a:path w="50800" h="2654300">
                <a:moveTo>
                  <a:pt x="0" y="0"/>
                </a:moveTo>
                <a:lnTo>
                  <a:pt x="50800" y="0"/>
                </a:lnTo>
                <a:lnTo>
                  <a:pt x="50800" y="2654300"/>
                </a:lnTo>
                <a:lnTo>
                  <a:pt x="0" y="26543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4375150" y="5677694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0" y="57150"/>
                </a:moveTo>
                <a:cubicBezTo>
                  <a:pt x="0" y="36135"/>
                  <a:pt x="17085" y="19050"/>
                  <a:pt x="38100" y="19050"/>
                </a:cubicBezTo>
                <a:lnTo>
                  <a:pt x="228600" y="19050"/>
                </a:lnTo>
                <a:cubicBezTo>
                  <a:pt x="249615" y="19050"/>
                  <a:pt x="266700" y="36135"/>
                  <a:pt x="266700" y="57150"/>
                </a:cubicBezTo>
                <a:lnTo>
                  <a:pt x="266700" y="247650"/>
                </a:lnTo>
                <a:cubicBezTo>
                  <a:pt x="266700" y="268665"/>
                  <a:pt x="249615" y="285750"/>
                  <a:pt x="228600" y="285750"/>
                </a:cubicBezTo>
                <a:lnTo>
                  <a:pt x="38100" y="285750"/>
                </a:lnTo>
                <a:cubicBezTo>
                  <a:pt x="17085" y="285750"/>
                  <a:pt x="0" y="268665"/>
                  <a:pt x="0" y="247650"/>
                </a:cubicBezTo>
                <a:lnTo>
                  <a:pt x="0" y="57150"/>
                </a:lnTo>
                <a:close/>
                <a:moveTo>
                  <a:pt x="38100" y="95250"/>
                </a:moveTo>
                <a:lnTo>
                  <a:pt x="38100" y="247650"/>
                </a:lnTo>
                <a:lnTo>
                  <a:pt x="114300" y="247650"/>
                </a:lnTo>
                <a:lnTo>
                  <a:pt x="114300" y="95250"/>
                </a:lnTo>
                <a:lnTo>
                  <a:pt x="38100" y="95250"/>
                </a:lnTo>
                <a:close/>
                <a:moveTo>
                  <a:pt x="228600" y="95250"/>
                </a:moveTo>
                <a:lnTo>
                  <a:pt x="152400" y="95250"/>
                </a:lnTo>
                <a:lnTo>
                  <a:pt x="152400" y="247650"/>
                </a:lnTo>
                <a:lnTo>
                  <a:pt x="228600" y="247650"/>
                </a:lnTo>
                <a:lnTo>
                  <a:pt x="228600" y="9525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851400" y="5677694"/>
            <a:ext cx="1752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Cassandra / HBase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851400" y="6033294"/>
            <a:ext cx="1727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流行的NoSQL数据库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318000" y="6388894"/>
            <a:ext cx="557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流行的NoSQL数据库系统，广泛应用于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大数据场景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0033000" y="4849813"/>
            <a:ext cx="50800" cy="2654300"/>
          </a:xfrm>
          <a:custGeom>
            <a:avLst/>
            <a:gdLst/>
            <a:ahLst/>
            <a:cxnLst/>
            <a:rect l="l" t="t" r="r" b="b"/>
            <a:pathLst>
              <a:path w="50800" h="2654300">
                <a:moveTo>
                  <a:pt x="0" y="0"/>
                </a:moveTo>
                <a:lnTo>
                  <a:pt x="50800" y="0"/>
                </a:lnTo>
                <a:lnTo>
                  <a:pt x="50800" y="2654300"/>
                </a:lnTo>
                <a:lnTo>
                  <a:pt x="0" y="26543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10299700" y="5677694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795000" y="5677694"/>
            <a:ext cx="204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时序数据库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795000" y="6033294"/>
            <a:ext cx="2019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InfluxDB / TimescaleDB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0261600" y="6388894"/>
            <a:ext cx="557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现代时序数据库，利用LSM-Tree实现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高性能时间序列存储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064000" y="7715250"/>
            <a:ext cx="11684000" cy="12700"/>
          </a:xfrm>
          <a:custGeom>
            <a:avLst/>
            <a:gdLst/>
            <a:ahLst/>
            <a:cxnLst/>
            <a:rect l="l" t="t" r="r" b="b"/>
            <a:pathLst>
              <a:path w="11684000" h="12700">
                <a:moveTo>
                  <a:pt x="0" y="0"/>
                </a:moveTo>
                <a:lnTo>
                  <a:pt x="11684000" y="0"/>
                </a:lnTo>
                <a:lnTo>
                  <a:pt x="11684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778970" y="7924800"/>
            <a:ext cx="1028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1996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829770" y="8382000"/>
            <a:ext cx="92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论文发表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326908" y="8026400"/>
            <a:ext cx="68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309398" y="7924800"/>
            <a:ext cx="1257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2008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360198" y="8382000"/>
            <a:ext cx="1155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BigTable发布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12097941" y="8026400"/>
            <a:ext cx="685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14080430" y="7924800"/>
            <a:ext cx="952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至今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131230" y="8382000"/>
            <a:ext cx="850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广泛应用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20b6515f65b02f30eaa1727bbe66ccb7faac2283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33929" b="3392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4986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67767" y="1905000"/>
            <a:ext cx="1282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2352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606800"/>
            <a:ext cx="7645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核心原理与组件实现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6197600"/>
            <a:ext cx="7340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深入剖析LSM-Tree的架构设计、关键组件与实现技术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467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24000" y="7315200"/>
            <a:ext cx="303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&amp; Components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477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620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086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整体架构设计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66800"/>
            <a:ext cx="295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Complete System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5748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854200"/>
            <a:ext cx="15214600" cy="4381500"/>
          </a:xfrm>
          <a:custGeom>
            <a:avLst/>
            <a:gdLst/>
            <a:ahLst/>
            <a:cxnLst/>
            <a:rect l="l" t="t" r="r" b="b"/>
            <a:pathLst>
              <a:path w="15214600" h="4381500">
                <a:moveTo>
                  <a:pt x="0" y="0"/>
                </a:moveTo>
                <a:lnTo>
                  <a:pt x="15214600" y="0"/>
                </a:lnTo>
                <a:lnTo>
                  <a:pt x="15214600" y="4381500"/>
                </a:lnTo>
                <a:lnTo>
                  <a:pt x="0" y="4381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8350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28700" y="2070100"/>
            <a:ext cx="1460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LSM-Tree 完整系统架构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5781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39800" y="25781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客户端接口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" y="29845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PUT/GET/DEL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操作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" y="32893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批量操作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39800" y="35941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范围查询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40400" y="25781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918200" y="25781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读写协调器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18200" y="29845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读写路由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18200" y="32893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并发控制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18200" y="35941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一致性保证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718800" y="25781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896600" y="2578100"/>
            <a:ext cx="472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版本管理器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896600" y="29845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MVCC 控制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896600" y="32893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快照管理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896600" y="35941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事务支持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36600" y="4006850"/>
            <a:ext cx="14782800" cy="12700"/>
          </a:xfrm>
          <a:custGeom>
            <a:avLst/>
            <a:gdLst/>
            <a:ahLst/>
            <a:cxnLst/>
            <a:rect l="l" t="t" r="r" b="b"/>
            <a:pathLst>
              <a:path w="14782800" h="12700">
                <a:moveTo>
                  <a:pt x="0" y="0"/>
                </a:moveTo>
                <a:lnTo>
                  <a:pt x="14782800" y="0"/>
                </a:lnTo>
                <a:lnTo>
                  <a:pt x="14782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736600" y="4165600"/>
            <a:ext cx="1488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核心存储引擎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2950" y="4578350"/>
            <a:ext cx="7302500" cy="1435100"/>
          </a:xfrm>
          <a:custGeom>
            <a:avLst/>
            <a:gdLst/>
            <a:ahLst/>
            <a:cxnLst/>
            <a:rect l="l" t="t" r="r" b="b"/>
            <a:pathLst>
              <a:path w="7302500" h="1435100">
                <a:moveTo>
                  <a:pt x="0" y="0"/>
                </a:moveTo>
                <a:lnTo>
                  <a:pt x="7302500" y="0"/>
                </a:lnTo>
                <a:lnTo>
                  <a:pt x="73025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50900" y="46863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内存层 (MemTable Layer)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50900" y="50419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MemTable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当前可写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" y="53467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 MemTable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只读等待刷盘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0900" y="56515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 日志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崩溃恢复保障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10550" y="4578350"/>
            <a:ext cx="7302500" cy="1435100"/>
          </a:xfrm>
          <a:custGeom>
            <a:avLst/>
            <a:gdLst/>
            <a:ahLst/>
            <a:cxnLst/>
            <a:rect l="l" t="t" r="r" b="b"/>
            <a:pathLst>
              <a:path w="7302500" h="1435100">
                <a:moveTo>
                  <a:pt x="0" y="0"/>
                </a:moveTo>
                <a:lnTo>
                  <a:pt x="7302500" y="0"/>
                </a:lnTo>
                <a:lnTo>
                  <a:pt x="73025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318500" y="46863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磁盘层 (Disk Layer)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18500" y="50419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重叠层，文件可重叠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18500" y="53467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1+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有序层，文件不重叠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318500" y="56515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 Filter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快速过滤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33400" y="6400800"/>
            <a:ext cx="50800" cy="698500"/>
          </a:xfrm>
          <a:custGeom>
            <a:avLst/>
            <a:gdLst/>
            <a:ahLst/>
            <a:cxnLst/>
            <a:rect l="l" t="t" r="r" b="b"/>
            <a:pathLst>
              <a:path w="50800" h="698500">
                <a:moveTo>
                  <a:pt x="0" y="0"/>
                </a:moveTo>
                <a:lnTo>
                  <a:pt x="50800" y="0"/>
                </a:lnTo>
                <a:lnTo>
                  <a:pt x="508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736600" y="645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80975" y="88900"/>
                </a:moveTo>
                <a:lnTo>
                  <a:pt x="123825" y="88900"/>
                </a:lnTo>
                <a:cubicBezTo>
                  <a:pt x="118547" y="88900"/>
                  <a:pt x="114300" y="84653"/>
                  <a:pt x="114300" y="79375"/>
                </a:cubicBezTo>
                <a:lnTo>
                  <a:pt x="114300" y="22225"/>
                </a:lnTo>
                <a:cubicBezTo>
                  <a:pt x="114300" y="18375"/>
                  <a:pt x="116602" y="14883"/>
                  <a:pt x="120174" y="13414"/>
                </a:cubicBezTo>
                <a:cubicBezTo>
                  <a:pt x="123746" y="11946"/>
                  <a:pt x="127833" y="12779"/>
                  <a:pt x="130572" y="15478"/>
                </a:cubicBezTo>
                <a:lnTo>
                  <a:pt x="146447" y="31353"/>
                </a:lnTo>
                <a:lnTo>
                  <a:pt x="175577" y="2222"/>
                </a:lnTo>
                <a:cubicBezTo>
                  <a:pt x="177006" y="794"/>
                  <a:pt x="178951" y="0"/>
                  <a:pt x="180975" y="0"/>
                </a:cubicBezTo>
                <a:cubicBezTo>
                  <a:pt x="182999" y="0"/>
                  <a:pt x="184944" y="794"/>
                  <a:pt x="186412" y="2262"/>
                </a:cubicBezTo>
                <a:lnTo>
                  <a:pt x="200978" y="16828"/>
                </a:lnTo>
                <a:cubicBezTo>
                  <a:pt x="202406" y="18256"/>
                  <a:pt x="203200" y="20201"/>
                  <a:pt x="203200" y="22225"/>
                </a:cubicBezTo>
                <a:cubicBezTo>
                  <a:pt x="203200" y="24249"/>
                  <a:pt x="202406" y="26194"/>
                  <a:pt x="200938" y="27662"/>
                </a:cubicBezTo>
                <a:lnTo>
                  <a:pt x="171847" y="56753"/>
                </a:lnTo>
                <a:lnTo>
                  <a:pt x="187722" y="72628"/>
                </a:lnTo>
                <a:cubicBezTo>
                  <a:pt x="190460" y="75367"/>
                  <a:pt x="191254" y="79454"/>
                  <a:pt x="189786" y="83026"/>
                </a:cubicBezTo>
                <a:cubicBezTo>
                  <a:pt x="188317" y="86598"/>
                  <a:pt x="184825" y="88900"/>
                  <a:pt x="180975" y="88900"/>
                </a:cubicBezTo>
                <a:close/>
                <a:moveTo>
                  <a:pt x="180975" y="114300"/>
                </a:moveTo>
                <a:cubicBezTo>
                  <a:pt x="184825" y="114300"/>
                  <a:pt x="188317" y="116602"/>
                  <a:pt x="189786" y="120174"/>
                </a:cubicBezTo>
                <a:cubicBezTo>
                  <a:pt x="191254" y="123746"/>
                  <a:pt x="190460" y="127833"/>
                  <a:pt x="187722" y="130572"/>
                </a:cubicBezTo>
                <a:lnTo>
                  <a:pt x="171847" y="146447"/>
                </a:lnTo>
                <a:lnTo>
                  <a:pt x="200978" y="175577"/>
                </a:lnTo>
                <a:cubicBezTo>
                  <a:pt x="202406" y="177006"/>
                  <a:pt x="203240" y="178951"/>
                  <a:pt x="203240" y="181015"/>
                </a:cubicBezTo>
                <a:cubicBezTo>
                  <a:pt x="203240" y="183078"/>
                  <a:pt x="202446" y="184983"/>
                  <a:pt x="200978" y="186452"/>
                </a:cubicBezTo>
                <a:lnTo>
                  <a:pt x="186412" y="201017"/>
                </a:lnTo>
                <a:cubicBezTo>
                  <a:pt x="184944" y="202406"/>
                  <a:pt x="182999" y="203200"/>
                  <a:pt x="180975" y="203200"/>
                </a:cubicBezTo>
                <a:cubicBezTo>
                  <a:pt x="178951" y="203200"/>
                  <a:pt x="177006" y="202406"/>
                  <a:pt x="175538" y="200938"/>
                </a:cubicBezTo>
                <a:lnTo>
                  <a:pt x="146447" y="171847"/>
                </a:lnTo>
                <a:lnTo>
                  <a:pt x="130572" y="187722"/>
                </a:lnTo>
                <a:cubicBezTo>
                  <a:pt x="127833" y="190460"/>
                  <a:pt x="123746" y="191254"/>
                  <a:pt x="120174" y="189786"/>
                </a:cubicBezTo>
                <a:cubicBezTo>
                  <a:pt x="116602" y="188317"/>
                  <a:pt x="114300" y="184825"/>
                  <a:pt x="114300" y="180975"/>
                </a:cubicBezTo>
                <a:lnTo>
                  <a:pt x="114300" y="123825"/>
                </a:lnTo>
                <a:cubicBezTo>
                  <a:pt x="114300" y="118547"/>
                  <a:pt x="118547" y="114300"/>
                  <a:pt x="123825" y="114300"/>
                </a:cubicBezTo>
                <a:lnTo>
                  <a:pt x="180975" y="114300"/>
                </a:lnTo>
                <a:close/>
                <a:moveTo>
                  <a:pt x="79375" y="114300"/>
                </a:moveTo>
                <a:cubicBezTo>
                  <a:pt x="84653" y="114300"/>
                  <a:pt x="88900" y="118547"/>
                  <a:pt x="88900" y="123825"/>
                </a:cubicBezTo>
                <a:lnTo>
                  <a:pt x="88900" y="180975"/>
                </a:lnTo>
                <a:cubicBezTo>
                  <a:pt x="88900" y="184825"/>
                  <a:pt x="86598" y="188317"/>
                  <a:pt x="83026" y="189786"/>
                </a:cubicBezTo>
                <a:cubicBezTo>
                  <a:pt x="79454" y="191254"/>
                  <a:pt x="75367" y="190460"/>
                  <a:pt x="72628" y="187722"/>
                </a:cubicBezTo>
                <a:lnTo>
                  <a:pt x="56753" y="171847"/>
                </a:lnTo>
                <a:lnTo>
                  <a:pt x="27622" y="200978"/>
                </a:lnTo>
                <a:cubicBezTo>
                  <a:pt x="26194" y="202406"/>
                  <a:pt x="24249" y="203200"/>
                  <a:pt x="22225" y="203200"/>
                </a:cubicBezTo>
                <a:cubicBezTo>
                  <a:pt x="20201" y="203200"/>
                  <a:pt x="18256" y="202406"/>
                  <a:pt x="16788" y="200938"/>
                </a:cubicBezTo>
                <a:lnTo>
                  <a:pt x="2262" y="186412"/>
                </a:lnTo>
                <a:cubicBezTo>
                  <a:pt x="794" y="184944"/>
                  <a:pt x="0" y="182999"/>
                  <a:pt x="0" y="180975"/>
                </a:cubicBezTo>
                <a:cubicBezTo>
                  <a:pt x="0" y="178951"/>
                  <a:pt x="794" y="177006"/>
                  <a:pt x="2262" y="175538"/>
                </a:cubicBezTo>
                <a:lnTo>
                  <a:pt x="31353" y="146447"/>
                </a:lnTo>
                <a:lnTo>
                  <a:pt x="15478" y="130572"/>
                </a:lnTo>
                <a:cubicBezTo>
                  <a:pt x="12740" y="127833"/>
                  <a:pt x="11946" y="123746"/>
                  <a:pt x="13414" y="120174"/>
                </a:cubicBezTo>
                <a:cubicBezTo>
                  <a:pt x="14883" y="116602"/>
                  <a:pt x="18375" y="114300"/>
                  <a:pt x="22225" y="114300"/>
                </a:cubicBezTo>
                <a:lnTo>
                  <a:pt x="79375" y="114300"/>
                </a:lnTo>
                <a:close/>
                <a:moveTo>
                  <a:pt x="22225" y="88900"/>
                </a:moveTo>
                <a:cubicBezTo>
                  <a:pt x="18375" y="88900"/>
                  <a:pt x="14883" y="86598"/>
                  <a:pt x="13414" y="83026"/>
                </a:cubicBezTo>
                <a:cubicBezTo>
                  <a:pt x="11946" y="79454"/>
                  <a:pt x="12779" y="75367"/>
                  <a:pt x="15478" y="72628"/>
                </a:cubicBezTo>
                <a:lnTo>
                  <a:pt x="31353" y="56753"/>
                </a:lnTo>
                <a:lnTo>
                  <a:pt x="2262" y="27662"/>
                </a:lnTo>
                <a:cubicBezTo>
                  <a:pt x="794" y="26194"/>
                  <a:pt x="0" y="24249"/>
                  <a:pt x="0" y="22225"/>
                </a:cubicBezTo>
                <a:cubicBezTo>
                  <a:pt x="0" y="20201"/>
                  <a:pt x="794" y="18256"/>
                  <a:pt x="2262" y="16788"/>
                </a:cubicBezTo>
                <a:lnTo>
                  <a:pt x="16788" y="2262"/>
                </a:lnTo>
                <a:cubicBezTo>
                  <a:pt x="18256" y="794"/>
                  <a:pt x="20201" y="0"/>
                  <a:pt x="22225" y="0"/>
                </a:cubicBezTo>
                <a:cubicBezTo>
                  <a:pt x="24249" y="0"/>
                  <a:pt x="26194" y="794"/>
                  <a:pt x="27662" y="2262"/>
                </a:cubicBezTo>
                <a:lnTo>
                  <a:pt x="56753" y="31353"/>
                </a:lnTo>
                <a:lnTo>
                  <a:pt x="72628" y="15478"/>
                </a:lnTo>
                <a:cubicBezTo>
                  <a:pt x="75367" y="12740"/>
                  <a:pt x="79454" y="11946"/>
                  <a:pt x="83026" y="13414"/>
                </a:cubicBezTo>
                <a:cubicBezTo>
                  <a:pt x="86598" y="14883"/>
                  <a:pt x="88900" y="18375"/>
                  <a:pt x="88900" y="22225"/>
                </a:cubicBezTo>
                <a:lnTo>
                  <a:pt x="88900" y="79375"/>
                </a:lnTo>
                <a:cubicBezTo>
                  <a:pt x="88900" y="84653"/>
                  <a:pt x="84653" y="88900"/>
                  <a:pt x="79375" y="88900"/>
                </a:cubicBezTo>
                <a:lnTo>
                  <a:pt x="22225" y="8890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65200" y="6400800"/>
            <a:ext cx="462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Compaction 引擎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11200" y="6807200"/>
            <a:ext cx="4864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触发策略、调度算法、并发控制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664200" y="6400800"/>
            <a:ext cx="50800" cy="698500"/>
          </a:xfrm>
          <a:custGeom>
            <a:avLst/>
            <a:gdLst/>
            <a:ahLst/>
            <a:cxnLst/>
            <a:rect l="l" t="t" r="r" b="b"/>
            <a:pathLst>
              <a:path w="50800" h="698500">
                <a:moveTo>
                  <a:pt x="0" y="0"/>
                </a:moveTo>
                <a:lnTo>
                  <a:pt x="50800" y="0"/>
                </a:lnTo>
                <a:lnTo>
                  <a:pt x="508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5867400" y="64516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2700" y="12700"/>
                </a:moveTo>
                <a:cubicBezTo>
                  <a:pt x="19725" y="12700"/>
                  <a:pt x="25400" y="18375"/>
                  <a:pt x="25400" y="25400"/>
                </a:cubicBezTo>
                <a:lnTo>
                  <a:pt x="25400" y="158750"/>
                </a:lnTo>
                <a:cubicBezTo>
                  <a:pt x="25400" y="162243"/>
                  <a:pt x="28258" y="165100"/>
                  <a:pt x="31750" y="165100"/>
                </a:cubicBezTo>
                <a:lnTo>
                  <a:pt x="190500" y="165100"/>
                </a:lnTo>
                <a:cubicBezTo>
                  <a:pt x="197525" y="165100"/>
                  <a:pt x="203200" y="170775"/>
                  <a:pt x="203200" y="177800"/>
                </a:cubicBezTo>
                <a:cubicBezTo>
                  <a:pt x="203200" y="184825"/>
                  <a:pt x="197525" y="190500"/>
                  <a:pt x="190500" y="190500"/>
                </a:cubicBezTo>
                <a:lnTo>
                  <a:pt x="31750" y="190500"/>
                </a:lnTo>
                <a:cubicBezTo>
                  <a:pt x="14208" y="190500"/>
                  <a:pt x="0" y="176292"/>
                  <a:pt x="0" y="158750"/>
                </a:cubicBezTo>
                <a:lnTo>
                  <a:pt x="0" y="25400"/>
                </a:lnTo>
                <a:cubicBezTo>
                  <a:pt x="0" y="18375"/>
                  <a:pt x="5675" y="12700"/>
                  <a:pt x="12700" y="12700"/>
                </a:cubicBezTo>
                <a:close/>
                <a:moveTo>
                  <a:pt x="50800" y="38100"/>
                </a:moveTo>
                <a:cubicBezTo>
                  <a:pt x="50800" y="31075"/>
                  <a:pt x="56475" y="25400"/>
                  <a:pt x="63500" y="25400"/>
                </a:cubicBezTo>
                <a:lnTo>
                  <a:pt x="139700" y="25400"/>
                </a:lnTo>
                <a:cubicBezTo>
                  <a:pt x="146725" y="25400"/>
                  <a:pt x="152400" y="31075"/>
                  <a:pt x="152400" y="38100"/>
                </a:cubicBezTo>
                <a:cubicBezTo>
                  <a:pt x="152400" y="45125"/>
                  <a:pt x="146725" y="50800"/>
                  <a:pt x="139700" y="50800"/>
                </a:cubicBezTo>
                <a:lnTo>
                  <a:pt x="63500" y="50800"/>
                </a:lnTo>
                <a:cubicBezTo>
                  <a:pt x="56475" y="50800"/>
                  <a:pt x="50800" y="45125"/>
                  <a:pt x="50800" y="38100"/>
                </a:cubicBezTo>
                <a:close/>
                <a:moveTo>
                  <a:pt x="63500" y="69850"/>
                </a:moveTo>
                <a:lnTo>
                  <a:pt x="114300" y="69850"/>
                </a:lnTo>
                <a:cubicBezTo>
                  <a:pt x="121325" y="69850"/>
                  <a:pt x="127000" y="75525"/>
                  <a:pt x="127000" y="82550"/>
                </a:cubicBezTo>
                <a:cubicBezTo>
                  <a:pt x="127000" y="89575"/>
                  <a:pt x="121325" y="95250"/>
                  <a:pt x="114300" y="95250"/>
                </a:cubicBezTo>
                <a:lnTo>
                  <a:pt x="63500" y="95250"/>
                </a:lnTo>
                <a:cubicBezTo>
                  <a:pt x="56475" y="95250"/>
                  <a:pt x="50800" y="89575"/>
                  <a:pt x="50800" y="82550"/>
                </a:cubicBezTo>
                <a:cubicBezTo>
                  <a:pt x="50800" y="75525"/>
                  <a:pt x="56475" y="69850"/>
                  <a:pt x="63500" y="69850"/>
                </a:cubicBezTo>
                <a:close/>
                <a:moveTo>
                  <a:pt x="63500" y="114300"/>
                </a:move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63500" y="139700"/>
                </a:lnTo>
                <a:cubicBezTo>
                  <a:pt x="56475" y="139700"/>
                  <a:pt x="50800" y="134025"/>
                  <a:pt x="50800" y="127000"/>
                </a:cubicBezTo>
                <a:cubicBezTo>
                  <a:pt x="50800" y="119975"/>
                  <a:pt x="56475" y="114300"/>
                  <a:pt x="63500" y="1143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096000" y="6400800"/>
            <a:ext cx="462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监控诊断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42000" y="6807200"/>
            <a:ext cx="4864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性能指标、健康检查、告警机制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0795000" y="6400800"/>
            <a:ext cx="50800" cy="698500"/>
          </a:xfrm>
          <a:custGeom>
            <a:avLst/>
            <a:gdLst/>
            <a:ahLst/>
            <a:cxnLst/>
            <a:rect l="l" t="t" r="r" b="b"/>
            <a:pathLst>
              <a:path w="50800" h="698500">
                <a:moveTo>
                  <a:pt x="0" y="0"/>
                </a:moveTo>
                <a:lnTo>
                  <a:pt x="50800" y="0"/>
                </a:lnTo>
                <a:lnTo>
                  <a:pt x="50800" y="698500"/>
                </a:lnTo>
                <a:lnTo>
                  <a:pt x="0" y="6985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10972800" y="6451600"/>
            <a:ext cx="254000" cy="203200"/>
          </a:xfrm>
          <a:custGeom>
            <a:avLst/>
            <a:gdLst/>
            <a:ahLst/>
            <a:cxnLst/>
            <a:rect l="l" t="t" r="r" b="b"/>
            <a:pathLst>
              <a:path w="254000" h="203200">
                <a:moveTo>
                  <a:pt x="165060" y="83542"/>
                </a:moveTo>
                <a:cubicBezTo>
                  <a:pt x="169902" y="82233"/>
                  <a:pt x="174982" y="84534"/>
                  <a:pt x="177165" y="89019"/>
                </a:cubicBezTo>
                <a:lnTo>
                  <a:pt x="184547" y="103942"/>
                </a:lnTo>
                <a:cubicBezTo>
                  <a:pt x="188635" y="104497"/>
                  <a:pt x="192643" y="105608"/>
                  <a:pt x="196413" y="107156"/>
                </a:cubicBezTo>
                <a:lnTo>
                  <a:pt x="210304" y="97909"/>
                </a:lnTo>
                <a:cubicBezTo>
                  <a:pt x="214471" y="95131"/>
                  <a:pt x="219988" y="95687"/>
                  <a:pt x="223520" y="99219"/>
                </a:cubicBezTo>
                <a:lnTo>
                  <a:pt x="231140" y="106839"/>
                </a:lnTo>
                <a:cubicBezTo>
                  <a:pt x="234672" y="110371"/>
                  <a:pt x="235228" y="115927"/>
                  <a:pt x="232450" y="120055"/>
                </a:cubicBezTo>
                <a:lnTo>
                  <a:pt x="223203" y="133906"/>
                </a:lnTo>
                <a:cubicBezTo>
                  <a:pt x="223957" y="135771"/>
                  <a:pt x="224631" y="137716"/>
                  <a:pt x="225187" y="139740"/>
                </a:cubicBezTo>
                <a:cubicBezTo>
                  <a:pt x="225742" y="141764"/>
                  <a:pt x="226100" y="143748"/>
                  <a:pt x="226377" y="145772"/>
                </a:cubicBezTo>
                <a:lnTo>
                  <a:pt x="241340" y="153154"/>
                </a:lnTo>
                <a:cubicBezTo>
                  <a:pt x="245824" y="155377"/>
                  <a:pt x="248126" y="160457"/>
                  <a:pt x="246817" y="165259"/>
                </a:cubicBezTo>
                <a:lnTo>
                  <a:pt x="244038" y="175657"/>
                </a:lnTo>
                <a:cubicBezTo>
                  <a:pt x="242729" y="180459"/>
                  <a:pt x="238244" y="183713"/>
                  <a:pt x="233243" y="183396"/>
                </a:cubicBezTo>
                <a:lnTo>
                  <a:pt x="216575" y="182324"/>
                </a:lnTo>
                <a:cubicBezTo>
                  <a:pt x="214074" y="185539"/>
                  <a:pt x="211177" y="188516"/>
                  <a:pt x="207883" y="191056"/>
                </a:cubicBezTo>
                <a:lnTo>
                  <a:pt x="208955" y="207685"/>
                </a:lnTo>
                <a:cubicBezTo>
                  <a:pt x="209272" y="212685"/>
                  <a:pt x="206018" y="217210"/>
                  <a:pt x="201216" y="218480"/>
                </a:cubicBezTo>
                <a:lnTo>
                  <a:pt x="190818" y="221258"/>
                </a:lnTo>
                <a:cubicBezTo>
                  <a:pt x="185976" y="222567"/>
                  <a:pt x="180935" y="220266"/>
                  <a:pt x="178713" y="215781"/>
                </a:cubicBezTo>
                <a:lnTo>
                  <a:pt x="171331" y="200858"/>
                </a:lnTo>
                <a:cubicBezTo>
                  <a:pt x="167243" y="200303"/>
                  <a:pt x="163235" y="199192"/>
                  <a:pt x="159464" y="197644"/>
                </a:cubicBezTo>
                <a:lnTo>
                  <a:pt x="145574" y="206891"/>
                </a:lnTo>
                <a:cubicBezTo>
                  <a:pt x="141407" y="209669"/>
                  <a:pt x="135890" y="209113"/>
                  <a:pt x="132358" y="205581"/>
                </a:cubicBezTo>
                <a:lnTo>
                  <a:pt x="124738" y="197961"/>
                </a:lnTo>
                <a:cubicBezTo>
                  <a:pt x="121206" y="194429"/>
                  <a:pt x="120650" y="188913"/>
                  <a:pt x="123428" y="184745"/>
                </a:cubicBezTo>
                <a:lnTo>
                  <a:pt x="132675" y="170855"/>
                </a:lnTo>
                <a:cubicBezTo>
                  <a:pt x="131921" y="168989"/>
                  <a:pt x="131247" y="167045"/>
                  <a:pt x="130691" y="165021"/>
                </a:cubicBezTo>
                <a:cubicBezTo>
                  <a:pt x="130135" y="162997"/>
                  <a:pt x="129778" y="160973"/>
                  <a:pt x="129500" y="158988"/>
                </a:cubicBezTo>
                <a:lnTo>
                  <a:pt x="114538" y="151606"/>
                </a:lnTo>
                <a:cubicBezTo>
                  <a:pt x="110053" y="149384"/>
                  <a:pt x="107791" y="144304"/>
                  <a:pt x="109061" y="139502"/>
                </a:cubicBezTo>
                <a:lnTo>
                  <a:pt x="111839" y="129103"/>
                </a:lnTo>
                <a:cubicBezTo>
                  <a:pt x="113149" y="124301"/>
                  <a:pt x="117634" y="121047"/>
                  <a:pt x="122634" y="121364"/>
                </a:cubicBezTo>
                <a:lnTo>
                  <a:pt x="139263" y="122436"/>
                </a:lnTo>
                <a:cubicBezTo>
                  <a:pt x="141764" y="119221"/>
                  <a:pt x="144661" y="116245"/>
                  <a:pt x="147955" y="113705"/>
                </a:cubicBezTo>
                <a:lnTo>
                  <a:pt x="146883" y="97115"/>
                </a:lnTo>
                <a:cubicBezTo>
                  <a:pt x="146566" y="92115"/>
                  <a:pt x="149820" y="87590"/>
                  <a:pt x="154622" y="86320"/>
                </a:cubicBezTo>
                <a:lnTo>
                  <a:pt x="165021" y="83542"/>
                </a:lnTo>
                <a:close/>
                <a:moveTo>
                  <a:pt x="177959" y="134938"/>
                </a:moveTo>
                <a:cubicBezTo>
                  <a:pt x="168321" y="134948"/>
                  <a:pt x="160505" y="142782"/>
                  <a:pt x="160516" y="152420"/>
                </a:cubicBezTo>
                <a:cubicBezTo>
                  <a:pt x="160527" y="162058"/>
                  <a:pt x="168361" y="169873"/>
                  <a:pt x="177998" y="169863"/>
                </a:cubicBezTo>
                <a:cubicBezTo>
                  <a:pt x="187636" y="169852"/>
                  <a:pt x="195452" y="162018"/>
                  <a:pt x="195441" y="152380"/>
                </a:cubicBezTo>
                <a:cubicBezTo>
                  <a:pt x="195430" y="142742"/>
                  <a:pt x="187597" y="134927"/>
                  <a:pt x="177959" y="134938"/>
                </a:cubicBezTo>
                <a:close/>
                <a:moveTo>
                  <a:pt x="89257" y="-18058"/>
                </a:moveTo>
                <a:lnTo>
                  <a:pt x="99655" y="-15280"/>
                </a:lnTo>
                <a:cubicBezTo>
                  <a:pt x="104458" y="-13970"/>
                  <a:pt x="107712" y="-9446"/>
                  <a:pt x="107394" y="-4485"/>
                </a:cubicBezTo>
                <a:lnTo>
                  <a:pt x="106323" y="12105"/>
                </a:lnTo>
                <a:cubicBezTo>
                  <a:pt x="109617" y="14645"/>
                  <a:pt x="112514" y="17582"/>
                  <a:pt x="115014" y="20836"/>
                </a:cubicBezTo>
                <a:lnTo>
                  <a:pt x="131683" y="19764"/>
                </a:lnTo>
                <a:cubicBezTo>
                  <a:pt x="136644" y="19447"/>
                  <a:pt x="141168" y="22701"/>
                  <a:pt x="142478" y="27503"/>
                </a:cubicBezTo>
                <a:lnTo>
                  <a:pt x="145256" y="37902"/>
                </a:lnTo>
                <a:cubicBezTo>
                  <a:pt x="146526" y="42704"/>
                  <a:pt x="144264" y="47784"/>
                  <a:pt x="139779" y="50006"/>
                </a:cubicBezTo>
                <a:lnTo>
                  <a:pt x="124817" y="57388"/>
                </a:lnTo>
                <a:cubicBezTo>
                  <a:pt x="124539" y="59412"/>
                  <a:pt x="124143" y="61436"/>
                  <a:pt x="123627" y="63421"/>
                </a:cubicBezTo>
                <a:cubicBezTo>
                  <a:pt x="123111" y="65405"/>
                  <a:pt x="122396" y="67389"/>
                  <a:pt x="121642" y="69255"/>
                </a:cubicBezTo>
                <a:lnTo>
                  <a:pt x="130889" y="83145"/>
                </a:lnTo>
                <a:cubicBezTo>
                  <a:pt x="133668" y="87313"/>
                  <a:pt x="133112" y="92829"/>
                  <a:pt x="129580" y="96361"/>
                </a:cubicBezTo>
                <a:lnTo>
                  <a:pt x="121960" y="103981"/>
                </a:lnTo>
                <a:cubicBezTo>
                  <a:pt x="118428" y="107513"/>
                  <a:pt x="112911" y="108069"/>
                  <a:pt x="108744" y="105291"/>
                </a:cubicBezTo>
                <a:lnTo>
                  <a:pt x="94853" y="96044"/>
                </a:lnTo>
                <a:cubicBezTo>
                  <a:pt x="91083" y="97592"/>
                  <a:pt x="87074" y="98703"/>
                  <a:pt x="82987" y="99258"/>
                </a:cubicBezTo>
                <a:lnTo>
                  <a:pt x="75605" y="114181"/>
                </a:lnTo>
                <a:cubicBezTo>
                  <a:pt x="73382" y="118666"/>
                  <a:pt x="68302" y="120928"/>
                  <a:pt x="63500" y="119658"/>
                </a:cubicBezTo>
                <a:lnTo>
                  <a:pt x="53102" y="116880"/>
                </a:lnTo>
                <a:cubicBezTo>
                  <a:pt x="48260" y="115570"/>
                  <a:pt x="45045" y="111046"/>
                  <a:pt x="45363" y="106085"/>
                </a:cubicBezTo>
                <a:lnTo>
                  <a:pt x="46434" y="89456"/>
                </a:lnTo>
                <a:cubicBezTo>
                  <a:pt x="43140" y="86916"/>
                  <a:pt x="40243" y="83979"/>
                  <a:pt x="37743" y="80724"/>
                </a:cubicBezTo>
                <a:lnTo>
                  <a:pt x="21074" y="81796"/>
                </a:lnTo>
                <a:cubicBezTo>
                  <a:pt x="16113" y="82113"/>
                  <a:pt x="11589" y="78859"/>
                  <a:pt x="10279" y="74057"/>
                </a:cubicBezTo>
                <a:lnTo>
                  <a:pt x="7501" y="63659"/>
                </a:lnTo>
                <a:cubicBezTo>
                  <a:pt x="6231" y="58857"/>
                  <a:pt x="8493" y="53777"/>
                  <a:pt x="12978" y="51554"/>
                </a:cubicBezTo>
                <a:lnTo>
                  <a:pt x="27940" y="44172"/>
                </a:lnTo>
                <a:cubicBezTo>
                  <a:pt x="28218" y="42148"/>
                  <a:pt x="28615" y="40164"/>
                  <a:pt x="29131" y="38140"/>
                </a:cubicBezTo>
                <a:cubicBezTo>
                  <a:pt x="29686" y="36116"/>
                  <a:pt x="30321" y="34171"/>
                  <a:pt x="31115" y="32306"/>
                </a:cubicBezTo>
                <a:lnTo>
                  <a:pt x="21868" y="18455"/>
                </a:lnTo>
                <a:cubicBezTo>
                  <a:pt x="19090" y="14288"/>
                  <a:pt x="19645" y="8771"/>
                  <a:pt x="23178" y="5239"/>
                </a:cubicBezTo>
                <a:lnTo>
                  <a:pt x="30798" y="-2381"/>
                </a:lnTo>
                <a:cubicBezTo>
                  <a:pt x="34330" y="-5913"/>
                  <a:pt x="39846" y="-6469"/>
                  <a:pt x="44013" y="-3691"/>
                </a:cubicBezTo>
                <a:lnTo>
                  <a:pt x="57904" y="5556"/>
                </a:lnTo>
                <a:cubicBezTo>
                  <a:pt x="61674" y="4008"/>
                  <a:pt x="65683" y="2897"/>
                  <a:pt x="69771" y="2342"/>
                </a:cubicBezTo>
                <a:lnTo>
                  <a:pt x="77152" y="-12581"/>
                </a:lnTo>
                <a:cubicBezTo>
                  <a:pt x="79375" y="-17066"/>
                  <a:pt x="84415" y="-19328"/>
                  <a:pt x="89257" y="-18058"/>
                </a:cubicBezTo>
                <a:close/>
                <a:moveTo>
                  <a:pt x="76359" y="33338"/>
                </a:moveTo>
                <a:cubicBezTo>
                  <a:pt x="66721" y="33338"/>
                  <a:pt x="58896" y="41162"/>
                  <a:pt x="58896" y="50800"/>
                </a:cubicBezTo>
                <a:cubicBezTo>
                  <a:pt x="58896" y="60438"/>
                  <a:pt x="66721" y="68263"/>
                  <a:pt x="76359" y="68263"/>
                </a:cubicBezTo>
                <a:cubicBezTo>
                  <a:pt x="85997" y="68263"/>
                  <a:pt x="93821" y="60438"/>
                  <a:pt x="93821" y="50800"/>
                </a:cubicBezTo>
                <a:cubicBezTo>
                  <a:pt x="93821" y="41162"/>
                  <a:pt x="85997" y="33338"/>
                  <a:pt x="76359" y="33338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1226800" y="6400800"/>
            <a:ext cx="4622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资源管理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72800" y="6807200"/>
            <a:ext cx="4864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内存控制、I/O 限流、线程池管理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08000" y="7254875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444500" y="7413625"/>
            <a:ext cx="128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客户端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63550" y="7769225"/>
            <a:ext cx="1244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PUT/GET/DEL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3367584" y="7515225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5309890" y="7413625"/>
            <a:ext cx="901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协调器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28940" y="7769225"/>
            <a:ext cx="86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路由/并发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7855148" y="7515225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9797455" y="7413625"/>
            <a:ext cx="1358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816505" y="7769225"/>
            <a:ext cx="1320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内存缓冲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2792373" y="7515225"/>
            <a:ext cx="4572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4734679" y="7413625"/>
            <a:ext cx="1079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753729" y="7769225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磁盘存储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477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620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340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分层存储架构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66800"/>
            <a:ext cx="321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Hierarchical Storage Architecture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5748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854200"/>
            <a:ext cx="7289800" cy="5918200"/>
          </a:xfrm>
          <a:custGeom>
            <a:avLst/>
            <a:gdLst/>
            <a:ahLst/>
            <a:cxnLst/>
            <a:rect l="l" t="t" r="r" b="b"/>
            <a:pathLst>
              <a:path w="7289800" h="5918200">
                <a:moveTo>
                  <a:pt x="0" y="0"/>
                </a:moveTo>
                <a:lnTo>
                  <a:pt x="7289800" y="0"/>
                </a:lnTo>
                <a:lnTo>
                  <a:pt x="7289800" y="5918200"/>
                </a:lnTo>
                <a:lnTo>
                  <a:pt x="0" y="5918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68350" y="2133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12814" y="28575"/>
                  <a:pt x="0" y="41389"/>
                  <a:pt x="0" y="57150"/>
                </a:cubicBezTo>
                <a:lnTo>
                  <a:pt x="0" y="60454"/>
                </a:lnTo>
                <a:cubicBezTo>
                  <a:pt x="0" y="63490"/>
                  <a:pt x="1965" y="66080"/>
                  <a:pt x="4509" y="67732"/>
                </a:cubicBezTo>
                <a:cubicBezTo>
                  <a:pt x="10403" y="71571"/>
                  <a:pt x="14288" y="78179"/>
                  <a:pt x="14288" y="85725"/>
                </a:cubicBezTo>
                <a:cubicBezTo>
                  <a:pt x="14288" y="93271"/>
                  <a:pt x="10403" y="99879"/>
                  <a:pt x="4509" y="103718"/>
                </a:cubicBezTo>
                <a:cubicBezTo>
                  <a:pt x="1965" y="105370"/>
                  <a:pt x="0" y="107960"/>
                  <a:pt x="0" y="110996"/>
                </a:cubicBezTo>
                <a:lnTo>
                  <a:pt x="0" y="135731"/>
                </a:lnTo>
                <a:lnTo>
                  <a:pt x="228600" y="135731"/>
                </a:lnTo>
                <a:lnTo>
                  <a:pt x="228600" y="110996"/>
                </a:lnTo>
                <a:cubicBezTo>
                  <a:pt x="228600" y="107960"/>
                  <a:pt x="226635" y="105370"/>
                  <a:pt x="224091" y="103718"/>
                </a:cubicBezTo>
                <a:cubicBezTo>
                  <a:pt x="218197" y="99879"/>
                  <a:pt x="214313" y="93271"/>
                  <a:pt x="214313" y="85725"/>
                </a:cubicBezTo>
                <a:cubicBezTo>
                  <a:pt x="214313" y="78179"/>
                  <a:pt x="218197" y="71571"/>
                  <a:pt x="224091" y="67732"/>
                </a:cubicBezTo>
                <a:cubicBezTo>
                  <a:pt x="226635" y="66080"/>
                  <a:pt x="228600" y="63490"/>
                  <a:pt x="228600" y="60454"/>
                </a:cubicBezTo>
                <a:lnTo>
                  <a:pt x="228600" y="57150"/>
                </a:lnTo>
                <a:cubicBezTo>
                  <a:pt x="228600" y="41389"/>
                  <a:pt x="215786" y="28575"/>
                  <a:pt x="200025" y="28575"/>
                </a:cubicBezTo>
                <a:lnTo>
                  <a:pt x="28575" y="28575"/>
                </a:lnTo>
                <a:close/>
                <a:moveTo>
                  <a:pt x="228600" y="185738"/>
                </a:moveTo>
                <a:lnTo>
                  <a:pt x="228600" y="157163"/>
                </a:lnTo>
                <a:lnTo>
                  <a:pt x="0" y="157163"/>
                </a:lnTo>
                <a:lnTo>
                  <a:pt x="0" y="185738"/>
                </a:lnTo>
                <a:cubicBezTo>
                  <a:pt x="0" y="193640"/>
                  <a:pt x="6385" y="200025"/>
                  <a:pt x="14288" y="200025"/>
                </a:cubicBezTo>
                <a:lnTo>
                  <a:pt x="42863" y="200025"/>
                </a:lnTo>
                <a:lnTo>
                  <a:pt x="42863" y="189309"/>
                </a:lnTo>
                <a:cubicBezTo>
                  <a:pt x="42863" y="183371"/>
                  <a:pt x="47640" y="178594"/>
                  <a:pt x="53578" y="178594"/>
                </a:cubicBezTo>
                <a:cubicBezTo>
                  <a:pt x="59516" y="178594"/>
                  <a:pt x="64294" y="183371"/>
                  <a:pt x="64294" y="189309"/>
                </a:cubicBezTo>
                <a:lnTo>
                  <a:pt x="64294" y="200025"/>
                </a:lnTo>
                <a:lnTo>
                  <a:pt x="103584" y="200025"/>
                </a:lnTo>
                <a:lnTo>
                  <a:pt x="103584" y="189309"/>
                </a:lnTo>
                <a:cubicBezTo>
                  <a:pt x="103584" y="183371"/>
                  <a:pt x="108362" y="178594"/>
                  <a:pt x="114300" y="178594"/>
                </a:cubicBezTo>
                <a:cubicBezTo>
                  <a:pt x="120238" y="178594"/>
                  <a:pt x="125016" y="183371"/>
                  <a:pt x="125016" y="189309"/>
                </a:cubicBezTo>
                <a:lnTo>
                  <a:pt x="125016" y="200025"/>
                </a:lnTo>
                <a:lnTo>
                  <a:pt x="164306" y="200025"/>
                </a:lnTo>
                <a:lnTo>
                  <a:pt x="164306" y="189309"/>
                </a:lnTo>
                <a:cubicBezTo>
                  <a:pt x="164306" y="183371"/>
                  <a:pt x="169084" y="178594"/>
                  <a:pt x="175022" y="178594"/>
                </a:cubicBezTo>
                <a:cubicBezTo>
                  <a:pt x="180960" y="178594"/>
                  <a:pt x="185738" y="183371"/>
                  <a:pt x="185738" y="189309"/>
                </a:cubicBezTo>
                <a:lnTo>
                  <a:pt x="185738" y="200025"/>
                </a:ln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lose/>
                <a:moveTo>
                  <a:pt x="71438" y="71438"/>
                </a:moveTo>
                <a:lnTo>
                  <a:pt x="71438" y="100013"/>
                </a:lnTo>
                <a:cubicBezTo>
                  <a:pt x="71438" y="107915"/>
                  <a:pt x="65053" y="114300"/>
                  <a:pt x="57150" y="114300"/>
                </a:cubicBezTo>
                <a:cubicBezTo>
                  <a:pt x="49247" y="114300"/>
                  <a:pt x="42863" y="107915"/>
                  <a:pt x="42863" y="100013"/>
                </a:cubicBezTo>
                <a:lnTo>
                  <a:pt x="42863" y="71438"/>
                </a:lnTo>
                <a:cubicBezTo>
                  <a:pt x="42863" y="63535"/>
                  <a:pt x="49247" y="57150"/>
                  <a:pt x="57150" y="57150"/>
                </a:cubicBezTo>
                <a:cubicBezTo>
                  <a:pt x="65053" y="57150"/>
                  <a:pt x="71438" y="63535"/>
                  <a:pt x="71438" y="71438"/>
                </a:cubicBezTo>
                <a:close/>
                <a:moveTo>
                  <a:pt x="128588" y="71438"/>
                </a:moveTo>
                <a:lnTo>
                  <a:pt x="128588" y="100013"/>
                </a:lnTo>
                <a:cubicBezTo>
                  <a:pt x="128588" y="107915"/>
                  <a:pt x="122203" y="114300"/>
                  <a:pt x="114300" y="114300"/>
                </a:cubicBezTo>
                <a:cubicBezTo>
                  <a:pt x="106397" y="114300"/>
                  <a:pt x="100013" y="107915"/>
                  <a:pt x="100013" y="100013"/>
                </a:cubicBezTo>
                <a:lnTo>
                  <a:pt x="100013" y="71438"/>
                </a:lnTo>
                <a:cubicBezTo>
                  <a:pt x="100013" y="63535"/>
                  <a:pt x="106397" y="57150"/>
                  <a:pt x="114300" y="57150"/>
                </a:cubicBezTo>
                <a:cubicBezTo>
                  <a:pt x="122203" y="57150"/>
                  <a:pt x="128588" y="63535"/>
                  <a:pt x="128588" y="71438"/>
                </a:cubicBezTo>
                <a:close/>
                <a:moveTo>
                  <a:pt x="185738" y="71438"/>
                </a:moveTo>
                <a:lnTo>
                  <a:pt x="185738" y="100013"/>
                </a:lnTo>
                <a:cubicBezTo>
                  <a:pt x="185738" y="107915"/>
                  <a:pt x="179353" y="114300"/>
                  <a:pt x="171450" y="114300"/>
                </a:cubicBezTo>
                <a:cubicBezTo>
                  <a:pt x="163547" y="114300"/>
                  <a:pt x="157163" y="107915"/>
                  <a:pt x="157163" y="100013"/>
                </a:cubicBezTo>
                <a:lnTo>
                  <a:pt x="157163" y="71438"/>
                </a:lnTo>
                <a:cubicBezTo>
                  <a:pt x="157163" y="63535"/>
                  <a:pt x="163547" y="57150"/>
                  <a:pt x="171450" y="57150"/>
                </a:cubicBezTo>
                <a:cubicBezTo>
                  <a:pt x="179353" y="57150"/>
                  <a:pt x="185738" y="63535"/>
                  <a:pt x="185738" y="7143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028700" y="2070100"/>
            <a:ext cx="668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内存层 (Memory Layer)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2578100"/>
            <a:ext cx="50800" cy="1193800"/>
          </a:xfrm>
          <a:custGeom>
            <a:avLst/>
            <a:gdLst/>
            <a:ahLst/>
            <a:cxnLst/>
            <a:rect l="l" t="t" r="r" b="b"/>
            <a:pathLst>
              <a:path w="50800" h="1193800">
                <a:moveTo>
                  <a:pt x="0" y="0"/>
                </a:moveTo>
                <a:lnTo>
                  <a:pt x="50800" y="0"/>
                </a:lnTo>
                <a:lnTo>
                  <a:pt x="50800" y="1193800"/>
                </a:lnTo>
                <a:lnTo>
                  <a:pt x="0" y="1193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939800" y="25781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Active MemTable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39800" y="2933700"/>
            <a:ext cx="6743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当前可写的内存缓冲区，新数据首先写入这里。采用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SkipList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数据结构，支持高效插入和查找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39800" y="3562350"/>
            <a:ext cx="673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大小阈值: </a:t>
            </a: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状态: 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可读写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62000" y="3917950"/>
            <a:ext cx="50800" cy="901700"/>
          </a:xfrm>
          <a:custGeom>
            <a:avLst/>
            <a:gdLst/>
            <a:ahLst/>
            <a:cxnLst/>
            <a:rect l="l" t="t" r="r" b="b"/>
            <a:pathLst>
              <a:path w="50800" h="901700">
                <a:moveTo>
                  <a:pt x="0" y="0"/>
                </a:moveTo>
                <a:lnTo>
                  <a:pt x="50800" y="0"/>
                </a:lnTo>
                <a:lnTo>
                  <a:pt x="508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939800" y="391795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Immutable MemTable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39800" y="4273550"/>
            <a:ext cx="6743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当Active MemTable达到阈值后，转换为只读状态，等待后台线程刷写到磁盘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9800" y="4613275"/>
            <a:ext cx="673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状态: </a:t>
            </a:r>
            <a:r>
              <a:rPr lang="en-US" sz="1200" b="1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只读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操作: </a:t>
            </a: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等待刷盘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6600" y="4975225"/>
            <a:ext cx="6858000" cy="12700"/>
          </a:xfrm>
          <a:custGeom>
            <a:avLst/>
            <a:gdLst/>
            <a:ahLst/>
            <a:cxnLst/>
            <a:rect l="l" t="t" r="r" b="b"/>
            <a:pathLst>
              <a:path w="6858000" h="12700">
                <a:moveTo>
                  <a:pt x="0" y="0"/>
                </a:moveTo>
                <a:lnTo>
                  <a:pt x="6858000" y="0"/>
                </a:lnTo>
                <a:lnTo>
                  <a:pt x="685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6600" y="5083175"/>
            <a:ext cx="68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写入路径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8544" y="5083175"/>
            <a:ext cx="1536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随机写入 → 内存排序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33400" y="7991475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11200" y="7991475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1200" y="8347075"/>
            <a:ext cx="3467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随机写入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转换为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顺序写入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64025" y="7991475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441825" y="7991475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批量刷盘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41825" y="8347075"/>
            <a:ext cx="34671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64MB阈值触发，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顺序刷盘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21650" y="1841500"/>
            <a:ext cx="12700" cy="6794500"/>
          </a:xfrm>
          <a:custGeom>
            <a:avLst/>
            <a:gdLst/>
            <a:ahLst/>
            <a:cxnLst/>
            <a:rect l="l" t="t" r="r" b="b"/>
            <a:pathLst>
              <a:path w="12700" h="6794500">
                <a:moveTo>
                  <a:pt x="0" y="0"/>
                </a:moveTo>
                <a:lnTo>
                  <a:pt x="12700" y="0"/>
                </a:lnTo>
                <a:lnTo>
                  <a:pt x="12700" y="6794500"/>
                </a:lnTo>
                <a:lnTo>
                  <a:pt x="0" y="67945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8451850" y="1854200"/>
            <a:ext cx="7289800" cy="5956300"/>
          </a:xfrm>
          <a:custGeom>
            <a:avLst/>
            <a:gdLst/>
            <a:ahLst/>
            <a:cxnLst/>
            <a:rect l="l" t="t" r="r" b="b"/>
            <a:pathLst>
              <a:path w="7289800" h="5956300">
                <a:moveTo>
                  <a:pt x="0" y="0"/>
                </a:moveTo>
                <a:lnTo>
                  <a:pt x="7289800" y="0"/>
                </a:lnTo>
                <a:lnTo>
                  <a:pt x="7289800" y="5956300"/>
                </a:lnTo>
                <a:lnTo>
                  <a:pt x="0" y="5956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713788" y="2133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959850" y="2070100"/>
            <a:ext cx="6680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磁盘层 (Disk Layer)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693150" y="2578100"/>
            <a:ext cx="50800" cy="901700"/>
          </a:xfrm>
          <a:custGeom>
            <a:avLst/>
            <a:gdLst/>
            <a:ahLst/>
            <a:cxnLst/>
            <a:rect l="l" t="t" r="r" b="b"/>
            <a:pathLst>
              <a:path w="50800" h="901700">
                <a:moveTo>
                  <a:pt x="0" y="0"/>
                </a:moveTo>
                <a:lnTo>
                  <a:pt x="50800" y="0"/>
                </a:lnTo>
                <a:lnTo>
                  <a:pt x="508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870950" y="2578100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0 (重叠层)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70950" y="2933700"/>
            <a:ext cx="6743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从内存刷盘的SSTable文件，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键范围可能重叠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，查找需要检查多个文件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870950" y="3273425"/>
            <a:ext cx="673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特征: </a:t>
            </a:r>
            <a:r>
              <a:rPr lang="en-US" sz="1200" b="1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键范围重叠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查找: </a:t>
            </a:r>
            <a:r>
              <a:rPr lang="en-US" sz="1200" b="1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多文件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693150" y="3629025"/>
            <a:ext cx="50800" cy="901700"/>
          </a:xfrm>
          <a:custGeom>
            <a:avLst/>
            <a:gdLst/>
            <a:ahLst/>
            <a:cxnLst/>
            <a:rect l="l" t="t" r="r" b="b"/>
            <a:pathLst>
              <a:path w="50800" h="901700">
                <a:moveTo>
                  <a:pt x="0" y="0"/>
                </a:moveTo>
                <a:lnTo>
                  <a:pt x="50800" y="0"/>
                </a:lnTo>
                <a:lnTo>
                  <a:pt x="508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70950" y="3629025"/>
            <a:ext cx="6756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1+ (有序层)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70950" y="3984625"/>
            <a:ext cx="67437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经过Compaction后，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键范围不重叠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，查找效率高，每个键最多在一个文件中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870950" y="4324350"/>
            <a:ext cx="673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特征: 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键不重叠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查找: 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二分定位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667750" y="4686300"/>
            <a:ext cx="6858000" cy="12700"/>
          </a:xfrm>
          <a:custGeom>
            <a:avLst/>
            <a:gdLst/>
            <a:ahLst/>
            <a:cxnLst/>
            <a:rect l="l" t="t" r="r" b="b"/>
            <a:pathLst>
              <a:path w="6858000" h="12700">
                <a:moveTo>
                  <a:pt x="0" y="0"/>
                </a:moveTo>
                <a:lnTo>
                  <a:pt x="6858000" y="0"/>
                </a:lnTo>
                <a:lnTo>
                  <a:pt x="6858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67750" y="4794250"/>
            <a:ext cx="647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L0 → L1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4981238" y="479425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4:1 合并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667750" y="5048250"/>
            <a:ext cx="63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 → L2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4981238" y="5048250"/>
            <a:ext cx="609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4:1 合并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64550" y="8026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42350" y="8026400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数据流动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42350" y="8382000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 → L0 → L1 → L2 → ...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2195175" y="8026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372975" y="8026400"/>
            <a:ext cx="3479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空间放大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2372975" y="8382000"/>
            <a:ext cx="3467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L0: 64MB → L1: 256MB → L2: 1GB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4229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MemTable设计与SkipList实现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414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In-Memory Buffer with SkipList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2311400"/>
          </a:xfrm>
          <a:custGeom>
            <a:avLst/>
            <a:gdLst/>
            <a:ahLst/>
            <a:cxnLst/>
            <a:rect l="l" t="t" r="r" b="b"/>
            <a:pathLst>
              <a:path w="7493000" h="2311400">
                <a:moveTo>
                  <a:pt x="0" y="0"/>
                </a:moveTo>
                <a:lnTo>
                  <a:pt x="7493000" y="0"/>
                </a:lnTo>
                <a:lnTo>
                  <a:pt x="7493000" y="2311400"/>
                </a:lnTo>
                <a:lnTo>
                  <a:pt x="0" y="231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3263" y="1930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67241" y="18484"/>
                </a:moveTo>
                <a:cubicBezTo>
                  <a:pt x="61659" y="12903"/>
                  <a:pt x="52596" y="12903"/>
                  <a:pt x="47015" y="18484"/>
                </a:cubicBezTo>
                <a:lnTo>
                  <a:pt x="4152" y="61347"/>
                </a:lnTo>
                <a:cubicBezTo>
                  <a:pt x="-1429" y="66928"/>
                  <a:pt x="-1429" y="75992"/>
                  <a:pt x="4152" y="81573"/>
                </a:cubicBezTo>
                <a:cubicBezTo>
                  <a:pt x="9733" y="87154"/>
                  <a:pt x="18797" y="87154"/>
                  <a:pt x="24378" y="81573"/>
                </a:cubicBezTo>
                <a:lnTo>
                  <a:pt x="42863" y="63088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63088"/>
                </a:lnTo>
                <a:lnTo>
                  <a:pt x="89922" y="81573"/>
                </a:lnTo>
                <a:cubicBezTo>
                  <a:pt x="95503" y="87154"/>
                  <a:pt x="104567" y="87154"/>
                  <a:pt x="110148" y="81573"/>
                </a:cubicBezTo>
                <a:cubicBezTo>
                  <a:pt x="115729" y="75992"/>
                  <a:pt x="115729" y="66928"/>
                  <a:pt x="110148" y="61347"/>
                </a:cubicBezTo>
                <a:lnTo>
                  <a:pt x="67285" y="18484"/>
                </a:lnTo>
                <a:close/>
                <a:moveTo>
                  <a:pt x="142875" y="214313"/>
                </a:moveTo>
                <a:lnTo>
                  <a:pt x="157163" y="214313"/>
                </a:lnTo>
                <a:cubicBezTo>
                  <a:pt x="165065" y="214313"/>
                  <a:pt x="171450" y="207928"/>
                  <a:pt x="171450" y="200025"/>
                </a:cubicBezTo>
                <a:cubicBezTo>
                  <a:pt x="171450" y="192122"/>
                  <a:pt x="165065" y="185738"/>
                  <a:pt x="157163" y="185738"/>
                </a:cubicBezTo>
                <a:lnTo>
                  <a:pt x="142875" y="185738"/>
                </a:lnTo>
                <a:cubicBezTo>
                  <a:pt x="134972" y="185738"/>
                  <a:pt x="128588" y="192122"/>
                  <a:pt x="128588" y="200025"/>
                </a:cubicBezTo>
                <a:cubicBezTo>
                  <a:pt x="128588" y="207928"/>
                  <a:pt x="134972" y="214313"/>
                  <a:pt x="142875" y="214313"/>
                </a:cubicBezTo>
                <a:close/>
                <a:moveTo>
                  <a:pt x="142875" y="157163"/>
                </a:moveTo>
                <a:lnTo>
                  <a:pt x="185738" y="157163"/>
                </a:lnTo>
                <a:cubicBezTo>
                  <a:pt x="193640" y="157163"/>
                  <a:pt x="200025" y="150778"/>
                  <a:pt x="200025" y="142875"/>
                </a:cubicBezTo>
                <a:cubicBezTo>
                  <a:pt x="200025" y="134972"/>
                  <a:pt x="193640" y="128588"/>
                  <a:pt x="185738" y="128588"/>
                </a:cubicBezTo>
                <a:lnTo>
                  <a:pt x="142875" y="128588"/>
                </a:lnTo>
                <a:cubicBezTo>
                  <a:pt x="134972" y="128588"/>
                  <a:pt x="128588" y="134972"/>
                  <a:pt x="128588" y="142875"/>
                </a:cubicBezTo>
                <a:cubicBezTo>
                  <a:pt x="128588" y="150778"/>
                  <a:pt x="134972" y="157163"/>
                  <a:pt x="142875" y="157163"/>
                </a:cubicBezTo>
                <a:close/>
                <a:moveTo>
                  <a:pt x="142875" y="100013"/>
                </a:moveTo>
                <a:lnTo>
                  <a:pt x="214313" y="100013"/>
                </a:lnTo>
                <a:cubicBezTo>
                  <a:pt x="222215" y="100013"/>
                  <a:pt x="228600" y="93628"/>
                  <a:pt x="228600" y="85725"/>
                </a:cubicBezTo>
                <a:cubicBezTo>
                  <a:pt x="228600" y="77822"/>
                  <a:pt x="222215" y="71438"/>
                  <a:pt x="214313" y="71438"/>
                </a:cubicBezTo>
                <a:lnTo>
                  <a:pt x="142875" y="71438"/>
                </a:lnTo>
                <a:cubicBezTo>
                  <a:pt x="134972" y="71438"/>
                  <a:pt x="128588" y="77822"/>
                  <a:pt x="128588" y="85725"/>
                </a:cubicBezTo>
                <a:cubicBezTo>
                  <a:pt x="128588" y="93628"/>
                  <a:pt x="134972" y="100013"/>
                  <a:pt x="142875" y="100013"/>
                </a:cubicBezTo>
                <a:close/>
                <a:moveTo>
                  <a:pt x="142875" y="42863"/>
                </a:moveTo>
                <a:lnTo>
                  <a:pt x="242888" y="42863"/>
                </a:lnTo>
                <a:cubicBezTo>
                  <a:pt x="250790" y="42863"/>
                  <a:pt x="257175" y="36478"/>
                  <a:pt x="257175" y="28575"/>
                </a:cubicBezTo>
                <a:cubicBezTo>
                  <a:pt x="257175" y="20672"/>
                  <a:pt x="250790" y="14288"/>
                  <a:pt x="242888" y="14288"/>
                </a:cubicBezTo>
                <a:lnTo>
                  <a:pt x="142875" y="14288"/>
                </a:lnTo>
                <a:cubicBezTo>
                  <a:pt x="134972" y="14288"/>
                  <a:pt x="128588" y="20672"/>
                  <a:pt x="128588" y="28575"/>
                </a:cubicBezTo>
                <a:cubicBezTo>
                  <a:pt x="128588" y="36478"/>
                  <a:pt x="134972" y="42863"/>
                  <a:pt x="142875" y="428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SkipList 多层索引结构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85800" y="2324100"/>
            <a:ext cx="7162800" cy="1168400"/>
          </a:xfrm>
          <a:custGeom>
            <a:avLst/>
            <a:gdLst/>
            <a:ahLst/>
            <a:cxnLst/>
            <a:rect l="l" t="t" r="r" b="b"/>
            <a:pathLst>
              <a:path w="7162800" h="1168400">
                <a:moveTo>
                  <a:pt x="0" y="0"/>
                </a:moveTo>
                <a:lnTo>
                  <a:pt x="7162800" y="0"/>
                </a:lnTo>
                <a:lnTo>
                  <a:pt x="7162800" y="1168400"/>
                </a:lnTo>
                <a:lnTo>
                  <a:pt x="0" y="1168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87400" y="24257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3: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01800" y="2425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70410" y="2425700"/>
            <a:ext cx="320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─────────────────────────────────→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1646" y="2425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87400" y="26797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2: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701800" y="2679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70410" y="2679700"/>
            <a:ext cx="1079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──────────→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81363" y="2679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[30]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749973" y="2679700"/>
            <a:ext cx="1816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──────────────────→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594945" y="2679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87400" y="29337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701800" y="2933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170410" y="29337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363788" y="2933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[10]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832398" y="2933700"/>
            <a:ext cx="90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────────→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759795" y="2933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[30]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228405" y="2933700"/>
            <a:ext cx="901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────────→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155803" y="2933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[50]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624413" y="29337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817791" y="2933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87400" y="3187700"/>
            <a:ext cx="889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701800" y="3187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2170410" y="31877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2363788" y="3187700"/>
            <a:ext cx="4025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[5]→[10]→[15]→[20]→[30]→[35]→[40]→[50]→[60]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10821" y="31877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04198" y="3187700"/>
            <a:ext cx="444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35941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概率性层级分布 | 生产常用: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12-16层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20700" y="4191000"/>
            <a:ext cx="7493000" cy="2476500"/>
          </a:xfrm>
          <a:custGeom>
            <a:avLst/>
            <a:gdLst/>
            <a:ahLst/>
            <a:cxnLst/>
            <a:rect l="l" t="t" r="r" b="b"/>
            <a:pathLst>
              <a:path w="7493000" h="2476500">
                <a:moveTo>
                  <a:pt x="0" y="0"/>
                </a:moveTo>
                <a:lnTo>
                  <a:pt x="7493000" y="0"/>
                </a:lnTo>
                <a:lnTo>
                  <a:pt x="7493000" y="2476500"/>
                </a:lnTo>
                <a:lnTo>
                  <a:pt x="0" y="2476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17550" y="441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977900" y="43561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查找过程示例 (查找 key = 35)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" y="4813300"/>
            <a:ext cx="39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92200" y="4813300"/>
            <a:ext cx="5194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 Level 3 开始: </a:t>
            </a: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 → NULL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(当前层无节点，下降到 Level 2)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5118100"/>
            <a:ext cx="39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092200" y="5118100"/>
            <a:ext cx="558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2: </a:t>
            </a: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HEAD → [30] → NULL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(35 &gt; 30，从节点[30]下降到 Level 1)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" y="5422900"/>
            <a:ext cx="39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92200" y="54229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1: </a:t>
            </a: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[30] → [50]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(35 &lt; 50，从节点[30]下降到 Level 0)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5800" y="5727700"/>
            <a:ext cx="39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1092200" y="5727700"/>
            <a:ext cx="4203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0: 从</a:t>
            </a: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[30]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开始向右遍历 →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[35]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(找到目标节点)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85800" y="6089650"/>
            <a:ext cx="7162800" cy="12700"/>
          </a:xfrm>
          <a:custGeom>
            <a:avLst/>
            <a:gdLst/>
            <a:ahLst/>
            <a:cxnLst/>
            <a:rect l="l" t="t" r="r" b="b"/>
            <a:pathLst>
              <a:path w="7162800" h="12700">
                <a:moveTo>
                  <a:pt x="0" y="0"/>
                </a:moveTo>
                <a:lnTo>
                  <a:pt x="7162800" y="0"/>
                </a:lnTo>
                <a:lnTo>
                  <a:pt x="7162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85800" y="6242050"/>
            <a:ext cx="10209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时间复杂度: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719461" y="6242050"/>
            <a:ext cx="74056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574330" y="6242050"/>
            <a:ext cx="1020961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空间复杂度: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607991" y="6242050"/>
            <a:ext cx="43765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O(n)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42300" y="1701800"/>
            <a:ext cx="7493000" cy="3352800"/>
          </a:xfrm>
          <a:custGeom>
            <a:avLst/>
            <a:gdLst/>
            <a:ahLst/>
            <a:cxnLst/>
            <a:rect l="l" t="t" r="r" b="b"/>
            <a:pathLst>
              <a:path w="7493000" h="3352800">
                <a:moveTo>
                  <a:pt x="0" y="0"/>
                </a:moveTo>
                <a:lnTo>
                  <a:pt x="7493000" y="0"/>
                </a:lnTo>
                <a:lnTo>
                  <a:pt x="74930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453438" y="1930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995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SkipList 节点结构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413750" y="2330450"/>
            <a:ext cx="7150100" cy="2451100"/>
          </a:xfrm>
          <a:custGeom>
            <a:avLst/>
            <a:gdLst/>
            <a:ahLst/>
            <a:cxnLst/>
            <a:rect l="l" t="t" r="r" b="b"/>
            <a:pathLst>
              <a:path w="7150100" h="2451100">
                <a:moveTo>
                  <a:pt x="0" y="0"/>
                </a:moveTo>
                <a:lnTo>
                  <a:pt x="7150100" y="0"/>
                </a:lnTo>
                <a:lnTo>
                  <a:pt x="7150100" y="2451100"/>
                </a:lnTo>
                <a:lnTo>
                  <a:pt x="0" y="24511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521700" y="243840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节点 [30]: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23300" y="2692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623300" y="2946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623300" y="3200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v1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23300" y="3454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Height: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623300" y="3708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forward[0] →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[35]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23300" y="3962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forward[1] → </a:t>
            </a: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[50]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623300" y="4216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forward[2] → </a:t>
            </a: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623300" y="44704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forward[3] → </a:t>
            </a: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8242300" y="5232400"/>
            <a:ext cx="7493000" cy="2946400"/>
          </a:xfrm>
          <a:custGeom>
            <a:avLst/>
            <a:gdLst/>
            <a:ahLst/>
            <a:cxnLst/>
            <a:rect l="l" t="t" r="r" b="b"/>
            <a:pathLst>
              <a:path w="7493000" h="2946400">
                <a:moveTo>
                  <a:pt x="0" y="0"/>
                </a:moveTo>
                <a:lnTo>
                  <a:pt x="7493000" y="0"/>
                </a:lnTo>
                <a:lnTo>
                  <a:pt x="7493000" y="2946400"/>
                </a:lnTo>
                <a:lnTo>
                  <a:pt x="0" y="2946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439150" y="546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67"/>
          <p:cNvSpPr/>
          <p:nvPr/>
        </p:nvSpPr>
        <p:spPr>
          <a:xfrm>
            <a:off x="8699500" y="53975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版本化存储机制</a:t>
            </a: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413750" y="5861050"/>
            <a:ext cx="7150100" cy="1181100"/>
          </a:xfrm>
          <a:custGeom>
            <a:avLst/>
            <a:gdLst/>
            <a:ahLst/>
            <a:cxnLst/>
            <a:rect l="l" t="t" r="r" b="b"/>
            <a:pathLst>
              <a:path w="7150100" h="1181100">
                <a:moveTo>
                  <a:pt x="0" y="0"/>
                </a:moveTo>
                <a:lnTo>
                  <a:pt x="7150100" y="0"/>
                </a:lnTo>
                <a:lnTo>
                  <a:pt x="71501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8521700" y="596900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"user:123"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8623300" y="62230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1010 | Type: </a:t>
            </a:r>
            <a:r>
              <a:rPr lang="en-US" sz="1200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Value: null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8623300" y="64770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1005 | Type: </a:t>
            </a:r>
            <a:r>
              <a:rPr lang="en-US" sz="12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Value: "Bob"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8623300" y="673100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Version: 1001 | Type: </a:t>
            </a:r>
            <a:r>
              <a:rPr lang="en-US" sz="12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Value: "Alice"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8407400" y="71501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单调递增序列号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保证版本顺序</a:t>
            </a:r>
            <a:endParaRPr lang="en-US" sz="1600" dirty="0"/>
          </a:p>
        </p:txBody>
      </p:sp>
      <p:sp>
        <p:nvSpPr>
          <p:cNvPr id="76" name="Text 74"/>
          <p:cNvSpPr/>
          <p:nvPr/>
        </p:nvSpPr>
        <p:spPr>
          <a:xfrm>
            <a:off x="8407400" y="74549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MVCC 支持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支持快照读取</a:t>
            </a:r>
            <a:endParaRPr lang="en-US" sz="1600" dirty="0"/>
          </a:p>
        </p:txBody>
      </p:sp>
      <p:sp>
        <p:nvSpPr>
          <p:cNvPr id="77" name="Text 75"/>
          <p:cNvSpPr/>
          <p:nvPr/>
        </p:nvSpPr>
        <p:spPr>
          <a:xfrm>
            <a:off x="8407400" y="77597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删除标记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使用 Tombstone 标记删除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4178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内存管理与阈值控制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408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Memory Management &amp; Threshold Control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3657600"/>
          </a:xfrm>
          <a:custGeom>
            <a:avLst/>
            <a:gdLst/>
            <a:ahLst/>
            <a:cxnLst/>
            <a:rect l="l" t="t" r="r" b="b"/>
            <a:pathLst>
              <a:path w="7493000" h="3657600">
                <a:moveTo>
                  <a:pt x="0" y="0"/>
                </a:moveTo>
                <a:lnTo>
                  <a:pt x="7493000" y="0"/>
                </a:lnTo>
                <a:lnTo>
                  <a:pt x="74930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24403" y="67241"/>
                </a:moveTo>
                <a:lnTo>
                  <a:pt x="181541" y="110103"/>
                </a:lnTo>
                <a:cubicBezTo>
                  <a:pt x="177433" y="114211"/>
                  <a:pt x="171316" y="115416"/>
                  <a:pt x="165958" y="113184"/>
                </a:cubicBezTo>
                <a:cubicBezTo>
                  <a:pt x="160600" y="110951"/>
                  <a:pt x="157163" y="105772"/>
                  <a:pt x="157163" y="100013"/>
                </a:cubicBezTo>
                <a:lnTo>
                  <a:pt x="157163" y="71438"/>
                </a:ln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157163" y="42863"/>
                </a:lnTo>
                <a:lnTo>
                  <a:pt x="157163" y="14288"/>
                </a:lnTo>
                <a:cubicBezTo>
                  <a:pt x="157163" y="8528"/>
                  <a:pt x="160645" y="3304"/>
                  <a:pt x="166003" y="1072"/>
                </a:cubicBezTo>
                <a:cubicBezTo>
                  <a:pt x="171361" y="-1161"/>
                  <a:pt x="177478" y="89"/>
                  <a:pt x="181585" y="4152"/>
                </a:cubicBezTo>
                <a:lnTo>
                  <a:pt x="224448" y="47015"/>
                </a:lnTo>
                <a:cubicBezTo>
                  <a:pt x="230029" y="52596"/>
                  <a:pt x="230029" y="61659"/>
                  <a:pt x="224448" y="67241"/>
                </a:cubicBezTo>
                <a:close/>
                <a:moveTo>
                  <a:pt x="47015" y="224403"/>
                </a:moveTo>
                <a:lnTo>
                  <a:pt x="4152" y="181541"/>
                </a:lnTo>
                <a:cubicBezTo>
                  <a:pt x="-1429" y="175959"/>
                  <a:pt x="-1429" y="166896"/>
                  <a:pt x="4152" y="161315"/>
                </a:cubicBezTo>
                <a:lnTo>
                  <a:pt x="47015" y="118452"/>
                </a:lnTo>
                <a:cubicBezTo>
                  <a:pt x="51122" y="114345"/>
                  <a:pt x="57239" y="113139"/>
                  <a:pt x="62597" y="115372"/>
                </a:cubicBezTo>
                <a:cubicBezTo>
                  <a:pt x="67955" y="117604"/>
                  <a:pt x="71438" y="122828"/>
                  <a:pt x="71438" y="128588"/>
                </a:cubicBezTo>
                <a:lnTo>
                  <a:pt x="71438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cubicBezTo>
                  <a:pt x="228600" y="179353"/>
                  <a:pt x="222215" y="185738"/>
                  <a:pt x="214313" y="185738"/>
                </a:cubicBezTo>
                <a:lnTo>
                  <a:pt x="71438" y="185738"/>
                </a:lnTo>
                <a:lnTo>
                  <a:pt x="71438" y="214313"/>
                </a:lnTo>
                <a:cubicBezTo>
                  <a:pt x="71438" y="220072"/>
                  <a:pt x="67955" y="225296"/>
                  <a:pt x="62597" y="227528"/>
                </a:cubicBezTo>
                <a:cubicBezTo>
                  <a:pt x="57239" y="229761"/>
                  <a:pt x="51122" y="228511"/>
                  <a:pt x="47015" y="22444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MemTable 状态转换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2150" y="2330450"/>
            <a:ext cx="7150100" cy="2501900"/>
          </a:xfrm>
          <a:custGeom>
            <a:avLst/>
            <a:gdLst/>
            <a:ahLst/>
            <a:cxnLst/>
            <a:rect l="l" t="t" r="r" b="b"/>
            <a:pathLst>
              <a:path w="7150100" h="2501900">
                <a:moveTo>
                  <a:pt x="0" y="0"/>
                </a:moveTo>
                <a:lnTo>
                  <a:pt x="7150100" y="0"/>
                </a:lnTo>
                <a:lnTo>
                  <a:pt x="7150100" y="2501900"/>
                </a:lnTo>
                <a:lnTo>
                  <a:pt x="0" y="25019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0100" y="2438400"/>
            <a:ext cx="151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MemTable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58087" y="2463800"/>
            <a:ext cx="105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45MB / 64MB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6450" y="2800350"/>
            <a:ext cx="6921500" cy="88900"/>
          </a:xfrm>
          <a:custGeom>
            <a:avLst/>
            <a:gdLst/>
            <a:ahLst/>
            <a:cxnLst/>
            <a:rect l="l" t="t" r="r" b="b"/>
            <a:pathLst>
              <a:path w="6921500" h="88900">
                <a:moveTo>
                  <a:pt x="0" y="0"/>
                </a:moveTo>
                <a:lnTo>
                  <a:pt x="6921500" y="0"/>
                </a:lnTo>
                <a:lnTo>
                  <a:pt x="6921500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812800" y="2806700"/>
            <a:ext cx="4838700" cy="76200"/>
          </a:xfrm>
          <a:custGeom>
            <a:avLst/>
            <a:gdLst/>
            <a:ahLst/>
            <a:cxnLst/>
            <a:rect l="l" t="t" r="r" b="b"/>
            <a:pathLst>
              <a:path w="4838700" h="76200">
                <a:moveTo>
                  <a:pt x="0" y="0"/>
                </a:moveTo>
                <a:lnTo>
                  <a:pt x="4838700" y="0"/>
                </a:lnTo>
                <a:lnTo>
                  <a:pt x="48387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36600" y="29972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64MB 触发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" y="3454400"/>
            <a:ext cx="1866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 MemTable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57491" y="3479800"/>
            <a:ext cx="105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FDC7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 / 64MB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6450" y="3816350"/>
            <a:ext cx="6921500" cy="88900"/>
          </a:xfrm>
          <a:custGeom>
            <a:avLst/>
            <a:gdLst/>
            <a:ahLst/>
            <a:cxnLst/>
            <a:rect l="l" t="t" r="r" b="b"/>
            <a:pathLst>
              <a:path w="6921500" h="88900">
                <a:moveTo>
                  <a:pt x="0" y="0"/>
                </a:moveTo>
                <a:lnTo>
                  <a:pt x="6921500" y="0"/>
                </a:lnTo>
                <a:lnTo>
                  <a:pt x="6921500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12800" y="3822700"/>
            <a:ext cx="6908800" cy="76200"/>
          </a:xfrm>
          <a:custGeom>
            <a:avLst/>
            <a:gdLst/>
            <a:ahLst/>
            <a:cxnLst/>
            <a:rect l="l" t="t" r="r" b="b"/>
            <a:pathLst>
              <a:path w="6908800" h="76200">
                <a:moveTo>
                  <a:pt x="0" y="0"/>
                </a:moveTo>
                <a:lnTo>
                  <a:pt x="6908800" y="0"/>
                </a:lnTo>
                <a:lnTo>
                  <a:pt x="69088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736600" y="40132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后台刷盘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5650" y="44704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 Level 0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5800" y="49403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新数据继续写入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新的 Active MemTable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20700" y="5537200"/>
            <a:ext cx="7493000" cy="2971800"/>
          </a:xfrm>
          <a:custGeom>
            <a:avLst/>
            <a:gdLst/>
            <a:ahLst/>
            <a:cxnLst/>
            <a:rect l="l" t="t" r="r" b="b"/>
            <a:pathLst>
              <a:path w="7493000" h="2971800">
                <a:moveTo>
                  <a:pt x="0" y="0"/>
                </a:moveTo>
                <a:lnTo>
                  <a:pt x="7493000" y="0"/>
                </a:lnTo>
                <a:lnTo>
                  <a:pt x="74930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717550" y="5765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2147"/>
                </a:moveTo>
                <a:cubicBezTo>
                  <a:pt x="0" y="26253"/>
                  <a:pt x="4777" y="21431"/>
                  <a:pt x="10716" y="21431"/>
                </a:cubicBezTo>
                <a:lnTo>
                  <a:pt x="32147" y="21431"/>
                </a:lnTo>
                <a:cubicBezTo>
                  <a:pt x="38085" y="21431"/>
                  <a:pt x="42863" y="26209"/>
                  <a:pt x="42863" y="32147"/>
                </a:cubicBezTo>
                <a:lnTo>
                  <a:pt x="42863" y="78581"/>
                </a:lnTo>
                <a:lnTo>
                  <a:pt x="53578" y="78581"/>
                </a:lnTo>
                <a:cubicBezTo>
                  <a:pt x="59516" y="78581"/>
                  <a:pt x="64294" y="83359"/>
                  <a:pt x="64294" y="89297"/>
                </a:cubicBezTo>
                <a:cubicBezTo>
                  <a:pt x="64294" y="95235"/>
                  <a:pt x="59516" y="100013"/>
                  <a:pt x="53578" y="100013"/>
                </a:cubicBezTo>
                <a:lnTo>
                  <a:pt x="10716" y="100013"/>
                </a:lnTo>
                <a:cubicBezTo>
                  <a:pt x="4777" y="100013"/>
                  <a:pt x="0" y="95235"/>
                  <a:pt x="0" y="89297"/>
                </a:cubicBezTo>
                <a:cubicBezTo>
                  <a:pt x="0" y="83359"/>
                  <a:pt x="4777" y="78581"/>
                  <a:pt x="10716" y="78581"/>
                </a:cubicBezTo>
                <a:lnTo>
                  <a:pt x="21431" y="78581"/>
                </a:lnTo>
                <a:lnTo>
                  <a:pt x="21431" y="42863"/>
                </a:lnTo>
                <a:lnTo>
                  <a:pt x="10716" y="42863"/>
                </a:lnTo>
                <a:cubicBezTo>
                  <a:pt x="4777" y="42863"/>
                  <a:pt x="0" y="38085"/>
                  <a:pt x="0" y="32147"/>
                </a:cubicBezTo>
                <a:close/>
                <a:moveTo>
                  <a:pt x="13573" y="134481"/>
                </a:moveTo>
                <a:cubicBezTo>
                  <a:pt x="18663" y="130641"/>
                  <a:pt x="24869" y="128588"/>
                  <a:pt x="31254" y="128588"/>
                </a:cubicBezTo>
                <a:lnTo>
                  <a:pt x="33442" y="128588"/>
                </a:lnTo>
                <a:cubicBezTo>
                  <a:pt x="48488" y="128588"/>
                  <a:pt x="60722" y="140821"/>
                  <a:pt x="60722" y="155868"/>
                </a:cubicBezTo>
                <a:cubicBezTo>
                  <a:pt x="60722" y="164619"/>
                  <a:pt x="56525" y="172789"/>
                  <a:pt x="49470" y="177924"/>
                </a:cubicBezTo>
                <a:lnTo>
                  <a:pt x="38755" y="185738"/>
                </a:lnTo>
                <a:lnTo>
                  <a:pt x="53578" y="185738"/>
                </a:lnTo>
                <a:cubicBezTo>
                  <a:pt x="59516" y="185738"/>
                  <a:pt x="64294" y="190515"/>
                  <a:pt x="64294" y="196453"/>
                </a:cubicBezTo>
                <a:cubicBezTo>
                  <a:pt x="64294" y="202391"/>
                  <a:pt x="59516" y="207169"/>
                  <a:pt x="53578" y="207169"/>
                </a:cubicBezTo>
                <a:lnTo>
                  <a:pt x="13082" y="207169"/>
                </a:lnTo>
                <a:cubicBezTo>
                  <a:pt x="5849" y="207169"/>
                  <a:pt x="0" y="201320"/>
                  <a:pt x="0" y="194087"/>
                </a:cubicBezTo>
                <a:cubicBezTo>
                  <a:pt x="0" y="189890"/>
                  <a:pt x="2009" y="185961"/>
                  <a:pt x="5402" y="183505"/>
                </a:cubicBezTo>
                <a:lnTo>
                  <a:pt x="36880" y="160600"/>
                </a:lnTo>
                <a:cubicBezTo>
                  <a:pt x="38398" y="159484"/>
                  <a:pt x="39291" y="157743"/>
                  <a:pt x="39291" y="155868"/>
                </a:cubicBezTo>
                <a:cubicBezTo>
                  <a:pt x="39291" y="152653"/>
                  <a:pt x="36656" y="150019"/>
                  <a:pt x="33442" y="150019"/>
                </a:cubicBezTo>
                <a:lnTo>
                  <a:pt x="31254" y="150019"/>
                </a:lnTo>
                <a:cubicBezTo>
                  <a:pt x="29513" y="150019"/>
                  <a:pt x="27816" y="150599"/>
                  <a:pt x="26432" y="151626"/>
                </a:cubicBezTo>
                <a:lnTo>
                  <a:pt x="17145" y="158591"/>
                </a:lnTo>
                <a:cubicBezTo>
                  <a:pt x="12412" y="162163"/>
                  <a:pt x="5715" y="161181"/>
                  <a:pt x="2143" y="156448"/>
                </a:cubicBezTo>
                <a:cubicBezTo>
                  <a:pt x="-1429" y="151715"/>
                  <a:pt x="-446" y="145018"/>
                  <a:pt x="4286" y="141446"/>
                </a:cubicBezTo>
                <a:lnTo>
                  <a:pt x="13573" y="134481"/>
                </a:lnTo>
                <a:close/>
                <a:moveTo>
                  <a:pt x="100013" y="28575"/>
                </a:move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00013" y="57150"/>
                </a:lnTo>
                <a:cubicBezTo>
                  <a:pt x="92110" y="57150"/>
                  <a:pt x="85725" y="50765"/>
                  <a:pt x="85725" y="42863"/>
                </a:cubicBezTo>
                <a:cubicBezTo>
                  <a:pt x="85725" y="34960"/>
                  <a:pt x="92110" y="28575"/>
                  <a:pt x="100013" y="28575"/>
                </a:cubicBezTo>
                <a:close/>
                <a:moveTo>
                  <a:pt x="100013" y="100013"/>
                </a:move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00013" y="128588"/>
                </a:lnTo>
                <a:cubicBezTo>
                  <a:pt x="92110" y="128588"/>
                  <a:pt x="85725" y="122203"/>
                  <a:pt x="85725" y="114300"/>
                </a:cubicBezTo>
                <a:cubicBezTo>
                  <a:pt x="85725" y="106397"/>
                  <a:pt x="92110" y="100013"/>
                  <a:pt x="100013" y="100013"/>
                </a:cubicBezTo>
                <a:close/>
                <a:moveTo>
                  <a:pt x="100013" y="171450"/>
                </a:move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100013" y="200025"/>
                </a:lnTo>
                <a:cubicBezTo>
                  <a:pt x="92110" y="200025"/>
                  <a:pt x="85725" y="193640"/>
                  <a:pt x="85725" y="185738"/>
                </a:cubicBezTo>
                <a:cubicBezTo>
                  <a:pt x="85725" y="177835"/>
                  <a:pt x="92110" y="171450"/>
                  <a:pt x="100013" y="17145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77900" y="57023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内存管理参数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11200" y="61595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89000" y="6184900"/>
            <a:ext cx="195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 大小阈值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6796" y="6159500"/>
            <a:ext cx="73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9000" y="6565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触发刷盘操作，根据内存容量调整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1200" y="69215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89000" y="6946900"/>
            <a:ext cx="195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Immutable 队列长度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188398" y="6921500"/>
            <a:ext cx="77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个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9000" y="7327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控制内存使用，避免内存溢出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200" y="76835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89000" y="770890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写入缓冲区大小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16701" y="7683500"/>
            <a:ext cx="546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4KB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9000" y="8089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批量写入优化，根据写入模式调整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42300" y="1689100"/>
            <a:ext cx="25400" cy="6946900"/>
          </a:xfrm>
          <a:custGeom>
            <a:avLst/>
            <a:gdLst/>
            <a:ahLst/>
            <a:cxnLst/>
            <a:rect l="l" t="t" r="r" b="b"/>
            <a:pathLst>
              <a:path w="25400" h="6946900">
                <a:moveTo>
                  <a:pt x="0" y="0"/>
                </a:moveTo>
                <a:lnTo>
                  <a:pt x="25400" y="0"/>
                </a:lnTo>
                <a:lnTo>
                  <a:pt x="25400" y="6946900"/>
                </a:lnTo>
                <a:lnTo>
                  <a:pt x="0" y="69469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483600" y="2080617"/>
            <a:ext cx="50800" cy="2032000"/>
          </a:xfrm>
          <a:custGeom>
            <a:avLst/>
            <a:gdLst/>
            <a:ahLst/>
            <a:cxnLst/>
            <a:rect l="l" t="t" r="r" b="b"/>
            <a:pathLst>
              <a:path w="50800" h="2032000">
                <a:moveTo>
                  <a:pt x="0" y="0"/>
                </a:moveTo>
                <a:lnTo>
                  <a:pt x="50800" y="0"/>
                </a:lnTo>
                <a:lnTo>
                  <a:pt x="50800" y="2032000"/>
                </a:lnTo>
                <a:lnTo>
                  <a:pt x="0" y="2032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743950" y="2131417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22250" y="127000"/>
                </a:moveTo>
                <a:cubicBezTo>
                  <a:pt x="222250" y="74430"/>
                  <a:pt x="179570" y="31750"/>
                  <a:pt x="127000" y="31750"/>
                </a:cubicBezTo>
                <a:cubicBezTo>
                  <a:pt x="74430" y="31750"/>
                  <a:pt x="31750" y="74430"/>
                  <a:pt x="31750" y="127000"/>
                </a:cubicBezTo>
                <a:cubicBezTo>
                  <a:pt x="31750" y="179570"/>
                  <a:pt x="74430" y="222250"/>
                  <a:pt x="127000" y="222250"/>
                </a:cubicBezTo>
                <a:cubicBezTo>
                  <a:pt x="179570" y="222250"/>
                  <a:pt x="222250" y="179570"/>
                  <a:pt x="222250" y="127000"/>
                </a:cubicBezTo>
                <a:close/>
                <a:moveTo>
                  <a:pt x="0" y="127000"/>
                </a:moveTo>
                <a:cubicBezTo>
                  <a:pt x="0" y="56907"/>
                  <a:pt x="56907" y="0"/>
                  <a:pt x="127000" y="0"/>
                </a:cubicBezTo>
                <a:cubicBezTo>
                  <a:pt x="197093" y="0"/>
                  <a:pt x="254000" y="56907"/>
                  <a:pt x="254000" y="127000"/>
                </a:cubicBezTo>
                <a:cubicBezTo>
                  <a:pt x="254000" y="197093"/>
                  <a:pt x="197093" y="254000"/>
                  <a:pt x="127000" y="254000"/>
                </a:cubicBezTo>
                <a:cubicBezTo>
                  <a:pt x="56907" y="254000"/>
                  <a:pt x="0" y="197093"/>
                  <a:pt x="0" y="127000"/>
                </a:cubicBezTo>
                <a:close/>
                <a:moveTo>
                  <a:pt x="127000" y="166688"/>
                </a:moveTo>
                <a:cubicBezTo>
                  <a:pt x="148904" y="166688"/>
                  <a:pt x="166688" y="148904"/>
                  <a:pt x="166688" y="127000"/>
                </a:cubicBezTo>
                <a:cubicBezTo>
                  <a:pt x="166688" y="105096"/>
                  <a:pt x="148904" y="87313"/>
                  <a:pt x="127000" y="87313"/>
                </a:cubicBezTo>
                <a:cubicBezTo>
                  <a:pt x="105096" y="87313"/>
                  <a:pt x="87313" y="105096"/>
                  <a:pt x="87313" y="127000"/>
                </a:cubicBezTo>
                <a:cubicBezTo>
                  <a:pt x="87313" y="148904"/>
                  <a:pt x="105096" y="166688"/>
                  <a:pt x="127000" y="166688"/>
                </a:cubicBezTo>
                <a:close/>
                <a:moveTo>
                  <a:pt x="127000" y="55563"/>
                </a:moveTo>
                <a:cubicBezTo>
                  <a:pt x="166427" y="55563"/>
                  <a:pt x="198438" y="87573"/>
                  <a:pt x="198438" y="127000"/>
                </a:cubicBezTo>
                <a:cubicBezTo>
                  <a:pt x="198438" y="166427"/>
                  <a:pt x="166427" y="198438"/>
                  <a:pt x="127000" y="198438"/>
                </a:cubicBezTo>
                <a:cubicBezTo>
                  <a:pt x="87573" y="198438"/>
                  <a:pt x="55563" y="166427"/>
                  <a:pt x="55563" y="127000"/>
                </a:cubicBezTo>
                <a:cubicBezTo>
                  <a:pt x="55563" y="87573"/>
                  <a:pt x="87573" y="55563"/>
                  <a:pt x="127000" y="55563"/>
                </a:cubicBezTo>
                <a:close/>
                <a:moveTo>
                  <a:pt x="111125" y="127000"/>
                </a:moveTo>
                <a:cubicBezTo>
                  <a:pt x="111125" y="118238"/>
                  <a:pt x="118238" y="111125"/>
                  <a:pt x="127000" y="111125"/>
                </a:cubicBezTo>
                <a:cubicBezTo>
                  <a:pt x="135762" y="111125"/>
                  <a:pt x="142875" y="118238"/>
                  <a:pt x="142875" y="127000"/>
                </a:cubicBezTo>
                <a:cubicBezTo>
                  <a:pt x="142875" y="135762"/>
                  <a:pt x="135762" y="142875"/>
                  <a:pt x="127000" y="142875"/>
                </a:cubicBezTo>
                <a:cubicBezTo>
                  <a:pt x="118238" y="142875"/>
                  <a:pt x="111125" y="135762"/>
                  <a:pt x="111125" y="1270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9029700" y="2080617"/>
            <a:ext cx="6845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设计目标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712200" y="2588617"/>
            <a:ext cx="713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提供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高性能写入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12200" y="2995017"/>
            <a:ext cx="713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保证数据的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持久性和一致性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12200" y="3401417"/>
            <a:ext cx="713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崩溃恢复</a:t>
            </a: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712200" y="3807817"/>
            <a:ext cx="713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优化内存使用</a:t>
            </a: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避免溢出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58200" y="4908451"/>
            <a:ext cx="7289800" cy="25400"/>
          </a:xfrm>
          <a:custGeom>
            <a:avLst/>
            <a:gdLst/>
            <a:ahLst/>
            <a:cxnLst/>
            <a:rect l="l" t="t" r="r" b="b"/>
            <a:pathLst>
              <a:path w="7289800" h="25400">
                <a:moveTo>
                  <a:pt x="0" y="0"/>
                </a:moveTo>
                <a:lnTo>
                  <a:pt x="7289800" y="0"/>
                </a:lnTo>
                <a:lnTo>
                  <a:pt x="72898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489950" y="5175151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31750" y="22969"/>
                  <a:pt x="24656" y="15875"/>
                  <a:pt x="15875" y="15875"/>
                </a:cubicBezTo>
                <a:cubicBezTo>
                  <a:pt x="7094" y="15875"/>
                  <a:pt x="0" y="22969"/>
                  <a:pt x="0" y="31750"/>
                </a:cubicBezTo>
                <a:lnTo>
                  <a:pt x="0" y="198438"/>
                </a:lnTo>
                <a:cubicBezTo>
                  <a:pt x="0" y="220365"/>
                  <a:pt x="17760" y="238125"/>
                  <a:pt x="39688" y="238125"/>
                </a:cubicBezTo>
                <a:lnTo>
                  <a:pt x="238125" y="238125"/>
                </a:lnTo>
                <a:cubicBezTo>
                  <a:pt x="246906" y="238125"/>
                  <a:pt x="254000" y="231031"/>
                  <a:pt x="254000" y="222250"/>
                </a:cubicBezTo>
                <a:cubicBezTo>
                  <a:pt x="254000" y="213469"/>
                  <a:pt x="246906" y="206375"/>
                  <a:pt x="238125" y="206375"/>
                </a:cubicBezTo>
                <a:lnTo>
                  <a:pt x="39688" y="206375"/>
                </a:lnTo>
                <a:cubicBezTo>
                  <a:pt x="35322" y="206375"/>
                  <a:pt x="31750" y="202803"/>
                  <a:pt x="31750" y="198438"/>
                </a:cubicBezTo>
                <a:lnTo>
                  <a:pt x="31750" y="31750"/>
                </a:lnTo>
                <a:close/>
                <a:moveTo>
                  <a:pt x="233462" y="74712"/>
                </a:moveTo>
                <a:cubicBezTo>
                  <a:pt x="239663" y="68511"/>
                  <a:pt x="239663" y="58440"/>
                  <a:pt x="233462" y="52239"/>
                </a:cubicBezTo>
                <a:cubicBezTo>
                  <a:pt x="227261" y="46037"/>
                  <a:pt x="217190" y="46037"/>
                  <a:pt x="210989" y="52239"/>
                </a:cubicBezTo>
                <a:lnTo>
                  <a:pt x="158750" y="104527"/>
                </a:lnTo>
                <a:lnTo>
                  <a:pt x="130274" y="76101"/>
                </a:lnTo>
                <a:cubicBezTo>
                  <a:pt x="124073" y="69900"/>
                  <a:pt x="114002" y="69900"/>
                  <a:pt x="107801" y="76101"/>
                </a:cubicBezTo>
                <a:lnTo>
                  <a:pt x="60176" y="123726"/>
                </a:lnTo>
                <a:cubicBezTo>
                  <a:pt x="53975" y="129927"/>
                  <a:pt x="53975" y="139998"/>
                  <a:pt x="60176" y="146199"/>
                </a:cubicBezTo>
                <a:cubicBezTo>
                  <a:pt x="66377" y="152400"/>
                  <a:pt x="76448" y="152400"/>
                  <a:pt x="82649" y="146199"/>
                </a:cubicBezTo>
                <a:lnTo>
                  <a:pt x="119063" y="109786"/>
                </a:lnTo>
                <a:lnTo>
                  <a:pt x="147538" y="138261"/>
                </a:lnTo>
                <a:cubicBezTo>
                  <a:pt x="153739" y="144463"/>
                  <a:pt x="163810" y="144463"/>
                  <a:pt x="170011" y="138261"/>
                </a:cubicBezTo>
                <a:lnTo>
                  <a:pt x="233511" y="74761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775700" y="5124351"/>
            <a:ext cx="709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性能特点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82000" y="5632351"/>
            <a:ext cx="3721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13750" y="6038751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插入/查找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2103100" y="5632351"/>
            <a:ext cx="3721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1ms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134850" y="6038751"/>
            <a:ext cx="3657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写入延迟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58200" y="7088584"/>
            <a:ext cx="7289800" cy="25400"/>
          </a:xfrm>
          <a:custGeom>
            <a:avLst/>
            <a:gdLst/>
            <a:ahLst/>
            <a:cxnLst/>
            <a:rect l="l" t="t" r="r" b="b"/>
            <a:pathLst>
              <a:path w="7289800" h="25400">
                <a:moveTo>
                  <a:pt x="0" y="0"/>
                </a:moveTo>
                <a:lnTo>
                  <a:pt x="7289800" y="0"/>
                </a:lnTo>
                <a:lnTo>
                  <a:pt x="7289800" y="25400"/>
                </a:lnTo>
                <a:lnTo>
                  <a:pt x="0" y="25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489950" y="7355284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31750" y="31750"/>
                </a:moveTo>
                <a:cubicBezTo>
                  <a:pt x="14238" y="31750"/>
                  <a:pt x="0" y="45988"/>
                  <a:pt x="0" y="63500"/>
                </a:cubicBezTo>
                <a:lnTo>
                  <a:pt x="0" y="67171"/>
                </a:lnTo>
                <a:cubicBezTo>
                  <a:pt x="0" y="70545"/>
                  <a:pt x="2183" y="73422"/>
                  <a:pt x="5011" y="75257"/>
                </a:cubicBezTo>
                <a:cubicBezTo>
                  <a:pt x="11559" y="79524"/>
                  <a:pt x="15875" y="86866"/>
                  <a:pt x="15875" y="95250"/>
                </a:cubicBezTo>
                <a:cubicBezTo>
                  <a:pt x="15875" y="103634"/>
                  <a:pt x="11559" y="110976"/>
                  <a:pt x="5011" y="115243"/>
                </a:cubicBezTo>
                <a:cubicBezTo>
                  <a:pt x="2183" y="117078"/>
                  <a:pt x="0" y="119955"/>
                  <a:pt x="0" y="123329"/>
                </a:cubicBezTo>
                <a:lnTo>
                  <a:pt x="0" y="150813"/>
                </a:lnTo>
                <a:lnTo>
                  <a:pt x="254000" y="150813"/>
                </a:lnTo>
                <a:lnTo>
                  <a:pt x="254000" y="123329"/>
                </a:lnTo>
                <a:cubicBezTo>
                  <a:pt x="254000" y="119955"/>
                  <a:pt x="251817" y="117078"/>
                  <a:pt x="248989" y="115243"/>
                </a:cubicBezTo>
                <a:cubicBezTo>
                  <a:pt x="242441" y="110976"/>
                  <a:pt x="238125" y="103634"/>
                  <a:pt x="238125" y="95250"/>
                </a:cubicBezTo>
                <a:cubicBezTo>
                  <a:pt x="238125" y="86866"/>
                  <a:pt x="242441" y="79524"/>
                  <a:pt x="248989" y="75257"/>
                </a:cubicBezTo>
                <a:cubicBezTo>
                  <a:pt x="251817" y="73422"/>
                  <a:pt x="254000" y="70545"/>
                  <a:pt x="254000" y="67171"/>
                </a:cubicBezTo>
                <a:lnTo>
                  <a:pt x="254000" y="63500"/>
                </a:lnTo>
                <a:cubicBezTo>
                  <a:pt x="254000" y="45988"/>
                  <a:pt x="239762" y="31750"/>
                  <a:pt x="222250" y="31750"/>
                </a:cubicBezTo>
                <a:lnTo>
                  <a:pt x="31750" y="31750"/>
                </a:lnTo>
                <a:close/>
                <a:moveTo>
                  <a:pt x="254000" y="206375"/>
                </a:moveTo>
                <a:lnTo>
                  <a:pt x="254000" y="174625"/>
                </a:lnTo>
                <a:lnTo>
                  <a:pt x="0" y="174625"/>
                </a:lnTo>
                <a:lnTo>
                  <a:pt x="0" y="206375"/>
                </a:lnTo>
                <a:cubicBezTo>
                  <a:pt x="0" y="215156"/>
                  <a:pt x="7094" y="222250"/>
                  <a:pt x="15875" y="222250"/>
                </a:cubicBezTo>
                <a:lnTo>
                  <a:pt x="47625" y="222250"/>
                </a:lnTo>
                <a:lnTo>
                  <a:pt x="47625" y="210344"/>
                </a:lnTo>
                <a:cubicBezTo>
                  <a:pt x="47625" y="203746"/>
                  <a:pt x="52933" y="198438"/>
                  <a:pt x="59531" y="198438"/>
                </a:cubicBezTo>
                <a:cubicBezTo>
                  <a:pt x="66129" y="198438"/>
                  <a:pt x="71438" y="203746"/>
                  <a:pt x="71438" y="210344"/>
                </a:cubicBezTo>
                <a:lnTo>
                  <a:pt x="71438" y="222250"/>
                </a:lnTo>
                <a:lnTo>
                  <a:pt x="115094" y="222250"/>
                </a:lnTo>
                <a:lnTo>
                  <a:pt x="115094" y="210344"/>
                </a:lnTo>
                <a:cubicBezTo>
                  <a:pt x="115094" y="203746"/>
                  <a:pt x="120402" y="198438"/>
                  <a:pt x="127000" y="198438"/>
                </a:cubicBezTo>
                <a:cubicBezTo>
                  <a:pt x="133598" y="198438"/>
                  <a:pt x="138906" y="203746"/>
                  <a:pt x="138906" y="210344"/>
                </a:cubicBezTo>
                <a:lnTo>
                  <a:pt x="138906" y="222250"/>
                </a:lnTo>
                <a:lnTo>
                  <a:pt x="182563" y="222250"/>
                </a:lnTo>
                <a:lnTo>
                  <a:pt x="182563" y="210344"/>
                </a:lnTo>
                <a:cubicBezTo>
                  <a:pt x="182563" y="203746"/>
                  <a:pt x="187871" y="198438"/>
                  <a:pt x="194469" y="198438"/>
                </a:cubicBezTo>
                <a:cubicBezTo>
                  <a:pt x="201067" y="198438"/>
                  <a:pt x="206375" y="203746"/>
                  <a:pt x="206375" y="210344"/>
                </a:cubicBezTo>
                <a:lnTo>
                  <a:pt x="206375" y="222250"/>
                </a:lnTo>
                <a:lnTo>
                  <a:pt x="238125" y="222250"/>
                </a:lnTo>
                <a:cubicBezTo>
                  <a:pt x="246906" y="222250"/>
                  <a:pt x="254000" y="215156"/>
                  <a:pt x="254000" y="206375"/>
                </a:cubicBezTo>
                <a:close/>
                <a:moveTo>
                  <a:pt x="79375" y="79375"/>
                </a:moveTo>
                <a:lnTo>
                  <a:pt x="79375" y="111125"/>
                </a:lnTo>
                <a:cubicBezTo>
                  <a:pt x="79375" y="119906"/>
                  <a:pt x="72281" y="127000"/>
                  <a:pt x="63500" y="127000"/>
                </a:cubicBezTo>
                <a:cubicBezTo>
                  <a:pt x="54719" y="127000"/>
                  <a:pt x="47625" y="119906"/>
                  <a:pt x="47625" y="111125"/>
                </a:cubicBezTo>
                <a:lnTo>
                  <a:pt x="47625" y="79375"/>
                </a:lnTo>
                <a:cubicBezTo>
                  <a:pt x="47625" y="70594"/>
                  <a:pt x="54719" y="63500"/>
                  <a:pt x="63500" y="63500"/>
                </a:cubicBezTo>
                <a:cubicBezTo>
                  <a:pt x="72281" y="63500"/>
                  <a:pt x="79375" y="70594"/>
                  <a:pt x="79375" y="79375"/>
                </a:cubicBezTo>
                <a:close/>
                <a:moveTo>
                  <a:pt x="142875" y="79375"/>
                </a:moveTo>
                <a:lnTo>
                  <a:pt x="142875" y="111125"/>
                </a:lnTo>
                <a:cubicBezTo>
                  <a:pt x="142875" y="119906"/>
                  <a:pt x="135781" y="127000"/>
                  <a:pt x="127000" y="127000"/>
                </a:cubicBezTo>
                <a:cubicBezTo>
                  <a:pt x="118219" y="127000"/>
                  <a:pt x="111125" y="119906"/>
                  <a:pt x="111125" y="111125"/>
                </a:cubicBezTo>
                <a:lnTo>
                  <a:pt x="111125" y="79375"/>
                </a:lnTo>
                <a:cubicBezTo>
                  <a:pt x="111125" y="70594"/>
                  <a:pt x="118219" y="63500"/>
                  <a:pt x="127000" y="63500"/>
                </a:cubicBezTo>
                <a:cubicBezTo>
                  <a:pt x="135781" y="63500"/>
                  <a:pt x="142875" y="70594"/>
                  <a:pt x="142875" y="79375"/>
                </a:cubicBezTo>
                <a:close/>
                <a:moveTo>
                  <a:pt x="206375" y="79375"/>
                </a:moveTo>
                <a:lnTo>
                  <a:pt x="206375" y="111125"/>
                </a:lnTo>
                <a:cubicBezTo>
                  <a:pt x="206375" y="119906"/>
                  <a:pt x="199281" y="127000"/>
                  <a:pt x="190500" y="127000"/>
                </a:cubicBezTo>
                <a:cubicBezTo>
                  <a:pt x="181719" y="127000"/>
                  <a:pt x="174625" y="119906"/>
                  <a:pt x="174625" y="111125"/>
                </a:cubicBezTo>
                <a:lnTo>
                  <a:pt x="174625" y="79375"/>
                </a:lnTo>
                <a:cubicBezTo>
                  <a:pt x="174625" y="70594"/>
                  <a:pt x="181719" y="63500"/>
                  <a:pt x="190500" y="63500"/>
                </a:cubicBezTo>
                <a:cubicBezTo>
                  <a:pt x="199281" y="63500"/>
                  <a:pt x="206375" y="70594"/>
                  <a:pt x="206375" y="79375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775700" y="7304484"/>
            <a:ext cx="709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内存分配器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464550" y="7818834"/>
            <a:ext cx="1092200" cy="419100"/>
          </a:xfrm>
          <a:custGeom>
            <a:avLst/>
            <a:gdLst/>
            <a:ahLst/>
            <a:cxnLst/>
            <a:rect l="l" t="t" r="r" b="b"/>
            <a:pathLst>
              <a:path w="1092200" h="419100">
                <a:moveTo>
                  <a:pt x="0" y="0"/>
                </a:moveTo>
                <a:lnTo>
                  <a:pt x="1092200" y="0"/>
                </a:lnTo>
                <a:lnTo>
                  <a:pt x="10922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623300" y="7895034"/>
            <a:ext cx="87580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jemalloc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715004" y="7901384"/>
            <a:ext cx="2400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减少内存碎片，生产环境推荐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136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SSTable文件格式设计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04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Sorted String Table File Format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9042400" cy="4038600"/>
          </a:xfrm>
          <a:custGeom>
            <a:avLst/>
            <a:gdLst/>
            <a:ahLst/>
            <a:cxnLst/>
            <a:rect l="l" t="t" r="r" b="b"/>
            <a:pathLst>
              <a:path w="9042400" h="4038600">
                <a:moveTo>
                  <a:pt x="0" y="0"/>
                </a:moveTo>
                <a:lnTo>
                  <a:pt x="9042400" y="0"/>
                </a:lnTo>
                <a:lnTo>
                  <a:pt x="9042400" y="4038600"/>
                </a:lnTo>
                <a:lnTo>
                  <a:pt x="0" y="4038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46125" y="19304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853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SSTable 文件结构布局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2150" y="2330450"/>
            <a:ext cx="8699500" cy="3238500"/>
          </a:xfrm>
          <a:custGeom>
            <a:avLst/>
            <a:gdLst/>
            <a:ahLst/>
            <a:cxnLst/>
            <a:rect l="l" t="t" r="r" b="b"/>
            <a:pathLst>
              <a:path w="8699500" h="3238500">
                <a:moveTo>
                  <a:pt x="0" y="0"/>
                </a:moveTo>
                <a:lnTo>
                  <a:pt x="8699500" y="0"/>
                </a:lnTo>
                <a:lnTo>
                  <a:pt x="8699500" y="3238500"/>
                </a:lnTo>
                <a:lnTo>
                  <a:pt x="0" y="32385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800100" y="3105150"/>
            <a:ext cx="8483600" cy="12700"/>
          </a:xfrm>
          <a:custGeom>
            <a:avLst/>
            <a:gdLst/>
            <a:ahLst/>
            <a:cxnLst/>
            <a:rect l="l" t="t" r="r" b="b"/>
            <a:pathLst>
              <a:path w="8483600" h="12700">
                <a:moveTo>
                  <a:pt x="0" y="0"/>
                </a:moveTo>
                <a:lnTo>
                  <a:pt x="8483600" y="0"/>
                </a:lnTo>
                <a:lnTo>
                  <a:pt x="8483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0100" y="2438400"/>
            <a:ext cx="855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文件头 (File Header)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1700" y="2641600"/>
            <a:ext cx="845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Magic: 0x12345678 | Version: 1.0 | Compression: LZ4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01700" y="2844800"/>
            <a:ext cx="845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Count: N | Min Key: xxx | Max Key: yyy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0100" y="3956050"/>
            <a:ext cx="8483600" cy="12700"/>
          </a:xfrm>
          <a:custGeom>
            <a:avLst/>
            <a:gdLst/>
            <a:ahLst/>
            <a:cxnLst/>
            <a:rect l="l" t="t" r="r" b="b"/>
            <a:pathLst>
              <a:path w="8483600" h="12700">
                <a:moveTo>
                  <a:pt x="0" y="0"/>
                </a:moveTo>
                <a:lnTo>
                  <a:pt x="8483600" y="0"/>
                </a:lnTo>
                <a:lnTo>
                  <a:pt x="8483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00100" y="3162300"/>
            <a:ext cx="855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数据块区域 (Data Blocks)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6450" y="3371850"/>
            <a:ext cx="2781300" cy="520700"/>
          </a:xfrm>
          <a:custGeom>
            <a:avLst/>
            <a:gdLst/>
            <a:ahLst/>
            <a:cxnLst/>
            <a:rect l="l" t="t" r="r" b="b"/>
            <a:pathLst>
              <a:path w="2781300" h="520700">
                <a:moveTo>
                  <a:pt x="0" y="0"/>
                </a:moveTo>
                <a:lnTo>
                  <a:pt x="2781300" y="0"/>
                </a:lnTo>
                <a:lnTo>
                  <a:pt x="27813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5500" y="34290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5500" y="36322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Key1-Key4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49464" y="3371850"/>
            <a:ext cx="2781300" cy="520700"/>
          </a:xfrm>
          <a:custGeom>
            <a:avLst/>
            <a:gdLst/>
            <a:ahLst/>
            <a:cxnLst/>
            <a:rect l="l" t="t" r="r" b="b"/>
            <a:pathLst>
              <a:path w="2781300" h="520700">
                <a:moveTo>
                  <a:pt x="0" y="0"/>
                </a:moveTo>
                <a:lnTo>
                  <a:pt x="2781300" y="0"/>
                </a:lnTo>
                <a:lnTo>
                  <a:pt x="27813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668514" y="34290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68514" y="36322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Key5-Key8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492577" y="3371850"/>
            <a:ext cx="2781300" cy="520700"/>
          </a:xfrm>
          <a:custGeom>
            <a:avLst/>
            <a:gdLst/>
            <a:ahLst/>
            <a:cxnLst/>
            <a:rect l="l" t="t" r="r" b="b"/>
            <a:pathLst>
              <a:path w="2781300" h="520700">
                <a:moveTo>
                  <a:pt x="0" y="0"/>
                </a:moveTo>
                <a:lnTo>
                  <a:pt x="2781300" y="0"/>
                </a:lnTo>
                <a:lnTo>
                  <a:pt x="2781300" y="520700"/>
                </a:lnTo>
                <a:lnTo>
                  <a:pt x="0" y="520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11627" y="34290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11627" y="3632200"/>
            <a:ext cx="2743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KeyX-KeyY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00100" y="4476750"/>
            <a:ext cx="8483600" cy="12700"/>
          </a:xfrm>
          <a:custGeom>
            <a:avLst/>
            <a:gdLst/>
            <a:ahLst/>
            <a:cxnLst/>
            <a:rect l="l" t="t" r="r" b="b"/>
            <a:pathLst>
              <a:path w="8483600" h="12700">
                <a:moveTo>
                  <a:pt x="0" y="0"/>
                </a:moveTo>
                <a:lnTo>
                  <a:pt x="8483600" y="0"/>
                </a:lnTo>
                <a:lnTo>
                  <a:pt x="8483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00100" y="4013200"/>
            <a:ext cx="855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索引块 (Index Block)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01700" y="4216400"/>
            <a:ext cx="845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1 Index | Offset: 1024 | LastKey: xxx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00100" y="4997450"/>
            <a:ext cx="8483600" cy="12700"/>
          </a:xfrm>
          <a:custGeom>
            <a:avLst/>
            <a:gdLst/>
            <a:ahLst/>
            <a:cxnLst/>
            <a:rect l="l" t="t" r="r" b="b"/>
            <a:pathLst>
              <a:path w="8483600" h="12700">
                <a:moveTo>
                  <a:pt x="0" y="0"/>
                </a:moveTo>
                <a:lnTo>
                  <a:pt x="8483600" y="0"/>
                </a:lnTo>
                <a:lnTo>
                  <a:pt x="84836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00100" y="4533900"/>
            <a:ext cx="855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布隆过滤器 (Bloom Filter)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1700" y="4737100"/>
            <a:ext cx="845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 Array: [0,1,0,1,1,0,1,0,1,1,0,...]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0100" y="5054600"/>
            <a:ext cx="8559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文件尾 (File Footer)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01700" y="5257800"/>
            <a:ext cx="84582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Index Offset | Filter Offset | Data Checksum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0700" y="5918200"/>
            <a:ext cx="9042400" cy="2260600"/>
          </a:xfrm>
          <a:custGeom>
            <a:avLst/>
            <a:gdLst/>
            <a:ahLst/>
            <a:cxnLst/>
            <a:rect l="l" t="t" r="r" b="b"/>
            <a:pathLst>
              <a:path w="9042400" h="2260600">
                <a:moveTo>
                  <a:pt x="0" y="0"/>
                </a:moveTo>
                <a:lnTo>
                  <a:pt x="9042400" y="0"/>
                </a:lnTo>
                <a:lnTo>
                  <a:pt x="9042400" y="2260600"/>
                </a:lnTo>
                <a:lnTo>
                  <a:pt x="0" y="2260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717550" y="6146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77900" y="6083300"/>
            <a:ext cx="853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读取流程示例 (查找 Key = "user123")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85800" y="6540500"/>
            <a:ext cx="203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00311" y="6540500"/>
            <a:ext cx="321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</a:t>
            </a: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文件尾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获取索引块和过滤器位置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85800" y="6845300"/>
            <a:ext cx="228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930374" y="6845300"/>
            <a:ext cx="3086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布隆过滤器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→ 判断 Key 可能存在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85800" y="7150100"/>
            <a:ext cx="24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35038" y="7150100"/>
            <a:ext cx="285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二分查找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索引块 → 定位目标数据块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5800" y="7454900"/>
            <a:ext cx="24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34641" y="7454900"/>
            <a:ext cx="285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读取数据块 → 在块内二分查找 Key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85800" y="7759700"/>
            <a:ext cx="241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5.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936625" y="7759700"/>
            <a:ext cx="204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返回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或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NotFound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786541" y="1701800"/>
            <a:ext cx="5943600" cy="2971800"/>
          </a:xfrm>
          <a:custGeom>
            <a:avLst/>
            <a:gdLst/>
            <a:ahLst/>
            <a:cxnLst/>
            <a:rect l="l" t="t" r="r" b="b"/>
            <a:pathLst>
              <a:path w="5943600" h="2971800">
                <a:moveTo>
                  <a:pt x="0" y="0"/>
                </a:moveTo>
                <a:lnTo>
                  <a:pt x="5943600" y="0"/>
                </a:lnTo>
                <a:lnTo>
                  <a:pt x="59436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9983391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0243741" y="18669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性能特性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9977041" y="2324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154841" y="23495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顺序写入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5163800" y="2324100"/>
            <a:ext cx="520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0154841" y="2730500"/>
            <a:ext cx="549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追加写入，极致性能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9977041" y="3086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0154841" y="31115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随机读取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732198" y="30861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10154841" y="3492500"/>
            <a:ext cx="549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二分查找，高效定位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9977041" y="3848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0154841" y="3873500"/>
            <a:ext cx="71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压缩率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713446" y="3848100"/>
            <a:ext cx="965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60-80%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154841" y="4254500"/>
            <a:ext cx="5499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显著节省存储空间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786541" y="5149850"/>
            <a:ext cx="5943600" cy="1651000"/>
          </a:xfrm>
          <a:custGeom>
            <a:avLst/>
            <a:gdLst/>
            <a:ahLst/>
            <a:cxnLst/>
            <a:rect l="l" t="t" r="r" b="b"/>
            <a:pathLst>
              <a:path w="5943600" h="1651000">
                <a:moveTo>
                  <a:pt x="0" y="0"/>
                </a:moveTo>
                <a:lnTo>
                  <a:pt x="5943600" y="0"/>
                </a:lnTo>
                <a:lnTo>
                  <a:pt x="59436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Shape 61"/>
          <p:cNvSpPr/>
          <p:nvPr/>
        </p:nvSpPr>
        <p:spPr>
          <a:xfrm>
            <a:off x="9983391" y="5378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0243741" y="531495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多级索引机制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951641" y="577215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文件级索引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快速定位目标文件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9951641" y="607695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块级索引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在文件内快速定位数据块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951641" y="638175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块内搜索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在数据块内进行二分查找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9786541" y="7277100"/>
            <a:ext cx="5943600" cy="1346200"/>
          </a:xfrm>
          <a:custGeom>
            <a:avLst/>
            <a:gdLst/>
            <a:ahLst/>
            <a:cxnLst/>
            <a:rect l="l" t="t" r="r" b="b"/>
            <a:pathLst>
              <a:path w="5943600" h="1346200">
                <a:moveTo>
                  <a:pt x="0" y="0"/>
                </a:moveTo>
                <a:lnTo>
                  <a:pt x="5943600" y="0"/>
                </a:lnTo>
                <a:lnTo>
                  <a:pt x="5943600" y="1346200"/>
                </a:lnTo>
                <a:lnTo>
                  <a:pt x="0" y="1346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Shape 67"/>
          <p:cNvSpPr/>
          <p:nvPr/>
        </p:nvSpPr>
        <p:spPr>
          <a:xfrm>
            <a:off x="9983391" y="7505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0" name="Text 68"/>
          <p:cNvSpPr/>
          <p:nvPr/>
        </p:nvSpPr>
        <p:spPr>
          <a:xfrm>
            <a:off x="10243741" y="7442200"/>
            <a:ext cx="5435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布隆过滤器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951641" y="789940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无效磁盘访问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9951641" y="8204200"/>
            <a:ext cx="570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可能存在假阳性，但不存在假阴性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多级索引与压缩算法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425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Multi-Level Index &amp; Compression Algorithms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3390900"/>
          </a:xfrm>
          <a:custGeom>
            <a:avLst/>
            <a:gdLst/>
            <a:ahLst/>
            <a:cxnLst/>
            <a:rect l="l" t="t" r="r" b="b"/>
            <a:pathLst>
              <a:path w="7493000" h="3390900">
                <a:moveTo>
                  <a:pt x="0" y="0"/>
                </a:moveTo>
                <a:lnTo>
                  <a:pt x="7493000" y="0"/>
                </a:lnTo>
                <a:lnTo>
                  <a:pt x="7493000" y="3390900"/>
                </a:lnTo>
                <a:lnTo>
                  <a:pt x="0" y="3390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三级索引结构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2324100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89000" y="2324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 文件级索引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89000" y="2679700"/>
            <a:ext cx="7048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快速定位目标文件，通过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文件元数据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确定包含目标键的文件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00" y="3070225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89000" y="3070225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2. 块级索引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9000" y="3425825"/>
            <a:ext cx="7048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在文件内快速定位数据块，通过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确定目标数据块的位置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200" y="3816350"/>
            <a:ext cx="50800" cy="647700"/>
          </a:xfrm>
          <a:custGeom>
            <a:avLst/>
            <a:gdLst/>
            <a:ahLst/>
            <a:cxnLst/>
            <a:rect l="l" t="t" r="r" b="b"/>
            <a:pathLst>
              <a:path w="50800" h="647700">
                <a:moveTo>
                  <a:pt x="0" y="0"/>
                </a:moveTo>
                <a:lnTo>
                  <a:pt x="50800" y="0"/>
                </a:lnTo>
                <a:lnTo>
                  <a:pt x="50800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9000" y="381635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3. 块内搜索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" y="4171950"/>
            <a:ext cx="7048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在数据块内进行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二分查找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，精确定位目标键值对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568825"/>
            <a:ext cx="7162800" cy="12700"/>
          </a:xfrm>
          <a:custGeom>
            <a:avLst/>
            <a:gdLst/>
            <a:ahLst/>
            <a:cxnLst/>
            <a:rect l="l" t="t" r="r" b="b"/>
            <a:pathLst>
              <a:path w="7162800" h="12700">
                <a:moveTo>
                  <a:pt x="0" y="0"/>
                </a:moveTo>
                <a:lnTo>
                  <a:pt x="7162800" y="0"/>
                </a:lnTo>
                <a:lnTo>
                  <a:pt x="7162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85800" y="4562475"/>
            <a:ext cx="7251700" cy="355600"/>
          </a:xfrm>
          <a:prstGeom prst="rect">
            <a:avLst/>
          </a:prstGeom>
          <a:noFill/>
          <a:ln/>
        </p:spPr>
        <p:txBody>
          <a:bodyPr wrap="square" lIns="0" tIns="10160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 O(log n) 的查找复杂度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5273675"/>
            <a:ext cx="7493000" cy="2159000"/>
          </a:xfrm>
          <a:custGeom>
            <a:avLst/>
            <a:gdLst/>
            <a:ahLst/>
            <a:cxnLst/>
            <a:rect l="l" t="t" r="r" b="b"/>
            <a:pathLst>
              <a:path w="7493000" h="2159000">
                <a:moveTo>
                  <a:pt x="0" y="0"/>
                </a:moveTo>
                <a:lnTo>
                  <a:pt x="7493000" y="0"/>
                </a:lnTo>
                <a:lnTo>
                  <a:pt x="7493000" y="2159000"/>
                </a:lnTo>
                <a:lnTo>
                  <a:pt x="0" y="2159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7550" y="5502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7900" y="5438775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布隆过滤器优化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592137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假阳性率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34250" y="5895975"/>
            <a:ext cx="63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1-3%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5800" y="637857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空间节省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244159" y="6353175"/>
            <a:ext cx="723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90%+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92150" y="6816725"/>
            <a:ext cx="7150100" cy="88900"/>
          </a:xfrm>
          <a:custGeom>
            <a:avLst/>
            <a:gdLst/>
            <a:ahLst/>
            <a:cxnLst/>
            <a:rect l="l" t="t" r="r" b="b"/>
            <a:pathLst>
              <a:path w="7150100" h="88900">
                <a:moveTo>
                  <a:pt x="0" y="0"/>
                </a:moveTo>
                <a:lnTo>
                  <a:pt x="7150100" y="0"/>
                </a:lnTo>
                <a:lnTo>
                  <a:pt x="7150100" y="88900"/>
                </a:lnTo>
                <a:lnTo>
                  <a:pt x="0" y="889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698500" y="6823075"/>
            <a:ext cx="6426200" cy="76200"/>
          </a:xfrm>
          <a:custGeom>
            <a:avLst/>
            <a:gdLst/>
            <a:ahLst/>
            <a:cxnLst/>
            <a:rect l="l" t="t" r="r" b="b"/>
            <a:pathLst>
              <a:path w="6426200" h="76200">
                <a:moveTo>
                  <a:pt x="0" y="0"/>
                </a:moveTo>
                <a:lnTo>
                  <a:pt x="6426200" y="0"/>
                </a:lnTo>
                <a:lnTo>
                  <a:pt x="6426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85800" y="7013575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位数组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多个哈希函数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实现高效过滤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42300" y="1689100"/>
            <a:ext cx="25400" cy="6946900"/>
          </a:xfrm>
          <a:custGeom>
            <a:avLst/>
            <a:gdLst/>
            <a:ahLst/>
            <a:cxnLst/>
            <a:rect l="l" t="t" r="r" b="b"/>
            <a:pathLst>
              <a:path w="25400" h="6946900">
                <a:moveTo>
                  <a:pt x="0" y="0"/>
                </a:moveTo>
                <a:lnTo>
                  <a:pt x="25400" y="0"/>
                </a:lnTo>
                <a:lnTo>
                  <a:pt x="25400" y="6946900"/>
                </a:lnTo>
                <a:lnTo>
                  <a:pt x="0" y="69469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8504238" y="17526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28575"/>
                </a:moveTo>
                <a:cubicBezTo>
                  <a:pt x="71438" y="20672"/>
                  <a:pt x="65053" y="14288"/>
                  <a:pt x="57150" y="14288"/>
                </a:cubicBezTo>
                <a:cubicBezTo>
                  <a:pt x="49247" y="14288"/>
                  <a:pt x="42863" y="20672"/>
                  <a:pt x="42863" y="28575"/>
                </a:cubicBezTo>
                <a:lnTo>
                  <a:pt x="4286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57150" y="85725"/>
                </a:lnTo>
                <a:cubicBezTo>
                  <a:pt x="65053" y="85725"/>
                  <a:pt x="71438" y="79340"/>
                  <a:pt x="71438" y="71438"/>
                </a:cubicBezTo>
                <a:lnTo>
                  <a:pt x="71438" y="28575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42863" y="171450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157163"/>
                </a:lnTo>
                <a:cubicBezTo>
                  <a:pt x="71438" y="149260"/>
                  <a:pt x="65053" y="142875"/>
                  <a:pt x="57150" y="142875"/>
                </a:cubicBezTo>
                <a:lnTo>
                  <a:pt x="14288" y="142875"/>
                </a:lnTo>
                <a:close/>
                <a:moveTo>
                  <a:pt x="157163" y="28575"/>
                </a:moveTo>
                <a:cubicBezTo>
                  <a:pt x="157163" y="20672"/>
                  <a:pt x="150778" y="14288"/>
                  <a:pt x="142875" y="14288"/>
                </a:cubicBezTo>
                <a:cubicBezTo>
                  <a:pt x="134972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34972" y="85725"/>
                  <a:pt x="142875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7163" y="57150"/>
                </a:lnTo>
                <a:lnTo>
                  <a:pt x="157163" y="28575"/>
                </a:lnTo>
                <a:close/>
                <a:moveTo>
                  <a:pt x="142875" y="142875"/>
                </a:moveTo>
                <a:cubicBezTo>
                  <a:pt x="134972" y="142875"/>
                  <a:pt x="128588" y="149260"/>
                  <a:pt x="128588" y="157163"/>
                </a:cubicBezTo>
                <a:lnTo>
                  <a:pt x="128588" y="200025"/>
                </a:lnTo>
                <a:cubicBezTo>
                  <a:pt x="128588" y="207928"/>
                  <a:pt x="134972" y="214313"/>
                  <a:pt x="142875" y="214313"/>
                </a:cubicBezTo>
                <a:cubicBezTo>
                  <a:pt x="150778" y="214313"/>
                  <a:pt x="157163" y="207928"/>
                  <a:pt x="157163" y="200025"/>
                </a:cubicBezTo>
                <a:lnTo>
                  <a:pt x="157163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75" y="142875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750300" y="1689100"/>
            <a:ext cx="711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压缩算法对比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483600" y="21463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661400" y="2146300"/>
            <a:ext cx="35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LZ4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15266591" y="2165350"/>
            <a:ext cx="469900" cy="266700"/>
          </a:xfrm>
          <a:custGeom>
            <a:avLst/>
            <a:gdLst/>
            <a:ahLst/>
            <a:cxnLst/>
            <a:rect l="l" t="t" r="r" b="b"/>
            <a:pathLst>
              <a:path w="469900" h="266700">
                <a:moveTo>
                  <a:pt x="0" y="0"/>
                </a:moveTo>
                <a:lnTo>
                  <a:pt x="469900" y="0"/>
                </a:lnTo>
                <a:lnTo>
                  <a:pt x="4699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5260241" y="2159000"/>
            <a:ext cx="5334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2.1x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661400" y="25019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压缩速度: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很快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解压速度: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很快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适合: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低延迟要求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483600" y="28575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661400" y="2857500"/>
            <a:ext cx="64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Snappy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5235535" y="2876550"/>
            <a:ext cx="508000" cy="266700"/>
          </a:xfrm>
          <a:custGeom>
            <a:avLst/>
            <a:gdLst/>
            <a:ahLst/>
            <a:cxnLst/>
            <a:rect l="l" t="t" r="r" b="b"/>
            <a:pathLst>
              <a:path w="508000" h="266700">
                <a:moveTo>
                  <a:pt x="0" y="0"/>
                </a:moveTo>
                <a:lnTo>
                  <a:pt x="508000" y="0"/>
                </a:lnTo>
                <a:lnTo>
                  <a:pt x="508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5229185" y="2870200"/>
            <a:ext cx="5715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2.5x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661400" y="32131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压缩速度: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解压速度: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适合: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均衡性能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483600" y="35687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61400" y="3568700"/>
            <a:ext cx="469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ZSTD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5236924" y="3587750"/>
            <a:ext cx="508000" cy="266700"/>
          </a:xfrm>
          <a:custGeom>
            <a:avLst/>
            <a:gdLst/>
            <a:ahLst/>
            <a:cxnLst/>
            <a:rect l="l" t="t" r="r" b="b"/>
            <a:pathLst>
              <a:path w="508000" h="266700">
                <a:moveTo>
                  <a:pt x="0" y="0"/>
                </a:moveTo>
                <a:lnTo>
                  <a:pt x="508000" y="0"/>
                </a:lnTo>
                <a:lnTo>
                  <a:pt x="508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5230574" y="3581400"/>
            <a:ext cx="5715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3.2x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61400" y="39243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压缩速度: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解压速度: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适合: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高压缩比要求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83600" y="42799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661400" y="4279900"/>
            <a:ext cx="43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GZIP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15227598" y="4298950"/>
            <a:ext cx="508000" cy="266700"/>
          </a:xfrm>
          <a:custGeom>
            <a:avLst/>
            <a:gdLst/>
            <a:ahLst/>
            <a:cxnLst/>
            <a:rect l="l" t="t" r="r" b="b"/>
            <a:pathLst>
              <a:path w="508000" h="266700">
                <a:moveTo>
                  <a:pt x="0" y="0"/>
                </a:moveTo>
                <a:lnTo>
                  <a:pt x="508000" y="0"/>
                </a:lnTo>
                <a:lnTo>
                  <a:pt x="508000" y="266700"/>
                </a:lnTo>
                <a:lnTo>
                  <a:pt x="0" y="266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5221248" y="4292600"/>
            <a:ext cx="571500" cy="254000"/>
          </a:xfrm>
          <a:prstGeom prst="rect">
            <a:avLst/>
          </a:prstGeom>
          <a:noFill/>
          <a:ln/>
        </p:spPr>
        <p:txBody>
          <a:bodyPr wrap="square" lIns="101600" tIns="25400" rIns="101600" bIns="254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3.8x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661400" y="4635500"/>
            <a:ext cx="717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压缩速度: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慢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解压速度: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中等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适合: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存储空间敏感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58200" y="5048250"/>
            <a:ext cx="7289800" cy="12700"/>
          </a:xfrm>
          <a:custGeom>
            <a:avLst/>
            <a:gdLst/>
            <a:ahLst/>
            <a:cxnLst/>
            <a:rect l="l" t="t" r="r" b="b"/>
            <a:pathLst>
              <a:path w="7289800" h="12700">
                <a:moveTo>
                  <a:pt x="0" y="0"/>
                </a:moveTo>
                <a:lnTo>
                  <a:pt x="7289800" y="0"/>
                </a:lnTo>
                <a:lnTo>
                  <a:pt x="72898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458200" y="5207000"/>
            <a:ext cx="739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选择建议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58200" y="5613400"/>
            <a:ext cx="737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LZ4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低延迟场景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58200" y="5918200"/>
            <a:ext cx="737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均衡性能场景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58200" y="6223000"/>
            <a:ext cx="7378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ZSTD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高压缩比场景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50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WAL机制与恢复过程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41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Write-Ahead Log &amp; Crash Recovery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3403600"/>
          </a:xfrm>
          <a:custGeom>
            <a:avLst/>
            <a:gdLst/>
            <a:ahLst/>
            <a:cxnLst/>
            <a:rect l="l" t="t" r="r" b="b"/>
            <a:pathLst>
              <a:path w="7493000" h="3403600">
                <a:moveTo>
                  <a:pt x="0" y="0"/>
                </a:moveTo>
                <a:lnTo>
                  <a:pt x="7493000" y="0"/>
                </a:lnTo>
                <a:lnTo>
                  <a:pt x="7493000" y="3403600"/>
                </a:lnTo>
                <a:lnTo>
                  <a:pt x="0" y="3403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WAL 设计原理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24100"/>
            <a:ext cx="72517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预写日志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保证数据持久性，确保系统崩溃时数据不丢失。所有写入操作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先写日志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，再更新内存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2150" y="3009900"/>
            <a:ext cx="7150100" cy="1917700"/>
          </a:xfrm>
          <a:custGeom>
            <a:avLst/>
            <a:gdLst/>
            <a:ahLst/>
            <a:cxnLst/>
            <a:rect l="l" t="t" r="r" b="b"/>
            <a:pathLst>
              <a:path w="7150100" h="1917700">
                <a:moveTo>
                  <a:pt x="0" y="0"/>
                </a:moveTo>
                <a:lnTo>
                  <a:pt x="7150100" y="0"/>
                </a:lnTo>
                <a:lnTo>
                  <a:pt x="7150100" y="1917700"/>
                </a:lnTo>
                <a:lnTo>
                  <a:pt x="0" y="19177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00100" y="311785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 记录完整结构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0100" y="3835400"/>
            <a:ext cx="6934200" cy="12700"/>
          </a:xfrm>
          <a:custGeom>
            <a:avLst/>
            <a:gdLst/>
            <a:ahLst/>
            <a:cxnLst/>
            <a:rect l="l" t="t" r="r" b="b"/>
            <a:pathLst>
              <a:path w="6934200" h="12700">
                <a:moveTo>
                  <a:pt x="0" y="0"/>
                </a:moveTo>
                <a:lnTo>
                  <a:pt x="6934200" y="0"/>
                </a:lnTo>
                <a:lnTo>
                  <a:pt x="6934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00100" y="337185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记录头 (Record Header)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01700" y="357505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Magic: 0xWAL1 | LSN: 1001 | Type: PUT | Transaction ID: 12345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4356100"/>
            <a:ext cx="6934200" cy="12700"/>
          </a:xfrm>
          <a:custGeom>
            <a:avLst/>
            <a:gdLst/>
            <a:ahLst/>
            <a:cxnLst/>
            <a:rect l="l" t="t" r="r" b="b"/>
            <a:pathLst>
              <a:path w="6934200" h="12700">
                <a:moveTo>
                  <a:pt x="0" y="0"/>
                </a:moveTo>
                <a:lnTo>
                  <a:pt x="6934200" y="0"/>
                </a:lnTo>
                <a:lnTo>
                  <a:pt x="69342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00100" y="389255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记录体 (Record Body)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1700" y="409575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"user:12345:profile" | Value: {"name":"John","age":30}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" y="4413250"/>
            <a:ext cx="70104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记录尾 (Record Trailer)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01700" y="4616450"/>
            <a:ext cx="6908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Data Checksum: 0x12345678 | Record Length: 1089 | End Marker: 0xEND1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20700" y="5276850"/>
            <a:ext cx="7493000" cy="1752600"/>
          </a:xfrm>
          <a:custGeom>
            <a:avLst/>
            <a:gdLst/>
            <a:ahLst/>
            <a:cxnLst/>
            <a:rect l="l" t="t" r="r" b="b"/>
            <a:pathLst>
              <a:path w="7493000" h="1752600">
                <a:moveTo>
                  <a:pt x="0" y="0"/>
                </a:moveTo>
                <a:lnTo>
                  <a:pt x="7493000" y="0"/>
                </a:lnTo>
                <a:lnTo>
                  <a:pt x="74930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717550" y="55054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7859" y="21431"/>
                </a:moveTo>
                <a:cubicBezTo>
                  <a:pt x="11921" y="21431"/>
                  <a:pt x="7144" y="26209"/>
                  <a:pt x="7144" y="32147"/>
                </a:cubicBezTo>
                <a:lnTo>
                  <a:pt x="7144" y="53578"/>
                </a:lnTo>
                <a:cubicBezTo>
                  <a:pt x="7144" y="59516"/>
                  <a:pt x="11921" y="64294"/>
                  <a:pt x="17859" y="64294"/>
                </a:cubicBezTo>
                <a:lnTo>
                  <a:pt x="39291" y="64294"/>
                </a:lnTo>
                <a:cubicBezTo>
                  <a:pt x="45229" y="64294"/>
                  <a:pt x="50006" y="59516"/>
                  <a:pt x="50006" y="53578"/>
                </a:cubicBezTo>
                <a:lnTo>
                  <a:pt x="50006" y="32147"/>
                </a:lnTo>
                <a:cubicBezTo>
                  <a:pt x="50006" y="26209"/>
                  <a:pt x="45229" y="21431"/>
                  <a:pt x="39291" y="21431"/>
                </a:cubicBezTo>
                <a:lnTo>
                  <a:pt x="17859" y="21431"/>
                </a:lnTo>
                <a:close/>
                <a:moveTo>
                  <a:pt x="85725" y="28575"/>
                </a:moveTo>
                <a:cubicBezTo>
                  <a:pt x="77822" y="28575"/>
                  <a:pt x="71438" y="34960"/>
                  <a:pt x="71438" y="42863"/>
                </a:cubicBezTo>
                <a:cubicBezTo>
                  <a:pt x="71438" y="50765"/>
                  <a:pt x="77822" y="57150"/>
                  <a:pt x="85725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85725" y="28575"/>
                </a:lnTo>
                <a:close/>
                <a:moveTo>
                  <a:pt x="85725" y="100013"/>
                </a:moveTo>
                <a:cubicBezTo>
                  <a:pt x="77822" y="100013"/>
                  <a:pt x="71438" y="106397"/>
                  <a:pt x="71438" y="114300"/>
                </a:cubicBezTo>
                <a:cubicBezTo>
                  <a:pt x="71438" y="122203"/>
                  <a:pt x="77822" y="128588"/>
                  <a:pt x="85725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85725" y="100013"/>
                </a:lnTo>
                <a:close/>
                <a:moveTo>
                  <a:pt x="85725" y="171450"/>
                </a:moveTo>
                <a:cubicBezTo>
                  <a:pt x="77822" y="171450"/>
                  <a:pt x="71438" y="177835"/>
                  <a:pt x="71438" y="185738"/>
                </a:cubicBezTo>
                <a:cubicBezTo>
                  <a:pt x="71438" y="193640"/>
                  <a:pt x="77822" y="200025"/>
                  <a:pt x="8572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85725" y="171450"/>
                </a:lnTo>
                <a:close/>
                <a:moveTo>
                  <a:pt x="7144" y="103584"/>
                </a:moveTo>
                <a:lnTo>
                  <a:pt x="7144" y="125016"/>
                </a:lnTo>
                <a:cubicBezTo>
                  <a:pt x="7144" y="130954"/>
                  <a:pt x="11921" y="135731"/>
                  <a:pt x="17859" y="135731"/>
                </a:cubicBezTo>
                <a:lnTo>
                  <a:pt x="39291" y="135731"/>
                </a:lnTo>
                <a:cubicBezTo>
                  <a:pt x="45229" y="135731"/>
                  <a:pt x="50006" y="130954"/>
                  <a:pt x="50006" y="125016"/>
                </a:cubicBezTo>
                <a:lnTo>
                  <a:pt x="50006" y="103584"/>
                </a:lnTo>
                <a:cubicBezTo>
                  <a:pt x="50006" y="97646"/>
                  <a:pt x="45229" y="92869"/>
                  <a:pt x="39291" y="92869"/>
                </a:cubicBezTo>
                <a:lnTo>
                  <a:pt x="17859" y="92869"/>
                </a:lnTo>
                <a:cubicBezTo>
                  <a:pt x="11921" y="92869"/>
                  <a:pt x="7144" y="97646"/>
                  <a:pt x="7144" y="103584"/>
                </a:cubicBezTo>
                <a:close/>
                <a:moveTo>
                  <a:pt x="17859" y="164306"/>
                </a:moveTo>
                <a:cubicBezTo>
                  <a:pt x="11921" y="164306"/>
                  <a:pt x="7144" y="169084"/>
                  <a:pt x="7144" y="175022"/>
                </a:cubicBezTo>
                <a:lnTo>
                  <a:pt x="7144" y="196453"/>
                </a:lnTo>
                <a:cubicBezTo>
                  <a:pt x="7144" y="202391"/>
                  <a:pt x="11921" y="207169"/>
                  <a:pt x="17859" y="207169"/>
                </a:cubicBezTo>
                <a:lnTo>
                  <a:pt x="39291" y="207169"/>
                </a:lnTo>
                <a:cubicBezTo>
                  <a:pt x="45229" y="207169"/>
                  <a:pt x="50006" y="202391"/>
                  <a:pt x="50006" y="196453"/>
                </a:cubicBezTo>
                <a:lnTo>
                  <a:pt x="50006" y="175022"/>
                </a:lnTo>
                <a:cubicBezTo>
                  <a:pt x="50006" y="169084"/>
                  <a:pt x="45229" y="164306"/>
                  <a:pt x="39291" y="164306"/>
                </a:cubicBezTo>
                <a:lnTo>
                  <a:pt x="17859" y="164306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77900" y="544195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记录类型定义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11200" y="58991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38200" y="5905500"/>
            <a:ext cx="467519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18419" y="5905500"/>
            <a:ext cx="42961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343400" y="58991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470400" y="5905500"/>
            <a:ext cx="497582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80682" y="5905500"/>
            <a:ext cx="74255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11200" y="62547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8200" y="6261100"/>
            <a:ext cx="502146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53046" y="6261100"/>
            <a:ext cx="81032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43400" y="62547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470400" y="6261100"/>
            <a:ext cx="50184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0x04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984948" y="6261100"/>
            <a:ext cx="101123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ROLLBACK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11200" y="66103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838200" y="6616700"/>
            <a:ext cx="50373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354634" y="6616700"/>
            <a:ext cx="1209774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CHECKPOINT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343400" y="6610350"/>
            <a:ext cx="50800" cy="254000"/>
          </a:xfrm>
          <a:custGeom>
            <a:avLst/>
            <a:gdLst/>
            <a:ahLst/>
            <a:cxnLst/>
            <a:rect l="l" t="t" r="r" b="b"/>
            <a:pathLst>
              <a:path w="50800" h="254000">
                <a:moveTo>
                  <a:pt x="0" y="0"/>
                </a:moveTo>
                <a:lnTo>
                  <a:pt x="50800" y="0"/>
                </a:lnTo>
                <a:lnTo>
                  <a:pt x="50800" y="254000"/>
                </a:lnTo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4470400" y="6616700"/>
            <a:ext cx="504428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0x06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987528" y="6616700"/>
            <a:ext cx="648097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FLUSH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242300" y="1689100"/>
            <a:ext cx="25400" cy="6946900"/>
          </a:xfrm>
          <a:custGeom>
            <a:avLst/>
            <a:gdLst/>
            <a:ahLst/>
            <a:cxnLst/>
            <a:rect l="l" t="t" r="r" b="b"/>
            <a:pathLst>
              <a:path w="25400" h="6946900">
                <a:moveTo>
                  <a:pt x="0" y="0"/>
                </a:moveTo>
                <a:lnTo>
                  <a:pt x="25400" y="0"/>
                </a:lnTo>
                <a:lnTo>
                  <a:pt x="25400" y="6946900"/>
                </a:lnTo>
                <a:lnTo>
                  <a:pt x="0" y="69469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8470900" y="1701800"/>
            <a:ext cx="7264400" cy="3530600"/>
          </a:xfrm>
          <a:custGeom>
            <a:avLst/>
            <a:gdLst/>
            <a:ahLst/>
            <a:cxnLst/>
            <a:rect l="l" t="t" r="r" b="b"/>
            <a:pathLst>
              <a:path w="7264400" h="3530600">
                <a:moveTo>
                  <a:pt x="0" y="0"/>
                </a:moveTo>
                <a:lnTo>
                  <a:pt x="7264400" y="0"/>
                </a:lnTo>
                <a:lnTo>
                  <a:pt x="7264400" y="3530600"/>
                </a:lnTo>
                <a:lnTo>
                  <a:pt x="0" y="3530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6677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928100" y="18669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恢复机制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661400" y="23241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845550" y="2330450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92100" h="292100">
                <a:moveTo>
                  <a:pt x="0" y="0"/>
                </a:moveTo>
                <a:lnTo>
                  <a:pt x="292100" y="0"/>
                </a:lnTo>
                <a:lnTo>
                  <a:pt x="292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61636" y="2374900"/>
            <a:ext cx="1397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245600" y="2324100"/>
            <a:ext cx="1155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扫描 WAL 文件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839200" y="26797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读取所有未刷盘的日志记录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661400" y="30353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8845550" y="3041650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92100" h="292100">
                <a:moveTo>
                  <a:pt x="0" y="0"/>
                </a:moveTo>
                <a:lnTo>
                  <a:pt x="292100" y="0"/>
                </a:lnTo>
                <a:lnTo>
                  <a:pt x="292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948738" y="30861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9245600" y="3035300"/>
            <a:ext cx="1231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重建 MemTable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839200" y="33909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将日志记录重新插入到 MemTable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661400" y="37465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8845550" y="3752850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92100" h="292100">
                <a:moveTo>
                  <a:pt x="0" y="0"/>
                </a:moveTo>
                <a:lnTo>
                  <a:pt x="292100" y="0"/>
                </a:lnTo>
                <a:lnTo>
                  <a:pt x="292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8946753" y="37973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245600" y="37465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校验完整性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839200" y="41021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验证数据的一致性和完整性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661400" y="44577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8845550" y="4464050"/>
            <a:ext cx="292100" cy="292100"/>
          </a:xfrm>
          <a:custGeom>
            <a:avLst/>
            <a:gdLst/>
            <a:ahLst/>
            <a:cxnLst/>
            <a:rect l="l" t="t" r="r" b="b"/>
            <a:pathLst>
              <a:path w="292100" h="292100">
                <a:moveTo>
                  <a:pt x="0" y="0"/>
                </a:moveTo>
                <a:lnTo>
                  <a:pt x="292100" y="0"/>
                </a:lnTo>
                <a:lnTo>
                  <a:pt x="292100" y="292100"/>
                </a:lnTo>
                <a:lnTo>
                  <a:pt x="0" y="292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8946852" y="4508500"/>
            <a:ext cx="165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245600" y="4457700"/>
            <a:ext cx="74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清理日志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839200" y="4813300"/>
            <a:ext cx="6819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删除已经刷盘的日志文件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470900" y="7023100"/>
            <a:ext cx="3543300" cy="1600200"/>
          </a:xfrm>
          <a:custGeom>
            <a:avLst/>
            <a:gdLst/>
            <a:ahLst/>
            <a:cxnLst/>
            <a:rect l="l" t="t" r="r" b="b"/>
            <a:pathLst>
              <a:path w="3543300" h="1600200">
                <a:moveTo>
                  <a:pt x="0" y="0"/>
                </a:moveTo>
                <a:lnTo>
                  <a:pt x="3543300" y="0"/>
                </a:lnTo>
                <a:lnTo>
                  <a:pt x="35433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8636000" y="71882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文件轮转策略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8636000" y="75946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单文件大小: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64MB-256MB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8636000" y="78994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保留文件数: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3-10个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8636000" y="82042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清理策略: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LSN水位线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12192000" y="7023100"/>
            <a:ext cx="3543300" cy="1600200"/>
          </a:xfrm>
          <a:custGeom>
            <a:avLst/>
            <a:gdLst/>
            <a:ahLst/>
            <a:cxnLst/>
            <a:rect l="l" t="t" r="r" b="b"/>
            <a:pathLst>
              <a:path w="3543300" h="1600200">
                <a:moveTo>
                  <a:pt x="0" y="0"/>
                </a:moveTo>
                <a:lnTo>
                  <a:pt x="3543300" y="0"/>
                </a:lnTo>
                <a:lnTo>
                  <a:pt x="35433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70"/>
          <p:cNvSpPr/>
          <p:nvPr/>
        </p:nvSpPr>
        <p:spPr>
          <a:xfrm>
            <a:off x="12357100" y="71882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持久性保证</a:t>
            </a:r>
            <a:endParaRPr lang="en-US" sz="1600" dirty="0"/>
          </a:p>
        </p:txBody>
      </p:sp>
      <p:sp>
        <p:nvSpPr>
          <p:cNvPr id="73" name="Text 71"/>
          <p:cNvSpPr/>
          <p:nvPr/>
        </p:nvSpPr>
        <p:spPr>
          <a:xfrm>
            <a:off x="12357100" y="75946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fsync()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确保刷盘</a:t>
            </a:r>
            <a:endParaRPr lang="en-US" sz="1600" dirty="0"/>
          </a:p>
        </p:txBody>
      </p:sp>
      <p:sp>
        <p:nvSpPr>
          <p:cNvPr id="74" name="Text 72"/>
          <p:cNvSpPr/>
          <p:nvPr/>
        </p:nvSpPr>
        <p:spPr>
          <a:xfrm>
            <a:off x="12357100" y="78994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校验和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验证完整性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12357100" y="8204200"/>
            <a:ext cx="330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序列号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保证顺序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Compaction合并策略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295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Leveled Compaction Strategy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15214600" cy="1625600"/>
          </a:xfrm>
          <a:custGeom>
            <a:avLst/>
            <a:gdLst/>
            <a:ahLst/>
            <a:cxnLst/>
            <a:rect l="l" t="t" r="r" b="b"/>
            <a:pathLst>
              <a:path w="15214600" h="1625600">
                <a:moveTo>
                  <a:pt x="0" y="0"/>
                </a:moveTo>
                <a:lnTo>
                  <a:pt x="15214600" y="0"/>
                </a:lnTo>
                <a:lnTo>
                  <a:pt x="15214600" y="1625600"/>
                </a:lnTo>
                <a:lnTo>
                  <a:pt x="0" y="1625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3597" y="100013"/>
                </a:moveTo>
                <a:lnTo>
                  <a:pt x="139303" y="100013"/>
                </a:lnTo>
                <a:cubicBezTo>
                  <a:pt x="133365" y="100013"/>
                  <a:pt x="128588" y="95235"/>
                  <a:pt x="128588" y="89297"/>
                </a:cubicBezTo>
                <a:lnTo>
                  <a:pt x="128588" y="25003"/>
                </a:lnTo>
                <a:cubicBezTo>
                  <a:pt x="128588" y="20672"/>
                  <a:pt x="131177" y="16743"/>
                  <a:pt x="135195" y="15091"/>
                </a:cubicBezTo>
                <a:cubicBezTo>
                  <a:pt x="139214" y="13439"/>
                  <a:pt x="143813" y="14377"/>
                  <a:pt x="146893" y="17413"/>
                </a:cubicBezTo>
                <a:lnTo>
                  <a:pt x="164753" y="35272"/>
                </a:lnTo>
                <a:lnTo>
                  <a:pt x="197525" y="2500"/>
                </a:lnTo>
                <a:cubicBezTo>
                  <a:pt x="199132" y="893"/>
                  <a:pt x="201320" y="0"/>
                  <a:pt x="203597" y="0"/>
                </a:cubicBezTo>
                <a:cubicBezTo>
                  <a:pt x="205874" y="0"/>
                  <a:pt x="208062" y="893"/>
                  <a:pt x="209714" y="2545"/>
                </a:cubicBezTo>
                <a:lnTo>
                  <a:pt x="226100" y="18931"/>
                </a:lnTo>
                <a:cubicBezTo>
                  <a:pt x="227707" y="20538"/>
                  <a:pt x="228600" y="22726"/>
                  <a:pt x="228600" y="25003"/>
                </a:cubicBezTo>
                <a:cubicBezTo>
                  <a:pt x="228600" y="27280"/>
                  <a:pt x="227707" y="29468"/>
                  <a:pt x="226055" y="31120"/>
                </a:cubicBezTo>
                <a:lnTo>
                  <a:pt x="193328" y="63847"/>
                </a:lnTo>
                <a:lnTo>
                  <a:pt x="211187" y="81707"/>
                </a:lnTo>
                <a:cubicBezTo>
                  <a:pt x="214268" y="84787"/>
                  <a:pt x="215161" y="89386"/>
                  <a:pt x="213509" y="93405"/>
                </a:cubicBezTo>
                <a:cubicBezTo>
                  <a:pt x="211857" y="97423"/>
                  <a:pt x="207928" y="100013"/>
                  <a:pt x="203597" y="100013"/>
                </a:cubicBezTo>
                <a:close/>
                <a:moveTo>
                  <a:pt x="203597" y="128588"/>
                </a:moveTo>
                <a:cubicBezTo>
                  <a:pt x="207928" y="128588"/>
                  <a:pt x="211857" y="131177"/>
                  <a:pt x="213509" y="135195"/>
                </a:cubicBezTo>
                <a:cubicBezTo>
                  <a:pt x="215161" y="139214"/>
                  <a:pt x="214268" y="143813"/>
                  <a:pt x="211187" y="146893"/>
                </a:cubicBezTo>
                <a:lnTo>
                  <a:pt x="193328" y="164753"/>
                </a:lnTo>
                <a:lnTo>
                  <a:pt x="226100" y="197525"/>
                </a:lnTo>
                <a:cubicBezTo>
                  <a:pt x="227707" y="199132"/>
                  <a:pt x="228645" y="201320"/>
                  <a:pt x="228645" y="203642"/>
                </a:cubicBezTo>
                <a:cubicBezTo>
                  <a:pt x="228645" y="205963"/>
                  <a:pt x="227752" y="208106"/>
                  <a:pt x="226100" y="209758"/>
                </a:cubicBezTo>
                <a:lnTo>
                  <a:pt x="209714" y="226144"/>
                </a:lnTo>
                <a:cubicBezTo>
                  <a:pt x="208062" y="227707"/>
                  <a:pt x="205874" y="228600"/>
                  <a:pt x="203597" y="228600"/>
                </a:cubicBezTo>
                <a:cubicBezTo>
                  <a:pt x="201320" y="228600"/>
                  <a:pt x="199132" y="227707"/>
                  <a:pt x="197480" y="226055"/>
                </a:cubicBezTo>
                <a:lnTo>
                  <a:pt x="164753" y="193328"/>
                </a:lnTo>
                <a:lnTo>
                  <a:pt x="146893" y="211187"/>
                </a:lnTo>
                <a:cubicBezTo>
                  <a:pt x="143813" y="214268"/>
                  <a:pt x="139214" y="215161"/>
                  <a:pt x="135195" y="213509"/>
                </a:cubicBezTo>
                <a:cubicBezTo>
                  <a:pt x="131177" y="211857"/>
                  <a:pt x="128588" y="207928"/>
                  <a:pt x="128588" y="203597"/>
                </a:cubicBezTo>
                <a:lnTo>
                  <a:pt x="128588" y="139303"/>
                </a:lnTo>
                <a:cubicBezTo>
                  <a:pt x="128588" y="133365"/>
                  <a:pt x="133365" y="128588"/>
                  <a:pt x="139303" y="128588"/>
                </a:cubicBezTo>
                <a:lnTo>
                  <a:pt x="203597" y="128588"/>
                </a:lnTo>
                <a:close/>
                <a:moveTo>
                  <a:pt x="89297" y="128588"/>
                </a:moveTo>
                <a:cubicBezTo>
                  <a:pt x="95235" y="128588"/>
                  <a:pt x="100013" y="133365"/>
                  <a:pt x="100013" y="139303"/>
                </a:cubicBezTo>
                <a:lnTo>
                  <a:pt x="100013" y="203597"/>
                </a:lnTo>
                <a:cubicBezTo>
                  <a:pt x="100013" y="207928"/>
                  <a:pt x="97423" y="211857"/>
                  <a:pt x="93405" y="213509"/>
                </a:cubicBezTo>
                <a:cubicBezTo>
                  <a:pt x="89386" y="215161"/>
                  <a:pt x="84787" y="214268"/>
                  <a:pt x="81707" y="211187"/>
                </a:cubicBezTo>
                <a:lnTo>
                  <a:pt x="63847" y="193328"/>
                </a:lnTo>
                <a:lnTo>
                  <a:pt x="31075" y="226100"/>
                </a:lnTo>
                <a:cubicBezTo>
                  <a:pt x="29468" y="227707"/>
                  <a:pt x="27280" y="228600"/>
                  <a:pt x="25003" y="228600"/>
                </a:cubicBezTo>
                <a:cubicBezTo>
                  <a:pt x="22726" y="228600"/>
                  <a:pt x="20538" y="227707"/>
                  <a:pt x="18886" y="226055"/>
                </a:cubicBezTo>
                <a:lnTo>
                  <a:pt x="2545" y="209714"/>
                </a:lnTo>
                <a:cubicBezTo>
                  <a:pt x="893" y="208062"/>
                  <a:pt x="0" y="205874"/>
                  <a:pt x="0" y="203597"/>
                </a:cubicBezTo>
                <a:cubicBezTo>
                  <a:pt x="0" y="201320"/>
                  <a:pt x="893" y="199132"/>
                  <a:pt x="2545" y="197480"/>
                </a:cubicBezTo>
                <a:lnTo>
                  <a:pt x="35272" y="164753"/>
                </a:lnTo>
                <a:lnTo>
                  <a:pt x="17413" y="146893"/>
                </a:lnTo>
                <a:cubicBezTo>
                  <a:pt x="14332" y="143813"/>
                  <a:pt x="13439" y="139214"/>
                  <a:pt x="15091" y="135195"/>
                </a:cubicBezTo>
                <a:cubicBezTo>
                  <a:pt x="16743" y="131177"/>
                  <a:pt x="20672" y="128588"/>
                  <a:pt x="25003" y="128588"/>
                </a:cubicBezTo>
                <a:lnTo>
                  <a:pt x="89297" y="128588"/>
                </a:lnTo>
                <a:close/>
                <a:moveTo>
                  <a:pt x="25003" y="100013"/>
                </a:moveTo>
                <a:cubicBezTo>
                  <a:pt x="20672" y="100013"/>
                  <a:pt x="16743" y="97423"/>
                  <a:pt x="15091" y="93405"/>
                </a:cubicBezTo>
                <a:cubicBezTo>
                  <a:pt x="13439" y="89386"/>
                  <a:pt x="14377" y="84787"/>
                  <a:pt x="17413" y="81707"/>
                </a:cubicBezTo>
                <a:lnTo>
                  <a:pt x="35272" y="63847"/>
                </a:lnTo>
                <a:lnTo>
                  <a:pt x="2545" y="31120"/>
                </a:lnTo>
                <a:cubicBezTo>
                  <a:pt x="893" y="29468"/>
                  <a:pt x="0" y="27280"/>
                  <a:pt x="0" y="25003"/>
                </a:cubicBezTo>
                <a:cubicBezTo>
                  <a:pt x="0" y="22726"/>
                  <a:pt x="893" y="20538"/>
                  <a:pt x="2545" y="18886"/>
                </a:cubicBezTo>
                <a:lnTo>
                  <a:pt x="18886" y="2545"/>
                </a:lnTo>
                <a:cubicBezTo>
                  <a:pt x="20538" y="893"/>
                  <a:pt x="22726" y="0"/>
                  <a:pt x="25003" y="0"/>
                </a:cubicBezTo>
                <a:cubicBezTo>
                  <a:pt x="27280" y="0"/>
                  <a:pt x="29468" y="893"/>
                  <a:pt x="31120" y="2545"/>
                </a:cubicBezTo>
                <a:lnTo>
                  <a:pt x="63847" y="35272"/>
                </a:lnTo>
                <a:lnTo>
                  <a:pt x="81707" y="17413"/>
                </a:lnTo>
                <a:cubicBezTo>
                  <a:pt x="84787" y="14332"/>
                  <a:pt x="89386" y="13439"/>
                  <a:pt x="93405" y="15091"/>
                </a:cubicBezTo>
                <a:cubicBezTo>
                  <a:pt x="97423" y="16743"/>
                  <a:pt x="100013" y="20672"/>
                  <a:pt x="100013" y="25003"/>
                </a:cubicBezTo>
                <a:lnTo>
                  <a:pt x="100013" y="89297"/>
                </a:lnTo>
                <a:cubicBezTo>
                  <a:pt x="100013" y="95235"/>
                  <a:pt x="95235" y="100013"/>
                  <a:pt x="89297" y="100013"/>
                </a:cubicBezTo>
                <a:lnTo>
                  <a:pt x="25003" y="10001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1470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Leveled Compaction 完整流程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2150" y="2330450"/>
            <a:ext cx="3632200" cy="825500"/>
          </a:xfrm>
          <a:custGeom>
            <a:avLst/>
            <a:gdLst/>
            <a:ahLst/>
            <a:cxnLst/>
            <a:rect l="l" t="t" r="r" b="b"/>
            <a:pathLst>
              <a:path w="3632200" h="825500">
                <a:moveTo>
                  <a:pt x="0" y="0"/>
                </a:moveTo>
                <a:lnTo>
                  <a:pt x="3632200" y="0"/>
                </a:lnTo>
                <a:lnTo>
                  <a:pt x="36322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4930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 层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300" y="2641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→ Immutable → Flush (64MB)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438650" y="2330450"/>
            <a:ext cx="3632200" cy="825500"/>
          </a:xfrm>
          <a:custGeom>
            <a:avLst/>
            <a:gdLst/>
            <a:ahLst/>
            <a:cxnLst/>
            <a:rect l="l" t="t" r="r" b="b"/>
            <a:pathLst>
              <a:path w="3632200" h="825500">
                <a:moveTo>
                  <a:pt x="0" y="0"/>
                </a:moveTo>
                <a:lnTo>
                  <a:pt x="3632200" y="0"/>
                </a:lnTo>
                <a:lnTo>
                  <a:pt x="36322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49580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 (重叠层)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95800" y="2641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SST-1[a-m] SST-2[c-p] ... (可重叠)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495800" y="2895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文件数 ≥ 4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85150" y="2330450"/>
            <a:ext cx="3632200" cy="825500"/>
          </a:xfrm>
          <a:custGeom>
            <a:avLst/>
            <a:gdLst/>
            <a:ahLst/>
            <a:cxnLst/>
            <a:rect l="l" t="t" r="r" b="b"/>
            <a:pathLst>
              <a:path w="3632200" h="825500">
                <a:moveTo>
                  <a:pt x="0" y="0"/>
                </a:moveTo>
                <a:lnTo>
                  <a:pt x="3632200" y="0"/>
                </a:lnTo>
                <a:lnTo>
                  <a:pt x="36322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24230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 (有序层)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42300" y="2641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SST-5[a-f] SST-6[g-m] ... (无重叠)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42300" y="2895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总大小 ≥ 256MB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931650" y="2330450"/>
            <a:ext cx="3632200" cy="825500"/>
          </a:xfrm>
          <a:custGeom>
            <a:avLst/>
            <a:gdLst/>
            <a:ahLst/>
            <a:cxnLst/>
            <a:rect l="l" t="t" r="r" b="b"/>
            <a:pathLst>
              <a:path w="3632200" h="825500">
                <a:moveTo>
                  <a:pt x="0" y="0"/>
                </a:moveTo>
                <a:lnTo>
                  <a:pt x="3632200" y="0"/>
                </a:lnTo>
                <a:lnTo>
                  <a:pt x="3632200" y="825500"/>
                </a:lnTo>
                <a:lnTo>
                  <a:pt x="0" y="825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988800" y="2387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2 (压缩层)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988800" y="2641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SST-201[a-h] SST-202[i-q] ... (更大)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988800" y="28956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触发: 总大小 ≥ 1GB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0700" y="3505200"/>
            <a:ext cx="4953000" cy="1244600"/>
          </a:xfrm>
          <a:custGeom>
            <a:avLst/>
            <a:gdLst/>
            <a:ahLst/>
            <a:cxnLst/>
            <a:rect l="l" t="t" r="r" b="b"/>
            <a:pathLst>
              <a:path w="4953000" h="1244600">
                <a:moveTo>
                  <a:pt x="0" y="0"/>
                </a:moveTo>
                <a:lnTo>
                  <a:pt x="4953000" y="0"/>
                </a:lnTo>
                <a:lnTo>
                  <a:pt x="495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23900" y="37211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50800" y="15875"/>
                </a:moveTo>
                <a:cubicBezTo>
                  <a:pt x="50800" y="7104"/>
                  <a:pt x="57904" y="0"/>
                  <a:pt x="66675" y="0"/>
                </a:cubicBezTo>
                <a:cubicBezTo>
                  <a:pt x="75446" y="0"/>
                  <a:pt x="82550" y="7104"/>
                  <a:pt x="82550" y="15875"/>
                </a:cubicBezTo>
                <a:lnTo>
                  <a:pt x="82550" y="74692"/>
                </a:lnTo>
                <a:cubicBezTo>
                  <a:pt x="85923" y="71676"/>
                  <a:pt x="90368" y="69850"/>
                  <a:pt x="95250" y="69850"/>
                </a:cubicBezTo>
                <a:cubicBezTo>
                  <a:pt x="103426" y="69850"/>
                  <a:pt x="110411" y="75009"/>
                  <a:pt x="113109" y="82233"/>
                </a:cubicBezTo>
                <a:cubicBezTo>
                  <a:pt x="116602" y="78542"/>
                  <a:pt x="121523" y="76200"/>
                  <a:pt x="127000" y="76200"/>
                </a:cubicBezTo>
                <a:cubicBezTo>
                  <a:pt x="137041" y="76200"/>
                  <a:pt x="145256" y="83939"/>
                  <a:pt x="146010" y="93782"/>
                </a:cubicBezTo>
                <a:cubicBezTo>
                  <a:pt x="149384" y="90726"/>
                  <a:pt x="153868" y="88900"/>
                  <a:pt x="158750" y="88900"/>
                </a:cubicBezTo>
                <a:cubicBezTo>
                  <a:pt x="169267" y="88900"/>
                  <a:pt x="177800" y="97433"/>
                  <a:pt x="177800" y="107950"/>
                </a:cubicBezTo>
                <a:lnTo>
                  <a:pt x="177800" y="152400"/>
                </a:lnTo>
                <a:cubicBezTo>
                  <a:pt x="177800" y="180459"/>
                  <a:pt x="155059" y="203200"/>
                  <a:pt x="127000" y="203200"/>
                </a:cubicBezTo>
                <a:lnTo>
                  <a:pt x="93147" y="203200"/>
                </a:lnTo>
                <a:cubicBezTo>
                  <a:pt x="91162" y="203200"/>
                  <a:pt x="89217" y="203081"/>
                  <a:pt x="87313" y="202803"/>
                </a:cubicBezTo>
                <a:cubicBezTo>
                  <a:pt x="65365" y="200581"/>
                  <a:pt x="45164" y="189309"/>
                  <a:pt x="31750" y="171450"/>
                </a:cubicBezTo>
                <a:lnTo>
                  <a:pt x="3175" y="133350"/>
                </a:lnTo>
                <a:cubicBezTo>
                  <a:pt x="-2103" y="126325"/>
                  <a:pt x="-675" y="116403"/>
                  <a:pt x="6350" y="111125"/>
                </a:cubicBezTo>
                <a:cubicBezTo>
                  <a:pt x="13375" y="105847"/>
                  <a:pt x="23297" y="107275"/>
                  <a:pt x="28575" y="114300"/>
                </a:cubicBezTo>
                <a:lnTo>
                  <a:pt x="50800" y="143947"/>
                </a:lnTo>
                <a:lnTo>
                  <a:pt x="50800" y="15875"/>
                </a:lnTo>
                <a:close/>
                <a:moveTo>
                  <a:pt x="95250" y="120650"/>
                </a:moveTo>
                <a:cubicBezTo>
                  <a:pt x="95250" y="117157"/>
                  <a:pt x="92393" y="114300"/>
                  <a:pt x="88900" y="114300"/>
                </a:cubicBezTo>
                <a:cubicBezTo>
                  <a:pt x="85408" y="114300"/>
                  <a:pt x="82550" y="117157"/>
                  <a:pt x="82550" y="120650"/>
                </a:cubicBezTo>
                <a:lnTo>
                  <a:pt x="82550" y="158750"/>
                </a:lnTo>
                <a:cubicBezTo>
                  <a:pt x="82550" y="162243"/>
                  <a:pt x="85408" y="165100"/>
                  <a:pt x="88900" y="165100"/>
                </a:cubicBezTo>
                <a:cubicBezTo>
                  <a:pt x="92393" y="165100"/>
                  <a:pt x="95250" y="162243"/>
                  <a:pt x="95250" y="158750"/>
                </a:cubicBezTo>
                <a:lnTo>
                  <a:pt x="95250" y="120650"/>
                </a:lnTo>
                <a:close/>
                <a:moveTo>
                  <a:pt x="114300" y="114300"/>
                </a:moveTo>
                <a:cubicBezTo>
                  <a:pt x="110808" y="114300"/>
                  <a:pt x="107950" y="117157"/>
                  <a:pt x="107950" y="120650"/>
                </a:cubicBezTo>
                <a:lnTo>
                  <a:pt x="107950" y="158750"/>
                </a:lnTo>
                <a:cubicBezTo>
                  <a:pt x="107950" y="162243"/>
                  <a:pt x="110808" y="165100"/>
                  <a:pt x="114300" y="165100"/>
                </a:cubicBezTo>
                <a:cubicBezTo>
                  <a:pt x="117793" y="165100"/>
                  <a:pt x="120650" y="162243"/>
                  <a:pt x="120650" y="158750"/>
                </a:cubicBezTo>
                <a:lnTo>
                  <a:pt x="120650" y="120650"/>
                </a:lnTo>
                <a:cubicBezTo>
                  <a:pt x="120650" y="117157"/>
                  <a:pt x="117793" y="114300"/>
                  <a:pt x="114300" y="114300"/>
                </a:cubicBezTo>
                <a:close/>
                <a:moveTo>
                  <a:pt x="146050" y="120650"/>
                </a:moveTo>
                <a:cubicBezTo>
                  <a:pt x="146050" y="117157"/>
                  <a:pt x="143193" y="114300"/>
                  <a:pt x="139700" y="114300"/>
                </a:cubicBezTo>
                <a:cubicBezTo>
                  <a:pt x="136208" y="114300"/>
                  <a:pt x="133350" y="117157"/>
                  <a:pt x="133350" y="120650"/>
                </a:cubicBezTo>
                <a:lnTo>
                  <a:pt x="133350" y="158750"/>
                </a:lnTo>
                <a:cubicBezTo>
                  <a:pt x="133350" y="162243"/>
                  <a:pt x="136208" y="165100"/>
                  <a:pt x="139700" y="165100"/>
                </a:cubicBezTo>
                <a:cubicBezTo>
                  <a:pt x="143193" y="165100"/>
                  <a:pt x="146050" y="162243"/>
                  <a:pt x="146050" y="158750"/>
                </a:cubicBezTo>
                <a:lnTo>
                  <a:pt x="146050" y="12065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39800" y="36703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 选择合并文件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" y="40259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Level N: 选择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最老的文件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(FIFO)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43307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Level N+1: 选择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键范围重叠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的所有文件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51500" y="3505200"/>
            <a:ext cx="4953000" cy="1244600"/>
          </a:xfrm>
          <a:custGeom>
            <a:avLst/>
            <a:gdLst/>
            <a:ahLst/>
            <a:cxnLst/>
            <a:rect l="l" t="t" r="r" b="b"/>
            <a:pathLst>
              <a:path w="4953000" h="1244600">
                <a:moveTo>
                  <a:pt x="0" y="0"/>
                </a:moveTo>
                <a:lnTo>
                  <a:pt x="4953000" y="0"/>
                </a:lnTo>
                <a:lnTo>
                  <a:pt x="495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5829300" y="3721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97869" y="148669"/>
                </a:moveTo>
                <a:lnTo>
                  <a:pt x="59769" y="186769"/>
                </a:lnTo>
                <a:cubicBezTo>
                  <a:pt x="54808" y="191730"/>
                  <a:pt x="46752" y="191730"/>
                  <a:pt x="41791" y="186769"/>
                </a:cubicBezTo>
                <a:lnTo>
                  <a:pt x="3691" y="148669"/>
                </a:lnTo>
                <a:cubicBezTo>
                  <a:pt x="-1270" y="143708"/>
                  <a:pt x="-1270" y="135652"/>
                  <a:pt x="3691" y="130691"/>
                </a:cubicBezTo>
                <a:cubicBezTo>
                  <a:pt x="8652" y="125730"/>
                  <a:pt x="16708" y="125730"/>
                  <a:pt x="21669" y="130691"/>
                </a:cubicBezTo>
                <a:lnTo>
                  <a:pt x="38100" y="147122"/>
                </a:lnTo>
                <a:lnTo>
                  <a:pt x="38100" y="25400"/>
                </a:lnTo>
                <a:cubicBezTo>
                  <a:pt x="38100" y="18375"/>
                  <a:pt x="43775" y="12700"/>
                  <a:pt x="50800" y="12700"/>
                </a:cubicBezTo>
                <a:cubicBezTo>
                  <a:pt x="57825" y="12700"/>
                  <a:pt x="63500" y="18375"/>
                  <a:pt x="63500" y="25400"/>
                </a:cubicBezTo>
                <a:lnTo>
                  <a:pt x="63500" y="147122"/>
                </a:lnTo>
                <a:lnTo>
                  <a:pt x="79931" y="130691"/>
                </a:lnTo>
                <a:cubicBezTo>
                  <a:pt x="84892" y="125730"/>
                  <a:pt x="92948" y="125730"/>
                  <a:pt x="97909" y="130691"/>
                </a:cubicBezTo>
                <a:cubicBezTo>
                  <a:pt x="102870" y="135652"/>
                  <a:pt x="102870" y="143708"/>
                  <a:pt x="97909" y="148669"/>
                </a:cubicBezTo>
                <a:close/>
                <a:moveTo>
                  <a:pt x="127000" y="190500"/>
                </a:moveTo>
                <a:cubicBezTo>
                  <a:pt x="119975" y="190500"/>
                  <a:pt x="114300" y="184825"/>
                  <a:pt x="114300" y="177800"/>
                </a:cubicBezTo>
                <a:cubicBezTo>
                  <a:pt x="114300" y="170775"/>
                  <a:pt x="119975" y="165100"/>
                  <a:pt x="127000" y="165100"/>
                </a:cubicBezTo>
                <a:lnTo>
                  <a:pt x="139700" y="165100"/>
                </a:lnTo>
                <a:cubicBezTo>
                  <a:pt x="146725" y="165100"/>
                  <a:pt x="152400" y="170775"/>
                  <a:pt x="152400" y="177800"/>
                </a:cubicBezTo>
                <a:cubicBezTo>
                  <a:pt x="152400" y="184825"/>
                  <a:pt x="146725" y="190500"/>
                  <a:pt x="139700" y="190500"/>
                </a:cubicBezTo>
                <a:lnTo>
                  <a:pt x="127000" y="190500"/>
                </a:lnTo>
                <a:close/>
                <a:moveTo>
                  <a:pt x="127000" y="139700"/>
                </a:moveTo>
                <a:cubicBezTo>
                  <a:pt x="119975" y="139700"/>
                  <a:pt x="114300" y="134025"/>
                  <a:pt x="114300" y="127000"/>
                </a:cubicBezTo>
                <a:cubicBezTo>
                  <a:pt x="114300" y="119975"/>
                  <a:pt x="119975" y="114300"/>
                  <a:pt x="127000" y="114300"/>
                </a:cubicBezTo>
                <a:lnTo>
                  <a:pt x="165100" y="114300"/>
                </a:lnTo>
                <a:cubicBezTo>
                  <a:pt x="172125" y="114300"/>
                  <a:pt x="177800" y="119975"/>
                  <a:pt x="177800" y="127000"/>
                </a:cubicBezTo>
                <a:cubicBezTo>
                  <a:pt x="177800" y="134025"/>
                  <a:pt x="172125" y="139700"/>
                  <a:pt x="165100" y="139700"/>
                </a:cubicBezTo>
                <a:lnTo>
                  <a:pt x="127000" y="139700"/>
                </a:lnTo>
                <a:close/>
                <a:moveTo>
                  <a:pt x="127000" y="88900"/>
                </a:moveTo>
                <a:cubicBezTo>
                  <a:pt x="119975" y="88900"/>
                  <a:pt x="114300" y="83225"/>
                  <a:pt x="114300" y="76200"/>
                </a:cubicBezTo>
                <a:cubicBezTo>
                  <a:pt x="114300" y="69175"/>
                  <a:pt x="119975" y="63500"/>
                  <a:pt x="127000" y="63500"/>
                </a:cubicBezTo>
                <a:lnTo>
                  <a:pt x="190500" y="63500"/>
                </a:lnTo>
                <a:cubicBezTo>
                  <a:pt x="197525" y="63500"/>
                  <a:pt x="203200" y="69175"/>
                  <a:pt x="203200" y="76200"/>
                </a:cubicBezTo>
                <a:cubicBezTo>
                  <a:pt x="203200" y="83225"/>
                  <a:pt x="197525" y="88900"/>
                  <a:pt x="190500" y="88900"/>
                </a:cubicBezTo>
                <a:lnTo>
                  <a:pt x="127000" y="88900"/>
                </a:lnTo>
                <a:close/>
                <a:moveTo>
                  <a:pt x="127000" y="38100"/>
                </a:moveTo>
                <a:cubicBezTo>
                  <a:pt x="119975" y="38100"/>
                  <a:pt x="114300" y="32425"/>
                  <a:pt x="114300" y="25400"/>
                </a:cubicBezTo>
                <a:cubicBezTo>
                  <a:pt x="114300" y="18375"/>
                  <a:pt x="119975" y="12700"/>
                  <a:pt x="127000" y="12700"/>
                </a:cubicBezTo>
                <a:lnTo>
                  <a:pt x="215900" y="12700"/>
                </a:lnTo>
                <a:cubicBezTo>
                  <a:pt x="222925" y="12700"/>
                  <a:pt x="228600" y="18375"/>
                  <a:pt x="228600" y="25400"/>
                </a:cubicBezTo>
                <a:cubicBezTo>
                  <a:pt x="228600" y="32425"/>
                  <a:pt x="222925" y="38100"/>
                  <a:pt x="215900" y="38100"/>
                </a:cubicBezTo>
                <a:lnTo>
                  <a:pt x="127000" y="3810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6070600" y="36703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2. 多路归并排序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16600" y="40259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同时读取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多个SSTable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816600" y="43307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按键值进行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归并排序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，处理重复键值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782300" y="3505200"/>
            <a:ext cx="4953000" cy="1244600"/>
          </a:xfrm>
          <a:custGeom>
            <a:avLst/>
            <a:gdLst/>
            <a:ahLst/>
            <a:cxnLst/>
            <a:rect l="l" t="t" r="r" b="b"/>
            <a:pathLst>
              <a:path w="4953000" h="1244600">
                <a:moveTo>
                  <a:pt x="0" y="0"/>
                </a:moveTo>
                <a:lnTo>
                  <a:pt x="4953000" y="0"/>
                </a:lnTo>
                <a:lnTo>
                  <a:pt x="4953000" y="1244600"/>
                </a:lnTo>
                <a:lnTo>
                  <a:pt x="0" y="1244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0960100" y="3721100"/>
            <a:ext cx="228600" cy="203200"/>
          </a:xfrm>
          <a:custGeom>
            <a:avLst/>
            <a:gdLst/>
            <a:ahLst/>
            <a:cxnLst/>
            <a:rect l="l" t="t" r="r" b="b"/>
            <a:pathLst>
              <a:path w="228600" h="203200">
                <a:moveTo>
                  <a:pt x="38298" y="0"/>
                </a:moveTo>
                <a:cubicBezTo>
                  <a:pt x="24289" y="0"/>
                  <a:pt x="12898" y="11390"/>
                  <a:pt x="12898" y="25400"/>
                </a:cubicBezTo>
                <a:lnTo>
                  <a:pt x="12898" y="177800"/>
                </a:lnTo>
                <a:cubicBezTo>
                  <a:pt x="12898" y="191810"/>
                  <a:pt x="24289" y="203200"/>
                  <a:pt x="38298" y="203200"/>
                </a:cubicBezTo>
                <a:lnTo>
                  <a:pt x="139898" y="203200"/>
                </a:lnTo>
                <a:cubicBezTo>
                  <a:pt x="153908" y="203200"/>
                  <a:pt x="165298" y="191810"/>
                  <a:pt x="165298" y="177800"/>
                </a:cubicBezTo>
                <a:lnTo>
                  <a:pt x="165298" y="139700"/>
                </a:lnTo>
                <a:lnTo>
                  <a:pt x="196294" y="139700"/>
                </a:lnTo>
                <a:lnTo>
                  <a:pt x="183991" y="152003"/>
                </a:lnTo>
                <a:cubicBezTo>
                  <a:pt x="180261" y="155734"/>
                  <a:pt x="180261" y="161766"/>
                  <a:pt x="183991" y="165457"/>
                </a:cubicBezTo>
                <a:cubicBezTo>
                  <a:pt x="187722" y="169148"/>
                  <a:pt x="193754" y="169188"/>
                  <a:pt x="197445" y="165457"/>
                </a:cubicBezTo>
                <a:lnTo>
                  <a:pt x="226020" y="136882"/>
                </a:lnTo>
                <a:cubicBezTo>
                  <a:pt x="229751" y="133152"/>
                  <a:pt x="229751" y="127119"/>
                  <a:pt x="226020" y="123428"/>
                </a:cubicBezTo>
                <a:lnTo>
                  <a:pt x="197445" y="94853"/>
                </a:lnTo>
                <a:cubicBezTo>
                  <a:pt x="193715" y="91123"/>
                  <a:pt x="187682" y="91123"/>
                  <a:pt x="183991" y="94853"/>
                </a:cubicBezTo>
                <a:cubicBezTo>
                  <a:pt x="180300" y="98584"/>
                  <a:pt x="180261" y="104616"/>
                  <a:pt x="183991" y="108307"/>
                </a:cubicBezTo>
                <a:lnTo>
                  <a:pt x="196294" y="120610"/>
                </a:lnTo>
                <a:lnTo>
                  <a:pt x="165298" y="120610"/>
                </a:lnTo>
                <a:lnTo>
                  <a:pt x="165298" y="67627"/>
                </a:lnTo>
                <a:cubicBezTo>
                  <a:pt x="165298" y="60881"/>
                  <a:pt x="162639" y="54412"/>
                  <a:pt x="157877" y="49649"/>
                </a:cubicBezTo>
                <a:lnTo>
                  <a:pt x="115570" y="7422"/>
                </a:lnTo>
                <a:cubicBezTo>
                  <a:pt x="110808" y="2659"/>
                  <a:pt x="104378" y="0"/>
                  <a:pt x="97631" y="0"/>
                </a:cubicBezTo>
                <a:lnTo>
                  <a:pt x="38298" y="0"/>
                </a:lnTo>
                <a:close/>
                <a:moveTo>
                  <a:pt x="142081" y="69850"/>
                </a:moveTo>
                <a:lnTo>
                  <a:pt x="104973" y="69850"/>
                </a:lnTo>
                <a:cubicBezTo>
                  <a:pt x="99695" y="69850"/>
                  <a:pt x="95448" y="65603"/>
                  <a:pt x="95448" y="60325"/>
                </a:cubicBezTo>
                <a:lnTo>
                  <a:pt x="95448" y="23217"/>
                </a:lnTo>
                <a:lnTo>
                  <a:pt x="142081" y="69850"/>
                </a:lnTo>
                <a:close/>
                <a:moveTo>
                  <a:pt x="89098" y="130175"/>
                </a:moveTo>
                <a:cubicBezTo>
                  <a:pt x="89098" y="124897"/>
                  <a:pt x="93345" y="120650"/>
                  <a:pt x="98623" y="120650"/>
                </a:cubicBezTo>
                <a:lnTo>
                  <a:pt x="139898" y="120650"/>
                </a:lnTo>
                <a:lnTo>
                  <a:pt x="139898" y="139700"/>
                </a:lnTo>
                <a:lnTo>
                  <a:pt x="98623" y="139700"/>
                </a:lnTo>
                <a:cubicBezTo>
                  <a:pt x="93345" y="139700"/>
                  <a:pt x="89098" y="135453"/>
                  <a:pt x="89098" y="130175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201400" y="36703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3. 生成新文件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947400" y="40259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按目标层级的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文件大小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分割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947400" y="43307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构建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索引和Bloom Filter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，原子性替换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20700" y="4927600"/>
            <a:ext cx="7518400" cy="2057400"/>
          </a:xfrm>
          <a:custGeom>
            <a:avLst/>
            <a:gdLst/>
            <a:ahLst/>
            <a:cxnLst/>
            <a:rect l="l" t="t" r="r" b="b"/>
            <a:pathLst>
              <a:path w="7518400" h="2057400">
                <a:moveTo>
                  <a:pt x="0" y="0"/>
                </a:moveTo>
                <a:lnTo>
                  <a:pt x="7518400" y="0"/>
                </a:lnTo>
                <a:lnTo>
                  <a:pt x="7518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11200" y="51435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92273" y="2064"/>
                </a:moveTo>
                <a:cubicBezTo>
                  <a:pt x="98187" y="-675"/>
                  <a:pt x="105013" y="-675"/>
                  <a:pt x="110927" y="2064"/>
                </a:cubicBezTo>
                <a:lnTo>
                  <a:pt x="197683" y="42148"/>
                </a:lnTo>
                <a:cubicBezTo>
                  <a:pt x="201057" y="43696"/>
                  <a:pt x="203200" y="47069"/>
                  <a:pt x="203200" y="50800"/>
                </a:cubicBezTo>
                <a:cubicBezTo>
                  <a:pt x="203200" y="54531"/>
                  <a:pt x="201057" y="57904"/>
                  <a:pt x="197683" y="59452"/>
                </a:cubicBezTo>
                <a:lnTo>
                  <a:pt x="110927" y="99536"/>
                </a:lnTo>
                <a:cubicBezTo>
                  <a:pt x="105013" y="102275"/>
                  <a:pt x="98187" y="102275"/>
                  <a:pt x="92273" y="99536"/>
                </a:cubicBezTo>
                <a:lnTo>
                  <a:pt x="5517" y="59452"/>
                </a:lnTo>
                <a:cubicBezTo>
                  <a:pt x="2143" y="57864"/>
                  <a:pt x="0" y="54491"/>
                  <a:pt x="0" y="50800"/>
                </a:cubicBezTo>
                <a:cubicBezTo>
                  <a:pt x="0" y="47109"/>
                  <a:pt x="2143" y="43696"/>
                  <a:pt x="5517" y="42148"/>
                </a:cubicBezTo>
                <a:lnTo>
                  <a:pt x="92273" y="2064"/>
                </a:lnTo>
                <a:close/>
                <a:moveTo>
                  <a:pt x="19090" y="86678"/>
                </a:moveTo>
                <a:lnTo>
                  <a:pt x="84296" y="116800"/>
                </a:lnTo>
                <a:cubicBezTo>
                  <a:pt x="95290" y="121880"/>
                  <a:pt x="107950" y="121880"/>
                  <a:pt x="118943" y="116800"/>
                </a:cubicBezTo>
                <a:lnTo>
                  <a:pt x="184150" y="86678"/>
                </a:lnTo>
                <a:lnTo>
                  <a:pt x="197683" y="92948"/>
                </a:lnTo>
                <a:cubicBezTo>
                  <a:pt x="201057" y="94496"/>
                  <a:pt x="203200" y="97869"/>
                  <a:pt x="203200" y="101600"/>
                </a:cubicBezTo>
                <a:cubicBezTo>
                  <a:pt x="203200" y="105331"/>
                  <a:pt x="201057" y="108704"/>
                  <a:pt x="197683" y="110252"/>
                </a:cubicBezTo>
                <a:lnTo>
                  <a:pt x="110927" y="150336"/>
                </a:lnTo>
                <a:cubicBezTo>
                  <a:pt x="105013" y="153075"/>
                  <a:pt x="98187" y="153075"/>
                  <a:pt x="92273" y="150336"/>
                </a:cubicBezTo>
                <a:lnTo>
                  <a:pt x="5517" y="110252"/>
                </a:lnTo>
                <a:cubicBezTo>
                  <a:pt x="2143" y="108664"/>
                  <a:pt x="0" y="105291"/>
                  <a:pt x="0" y="101600"/>
                </a:cubicBezTo>
                <a:cubicBezTo>
                  <a:pt x="0" y="97909"/>
                  <a:pt x="2143" y="94496"/>
                  <a:pt x="5517" y="92948"/>
                </a:cubicBezTo>
                <a:lnTo>
                  <a:pt x="19050" y="86678"/>
                </a:lnTo>
                <a:close/>
                <a:moveTo>
                  <a:pt x="5517" y="143748"/>
                </a:moveTo>
                <a:lnTo>
                  <a:pt x="19050" y="137478"/>
                </a:lnTo>
                <a:lnTo>
                  <a:pt x="84257" y="167600"/>
                </a:lnTo>
                <a:cubicBezTo>
                  <a:pt x="95250" y="172680"/>
                  <a:pt x="107910" y="172680"/>
                  <a:pt x="118904" y="167600"/>
                </a:cubicBezTo>
                <a:lnTo>
                  <a:pt x="184110" y="137478"/>
                </a:lnTo>
                <a:lnTo>
                  <a:pt x="197644" y="143748"/>
                </a:lnTo>
                <a:cubicBezTo>
                  <a:pt x="201017" y="145296"/>
                  <a:pt x="203160" y="148669"/>
                  <a:pt x="203160" y="152400"/>
                </a:cubicBezTo>
                <a:cubicBezTo>
                  <a:pt x="203160" y="156131"/>
                  <a:pt x="201017" y="159504"/>
                  <a:pt x="197644" y="161052"/>
                </a:cubicBezTo>
                <a:lnTo>
                  <a:pt x="110887" y="201136"/>
                </a:lnTo>
                <a:cubicBezTo>
                  <a:pt x="104973" y="203875"/>
                  <a:pt x="98147" y="203875"/>
                  <a:pt x="92234" y="201136"/>
                </a:cubicBezTo>
                <a:lnTo>
                  <a:pt x="5517" y="161052"/>
                </a:lnTo>
                <a:cubicBezTo>
                  <a:pt x="2143" y="159464"/>
                  <a:pt x="0" y="156091"/>
                  <a:pt x="0" y="152400"/>
                </a:cubicBezTo>
                <a:cubicBezTo>
                  <a:pt x="0" y="148709"/>
                  <a:pt x="2143" y="145296"/>
                  <a:pt x="5517" y="14374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39800" y="50927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0 vs Level 1+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1200" y="54991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38200" y="5499100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FF6467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0 (重叠层)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8200" y="58039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键范围</a:t>
            </a:r>
            <a:r>
              <a:rPr lang="en-US" sz="12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重叠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38200" y="60579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需查</a:t>
            </a:r>
            <a:r>
              <a:rPr lang="en-US" sz="12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多个文件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38200" y="63119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读放大</a:t>
            </a:r>
            <a:r>
              <a:rPr lang="en-US" sz="12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较高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356100" y="5499100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483100" y="5499100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1+ (有序层)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483100" y="5803900"/>
            <a:ext cx="3479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05DF72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1+ (有序层)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483100" y="61087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键范围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不重叠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483100" y="63627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二分定位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483100" y="6616700"/>
            <a:ext cx="3467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读放大</a:t>
            </a: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较低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216900" y="4927600"/>
            <a:ext cx="7518400" cy="2057400"/>
          </a:xfrm>
          <a:custGeom>
            <a:avLst/>
            <a:gdLst/>
            <a:ahLst/>
            <a:cxnLst/>
            <a:rect l="l" t="t" r="r" b="b"/>
            <a:pathLst>
              <a:path w="7518400" h="2057400">
                <a:moveTo>
                  <a:pt x="0" y="0"/>
                </a:moveTo>
                <a:lnTo>
                  <a:pt x="7518400" y="0"/>
                </a:lnTo>
                <a:lnTo>
                  <a:pt x="7518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420100" y="51435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66675" y="12700"/>
                </a:moveTo>
                <a:lnTo>
                  <a:pt x="9525" y="12700"/>
                </a:lnTo>
                <a:cubicBezTo>
                  <a:pt x="4247" y="12700"/>
                  <a:pt x="0" y="16947"/>
                  <a:pt x="0" y="22225"/>
                </a:cubicBezTo>
                <a:lnTo>
                  <a:pt x="0" y="79375"/>
                </a:lnTo>
                <a:cubicBezTo>
                  <a:pt x="0" y="83225"/>
                  <a:pt x="2302" y="86717"/>
                  <a:pt x="5874" y="88186"/>
                </a:cubicBezTo>
                <a:cubicBezTo>
                  <a:pt x="9446" y="89654"/>
                  <a:pt x="13533" y="88821"/>
                  <a:pt x="16272" y="86122"/>
                </a:cubicBezTo>
                <a:lnTo>
                  <a:pt x="32147" y="70247"/>
                </a:lnTo>
                <a:lnTo>
                  <a:pt x="63500" y="101600"/>
                </a:lnTo>
                <a:lnTo>
                  <a:pt x="32147" y="132953"/>
                </a:lnTo>
                <a:lnTo>
                  <a:pt x="16272" y="117078"/>
                </a:lnTo>
                <a:cubicBezTo>
                  <a:pt x="13533" y="114340"/>
                  <a:pt x="9446" y="113546"/>
                  <a:pt x="5874" y="115014"/>
                </a:cubicBezTo>
                <a:cubicBezTo>
                  <a:pt x="2302" y="116483"/>
                  <a:pt x="0" y="119975"/>
                  <a:pt x="0" y="123825"/>
                </a:cubicBezTo>
                <a:lnTo>
                  <a:pt x="0" y="180975"/>
                </a:lnTo>
                <a:cubicBezTo>
                  <a:pt x="0" y="186253"/>
                  <a:pt x="4247" y="190500"/>
                  <a:pt x="9525" y="190500"/>
                </a:cubicBezTo>
                <a:lnTo>
                  <a:pt x="66675" y="190500"/>
                </a:lnTo>
                <a:cubicBezTo>
                  <a:pt x="70525" y="190500"/>
                  <a:pt x="74017" y="188198"/>
                  <a:pt x="75486" y="184626"/>
                </a:cubicBezTo>
                <a:cubicBezTo>
                  <a:pt x="76954" y="181054"/>
                  <a:pt x="76160" y="176967"/>
                  <a:pt x="73422" y="174228"/>
                </a:cubicBezTo>
                <a:lnTo>
                  <a:pt x="57547" y="158353"/>
                </a:lnTo>
                <a:lnTo>
                  <a:pt x="88900" y="127000"/>
                </a:lnTo>
                <a:lnTo>
                  <a:pt x="120253" y="158353"/>
                </a:lnTo>
                <a:lnTo>
                  <a:pt x="104378" y="174228"/>
                </a:lnTo>
                <a:cubicBezTo>
                  <a:pt x="101640" y="176967"/>
                  <a:pt x="100846" y="181054"/>
                  <a:pt x="102314" y="184626"/>
                </a:cubicBezTo>
                <a:cubicBezTo>
                  <a:pt x="103783" y="188198"/>
                  <a:pt x="107275" y="190500"/>
                  <a:pt x="111125" y="190500"/>
                </a:cubicBezTo>
                <a:lnTo>
                  <a:pt x="168275" y="190500"/>
                </a:lnTo>
                <a:cubicBezTo>
                  <a:pt x="173553" y="190500"/>
                  <a:pt x="177800" y="186253"/>
                  <a:pt x="177800" y="180975"/>
                </a:cubicBezTo>
                <a:lnTo>
                  <a:pt x="177800" y="123825"/>
                </a:lnTo>
                <a:cubicBezTo>
                  <a:pt x="177800" y="119975"/>
                  <a:pt x="175498" y="116483"/>
                  <a:pt x="171926" y="115014"/>
                </a:cubicBezTo>
                <a:cubicBezTo>
                  <a:pt x="168354" y="113546"/>
                  <a:pt x="164267" y="114340"/>
                  <a:pt x="161528" y="117078"/>
                </a:cubicBezTo>
                <a:lnTo>
                  <a:pt x="145653" y="132953"/>
                </a:lnTo>
                <a:lnTo>
                  <a:pt x="114300" y="101600"/>
                </a:lnTo>
                <a:lnTo>
                  <a:pt x="145653" y="70247"/>
                </a:lnTo>
                <a:lnTo>
                  <a:pt x="161528" y="86122"/>
                </a:lnTo>
                <a:cubicBezTo>
                  <a:pt x="164267" y="88860"/>
                  <a:pt x="168354" y="89654"/>
                  <a:pt x="171926" y="88186"/>
                </a:cubicBezTo>
                <a:cubicBezTo>
                  <a:pt x="175498" y="86717"/>
                  <a:pt x="177800" y="83225"/>
                  <a:pt x="177800" y="79375"/>
                </a:cubicBezTo>
                <a:lnTo>
                  <a:pt x="177800" y="22225"/>
                </a:lnTo>
                <a:cubicBezTo>
                  <a:pt x="177800" y="16947"/>
                  <a:pt x="173553" y="12700"/>
                  <a:pt x="168275" y="12700"/>
                </a:cubicBezTo>
                <a:lnTo>
                  <a:pt x="111125" y="12700"/>
                </a:lnTo>
                <a:cubicBezTo>
                  <a:pt x="107275" y="12700"/>
                  <a:pt x="103783" y="15002"/>
                  <a:pt x="102314" y="18574"/>
                </a:cubicBezTo>
                <a:cubicBezTo>
                  <a:pt x="100846" y="22146"/>
                  <a:pt x="101679" y="26233"/>
                  <a:pt x="104378" y="28972"/>
                </a:cubicBezTo>
                <a:lnTo>
                  <a:pt x="120253" y="44847"/>
                </a:lnTo>
                <a:lnTo>
                  <a:pt x="88900" y="76200"/>
                </a:lnTo>
                <a:lnTo>
                  <a:pt x="57547" y="44847"/>
                </a:lnTo>
                <a:lnTo>
                  <a:pt x="73422" y="28972"/>
                </a:lnTo>
                <a:cubicBezTo>
                  <a:pt x="76160" y="26233"/>
                  <a:pt x="76954" y="22146"/>
                  <a:pt x="75486" y="18574"/>
                </a:cubicBezTo>
                <a:cubicBezTo>
                  <a:pt x="74017" y="15002"/>
                  <a:pt x="70525" y="12700"/>
                  <a:pt x="66675" y="127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636000" y="5092700"/>
            <a:ext cx="7035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空间放大效应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382000" y="5499100"/>
            <a:ext cx="106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L0 文件大小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15086509" y="5499100"/>
            <a:ext cx="571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64MB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382000" y="5803900"/>
            <a:ext cx="838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L1 总大小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4614624" y="5803900"/>
            <a:ext cx="1041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256MB (4×)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382000" y="6108700"/>
            <a:ext cx="876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L2 总大小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4882217" y="6108700"/>
            <a:ext cx="77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1GB (4×)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8382000" y="6413500"/>
            <a:ext cx="7188200" cy="76200"/>
          </a:xfrm>
          <a:custGeom>
            <a:avLst/>
            <a:gdLst/>
            <a:ahLst/>
            <a:cxnLst/>
            <a:rect l="l" t="t" r="r" b="b"/>
            <a:pathLst>
              <a:path w="7188200" h="76200">
                <a:moveTo>
                  <a:pt x="0" y="0"/>
                </a:moveTo>
                <a:lnTo>
                  <a:pt x="7188200" y="0"/>
                </a:lnTo>
                <a:lnTo>
                  <a:pt x="7188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8382000" y="6413500"/>
            <a:ext cx="1803400" cy="76200"/>
          </a:xfrm>
          <a:custGeom>
            <a:avLst/>
            <a:gdLst/>
            <a:ahLst/>
            <a:cxnLst/>
            <a:rect l="l" t="t" r="r" b="b"/>
            <a:pathLst>
              <a:path w="1803400" h="76200">
                <a:moveTo>
                  <a:pt x="0" y="0"/>
                </a:moveTo>
                <a:lnTo>
                  <a:pt x="1803400" y="0"/>
                </a:lnTo>
                <a:lnTo>
                  <a:pt x="18034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Shape 63"/>
          <p:cNvSpPr/>
          <p:nvPr/>
        </p:nvSpPr>
        <p:spPr>
          <a:xfrm>
            <a:off x="8382000" y="6540500"/>
            <a:ext cx="7188200" cy="76200"/>
          </a:xfrm>
          <a:custGeom>
            <a:avLst/>
            <a:gdLst/>
            <a:ahLst/>
            <a:cxnLst/>
            <a:rect l="l" t="t" r="r" b="b"/>
            <a:pathLst>
              <a:path w="7188200" h="76200">
                <a:moveTo>
                  <a:pt x="0" y="0"/>
                </a:moveTo>
                <a:lnTo>
                  <a:pt x="7188200" y="0"/>
                </a:lnTo>
                <a:lnTo>
                  <a:pt x="7188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8382000" y="6540500"/>
            <a:ext cx="3594100" cy="76200"/>
          </a:xfrm>
          <a:custGeom>
            <a:avLst/>
            <a:gdLst/>
            <a:ahLst/>
            <a:cxnLst/>
            <a:rect l="l" t="t" r="r" b="b"/>
            <a:pathLst>
              <a:path w="3594100" h="76200">
                <a:moveTo>
                  <a:pt x="0" y="0"/>
                </a:moveTo>
                <a:lnTo>
                  <a:pt x="3594100" y="0"/>
                </a:lnTo>
                <a:lnTo>
                  <a:pt x="35941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Shape 65"/>
          <p:cNvSpPr/>
          <p:nvPr/>
        </p:nvSpPr>
        <p:spPr>
          <a:xfrm>
            <a:off x="8382000" y="6667500"/>
            <a:ext cx="7188200" cy="76200"/>
          </a:xfrm>
          <a:custGeom>
            <a:avLst/>
            <a:gdLst/>
            <a:ahLst/>
            <a:cxnLst/>
            <a:rect l="l" t="t" r="r" b="b"/>
            <a:pathLst>
              <a:path w="7188200" h="76200">
                <a:moveTo>
                  <a:pt x="0" y="0"/>
                </a:moveTo>
                <a:lnTo>
                  <a:pt x="7188200" y="0"/>
                </a:lnTo>
                <a:lnTo>
                  <a:pt x="7188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66"/>
          <p:cNvSpPr/>
          <p:nvPr/>
        </p:nvSpPr>
        <p:spPr>
          <a:xfrm>
            <a:off x="8382000" y="6667500"/>
            <a:ext cx="7188200" cy="76200"/>
          </a:xfrm>
          <a:custGeom>
            <a:avLst/>
            <a:gdLst/>
            <a:ahLst/>
            <a:cxnLst/>
            <a:rect l="l" t="t" r="r" b="b"/>
            <a:pathLst>
              <a:path w="7188200" h="76200">
                <a:moveTo>
                  <a:pt x="0" y="0"/>
                </a:moveTo>
                <a:lnTo>
                  <a:pt x="7188200" y="0"/>
                </a:lnTo>
                <a:lnTo>
                  <a:pt x="7188200" y="76200"/>
                </a:lnTo>
                <a:lnTo>
                  <a:pt x="0" y="762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61789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17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性能权衡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086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Write/Read/Space Amplification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4914900" cy="2603500"/>
          </a:xfrm>
          <a:custGeom>
            <a:avLst/>
            <a:gdLst/>
            <a:ahLst/>
            <a:cxnLst/>
            <a:rect l="l" t="t" r="r" b="b"/>
            <a:pathLst>
              <a:path w="4914900" h="2603500">
                <a:moveTo>
                  <a:pt x="0" y="0"/>
                </a:moveTo>
                <a:lnTo>
                  <a:pt x="4914900" y="0"/>
                </a:lnTo>
                <a:lnTo>
                  <a:pt x="49149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564" y="9465"/>
                </a:moveTo>
                <a:lnTo>
                  <a:pt x="137517" y="29513"/>
                </a:lnTo>
                <a:lnTo>
                  <a:pt x="199087" y="91083"/>
                </a:lnTo>
                <a:lnTo>
                  <a:pt x="219135" y="71036"/>
                </a:lnTo>
                <a:cubicBezTo>
                  <a:pt x="225207" y="65008"/>
                  <a:pt x="228600" y="56793"/>
                  <a:pt x="228600" y="48220"/>
                </a:cubicBezTo>
                <a:cubicBezTo>
                  <a:pt x="228600" y="39648"/>
                  <a:pt x="225207" y="31433"/>
                  <a:pt x="219135" y="25405"/>
                </a:cubicBezTo>
                <a:lnTo>
                  <a:pt x="203195" y="9465"/>
                </a:lnTo>
                <a:cubicBezTo>
                  <a:pt x="197168" y="3393"/>
                  <a:pt x="188952" y="0"/>
                  <a:pt x="180380" y="0"/>
                </a:cubicBezTo>
                <a:cubicBezTo>
                  <a:pt x="171807" y="0"/>
                  <a:pt x="163592" y="3393"/>
                  <a:pt x="157564" y="9465"/>
                </a:cubicBezTo>
                <a:close/>
                <a:moveTo>
                  <a:pt x="122381" y="44648"/>
                </a:moveTo>
                <a:lnTo>
                  <a:pt x="26298" y="140687"/>
                </a:lnTo>
                <a:cubicBezTo>
                  <a:pt x="21521" y="145465"/>
                  <a:pt x="18038" y="151448"/>
                  <a:pt x="16207" y="157966"/>
                </a:cubicBezTo>
                <a:lnTo>
                  <a:pt x="402" y="215027"/>
                </a:lnTo>
                <a:cubicBezTo>
                  <a:pt x="-625" y="218733"/>
                  <a:pt x="402" y="222751"/>
                  <a:pt x="3170" y="225475"/>
                </a:cubicBezTo>
                <a:cubicBezTo>
                  <a:pt x="5938" y="228198"/>
                  <a:pt x="9912" y="229270"/>
                  <a:pt x="13618" y="228243"/>
                </a:cubicBezTo>
                <a:lnTo>
                  <a:pt x="70678" y="212393"/>
                </a:lnTo>
                <a:cubicBezTo>
                  <a:pt x="77197" y="210562"/>
                  <a:pt x="83135" y="207124"/>
                  <a:pt x="87957" y="202302"/>
                </a:cubicBezTo>
                <a:lnTo>
                  <a:pt x="183952" y="106219"/>
                </a:lnTo>
                <a:lnTo>
                  <a:pt x="122381" y="446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写放大 (Write Amplification)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324100"/>
            <a:ext cx="467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实际写入磁盘的数据量与请求写入数据量的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比值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11200" y="2714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38200" y="2740025"/>
            <a:ext cx="82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0191" y="2714625"/>
            <a:ext cx="685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2-10x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" y="3121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多次重写，写放大较高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" y="3476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38200" y="3502025"/>
            <a:ext cx="698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40957" y="3476625"/>
            <a:ext cx="74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1.5-3x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3883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减少重写，写放大较低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668367" y="1701800"/>
            <a:ext cx="4914900" cy="2603500"/>
          </a:xfrm>
          <a:custGeom>
            <a:avLst/>
            <a:gdLst/>
            <a:ahLst/>
            <a:cxnLst/>
            <a:rect l="l" t="t" r="r" b="b"/>
            <a:pathLst>
              <a:path w="4914900" h="2603500">
                <a:moveTo>
                  <a:pt x="0" y="0"/>
                </a:moveTo>
                <a:lnTo>
                  <a:pt x="4914900" y="0"/>
                </a:lnTo>
                <a:lnTo>
                  <a:pt x="49149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5865217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67866"/>
                </a:moveTo>
                <a:cubicBezTo>
                  <a:pt x="135985" y="67866"/>
                  <a:pt x="153591" y="50260"/>
                  <a:pt x="153591" y="28575"/>
                </a:cubicBezTo>
                <a:cubicBezTo>
                  <a:pt x="153591" y="6890"/>
                  <a:pt x="135985" y="-10716"/>
                  <a:pt x="114300" y="-10716"/>
                </a:cubicBezTo>
                <a:cubicBezTo>
                  <a:pt x="92615" y="-10716"/>
                  <a:pt x="75009" y="6890"/>
                  <a:pt x="75009" y="28575"/>
                </a:cubicBezTo>
                <a:cubicBezTo>
                  <a:pt x="75009" y="50260"/>
                  <a:pt x="92615" y="67866"/>
                  <a:pt x="114300" y="67866"/>
                </a:cubicBezTo>
                <a:close/>
                <a:moveTo>
                  <a:pt x="114300" y="201231"/>
                </a:moveTo>
                <a:lnTo>
                  <a:pt x="114300" y="134570"/>
                </a:lnTo>
                <a:cubicBezTo>
                  <a:pt x="121578" y="131534"/>
                  <a:pt x="128989" y="128454"/>
                  <a:pt x="136490" y="125328"/>
                </a:cubicBezTo>
                <a:cubicBezTo>
                  <a:pt x="153903" y="118095"/>
                  <a:pt x="172566" y="114345"/>
                  <a:pt x="191452" y="114345"/>
                </a:cubicBezTo>
                <a:lnTo>
                  <a:pt x="200025" y="114345"/>
                </a:lnTo>
                <a:lnTo>
                  <a:pt x="200025" y="185782"/>
                </a:lnTo>
                <a:lnTo>
                  <a:pt x="191452" y="185782"/>
                </a:lnTo>
                <a:cubicBezTo>
                  <a:pt x="165065" y="185782"/>
                  <a:pt x="138901" y="191006"/>
                  <a:pt x="114523" y="201186"/>
                </a:cubicBezTo>
                <a:lnTo>
                  <a:pt x="114300" y="201275"/>
                </a:lnTo>
                <a:close/>
                <a:moveTo>
                  <a:pt x="114300" y="103584"/>
                </a:moveTo>
                <a:lnTo>
                  <a:pt x="103093" y="98896"/>
                </a:lnTo>
                <a:cubicBezTo>
                  <a:pt x="82198" y="90190"/>
                  <a:pt x="59784" y="85725"/>
                  <a:pt x="37148" y="85725"/>
                </a:cubicBezTo>
                <a:lnTo>
                  <a:pt x="21431" y="85725"/>
                </a:lnTo>
                <a:cubicBezTo>
                  <a:pt x="9599" y="85725"/>
                  <a:pt x="0" y="95324"/>
                  <a:pt x="0" y="107156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37148" y="214313"/>
                </a:lnTo>
                <a:cubicBezTo>
                  <a:pt x="59784" y="214313"/>
                  <a:pt x="82198" y="218777"/>
                  <a:pt x="103093" y="227484"/>
                </a:cubicBezTo>
                <a:lnTo>
                  <a:pt x="108808" y="229850"/>
                </a:lnTo>
                <a:cubicBezTo>
                  <a:pt x="112335" y="231324"/>
                  <a:pt x="116265" y="231324"/>
                  <a:pt x="119792" y="229850"/>
                </a:cubicBezTo>
                <a:lnTo>
                  <a:pt x="125507" y="227484"/>
                </a:lnTo>
                <a:cubicBezTo>
                  <a:pt x="146402" y="218777"/>
                  <a:pt x="168816" y="214312"/>
                  <a:pt x="191453" y="214312"/>
                </a:cubicBezTo>
                <a:lnTo>
                  <a:pt x="207169" y="214312"/>
                </a:lnTo>
                <a:cubicBezTo>
                  <a:pt x="219001" y="214312"/>
                  <a:pt x="228600" y="204713"/>
                  <a:pt x="228600" y="192881"/>
                </a:cubicBezTo>
                <a:lnTo>
                  <a:pt x="228600" y="107156"/>
                </a:lnTo>
                <a:cubicBezTo>
                  <a:pt x="228600" y="95324"/>
                  <a:pt x="219001" y="85725"/>
                  <a:pt x="207169" y="85725"/>
                </a:cubicBezTo>
                <a:lnTo>
                  <a:pt x="191453" y="85725"/>
                </a:lnTo>
                <a:cubicBezTo>
                  <a:pt x="168816" y="85725"/>
                  <a:pt x="146402" y="90190"/>
                  <a:pt x="125507" y="98896"/>
                </a:cubicBezTo>
                <a:lnTo>
                  <a:pt x="114300" y="103584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125567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读放大 (Read Amplification)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833467" y="2324100"/>
            <a:ext cx="467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读取数据时需要访问的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SSTable文件数量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858867" y="2714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985867" y="2740025"/>
            <a:ext cx="77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965234" y="2714625"/>
            <a:ext cx="57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85867" y="3121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检查多个重叠文件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8867" y="3476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0C95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85867" y="3502025"/>
            <a:ext cx="850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1+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965234" y="3476625"/>
            <a:ext cx="57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985867" y="3883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文件有序不重叠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816134" y="1701800"/>
            <a:ext cx="4914900" cy="2603500"/>
          </a:xfrm>
          <a:custGeom>
            <a:avLst/>
            <a:gdLst/>
            <a:ahLst/>
            <a:cxnLst/>
            <a:rect l="l" t="t" r="r" b="b"/>
            <a:pathLst>
              <a:path w="4914900" h="2603500">
                <a:moveTo>
                  <a:pt x="0" y="0"/>
                </a:moveTo>
                <a:lnTo>
                  <a:pt x="4914900" y="0"/>
                </a:lnTo>
                <a:lnTo>
                  <a:pt x="49149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11027271" y="1930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8575" y="14288"/>
                </a:moveTo>
                <a:cubicBezTo>
                  <a:pt x="12814" y="14288"/>
                  <a:pt x="0" y="27102"/>
                  <a:pt x="0" y="42863"/>
                </a:cubicBezTo>
                <a:lnTo>
                  <a:pt x="0" y="116131"/>
                </a:lnTo>
                <a:cubicBezTo>
                  <a:pt x="8081" y="110460"/>
                  <a:pt x="17949" y="107156"/>
                  <a:pt x="28575" y="107156"/>
                </a:cubicBezTo>
                <a:lnTo>
                  <a:pt x="171450" y="107156"/>
                </a:lnTo>
                <a:cubicBezTo>
                  <a:pt x="182076" y="107156"/>
                  <a:pt x="191944" y="110460"/>
                  <a:pt x="200025" y="116131"/>
                </a:cubicBezTo>
                <a:lnTo>
                  <a:pt x="200025" y="42863"/>
                </a:lnTo>
                <a:cubicBezTo>
                  <a:pt x="200025" y="27102"/>
                  <a:pt x="187211" y="14288"/>
                  <a:pt x="171450" y="14288"/>
                </a:cubicBezTo>
                <a:lnTo>
                  <a:pt x="28575" y="14288"/>
                </a:lnTo>
                <a:close/>
                <a:moveTo>
                  <a:pt x="200025" y="157163"/>
                </a:moveTo>
                <a:cubicBezTo>
                  <a:pt x="200025" y="141402"/>
                  <a:pt x="187211" y="128588"/>
                  <a:pt x="171450" y="128588"/>
                </a:cubicBezTo>
                <a:lnTo>
                  <a:pt x="28575" y="128588"/>
                </a:lnTo>
                <a:cubicBezTo>
                  <a:pt x="12814" y="128588"/>
                  <a:pt x="0" y="141402"/>
                  <a:pt x="0" y="157163"/>
                </a:cubicBezTo>
                <a:lnTo>
                  <a:pt x="0" y="185738"/>
                </a:lnTo>
                <a:cubicBezTo>
                  <a:pt x="0" y="201498"/>
                  <a:pt x="12814" y="214313"/>
                  <a:pt x="28575" y="214313"/>
                </a:cubicBezTo>
                <a:lnTo>
                  <a:pt x="171450" y="214313"/>
                </a:lnTo>
                <a:cubicBezTo>
                  <a:pt x="187211" y="214313"/>
                  <a:pt x="200025" y="201498"/>
                  <a:pt x="200025" y="185738"/>
                </a:cubicBezTo>
                <a:lnTo>
                  <a:pt x="200025" y="157163"/>
                </a:lnTo>
                <a:close/>
                <a:moveTo>
                  <a:pt x="100013" y="171450"/>
                </a:moveTo>
                <a:cubicBezTo>
                  <a:pt x="100013" y="163565"/>
                  <a:pt x="106415" y="157163"/>
                  <a:pt x="114300" y="157163"/>
                </a:cubicBezTo>
                <a:cubicBezTo>
                  <a:pt x="122185" y="157163"/>
                  <a:pt x="128588" y="163565"/>
                  <a:pt x="128588" y="171450"/>
                </a:cubicBezTo>
                <a:cubicBezTo>
                  <a:pt x="128588" y="179335"/>
                  <a:pt x="122185" y="185738"/>
                  <a:pt x="114300" y="185738"/>
                </a:cubicBezTo>
                <a:cubicBezTo>
                  <a:pt x="106415" y="185738"/>
                  <a:pt x="100013" y="179335"/>
                  <a:pt x="100013" y="171450"/>
                </a:cubicBezTo>
                <a:close/>
                <a:moveTo>
                  <a:pt x="157163" y="157163"/>
                </a:moveTo>
                <a:cubicBezTo>
                  <a:pt x="165048" y="157163"/>
                  <a:pt x="171450" y="163565"/>
                  <a:pt x="171450" y="171450"/>
                </a:cubicBezTo>
                <a:cubicBezTo>
                  <a:pt x="171450" y="179335"/>
                  <a:pt x="165048" y="185738"/>
                  <a:pt x="157163" y="185738"/>
                </a:cubicBezTo>
                <a:cubicBezTo>
                  <a:pt x="149277" y="185738"/>
                  <a:pt x="142875" y="179335"/>
                  <a:pt x="142875" y="171450"/>
                </a:cubicBezTo>
                <a:cubicBezTo>
                  <a:pt x="142875" y="163565"/>
                  <a:pt x="149277" y="157163"/>
                  <a:pt x="157163" y="157163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1273334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空间放大 (Space Amplification)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81234" y="2324100"/>
            <a:ext cx="4673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磁盘上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无效数据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占用的空间比例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1006634" y="2714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11133634" y="274002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合理范围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4767123" y="2714625"/>
            <a:ext cx="91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10-50%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1133634" y="3121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通过Compaction及时清理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006634" y="3476625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133634" y="3502025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优化策略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113000" y="3476625"/>
            <a:ext cx="571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激进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33634" y="3883025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更频繁的Compaction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20700" y="4479925"/>
            <a:ext cx="15214600" cy="2260600"/>
          </a:xfrm>
          <a:custGeom>
            <a:avLst/>
            <a:gdLst/>
            <a:ahLst/>
            <a:cxnLst/>
            <a:rect l="l" t="t" r="r" b="b"/>
            <a:pathLst>
              <a:path w="15214600" h="2260600">
                <a:moveTo>
                  <a:pt x="0" y="0"/>
                </a:moveTo>
                <a:lnTo>
                  <a:pt x="15214600" y="0"/>
                </a:lnTo>
                <a:lnTo>
                  <a:pt x="15214600" y="2260600"/>
                </a:lnTo>
                <a:lnTo>
                  <a:pt x="0" y="2260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736600" y="4746625"/>
            <a:ext cx="317500" cy="254000"/>
          </a:xfrm>
          <a:custGeom>
            <a:avLst/>
            <a:gdLst/>
            <a:ahLst/>
            <a:cxnLst/>
            <a:rect l="l" t="t" r="r" b="b"/>
            <a:pathLst>
              <a:path w="317500" h="254000">
                <a:moveTo>
                  <a:pt x="190500" y="15875"/>
                </a:moveTo>
                <a:lnTo>
                  <a:pt x="254000" y="15875"/>
                </a:lnTo>
                <a:cubicBezTo>
                  <a:pt x="262781" y="15875"/>
                  <a:pt x="269875" y="22969"/>
                  <a:pt x="269875" y="31750"/>
                </a:cubicBezTo>
                <a:cubicBezTo>
                  <a:pt x="269875" y="40531"/>
                  <a:pt x="262781" y="47625"/>
                  <a:pt x="254000" y="47625"/>
                </a:cubicBezTo>
                <a:lnTo>
                  <a:pt x="197644" y="47625"/>
                </a:lnTo>
                <a:cubicBezTo>
                  <a:pt x="195064" y="60424"/>
                  <a:pt x="186283" y="70991"/>
                  <a:pt x="174625" y="76051"/>
                </a:cubicBezTo>
                <a:lnTo>
                  <a:pt x="174625" y="222250"/>
                </a:lnTo>
                <a:lnTo>
                  <a:pt x="254000" y="222250"/>
                </a:lnTo>
                <a:cubicBezTo>
                  <a:pt x="262781" y="222250"/>
                  <a:pt x="269875" y="229344"/>
                  <a:pt x="269875" y="238125"/>
                </a:cubicBezTo>
                <a:cubicBezTo>
                  <a:pt x="269875" y="246906"/>
                  <a:pt x="262781" y="254000"/>
                  <a:pt x="254000" y="254000"/>
                </a:cubicBezTo>
                <a:lnTo>
                  <a:pt x="63500" y="254000"/>
                </a:lnTo>
                <a:cubicBezTo>
                  <a:pt x="54719" y="254000"/>
                  <a:pt x="47625" y="246906"/>
                  <a:pt x="47625" y="238125"/>
                </a:cubicBezTo>
                <a:cubicBezTo>
                  <a:pt x="47625" y="229344"/>
                  <a:pt x="54719" y="222250"/>
                  <a:pt x="63500" y="222250"/>
                </a:cubicBezTo>
                <a:lnTo>
                  <a:pt x="142875" y="222250"/>
                </a:lnTo>
                <a:lnTo>
                  <a:pt x="142875" y="76051"/>
                </a:lnTo>
                <a:cubicBezTo>
                  <a:pt x="131217" y="70941"/>
                  <a:pt x="122436" y="60375"/>
                  <a:pt x="119856" y="47625"/>
                </a:cubicBezTo>
                <a:lnTo>
                  <a:pt x="63500" y="47625"/>
                </a:lnTo>
                <a:cubicBezTo>
                  <a:pt x="54719" y="47625"/>
                  <a:pt x="47625" y="40531"/>
                  <a:pt x="47625" y="31750"/>
                </a:cubicBezTo>
                <a:cubicBezTo>
                  <a:pt x="47625" y="22969"/>
                  <a:pt x="54719" y="15875"/>
                  <a:pt x="63500" y="15875"/>
                </a:cubicBezTo>
                <a:lnTo>
                  <a:pt x="127000" y="15875"/>
                </a:lnTo>
                <a:cubicBezTo>
                  <a:pt x="134243" y="6251"/>
                  <a:pt x="145752" y="0"/>
                  <a:pt x="158750" y="0"/>
                </a:cubicBezTo>
                <a:cubicBezTo>
                  <a:pt x="171748" y="0"/>
                  <a:pt x="183257" y="6251"/>
                  <a:pt x="190500" y="15875"/>
                </a:cubicBezTo>
                <a:close/>
                <a:moveTo>
                  <a:pt x="218083" y="158750"/>
                </a:moveTo>
                <a:lnTo>
                  <a:pt x="289917" y="158750"/>
                </a:lnTo>
                <a:lnTo>
                  <a:pt x="254000" y="97135"/>
                </a:lnTo>
                <a:lnTo>
                  <a:pt x="218083" y="158750"/>
                </a:lnTo>
                <a:close/>
                <a:moveTo>
                  <a:pt x="254000" y="206375"/>
                </a:moveTo>
                <a:cubicBezTo>
                  <a:pt x="222796" y="206375"/>
                  <a:pt x="196850" y="189508"/>
                  <a:pt x="191492" y="167233"/>
                </a:cubicBezTo>
                <a:cubicBezTo>
                  <a:pt x="190202" y="161776"/>
                  <a:pt x="191988" y="156170"/>
                  <a:pt x="194816" y="151309"/>
                </a:cubicBezTo>
                <a:lnTo>
                  <a:pt x="242044" y="70346"/>
                </a:lnTo>
                <a:cubicBezTo>
                  <a:pt x="244525" y="66080"/>
                  <a:pt x="249089" y="63500"/>
                  <a:pt x="254000" y="63500"/>
                </a:cubicBezTo>
                <a:cubicBezTo>
                  <a:pt x="258911" y="63500"/>
                  <a:pt x="263475" y="66129"/>
                  <a:pt x="265956" y="70346"/>
                </a:cubicBezTo>
                <a:lnTo>
                  <a:pt x="313184" y="151309"/>
                </a:lnTo>
                <a:cubicBezTo>
                  <a:pt x="316012" y="156170"/>
                  <a:pt x="317798" y="161776"/>
                  <a:pt x="316508" y="167233"/>
                </a:cubicBezTo>
                <a:cubicBezTo>
                  <a:pt x="311150" y="189458"/>
                  <a:pt x="285204" y="206375"/>
                  <a:pt x="254000" y="206375"/>
                </a:cubicBezTo>
                <a:close/>
                <a:moveTo>
                  <a:pt x="62905" y="97135"/>
                </a:moveTo>
                <a:lnTo>
                  <a:pt x="26988" y="158750"/>
                </a:lnTo>
                <a:lnTo>
                  <a:pt x="98871" y="158750"/>
                </a:lnTo>
                <a:lnTo>
                  <a:pt x="62905" y="97135"/>
                </a:lnTo>
                <a:close/>
                <a:moveTo>
                  <a:pt x="446" y="167233"/>
                </a:moveTo>
                <a:cubicBezTo>
                  <a:pt x="-843" y="161776"/>
                  <a:pt x="943" y="156170"/>
                  <a:pt x="3770" y="151309"/>
                </a:cubicBezTo>
                <a:lnTo>
                  <a:pt x="50998" y="70346"/>
                </a:lnTo>
                <a:cubicBezTo>
                  <a:pt x="53479" y="66080"/>
                  <a:pt x="58043" y="63500"/>
                  <a:pt x="62954" y="63500"/>
                </a:cubicBezTo>
                <a:cubicBezTo>
                  <a:pt x="67866" y="63500"/>
                  <a:pt x="72430" y="66129"/>
                  <a:pt x="74910" y="70346"/>
                </a:cubicBezTo>
                <a:lnTo>
                  <a:pt x="122138" y="151309"/>
                </a:lnTo>
                <a:cubicBezTo>
                  <a:pt x="124966" y="156170"/>
                  <a:pt x="126752" y="161776"/>
                  <a:pt x="125462" y="167233"/>
                </a:cubicBezTo>
                <a:cubicBezTo>
                  <a:pt x="120104" y="189458"/>
                  <a:pt x="94159" y="206375"/>
                  <a:pt x="62954" y="206375"/>
                </a:cubicBezTo>
                <a:cubicBezTo>
                  <a:pt x="31750" y="206375"/>
                  <a:pt x="5804" y="189508"/>
                  <a:pt x="446" y="16723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054100" y="4695825"/>
            <a:ext cx="145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性能权衡建议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62000" y="5203825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971550" y="526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66762" y="12100"/>
                </a:moveTo>
                <a:cubicBezTo>
                  <a:pt x="173459" y="4420"/>
                  <a:pt x="183148" y="0"/>
                  <a:pt x="193372" y="0"/>
                </a:cubicBezTo>
                <a:cubicBezTo>
                  <a:pt x="212839" y="0"/>
                  <a:pt x="228645" y="15806"/>
                  <a:pt x="228645" y="35272"/>
                </a:cubicBezTo>
                <a:cubicBezTo>
                  <a:pt x="228645" y="45452"/>
                  <a:pt x="224224" y="55185"/>
                  <a:pt x="216545" y="61883"/>
                </a:cubicBezTo>
                <a:lnTo>
                  <a:pt x="126668" y="140107"/>
                </a:lnTo>
                <a:lnTo>
                  <a:pt x="121890" y="135285"/>
                </a:lnTo>
                <a:lnTo>
                  <a:pt x="93315" y="106710"/>
                </a:lnTo>
                <a:lnTo>
                  <a:pt x="88493" y="101932"/>
                </a:lnTo>
                <a:lnTo>
                  <a:pt x="166762" y="12100"/>
                </a:lnTo>
                <a:close/>
                <a:moveTo>
                  <a:pt x="71929" y="115639"/>
                </a:moveTo>
                <a:cubicBezTo>
                  <a:pt x="72330" y="116086"/>
                  <a:pt x="83939" y="127695"/>
                  <a:pt x="106710" y="150465"/>
                </a:cubicBezTo>
                <a:lnTo>
                  <a:pt x="112916" y="156671"/>
                </a:lnTo>
                <a:lnTo>
                  <a:pt x="105281" y="189801"/>
                </a:lnTo>
                <a:cubicBezTo>
                  <a:pt x="103540" y="197435"/>
                  <a:pt x="97735" y="203508"/>
                  <a:pt x="90190" y="205606"/>
                </a:cubicBezTo>
                <a:lnTo>
                  <a:pt x="14377" y="226814"/>
                </a:lnTo>
                <a:lnTo>
                  <a:pt x="55587" y="185604"/>
                </a:lnTo>
                <a:cubicBezTo>
                  <a:pt x="56123" y="185648"/>
                  <a:pt x="56614" y="185693"/>
                  <a:pt x="57150" y="185693"/>
                </a:cubicBezTo>
                <a:cubicBezTo>
                  <a:pt x="65053" y="185693"/>
                  <a:pt x="71438" y="179308"/>
                  <a:pt x="71438" y="171405"/>
                </a:cubicBezTo>
                <a:cubicBezTo>
                  <a:pt x="71438" y="163503"/>
                  <a:pt x="65053" y="157118"/>
                  <a:pt x="57150" y="157118"/>
                </a:cubicBezTo>
                <a:cubicBezTo>
                  <a:pt x="49247" y="157118"/>
                  <a:pt x="42863" y="163503"/>
                  <a:pt x="42863" y="171405"/>
                </a:cubicBezTo>
                <a:cubicBezTo>
                  <a:pt x="42863" y="171941"/>
                  <a:pt x="42907" y="172477"/>
                  <a:pt x="42952" y="172968"/>
                </a:cubicBezTo>
                <a:lnTo>
                  <a:pt x="1741" y="214223"/>
                </a:lnTo>
                <a:lnTo>
                  <a:pt x="22994" y="138410"/>
                </a:lnTo>
                <a:cubicBezTo>
                  <a:pt x="25092" y="130865"/>
                  <a:pt x="31165" y="125060"/>
                  <a:pt x="38799" y="123319"/>
                </a:cubicBezTo>
                <a:lnTo>
                  <a:pt x="71929" y="11563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231900" y="5203825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写密集型场景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39800" y="56610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优先选择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Tiered Compaction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39800" y="59658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目标：降低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写放大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39800" y="62706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典型应用：日志收集系统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757267" y="5203825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5966817" y="52673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6227167" y="5203825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读密集型场景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5935067" y="56610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优先选择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Leveled Compaction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5935067" y="59658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目标：降低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读放大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935067" y="62706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典型应用：内容管理系统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752634" y="5203825"/>
            <a:ext cx="50800" cy="1320800"/>
          </a:xfrm>
          <a:custGeom>
            <a:avLst/>
            <a:gdLst/>
            <a:ahLst/>
            <a:cxnLst/>
            <a:rect l="l" t="t" r="r" b="b"/>
            <a:pathLst>
              <a:path w="50800" h="1320800">
                <a:moveTo>
                  <a:pt x="0" y="0"/>
                </a:moveTo>
                <a:lnTo>
                  <a:pt x="50800" y="0"/>
                </a:lnTo>
                <a:lnTo>
                  <a:pt x="50800" y="1320800"/>
                </a:lnTo>
                <a:lnTo>
                  <a:pt x="0" y="1320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10976471" y="52673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28575"/>
                </a:moveTo>
                <a:cubicBezTo>
                  <a:pt x="71438" y="20672"/>
                  <a:pt x="65053" y="14288"/>
                  <a:pt x="57150" y="14288"/>
                </a:cubicBezTo>
                <a:cubicBezTo>
                  <a:pt x="49247" y="14288"/>
                  <a:pt x="42863" y="20672"/>
                  <a:pt x="42863" y="28575"/>
                </a:cubicBezTo>
                <a:lnTo>
                  <a:pt x="4286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57150" y="85725"/>
                </a:lnTo>
                <a:cubicBezTo>
                  <a:pt x="65053" y="85725"/>
                  <a:pt x="71438" y="79340"/>
                  <a:pt x="71438" y="71438"/>
                </a:cubicBezTo>
                <a:lnTo>
                  <a:pt x="71438" y="28575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42863" y="171450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157163"/>
                </a:lnTo>
                <a:cubicBezTo>
                  <a:pt x="71438" y="149260"/>
                  <a:pt x="65053" y="142875"/>
                  <a:pt x="57150" y="142875"/>
                </a:cubicBezTo>
                <a:lnTo>
                  <a:pt x="14288" y="142875"/>
                </a:lnTo>
                <a:close/>
                <a:moveTo>
                  <a:pt x="157163" y="28575"/>
                </a:moveTo>
                <a:cubicBezTo>
                  <a:pt x="157163" y="20672"/>
                  <a:pt x="150778" y="14288"/>
                  <a:pt x="142875" y="14288"/>
                </a:cubicBezTo>
                <a:cubicBezTo>
                  <a:pt x="134972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34972" y="85725"/>
                  <a:pt x="142875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7163" y="57150"/>
                </a:lnTo>
                <a:lnTo>
                  <a:pt x="157163" y="28575"/>
                </a:lnTo>
                <a:close/>
                <a:moveTo>
                  <a:pt x="142875" y="142875"/>
                </a:moveTo>
                <a:cubicBezTo>
                  <a:pt x="134972" y="142875"/>
                  <a:pt x="128588" y="149260"/>
                  <a:pt x="128588" y="157163"/>
                </a:cubicBezTo>
                <a:lnTo>
                  <a:pt x="128588" y="200025"/>
                </a:lnTo>
                <a:cubicBezTo>
                  <a:pt x="128588" y="207928"/>
                  <a:pt x="134972" y="214313"/>
                  <a:pt x="142875" y="214313"/>
                </a:cubicBezTo>
                <a:cubicBezTo>
                  <a:pt x="150778" y="214313"/>
                  <a:pt x="157163" y="207928"/>
                  <a:pt x="157163" y="200025"/>
                </a:cubicBezTo>
                <a:lnTo>
                  <a:pt x="157163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75" y="142875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1222534" y="5203825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存储空间敏感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0930434" y="56610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采用更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激进的Compaction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0930434" y="59658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目标：降低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空间放大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0930434" y="6270625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配置：频繁Compaction + 高压缩比算法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3c6194031634838534f24b2692e77102c37a168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34659" b="34659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14986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57845" y="1905000"/>
            <a:ext cx="1308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2352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606800"/>
            <a:ext cx="6426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操作流程详解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6197600"/>
            <a:ext cx="6121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通过具体示例剖析LSM-Tree的关键操作流程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74676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24000" y="7315200"/>
            <a:ext cx="2552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Operations &amp; Workflow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416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279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写入操作(PUT)流程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270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PUT Operation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15214600" cy="1930400"/>
          </a:xfrm>
          <a:custGeom>
            <a:avLst/>
            <a:gdLst/>
            <a:ahLst/>
            <a:cxnLst/>
            <a:rect l="l" t="t" r="r" b="b"/>
            <a:pathLst>
              <a:path w="15214600" h="1930400">
                <a:moveTo>
                  <a:pt x="0" y="0"/>
                </a:moveTo>
                <a:lnTo>
                  <a:pt x="15214600" y="0"/>
                </a:lnTo>
                <a:lnTo>
                  <a:pt x="15214600" y="1930400"/>
                </a:lnTo>
                <a:lnTo>
                  <a:pt x="0" y="1930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0562" y="9689"/>
                </a:moveTo>
                <a:cubicBezTo>
                  <a:pt x="200784" y="-89"/>
                  <a:pt x="184978" y="-89"/>
                  <a:pt x="175200" y="9689"/>
                </a:cubicBezTo>
                <a:lnTo>
                  <a:pt x="164306" y="20583"/>
                </a:lnTo>
                <a:lnTo>
                  <a:pt x="208017" y="64294"/>
                </a:lnTo>
                <a:lnTo>
                  <a:pt x="218911" y="53400"/>
                </a:lnTo>
                <a:cubicBezTo>
                  <a:pt x="228689" y="43622"/>
                  <a:pt x="228689" y="27816"/>
                  <a:pt x="218911" y="18038"/>
                </a:cubicBezTo>
                <a:lnTo>
                  <a:pt x="210562" y="9689"/>
                </a:lnTo>
                <a:close/>
                <a:moveTo>
                  <a:pt x="76974" y="107915"/>
                </a:moveTo>
                <a:cubicBezTo>
                  <a:pt x="74250" y="110639"/>
                  <a:pt x="72152" y="113987"/>
                  <a:pt x="70946" y="117693"/>
                </a:cubicBezTo>
                <a:lnTo>
                  <a:pt x="57730" y="157341"/>
                </a:lnTo>
                <a:cubicBezTo>
                  <a:pt x="56436" y="161181"/>
                  <a:pt x="57463" y="165422"/>
                  <a:pt x="60320" y="168325"/>
                </a:cubicBezTo>
                <a:cubicBezTo>
                  <a:pt x="63178" y="171227"/>
                  <a:pt x="67419" y="172209"/>
                  <a:pt x="71304" y="170914"/>
                </a:cubicBezTo>
                <a:lnTo>
                  <a:pt x="110951" y="157698"/>
                </a:lnTo>
                <a:cubicBezTo>
                  <a:pt x="114613" y="156493"/>
                  <a:pt x="117961" y="154394"/>
                  <a:pt x="120729" y="151671"/>
                </a:cubicBezTo>
                <a:lnTo>
                  <a:pt x="192881" y="79430"/>
                </a:lnTo>
                <a:lnTo>
                  <a:pt x="149170" y="35719"/>
                </a:lnTo>
                <a:lnTo>
                  <a:pt x="76974" y="107915"/>
                </a:lnTo>
                <a:close/>
                <a:moveTo>
                  <a:pt x="42863" y="28575"/>
                </a:moveTo>
                <a:cubicBezTo>
                  <a:pt x="19199" y="28575"/>
                  <a:pt x="0" y="47774"/>
                  <a:pt x="0" y="71438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157163" y="228600"/>
                </a:lnTo>
                <a:cubicBezTo>
                  <a:pt x="180826" y="228600"/>
                  <a:pt x="200025" y="209401"/>
                  <a:pt x="200025" y="185738"/>
                </a:cubicBezTo>
                <a:lnTo>
                  <a:pt x="200025" y="142875"/>
                </a:lnTo>
                <a:cubicBezTo>
                  <a:pt x="200025" y="134972"/>
                  <a:pt x="193640" y="128588"/>
                  <a:pt x="185738" y="128588"/>
                </a:cubicBezTo>
                <a:cubicBezTo>
                  <a:pt x="177835" y="128588"/>
                  <a:pt x="171450" y="134972"/>
                  <a:pt x="171450" y="142875"/>
                </a:cubicBezTo>
                <a:lnTo>
                  <a:pt x="171450" y="185738"/>
                </a:lnTo>
                <a:cubicBezTo>
                  <a:pt x="171450" y="193640"/>
                  <a:pt x="165065" y="200025"/>
                  <a:pt x="157163" y="200025"/>
                </a:cubicBezTo>
                <a:lnTo>
                  <a:pt x="42863" y="200025"/>
                </a:lnTo>
                <a:cubicBezTo>
                  <a:pt x="34960" y="200025"/>
                  <a:pt x="28575" y="193640"/>
                  <a:pt x="28575" y="185738"/>
                </a:cubicBezTo>
                <a:lnTo>
                  <a:pt x="28575" y="71438"/>
                </a:lnTo>
                <a:cubicBezTo>
                  <a:pt x="28575" y="63535"/>
                  <a:pt x="34960" y="57150"/>
                  <a:pt x="42863" y="57150"/>
                </a:cubicBezTo>
                <a:lnTo>
                  <a:pt x="85725" y="57150"/>
                </a:lnTo>
                <a:cubicBezTo>
                  <a:pt x="93628" y="57150"/>
                  <a:pt x="100013" y="50765"/>
                  <a:pt x="100013" y="42863"/>
                </a:cubicBezTo>
                <a:cubicBezTo>
                  <a:pt x="100013" y="34960"/>
                  <a:pt x="93628" y="28575"/>
                  <a:pt x="85725" y="28575"/>
                </a:cubicBezTo>
                <a:lnTo>
                  <a:pt x="42863" y="2857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14706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示例: PUT key="user:123", value="Alice"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2150" y="2330450"/>
            <a:ext cx="3632200" cy="1130300"/>
          </a:xfrm>
          <a:custGeom>
            <a:avLst/>
            <a:gdLst/>
            <a:ahLst/>
            <a:cxnLst/>
            <a:rect l="l" t="t" r="r" b="b"/>
            <a:pathLst>
              <a:path w="3632200" h="1130300">
                <a:moveTo>
                  <a:pt x="0" y="0"/>
                </a:moveTo>
                <a:lnTo>
                  <a:pt x="3632200" y="0"/>
                </a:lnTo>
                <a:lnTo>
                  <a:pt x="3632200" y="1130300"/>
                </a:lnTo>
                <a:lnTo>
                  <a:pt x="0" y="113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49300" y="2387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1. 请求预处理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49300" y="2692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客户端发送请求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49300" y="2946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生成序列号: </a:t>
            </a:r>
            <a:r>
              <a:rPr lang="en-US" sz="12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49300" y="3200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数据校验/权限验证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438650" y="2330450"/>
            <a:ext cx="3632200" cy="1130300"/>
          </a:xfrm>
          <a:custGeom>
            <a:avLst/>
            <a:gdLst/>
            <a:ahLst/>
            <a:cxnLst/>
            <a:rect l="l" t="t" r="r" b="b"/>
            <a:pathLst>
              <a:path w="3632200" h="1130300">
                <a:moveTo>
                  <a:pt x="0" y="0"/>
                </a:moveTo>
                <a:lnTo>
                  <a:pt x="3632200" y="0"/>
                </a:lnTo>
                <a:lnTo>
                  <a:pt x="3632200" y="1130300"/>
                </a:lnTo>
                <a:lnTo>
                  <a:pt x="0" y="113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495800" y="2387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2. WAL 日志写入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95800" y="2692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构造日志记录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95800" y="2946400"/>
            <a:ext cx="3581400" cy="165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000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[LSN:1001][PUT][user:123][Alice]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495800" y="3166467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fsync()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刷盘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85150" y="2330450"/>
            <a:ext cx="3632200" cy="1130300"/>
          </a:xfrm>
          <a:custGeom>
            <a:avLst/>
            <a:gdLst/>
            <a:ahLst/>
            <a:cxnLst/>
            <a:rect l="l" t="t" r="r" b="b"/>
            <a:pathLst>
              <a:path w="3632200" h="1130300">
                <a:moveTo>
                  <a:pt x="0" y="0"/>
                </a:moveTo>
                <a:lnTo>
                  <a:pt x="3632200" y="0"/>
                </a:lnTo>
                <a:lnTo>
                  <a:pt x="3632200" y="1130300"/>
                </a:lnTo>
                <a:lnTo>
                  <a:pt x="0" y="113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242300" y="2387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3. MemTable 更新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2300" y="2692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SkipList 插入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42300" y="2946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设置版本和时间戳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242300" y="3200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阈值检查(64MB)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931650" y="2330450"/>
            <a:ext cx="3632200" cy="1130300"/>
          </a:xfrm>
          <a:custGeom>
            <a:avLst/>
            <a:gdLst/>
            <a:ahLst/>
            <a:cxnLst/>
            <a:rect l="l" t="t" r="r" b="b"/>
            <a:pathLst>
              <a:path w="3632200" h="1130300">
                <a:moveTo>
                  <a:pt x="0" y="0"/>
                </a:moveTo>
                <a:lnTo>
                  <a:pt x="3632200" y="0"/>
                </a:lnTo>
                <a:lnTo>
                  <a:pt x="3632200" y="1130300"/>
                </a:lnTo>
                <a:lnTo>
                  <a:pt x="0" y="1130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988800" y="2387600"/>
            <a:ext cx="36068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4. 响应返回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988800" y="2692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构造成功响应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988800" y="2946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性能统计/日志记录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988800" y="3200400"/>
            <a:ext cx="35941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返回客户端: </a:t>
            </a: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20700" y="3810000"/>
            <a:ext cx="4953000" cy="2006600"/>
          </a:xfrm>
          <a:custGeom>
            <a:avLst/>
            <a:gdLst/>
            <a:ahLst/>
            <a:cxnLst/>
            <a:rect l="l" t="t" r="r" b="b"/>
            <a:pathLst>
              <a:path w="4953000" h="2006600">
                <a:moveTo>
                  <a:pt x="0" y="0"/>
                </a:moveTo>
                <a:lnTo>
                  <a:pt x="4953000" y="0"/>
                </a:lnTo>
                <a:lnTo>
                  <a:pt x="49530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711200" y="4025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203200"/>
                </a:moveTo>
                <a:cubicBezTo>
                  <a:pt x="157675" y="203200"/>
                  <a:pt x="203200" y="157675"/>
                  <a:pt x="203200" y="101600"/>
                </a:cubicBezTo>
                <a:cubicBezTo>
                  <a:pt x="203200" y="45525"/>
                  <a:pt x="157675" y="0"/>
                  <a:pt x="101600" y="0"/>
                </a:cubicBezTo>
                <a:cubicBezTo>
                  <a:pt x="45525" y="0"/>
                  <a:pt x="0" y="45525"/>
                  <a:pt x="0" y="101600"/>
                </a:cubicBezTo>
                <a:cubicBezTo>
                  <a:pt x="0" y="157675"/>
                  <a:pt x="45525" y="203200"/>
                  <a:pt x="101600" y="203200"/>
                </a:cubicBezTo>
                <a:close/>
                <a:moveTo>
                  <a:pt x="135096" y="84415"/>
                </a:moveTo>
                <a:lnTo>
                  <a:pt x="103346" y="135215"/>
                </a:lnTo>
                <a:cubicBezTo>
                  <a:pt x="101679" y="137874"/>
                  <a:pt x="98822" y="139541"/>
                  <a:pt x="95687" y="139700"/>
                </a:cubicBezTo>
                <a:cubicBezTo>
                  <a:pt x="92551" y="139859"/>
                  <a:pt x="89535" y="138430"/>
                  <a:pt x="87670" y="135890"/>
                </a:cubicBezTo>
                <a:lnTo>
                  <a:pt x="68620" y="110490"/>
                </a:lnTo>
                <a:cubicBezTo>
                  <a:pt x="65445" y="106283"/>
                  <a:pt x="66318" y="100330"/>
                  <a:pt x="70525" y="97155"/>
                </a:cubicBezTo>
                <a:cubicBezTo>
                  <a:pt x="74732" y="93980"/>
                  <a:pt x="80685" y="94853"/>
                  <a:pt x="83860" y="99060"/>
                </a:cubicBezTo>
                <a:lnTo>
                  <a:pt x="94575" y="113348"/>
                </a:lnTo>
                <a:lnTo>
                  <a:pt x="118943" y="74335"/>
                </a:lnTo>
                <a:cubicBezTo>
                  <a:pt x="121722" y="69890"/>
                  <a:pt x="127595" y="68501"/>
                  <a:pt x="132080" y="71318"/>
                </a:cubicBezTo>
                <a:cubicBezTo>
                  <a:pt x="136565" y="74136"/>
                  <a:pt x="137914" y="79970"/>
                  <a:pt x="135096" y="8445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39800" y="39751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关键特点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85800" y="43815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顺序执行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四步严格按序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" y="46863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原子性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要么全成功要么全失败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85800" y="49911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内存操作，延迟&lt;1ms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" y="52959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WAL保证数据不丢失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651500" y="3810000"/>
            <a:ext cx="4953000" cy="2006600"/>
          </a:xfrm>
          <a:custGeom>
            <a:avLst/>
            <a:gdLst/>
            <a:ahLst/>
            <a:cxnLst/>
            <a:rect l="l" t="t" r="r" b="b"/>
            <a:pathLst>
              <a:path w="4953000" h="2006600">
                <a:moveTo>
                  <a:pt x="0" y="0"/>
                </a:moveTo>
                <a:lnTo>
                  <a:pt x="4953000" y="0"/>
                </a:lnTo>
                <a:lnTo>
                  <a:pt x="49530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5842000" y="4025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101600"/>
                </a:moveTo>
                <a:cubicBezTo>
                  <a:pt x="0" y="45525"/>
                  <a:pt x="45525" y="0"/>
                  <a:pt x="101600" y="0"/>
                </a:cubicBezTo>
                <a:cubicBezTo>
                  <a:pt x="157675" y="0"/>
                  <a:pt x="203200" y="45525"/>
                  <a:pt x="203200" y="101600"/>
                </a:cubicBezTo>
                <a:cubicBezTo>
                  <a:pt x="203200" y="157675"/>
                  <a:pt x="157675" y="203200"/>
                  <a:pt x="101600" y="203200"/>
                </a:cubicBezTo>
                <a:cubicBezTo>
                  <a:pt x="45525" y="203200"/>
                  <a:pt x="0" y="157675"/>
                  <a:pt x="0" y="101600"/>
                </a:cubicBezTo>
                <a:close/>
                <a:moveTo>
                  <a:pt x="114300" y="38100"/>
                </a:moveTo>
                <a:cubicBezTo>
                  <a:pt x="114300" y="31091"/>
                  <a:pt x="108609" y="25400"/>
                  <a:pt x="101600" y="25400"/>
                </a:cubicBezTo>
                <a:cubicBezTo>
                  <a:pt x="94591" y="25400"/>
                  <a:pt x="88900" y="31091"/>
                  <a:pt x="88900" y="38100"/>
                </a:cubicBezTo>
                <a:cubicBezTo>
                  <a:pt x="88900" y="45109"/>
                  <a:pt x="94591" y="50800"/>
                  <a:pt x="101600" y="50800"/>
                </a:cubicBezTo>
                <a:cubicBezTo>
                  <a:pt x="108609" y="50800"/>
                  <a:pt x="114300" y="45109"/>
                  <a:pt x="114300" y="38100"/>
                </a:cubicBezTo>
                <a:close/>
                <a:moveTo>
                  <a:pt x="101600" y="165100"/>
                </a:moveTo>
                <a:cubicBezTo>
                  <a:pt x="115610" y="165100"/>
                  <a:pt x="127000" y="153710"/>
                  <a:pt x="127000" y="139700"/>
                </a:cubicBezTo>
                <a:cubicBezTo>
                  <a:pt x="127000" y="133271"/>
                  <a:pt x="124619" y="127357"/>
                  <a:pt x="120650" y="122912"/>
                </a:cubicBezTo>
                <a:lnTo>
                  <a:pt x="148233" y="67786"/>
                </a:lnTo>
                <a:cubicBezTo>
                  <a:pt x="150574" y="63063"/>
                  <a:pt x="148669" y="57348"/>
                  <a:pt x="143986" y="55007"/>
                </a:cubicBezTo>
                <a:cubicBezTo>
                  <a:pt x="139303" y="52665"/>
                  <a:pt x="133548" y="54570"/>
                  <a:pt x="131207" y="59253"/>
                </a:cubicBezTo>
                <a:lnTo>
                  <a:pt x="103624" y="114379"/>
                </a:lnTo>
                <a:cubicBezTo>
                  <a:pt x="102949" y="114340"/>
                  <a:pt x="102275" y="114300"/>
                  <a:pt x="101600" y="114300"/>
                </a:cubicBezTo>
                <a:cubicBezTo>
                  <a:pt x="87590" y="114300"/>
                  <a:pt x="76200" y="125690"/>
                  <a:pt x="76200" y="139700"/>
                </a:cubicBezTo>
                <a:cubicBezTo>
                  <a:pt x="76200" y="153710"/>
                  <a:pt x="87590" y="165100"/>
                  <a:pt x="101600" y="165100"/>
                </a:cubicBezTo>
                <a:close/>
                <a:moveTo>
                  <a:pt x="69850" y="57150"/>
                </a:moveTo>
                <a:cubicBezTo>
                  <a:pt x="69850" y="50141"/>
                  <a:pt x="64159" y="44450"/>
                  <a:pt x="57150" y="44450"/>
                </a:cubicBezTo>
                <a:cubicBezTo>
                  <a:pt x="50141" y="44450"/>
                  <a:pt x="44450" y="50141"/>
                  <a:pt x="44450" y="57150"/>
                </a:cubicBezTo>
                <a:cubicBezTo>
                  <a:pt x="44450" y="64159"/>
                  <a:pt x="50141" y="69850"/>
                  <a:pt x="57150" y="69850"/>
                </a:cubicBezTo>
                <a:cubicBezTo>
                  <a:pt x="64159" y="69850"/>
                  <a:pt x="69850" y="64159"/>
                  <a:pt x="69850" y="57150"/>
                </a:cubicBezTo>
                <a:close/>
                <a:moveTo>
                  <a:pt x="38100" y="114300"/>
                </a:moveTo>
                <a:cubicBezTo>
                  <a:pt x="45109" y="114300"/>
                  <a:pt x="50800" y="108609"/>
                  <a:pt x="50800" y="101600"/>
                </a:cubicBezTo>
                <a:cubicBezTo>
                  <a:pt x="50800" y="94591"/>
                  <a:pt x="45109" y="88900"/>
                  <a:pt x="38100" y="88900"/>
                </a:cubicBezTo>
                <a:cubicBezTo>
                  <a:pt x="31091" y="88900"/>
                  <a:pt x="25400" y="94591"/>
                  <a:pt x="25400" y="101600"/>
                </a:cubicBezTo>
                <a:cubicBezTo>
                  <a:pt x="25400" y="108609"/>
                  <a:pt x="31091" y="114300"/>
                  <a:pt x="38100" y="114300"/>
                </a:cubicBezTo>
                <a:close/>
                <a:moveTo>
                  <a:pt x="177800" y="101600"/>
                </a:moveTo>
                <a:cubicBezTo>
                  <a:pt x="177800" y="94591"/>
                  <a:pt x="172109" y="88900"/>
                  <a:pt x="165100" y="88900"/>
                </a:cubicBezTo>
                <a:cubicBezTo>
                  <a:pt x="158091" y="88900"/>
                  <a:pt x="152400" y="94591"/>
                  <a:pt x="152400" y="101600"/>
                </a:cubicBezTo>
                <a:cubicBezTo>
                  <a:pt x="152400" y="108609"/>
                  <a:pt x="158091" y="114300"/>
                  <a:pt x="165100" y="114300"/>
                </a:cubicBezTo>
                <a:cubicBezTo>
                  <a:pt x="172109" y="114300"/>
                  <a:pt x="177800" y="108609"/>
                  <a:pt x="177800" y="1016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070600" y="39751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816600" y="44323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写入延迟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836944" y="4381500"/>
            <a:ext cx="71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&lt; 1ms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816600" y="48895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时间复杂度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601498" y="48387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816600" y="5346700"/>
            <a:ext cx="62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吞吐量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0210800" y="5295900"/>
            <a:ext cx="34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10782300" y="3810000"/>
            <a:ext cx="4953000" cy="2006600"/>
          </a:xfrm>
          <a:custGeom>
            <a:avLst/>
            <a:gdLst/>
            <a:ahLst/>
            <a:cxnLst/>
            <a:rect l="l" t="t" r="r" b="b"/>
            <a:pathLst>
              <a:path w="4953000" h="2006600">
                <a:moveTo>
                  <a:pt x="0" y="0"/>
                </a:moveTo>
                <a:lnTo>
                  <a:pt x="4953000" y="0"/>
                </a:lnTo>
                <a:lnTo>
                  <a:pt x="49530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10972800" y="4025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101600" y="0"/>
                </a:moveTo>
                <a:cubicBezTo>
                  <a:pt x="103426" y="0"/>
                  <a:pt x="105251" y="397"/>
                  <a:pt x="106918" y="1151"/>
                </a:cubicBezTo>
                <a:lnTo>
                  <a:pt x="181689" y="32861"/>
                </a:lnTo>
                <a:cubicBezTo>
                  <a:pt x="190421" y="36552"/>
                  <a:pt x="196929" y="45164"/>
                  <a:pt x="196890" y="55563"/>
                </a:cubicBezTo>
                <a:cubicBezTo>
                  <a:pt x="196691" y="94932"/>
                  <a:pt x="180499" y="166965"/>
                  <a:pt x="112117" y="199708"/>
                </a:cubicBezTo>
                <a:cubicBezTo>
                  <a:pt x="105489" y="202883"/>
                  <a:pt x="97790" y="202883"/>
                  <a:pt x="91162" y="199708"/>
                </a:cubicBezTo>
                <a:cubicBezTo>
                  <a:pt x="22741" y="166965"/>
                  <a:pt x="6588" y="94932"/>
                  <a:pt x="6390" y="55563"/>
                </a:cubicBezTo>
                <a:cubicBezTo>
                  <a:pt x="6350" y="45164"/>
                  <a:pt x="12859" y="36552"/>
                  <a:pt x="21590" y="32861"/>
                </a:cubicBezTo>
                <a:lnTo>
                  <a:pt x="96322" y="1151"/>
                </a:lnTo>
                <a:cubicBezTo>
                  <a:pt x="97988" y="397"/>
                  <a:pt x="99774" y="0"/>
                  <a:pt x="101600" y="0"/>
                </a:cubicBezTo>
                <a:close/>
                <a:moveTo>
                  <a:pt x="101600" y="26511"/>
                </a:moveTo>
                <a:lnTo>
                  <a:pt x="101600" y="176570"/>
                </a:lnTo>
                <a:cubicBezTo>
                  <a:pt x="156369" y="150058"/>
                  <a:pt x="171093" y="91321"/>
                  <a:pt x="171450" y="56158"/>
                </a:cubicBezTo>
                <a:lnTo>
                  <a:pt x="101600" y="26551"/>
                </a:lnTo>
                <a:lnTo>
                  <a:pt x="101600" y="26551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1201400" y="3975100"/>
            <a:ext cx="447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持久性保证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0947400" y="43815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WAL先行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先写日志再更新内存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947400" y="46863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fsync刷盘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确保数据持久化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47400" y="49911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崩溃恢复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重启后重建MemTable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0947400" y="5295900"/>
            <a:ext cx="471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数据校验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验证完整性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508000" y="598805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2305050" y="6153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2057400" y="6546850"/>
            <a:ext cx="8001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严格顺序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223000" y="61531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133350" y="237411"/>
                </a:moveTo>
                <a:cubicBezTo>
                  <a:pt x="126325" y="240447"/>
                  <a:pt x="119420" y="243185"/>
                  <a:pt x="112574" y="245447"/>
                </a:cubicBezTo>
                <a:cubicBezTo>
                  <a:pt x="122515" y="265569"/>
                  <a:pt x="131028" y="266700"/>
                  <a:pt x="133350" y="266700"/>
                </a:cubicBezTo>
                <a:cubicBezTo>
                  <a:pt x="135672" y="266700"/>
                  <a:pt x="144125" y="265569"/>
                  <a:pt x="154126" y="245447"/>
                </a:cubicBezTo>
                <a:cubicBezTo>
                  <a:pt x="147340" y="243126"/>
                  <a:pt x="140375" y="240447"/>
                  <a:pt x="133350" y="237411"/>
                </a:cubicBezTo>
                <a:close/>
                <a:moveTo>
                  <a:pt x="246459" y="152400"/>
                </a:moveTo>
                <a:cubicBezTo>
                  <a:pt x="266105" y="179308"/>
                  <a:pt x="272832" y="206514"/>
                  <a:pt x="260509" y="228600"/>
                </a:cubicBezTo>
                <a:cubicBezTo>
                  <a:pt x="248483" y="250210"/>
                  <a:pt x="223302" y="257949"/>
                  <a:pt x="191929" y="254318"/>
                </a:cubicBezTo>
                <a:cubicBezTo>
                  <a:pt x="178832" y="285333"/>
                  <a:pt x="158770" y="304800"/>
                  <a:pt x="133350" y="304800"/>
                </a:cubicBezTo>
                <a:cubicBezTo>
                  <a:pt x="107930" y="304800"/>
                  <a:pt x="87868" y="285333"/>
                  <a:pt x="74771" y="254318"/>
                </a:cubicBezTo>
                <a:cubicBezTo>
                  <a:pt x="43398" y="257949"/>
                  <a:pt x="18217" y="250210"/>
                  <a:pt x="6191" y="228600"/>
                </a:cubicBezTo>
                <a:cubicBezTo>
                  <a:pt x="-6132" y="206514"/>
                  <a:pt x="595" y="179308"/>
                  <a:pt x="20241" y="152400"/>
                </a:cubicBezTo>
                <a:cubicBezTo>
                  <a:pt x="595" y="125492"/>
                  <a:pt x="-6132" y="98286"/>
                  <a:pt x="6191" y="76200"/>
                </a:cubicBezTo>
                <a:cubicBezTo>
                  <a:pt x="18217" y="54590"/>
                  <a:pt x="43398" y="46851"/>
                  <a:pt x="74771" y="50483"/>
                </a:cubicBezTo>
                <a:cubicBezTo>
                  <a:pt x="87868" y="19467"/>
                  <a:pt x="107871" y="0"/>
                  <a:pt x="133350" y="0"/>
                </a:cubicBezTo>
                <a:cubicBezTo>
                  <a:pt x="158829" y="0"/>
                  <a:pt x="178832" y="19467"/>
                  <a:pt x="191929" y="50483"/>
                </a:cubicBezTo>
                <a:cubicBezTo>
                  <a:pt x="223302" y="46851"/>
                  <a:pt x="248483" y="54531"/>
                  <a:pt x="260509" y="76200"/>
                </a:cubicBezTo>
                <a:cubicBezTo>
                  <a:pt x="272832" y="98286"/>
                  <a:pt x="266105" y="125492"/>
                  <a:pt x="246459" y="152400"/>
                </a:cubicBezTo>
                <a:close/>
                <a:moveTo>
                  <a:pt x="207288" y="192524"/>
                </a:moveTo>
                <a:cubicBezTo>
                  <a:pt x="206276" y="200977"/>
                  <a:pt x="204966" y="209193"/>
                  <a:pt x="203299" y="217051"/>
                </a:cubicBezTo>
                <a:cubicBezTo>
                  <a:pt x="222230" y="217884"/>
                  <a:pt x="226278" y="211872"/>
                  <a:pt x="227231" y="210086"/>
                </a:cubicBezTo>
                <a:cubicBezTo>
                  <a:pt x="228600" y="207585"/>
                  <a:pt x="231398" y="199430"/>
                  <a:pt x="220147" y="181451"/>
                </a:cubicBezTo>
                <a:cubicBezTo>
                  <a:pt x="216098" y="185202"/>
                  <a:pt x="211812" y="188893"/>
                  <a:pt x="207288" y="192524"/>
                </a:cubicBezTo>
                <a:close/>
                <a:moveTo>
                  <a:pt x="203299" y="87809"/>
                </a:moveTo>
                <a:cubicBezTo>
                  <a:pt x="204966" y="95607"/>
                  <a:pt x="206276" y="103822"/>
                  <a:pt x="207288" y="112335"/>
                </a:cubicBezTo>
                <a:cubicBezTo>
                  <a:pt x="211812" y="115967"/>
                  <a:pt x="216098" y="119658"/>
                  <a:pt x="220147" y="123408"/>
                </a:cubicBezTo>
                <a:cubicBezTo>
                  <a:pt x="231398" y="105430"/>
                  <a:pt x="228600" y="97215"/>
                  <a:pt x="227231" y="94774"/>
                </a:cubicBezTo>
                <a:cubicBezTo>
                  <a:pt x="226278" y="93047"/>
                  <a:pt x="222230" y="87035"/>
                  <a:pt x="203299" y="87809"/>
                </a:cubicBezTo>
                <a:close/>
                <a:moveTo>
                  <a:pt x="154126" y="59353"/>
                </a:moveTo>
                <a:cubicBezTo>
                  <a:pt x="144125" y="39231"/>
                  <a:pt x="135672" y="38100"/>
                  <a:pt x="133350" y="38100"/>
                </a:cubicBezTo>
                <a:cubicBezTo>
                  <a:pt x="131028" y="38100"/>
                  <a:pt x="122575" y="39231"/>
                  <a:pt x="112574" y="59353"/>
                </a:cubicBezTo>
                <a:cubicBezTo>
                  <a:pt x="119360" y="61674"/>
                  <a:pt x="126325" y="64353"/>
                  <a:pt x="133350" y="67389"/>
                </a:cubicBezTo>
                <a:cubicBezTo>
                  <a:pt x="140375" y="64353"/>
                  <a:pt x="147280" y="61615"/>
                  <a:pt x="154126" y="59353"/>
                </a:cubicBezTo>
                <a:close/>
                <a:moveTo>
                  <a:pt x="59472" y="112276"/>
                </a:moveTo>
                <a:cubicBezTo>
                  <a:pt x="60484" y="103763"/>
                  <a:pt x="61793" y="95607"/>
                  <a:pt x="63460" y="87749"/>
                </a:cubicBezTo>
                <a:cubicBezTo>
                  <a:pt x="44529" y="86916"/>
                  <a:pt x="40481" y="92928"/>
                  <a:pt x="39529" y="94714"/>
                </a:cubicBezTo>
                <a:cubicBezTo>
                  <a:pt x="38160" y="97215"/>
                  <a:pt x="35362" y="105370"/>
                  <a:pt x="46613" y="123349"/>
                </a:cubicBezTo>
                <a:cubicBezTo>
                  <a:pt x="50661" y="119598"/>
                  <a:pt x="54947" y="115907"/>
                  <a:pt x="59472" y="112276"/>
                </a:cubicBezTo>
                <a:close/>
                <a:moveTo>
                  <a:pt x="46553" y="181451"/>
                </a:moveTo>
                <a:cubicBezTo>
                  <a:pt x="35302" y="199430"/>
                  <a:pt x="38100" y="207645"/>
                  <a:pt x="39469" y="210086"/>
                </a:cubicBezTo>
                <a:cubicBezTo>
                  <a:pt x="40422" y="211812"/>
                  <a:pt x="44470" y="217825"/>
                  <a:pt x="63401" y="217051"/>
                </a:cubicBezTo>
                <a:cubicBezTo>
                  <a:pt x="61734" y="209252"/>
                  <a:pt x="60424" y="201037"/>
                  <a:pt x="59412" y="192524"/>
                </a:cubicBezTo>
                <a:cubicBezTo>
                  <a:pt x="54888" y="188893"/>
                  <a:pt x="50602" y="185202"/>
                  <a:pt x="46553" y="181451"/>
                </a:cubicBezTo>
                <a:close/>
                <a:moveTo>
                  <a:pt x="180975" y="152400"/>
                </a:moveTo>
                <a:cubicBezTo>
                  <a:pt x="180975" y="126115"/>
                  <a:pt x="159635" y="104775"/>
                  <a:pt x="133350" y="104775"/>
                </a:cubicBezTo>
                <a:cubicBezTo>
                  <a:pt x="107065" y="104775"/>
                  <a:pt x="85725" y="126115"/>
                  <a:pt x="85725" y="152400"/>
                </a:cubicBezTo>
                <a:cubicBezTo>
                  <a:pt x="85725" y="178685"/>
                  <a:pt x="107065" y="200025"/>
                  <a:pt x="133350" y="200025"/>
                </a:cubicBezTo>
                <a:cubicBezTo>
                  <a:pt x="159635" y="200025"/>
                  <a:pt x="180975" y="178685"/>
                  <a:pt x="180975" y="152400"/>
                </a:cubicBezTo>
                <a:close/>
                <a:moveTo>
                  <a:pt x="133350" y="133350"/>
                </a:moveTo>
                <a:cubicBezTo>
                  <a:pt x="143864" y="133350"/>
                  <a:pt x="152400" y="141886"/>
                  <a:pt x="152400" y="152400"/>
                </a:cubicBezTo>
                <a:cubicBezTo>
                  <a:pt x="152400" y="162914"/>
                  <a:pt x="143864" y="171450"/>
                  <a:pt x="133350" y="171450"/>
                </a:cubicBezTo>
                <a:cubicBezTo>
                  <a:pt x="122836" y="171450"/>
                  <a:pt x="114300" y="162914"/>
                  <a:pt x="114300" y="152400"/>
                </a:cubicBezTo>
                <a:cubicBezTo>
                  <a:pt x="114300" y="141886"/>
                  <a:pt x="122836" y="133350"/>
                  <a:pt x="133350" y="13335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5956300" y="6546850"/>
            <a:ext cx="8001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原子保证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033000" y="61531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9855200" y="6546850"/>
            <a:ext cx="622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高性能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3754100" y="615315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3576300" y="6546850"/>
            <a:ext cx="622300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持久性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416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2781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读取操作(GET)流程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269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GET Operation Workflow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3733800"/>
          </a:xfrm>
          <a:custGeom>
            <a:avLst/>
            <a:gdLst/>
            <a:ahLst/>
            <a:cxnLst/>
            <a:rect l="l" t="t" r="r" b="b"/>
            <a:pathLst>
              <a:path w="7493000" h="3733800">
                <a:moveTo>
                  <a:pt x="0" y="0"/>
                </a:moveTo>
                <a:lnTo>
                  <a:pt x="7493000" y="0"/>
                </a:lnTo>
                <a:lnTo>
                  <a:pt x="7493000" y="3733800"/>
                </a:lnTo>
                <a:lnTo>
                  <a:pt x="0" y="3733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85738" y="92869"/>
                </a:moveTo>
                <a:cubicBezTo>
                  <a:pt x="185738" y="113362"/>
                  <a:pt x="179085" y="132293"/>
                  <a:pt x="167878" y="147652"/>
                </a:cubicBezTo>
                <a:lnTo>
                  <a:pt x="224403" y="204222"/>
                </a:lnTo>
                <a:cubicBezTo>
                  <a:pt x="229984" y="209803"/>
                  <a:pt x="229984" y="218867"/>
                  <a:pt x="224403" y="224448"/>
                </a:cubicBezTo>
                <a:cubicBezTo>
                  <a:pt x="218822" y="230029"/>
                  <a:pt x="209758" y="230029"/>
                  <a:pt x="204177" y="224448"/>
                </a:cubicBezTo>
                <a:lnTo>
                  <a:pt x="147652" y="167878"/>
                </a:lnTo>
                <a:cubicBezTo>
                  <a:pt x="132293" y="179085"/>
                  <a:pt x="113362" y="185738"/>
                  <a:pt x="92869" y="185738"/>
                </a:cubicBezTo>
                <a:cubicBezTo>
                  <a:pt x="41568" y="185738"/>
                  <a:pt x="0" y="144170"/>
                  <a:pt x="0" y="92869"/>
                </a:cubicBezTo>
                <a:cubicBezTo>
                  <a:pt x="0" y="41568"/>
                  <a:pt x="41568" y="0"/>
                  <a:pt x="92869" y="0"/>
                </a:cubicBezTo>
                <a:cubicBezTo>
                  <a:pt x="144170" y="0"/>
                  <a:pt x="185738" y="41568"/>
                  <a:pt x="185738" y="92869"/>
                </a:cubicBezTo>
                <a:close/>
                <a:moveTo>
                  <a:pt x="92869" y="157163"/>
                </a:moveTo>
                <a:cubicBezTo>
                  <a:pt x="128353" y="157163"/>
                  <a:pt x="157163" y="128353"/>
                  <a:pt x="157163" y="92869"/>
                </a:cubicBezTo>
                <a:cubicBezTo>
                  <a:pt x="157163" y="57384"/>
                  <a:pt x="128353" y="28575"/>
                  <a:pt x="92869" y="28575"/>
                </a:cubicBezTo>
                <a:cubicBezTo>
                  <a:pt x="57384" y="28575"/>
                  <a:pt x="28575" y="57384"/>
                  <a:pt x="28575" y="92869"/>
                </a:cubicBezTo>
                <a:cubicBezTo>
                  <a:pt x="28575" y="128353"/>
                  <a:pt x="57384" y="157163"/>
                  <a:pt x="92869" y="1571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多层查找策略 (GET key="user:123")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23241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914400" y="2374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25400" y="25400"/>
                </a:moveTo>
                <a:cubicBezTo>
                  <a:pt x="11390" y="25400"/>
                  <a:pt x="0" y="36790"/>
                  <a:pt x="0" y="50800"/>
                </a:cubicBezTo>
                <a:lnTo>
                  <a:pt x="0" y="53737"/>
                </a:lnTo>
                <a:cubicBezTo>
                  <a:pt x="0" y="56436"/>
                  <a:pt x="1746" y="58737"/>
                  <a:pt x="4008" y="60206"/>
                </a:cubicBezTo>
                <a:cubicBezTo>
                  <a:pt x="9247" y="63619"/>
                  <a:pt x="12700" y="69493"/>
                  <a:pt x="12700" y="76200"/>
                </a:cubicBezTo>
                <a:cubicBezTo>
                  <a:pt x="12700" y="82907"/>
                  <a:pt x="9247" y="88781"/>
                  <a:pt x="4008" y="92194"/>
                </a:cubicBezTo>
                <a:cubicBezTo>
                  <a:pt x="1746" y="93663"/>
                  <a:pt x="0" y="95964"/>
                  <a:pt x="0" y="98663"/>
                </a:cubicBezTo>
                <a:lnTo>
                  <a:pt x="0" y="120650"/>
                </a:lnTo>
                <a:lnTo>
                  <a:pt x="203200" y="120650"/>
                </a:lnTo>
                <a:lnTo>
                  <a:pt x="203200" y="98663"/>
                </a:lnTo>
                <a:cubicBezTo>
                  <a:pt x="203200" y="95964"/>
                  <a:pt x="201454" y="93663"/>
                  <a:pt x="199192" y="92194"/>
                </a:cubicBezTo>
                <a:cubicBezTo>
                  <a:pt x="193953" y="88781"/>
                  <a:pt x="190500" y="82907"/>
                  <a:pt x="190500" y="76200"/>
                </a:cubicBezTo>
                <a:cubicBezTo>
                  <a:pt x="190500" y="69493"/>
                  <a:pt x="193953" y="63619"/>
                  <a:pt x="199192" y="60206"/>
                </a:cubicBezTo>
                <a:cubicBezTo>
                  <a:pt x="201454" y="58737"/>
                  <a:pt x="203200" y="56436"/>
                  <a:pt x="203200" y="53737"/>
                </a:cubicBezTo>
                <a:lnTo>
                  <a:pt x="203200" y="50800"/>
                </a:lnTo>
                <a:cubicBezTo>
                  <a:pt x="203200" y="36790"/>
                  <a:pt x="191810" y="25400"/>
                  <a:pt x="177800" y="25400"/>
                </a:cubicBezTo>
                <a:lnTo>
                  <a:pt x="25400" y="25400"/>
                </a:lnTo>
                <a:close/>
                <a:moveTo>
                  <a:pt x="203200" y="165100"/>
                </a:moveTo>
                <a:lnTo>
                  <a:pt x="203200" y="139700"/>
                </a:lnTo>
                <a:lnTo>
                  <a:pt x="0" y="139700"/>
                </a:lnTo>
                <a:lnTo>
                  <a:pt x="0" y="165100"/>
                </a:lnTo>
                <a:cubicBezTo>
                  <a:pt x="0" y="172125"/>
                  <a:pt x="5675" y="177800"/>
                  <a:pt x="12700" y="177800"/>
                </a:cubicBezTo>
                <a:lnTo>
                  <a:pt x="38100" y="177800"/>
                </a:lnTo>
                <a:lnTo>
                  <a:pt x="38100" y="168275"/>
                </a:lnTo>
                <a:cubicBezTo>
                  <a:pt x="38100" y="162997"/>
                  <a:pt x="42347" y="158750"/>
                  <a:pt x="47625" y="158750"/>
                </a:cubicBezTo>
                <a:cubicBezTo>
                  <a:pt x="52903" y="158750"/>
                  <a:pt x="57150" y="162997"/>
                  <a:pt x="57150" y="168275"/>
                </a:cubicBezTo>
                <a:lnTo>
                  <a:pt x="57150" y="177800"/>
                </a:lnTo>
                <a:lnTo>
                  <a:pt x="92075" y="177800"/>
                </a:lnTo>
                <a:lnTo>
                  <a:pt x="92075" y="168275"/>
                </a:lnTo>
                <a:cubicBezTo>
                  <a:pt x="92075" y="162997"/>
                  <a:pt x="96322" y="158750"/>
                  <a:pt x="101600" y="158750"/>
                </a:cubicBezTo>
                <a:cubicBezTo>
                  <a:pt x="106878" y="158750"/>
                  <a:pt x="111125" y="162997"/>
                  <a:pt x="111125" y="168275"/>
                </a:cubicBezTo>
                <a:lnTo>
                  <a:pt x="111125" y="177800"/>
                </a:lnTo>
                <a:lnTo>
                  <a:pt x="146050" y="177800"/>
                </a:lnTo>
                <a:lnTo>
                  <a:pt x="146050" y="168275"/>
                </a:lnTo>
                <a:cubicBezTo>
                  <a:pt x="146050" y="162997"/>
                  <a:pt x="150297" y="158750"/>
                  <a:pt x="155575" y="158750"/>
                </a:cubicBezTo>
                <a:cubicBezTo>
                  <a:pt x="160853" y="158750"/>
                  <a:pt x="165100" y="162997"/>
                  <a:pt x="165100" y="168275"/>
                </a:cubicBezTo>
                <a:lnTo>
                  <a:pt x="165100" y="177800"/>
                </a:lnTo>
                <a:lnTo>
                  <a:pt x="190500" y="177800"/>
                </a:lnTo>
                <a:cubicBezTo>
                  <a:pt x="197525" y="177800"/>
                  <a:pt x="203200" y="172125"/>
                  <a:pt x="203200" y="165100"/>
                </a:cubicBezTo>
                <a:close/>
                <a:moveTo>
                  <a:pt x="63500" y="63500"/>
                </a:moveTo>
                <a:lnTo>
                  <a:pt x="63500" y="88900"/>
                </a:lnTo>
                <a:cubicBezTo>
                  <a:pt x="63500" y="95925"/>
                  <a:pt x="57825" y="101600"/>
                  <a:pt x="50800" y="101600"/>
                </a:cubicBezTo>
                <a:cubicBezTo>
                  <a:pt x="43775" y="101600"/>
                  <a:pt x="38100" y="95925"/>
                  <a:pt x="38100" y="88900"/>
                </a:cubicBezTo>
                <a:lnTo>
                  <a:pt x="38100" y="63500"/>
                </a:lnTo>
                <a:cubicBezTo>
                  <a:pt x="38100" y="56475"/>
                  <a:pt x="43775" y="50800"/>
                  <a:pt x="50800" y="50800"/>
                </a:cubicBezTo>
                <a:cubicBezTo>
                  <a:pt x="57825" y="50800"/>
                  <a:pt x="63500" y="56475"/>
                  <a:pt x="63500" y="63500"/>
                </a:cubicBezTo>
                <a:close/>
                <a:moveTo>
                  <a:pt x="114300" y="63500"/>
                </a:moveTo>
                <a:lnTo>
                  <a:pt x="114300" y="88900"/>
                </a:lnTo>
                <a:cubicBezTo>
                  <a:pt x="114300" y="95925"/>
                  <a:pt x="108625" y="101600"/>
                  <a:pt x="101600" y="101600"/>
                </a:cubicBezTo>
                <a:cubicBezTo>
                  <a:pt x="94575" y="101600"/>
                  <a:pt x="88900" y="95925"/>
                  <a:pt x="88900" y="88900"/>
                </a:cubicBezTo>
                <a:lnTo>
                  <a:pt x="88900" y="63500"/>
                </a:lnTo>
                <a:cubicBezTo>
                  <a:pt x="88900" y="56475"/>
                  <a:pt x="94575" y="50800"/>
                  <a:pt x="101600" y="50800"/>
                </a:cubicBezTo>
                <a:cubicBezTo>
                  <a:pt x="108625" y="50800"/>
                  <a:pt x="114300" y="56475"/>
                  <a:pt x="114300" y="63500"/>
                </a:cubicBezTo>
                <a:close/>
                <a:moveTo>
                  <a:pt x="165100" y="63500"/>
                </a:moveTo>
                <a:lnTo>
                  <a:pt x="165100" y="88900"/>
                </a:lnTo>
                <a:cubicBezTo>
                  <a:pt x="165100" y="95925"/>
                  <a:pt x="159425" y="101600"/>
                  <a:pt x="152400" y="101600"/>
                </a:cubicBezTo>
                <a:cubicBezTo>
                  <a:pt x="145375" y="101600"/>
                  <a:pt x="139700" y="95925"/>
                  <a:pt x="139700" y="88900"/>
                </a:cubicBezTo>
                <a:lnTo>
                  <a:pt x="139700" y="63500"/>
                </a:lnTo>
                <a:cubicBezTo>
                  <a:pt x="139700" y="56475"/>
                  <a:pt x="145375" y="50800"/>
                  <a:pt x="152400" y="50800"/>
                </a:cubicBezTo>
                <a:cubicBezTo>
                  <a:pt x="159425" y="50800"/>
                  <a:pt x="165100" y="56475"/>
                  <a:pt x="165100" y="635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143000" y="23241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1. MemTable 查找 (内存层)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89000" y="2679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查找顺序: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Active → Immutable MemTable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89000" y="2984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时间复杂度: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| 命中率: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" y="33401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927100" y="339090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25400" y="12700"/>
                </a:moveTo>
                <a:cubicBezTo>
                  <a:pt x="11390" y="12700"/>
                  <a:pt x="0" y="24090"/>
                  <a:pt x="0" y="38100"/>
                </a:cubicBezTo>
                <a:lnTo>
                  <a:pt x="0" y="103227"/>
                </a:lnTo>
                <a:cubicBezTo>
                  <a:pt x="7183" y="98187"/>
                  <a:pt x="15954" y="95250"/>
                  <a:pt x="25400" y="95250"/>
                </a:cubicBezTo>
                <a:lnTo>
                  <a:pt x="152400" y="95250"/>
                </a:lnTo>
                <a:cubicBezTo>
                  <a:pt x="161846" y="95250"/>
                  <a:pt x="170617" y="98187"/>
                  <a:pt x="177800" y="103227"/>
                </a:cubicBezTo>
                <a:lnTo>
                  <a:pt x="177800" y="38100"/>
                </a:lnTo>
                <a:cubicBezTo>
                  <a:pt x="177800" y="24090"/>
                  <a:pt x="166410" y="12700"/>
                  <a:pt x="152400" y="12700"/>
                </a:cubicBezTo>
                <a:lnTo>
                  <a:pt x="25400" y="12700"/>
                </a:lnTo>
                <a:close/>
                <a:moveTo>
                  <a:pt x="177800" y="139700"/>
                </a:moveTo>
                <a:cubicBezTo>
                  <a:pt x="177800" y="125690"/>
                  <a:pt x="166410" y="114300"/>
                  <a:pt x="152400" y="114300"/>
                </a:cubicBezTo>
                <a:lnTo>
                  <a:pt x="25400" y="114300"/>
                </a:lnTo>
                <a:cubicBezTo>
                  <a:pt x="11390" y="114300"/>
                  <a:pt x="0" y="125690"/>
                  <a:pt x="0" y="139700"/>
                </a:cubicBezTo>
                <a:lnTo>
                  <a:pt x="0" y="165100"/>
                </a:lnTo>
                <a:cubicBezTo>
                  <a:pt x="0" y="179110"/>
                  <a:pt x="11390" y="190500"/>
                  <a:pt x="25400" y="190500"/>
                </a:cubicBezTo>
                <a:lnTo>
                  <a:pt x="152400" y="190500"/>
                </a:lnTo>
                <a:cubicBezTo>
                  <a:pt x="166410" y="190500"/>
                  <a:pt x="177800" y="179110"/>
                  <a:pt x="177800" y="165100"/>
                </a:cubicBezTo>
                <a:lnTo>
                  <a:pt x="177800" y="139700"/>
                </a:lnTo>
                <a:close/>
                <a:moveTo>
                  <a:pt x="88900" y="152400"/>
                </a:moveTo>
                <a:cubicBezTo>
                  <a:pt x="88900" y="145391"/>
                  <a:pt x="94591" y="139700"/>
                  <a:pt x="101600" y="139700"/>
                </a:cubicBezTo>
                <a:cubicBezTo>
                  <a:pt x="108609" y="139700"/>
                  <a:pt x="114300" y="145391"/>
                  <a:pt x="114300" y="152400"/>
                </a:cubicBezTo>
                <a:cubicBezTo>
                  <a:pt x="114300" y="159409"/>
                  <a:pt x="108609" y="165100"/>
                  <a:pt x="101600" y="165100"/>
                </a:cubicBezTo>
                <a:cubicBezTo>
                  <a:pt x="94591" y="165100"/>
                  <a:pt x="88900" y="159409"/>
                  <a:pt x="88900" y="152400"/>
                </a:cubicBezTo>
                <a:close/>
                <a:moveTo>
                  <a:pt x="139700" y="139700"/>
                </a:moveTo>
                <a:cubicBezTo>
                  <a:pt x="146709" y="139700"/>
                  <a:pt x="152400" y="145391"/>
                  <a:pt x="152400" y="152400"/>
                </a:cubicBezTo>
                <a:cubicBezTo>
                  <a:pt x="152400" y="159409"/>
                  <a:pt x="146709" y="165100"/>
                  <a:pt x="139700" y="165100"/>
                </a:cubicBezTo>
                <a:cubicBezTo>
                  <a:pt x="132691" y="165100"/>
                  <a:pt x="127000" y="159409"/>
                  <a:pt x="127000" y="152400"/>
                </a:cubicBezTo>
                <a:cubicBezTo>
                  <a:pt x="127000" y="145391"/>
                  <a:pt x="132691" y="139700"/>
                  <a:pt x="139700" y="139700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43000" y="33401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2. Level 0 查找 (磁盘层)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9000" y="3695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并行查找多个 SSTable 文件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9000" y="4000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优化: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 Filter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快速过滤 | 命中率: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1200" y="4356100"/>
            <a:ext cx="50800" cy="914400"/>
          </a:xfrm>
          <a:custGeom>
            <a:avLst/>
            <a:gdLst/>
            <a:ahLst/>
            <a:cxnLst/>
            <a:rect l="l" t="t" r="r" b="b"/>
            <a:pathLst>
              <a:path w="50800" h="914400">
                <a:moveTo>
                  <a:pt x="0" y="0"/>
                </a:moveTo>
                <a:lnTo>
                  <a:pt x="50800" y="0"/>
                </a:lnTo>
                <a:lnTo>
                  <a:pt x="508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14400" y="4406900"/>
            <a:ext cx="203200" cy="203200"/>
          </a:xfrm>
          <a:custGeom>
            <a:avLst/>
            <a:gdLst/>
            <a:ahLst/>
            <a:cxnLst/>
            <a:rect l="l" t="t" r="r" b="b"/>
            <a:pathLst>
              <a:path w="203200" h="203200">
                <a:moveTo>
                  <a:pt x="0" y="25400"/>
                </a:moveTo>
                <a:cubicBezTo>
                  <a:pt x="0" y="18375"/>
                  <a:pt x="5675" y="12700"/>
                  <a:pt x="12700" y="12700"/>
                </a:cubicBezTo>
                <a:lnTo>
                  <a:pt x="190500" y="12700"/>
                </a:lnTo>
                <a:cubicBezTo>
                  <a:pt x="197525" y="12700"/>
                  <a:pt x="203200" y="18375"/>
                  <a:pt x="203200" y="25400"/>
                </a:cubicBezTo>
                <a:lnTo>
                  <a:pt x="203200" y="38100"/>
                </a:lnTo>
                <a:cubicBezTo>
                  <a:pt x="203200" y="45125"/>
                  <a:pt x="197525" y="50800"/>
                  <a:pt x="190500" y="50800"/>
                </a:cubicBezTo>
                <a:lnTo>
                  <a:pt x="12700" y="50800"/>
                </a:lnTo>
                <a:cubicBezTo>
                  <a:pt x="5675" y="50800"/>
                  <a:pt x="0" y="45125"/>
                  <a:pt x="0" y="38100"/>
                </a:cubicBezTo>
                <a:lnTo>
                  <a:pt x="0" y="25400"/>
                </a:lnTo>
                <a:close/>
                <a:moveTo>
                  <a:pt x="12700" y="69850"/>
                </a:moveTo>
                <a:lnTo>
                  <a:pt x="190500" y="69850"/>
                </a:lnTo>
                <a:lnTo>
                  <a:pt x="190500" y="165100"/>
                </a:lnTo>
                <a:cubicBezTo>
                  <a:pt x="190500" y="179110"/>
                  <a:pt x="179110" y="190500"/>
                  <a:pt x="165100" y="190500"/>
                </a:cubicBezTo>
                <a:lnTo>
                  <a:pt x="38100" y="190500"/>
                </a:lnTo>
                <a:cubicBezTo>
                  <a:pt x="24090" y="190500"/>
                  <a:pt x="12700" y="179110"/>
                  <a:pt x="12700" y="165100"/>
                </a:cubicBezTo>
                <a:lnTo>
                  <a:pt x="12700" y="69850"/>
                </a:lnTo>
                <a:close/>
                <a:moveTo>
                  <a:pt x="73025" y="95250"/>
                </a:moveTo>
                <a:cubicBezTo>
                  <a:pt x="67747" y="95250"/>
                  <a:pt x="63500" y="99497"/>
                  <a:pt x="63500" y="104775"/>
                </a:cubicBezTo>
                <a:cubicBezTo>
                  <a:pt x="63500" y="110053"/>
                  <a:pt x="67747" y="114300"/>
                  <a:pt x="73025" y="114300"/>
                </a:cubicBezTo>
                <a:lnTo>
                  <a:pt x="130175" y="114300"/>
                </a:lnTo>
                <a:cubicBezTo>
                  <a:pt x="135453" y="114300"/>
                  <a:pt x="139700" y="110053"/>
                  <a:pt x="139700" y="104775"/>
                </a:cubicBezTo>
                <a:cubicBezTo>
                  <a:pt x="139700" y="99497"/>
                  <a:pt x="135453" y="95250"/>
                  <a:pt x="130175" y="95250"/>
                </a:cubicBezTo>
                <a:lnTo>
                  <a:pt x="73025" y="9525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143000" y="4356100"/>
            <a:ext cx="6807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3. Level 1+ 查找 (深层存储)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9000" y="4711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查找方式: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二分查找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定位文件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9000" y="5016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优化: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块级索引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快速定位 | 命中率: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5%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20700" y="5613400"/>
            <a:ext cx="7493000" cy="1803400"/>
          </a:xfrm>
          <a:custGeom>
            <a:avLst/>
            <a:gdLst/>
            <a:ahLst/>
            <a:cxnLst/>
            <a:rect l="l" t="t" r="r" b="b"/>
            <a:pathLst>
              <a:path w="7493000" h="1803400">
                <a:moveTo>
                  <a:pt x="0" y="0"/>
                </a:moveTo>
                <a:lnTo>
                  <a:pt x="7493000" y="0"/>
                </a:lnTo>
                <a:lnTo>
                  <a:pt x="7493000" y="1803400"/>
                </a:lnTo>
                <a:lnTo>
                  <a:pt x="0" y="1803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703263" y="5842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77900" y="57785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缓存层优化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11200" y="6235700"/>
            <a:ext cx="50800" cy="304800"/>
          </a:xfrm>
          <a:custGeom>
            <a:avLst/>
            <a:gdLst/>
            <a:ahLst/>
            <a:cxnLst/>
            <a:rect l="l" t="t" r="r" b="b"/>
            <a:pathLst>
              <a:path w="50800" h="304800">
                <a:moveTo>
                  <a:pt x="0" y="0"/>
                </a:moveTo>
                <a:lnTo>
                  <a:pt x="50800" y="0"/>
                </a:lnTo>
                <a:lnTo>
                  <a:pt x="50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38200" y="6261100"/>
            <a:ext cx="1104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Block Cache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33568" y="6235700"/>
            <a:ext cx="520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11200" y="6591300"/>
            <a:ext cx="50800" cy="304800"/>
          </a:xfrm>
          <a:custGeom>
            <a:avLst/>
            <a:gdLst/>
            <a:ahLst/>
            <a:cxnLst/>
            <a:rect l="l" t="t" r="r" b="b"/>
            <a:pathLst>
              <a:path w="50800" h="304800">
                <a:moveTo>
                  <a:pt x="0" y="0"/>
                </a:moveTo>
                <a:lnTo>
                  <a:pt x="50800" y="0"/>
                </a:lnTo>
                <a:lnTo>
                  <a:pt x="50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38200" y="6616700"/>
            <a:ext cx="1003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 Cache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49245" y="6591300"/>
            <a:ext cx="49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11200" y="6946900"/>
            <a:ext cx="50800" cy="304800"/>
          </a:xfrm>
          <a:custGeom>
            <a:avLst/>
            <a:gdLst/>
            <a:ahLst/>
            <a:cxnLst/>
            <a:rect l="l" t="t" r="r" b="b"/>
            <a:pathLst>
              <a:path w="50800" h="304800">
                <a:moveTo>
                  <a:pt x="0" y="0"/>
                </a:moveTo>
                <a:lnTo>
                  <a:pt x="50800" y="0"/>
                </a:lnTo>
                <a:lnTo>
                  <a:pt x="50800" y="304800"/>
                </a:lnTo>
                <a:lnTo>
                  <a:pt x="0" y="3048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38200" y="6972300"/>
            <a:ext cx="1358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OS Page Cache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439720" y="6946900"/>
            <a:ext cx="508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95%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242300" y="1689100"/>
            <a:ext cx="25400" cy="6946900"/>
          </a:xfrm>
          <a:custGeom>
            <a:avLst/>
            <a:gdLst/>
            <a:ahLst/>
            <a:cxnLst/>
            <a:rect l="l" t="t" r="r" b="b"/>
            <a:pathLst>
              <a:path w="25400" h="6946900">
                <a:moveTo>
                  <a:pt x="0" y="0"/>
                </a:moveTo>
                <a:lnTo>
                  <a:pt x="25400" y="0"/>
                </a:lnTo>
                <a:lnTo>
                  <a:pt x="25400" y="6946900"/>
                </a:lnTo>
                <a:lnTo>
                  <a:pt x="0" y="69469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8470900" y="1701800"/>
            <a:ext cx="7264400" cy="2971800"/>
          </a:xfrm>
          <a:custGeom>
            <a:avLst/>
            <a:gdLst/>
            <a:ahLst/>
            <a:cxnLst/>
            <a:rect l="l" t="t" r="r" b="b"/>
            <a:pathLst>
              <a:path w="7264400" h="2971800">
                <a:moveTo>
                  <a:pt x="0" y="0"/>
                </a:moveTo>
                <a:lnTo>
                  <a:pt x="7264400" y="0"/>
                </a:lnTo>
                <a:lnTo>
                  <a:pt x="7264400" y="2971800"/>
                </a:lnTo>
                <a:lnTo>
                  <a:pt x="0" y="2971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86677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8928100" y="18669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读取性能分析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61400" y="2324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788400" y="2349500"/>
            <a:ext cx="1549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 查找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5096927" y="2324100"/>
            <a:ext cx="584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788400" y="2730500"/>
            <a:ext cx="687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最新写入的数据，访问速度最快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661400" y="3086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8788400" y="3111500"/>
            <a:ext cx="1244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 查找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5156359" y="3086100"/>
            <a:ext cx="533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788400" y="3492500"/>
            <a:ext cx="687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近期数据，需检查多个重叠文件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661400" y="3848100"/>
            <a:ext cx="50800" cy="660400"/>
          </a:xfrm>
          <a:custGeom>
            <a:avLst/>
            <a:gdLst/>
            <a:ahLst/>
            <a:cxnLst/>
            <a:rect l="l" t="t" r="r" b="b"/>
            <a:pathLst>
              <a:path w="50800" h="660400">
                <a:moveTo>
                  <a:pt x="0" y="0"/>
                </a:moveTo>
                <a:lnTo>
                  <a:pt x="50800" y="0"/>
                </a:lnTo>
                <a:lnTo>
                  <a:pt x="508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788400" y="38735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1+ 查找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5246251" y="3848100"/>
            <a:ext cx="44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788400" y="4254500"/>
            <a:ext cx="687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历史数据，文件有序不重叠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70900" y="5022850"/>
            <a:ext cx="7264400" cy="1651000"/>
          </a:xfrm>
          <a:custGeom>
            <a:avLst/>
            <a:gdLst/>
            <a:ahLst/>
            <a:cxnLst/>
            <a:rect l="l" t="t" r="r" b="b"/>
            <a:pathLst>
              <a:path w="7264400" h="1651000">
                <a:moveTo>
                  <a:pt x="0" y="0"/>
                </a:moveTo>
                <a:lnTo>
                  <a:pt x="7264400" y="0"/>
                </a:lnTo>
                <a:lnTo>
                  <a:pt x="72644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52"/>
          <p:cNvSpPr/>
          <p:nvPr/>
        </p:nvSpPr>
        <p:spPr>
          <a:xfrm>
            <a:off x="8682038" y="52514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51269" y="-4420"/>
                </a:moveTo>
                <a:cubicBezTo>
                  <a:pt x="156582" y="-580"/>
                  <a:pt x="158547" y="6385"/>
                  <a:pt x="156136" y="12457"/>
                </a:cubicBezTo>
                <a:lnTo>
                  <a:pt x="121131" y="100013"/>
                </a:lnTo>
                <a:lnTo>
                  <a:pt x="185738" y="100013"/>
                </a:lnTo>
                <a:cubicBezTo>
                  <a:pt x="191765" y="100013"/>
                  <a:pt x="197123" y="103763"/>
                  <a:pt x="199177" y="109433"/>
                </a:cubicBezTo>
                <a:cubicBezTo>
                  <a:pt x="201231" y="115104"/>
                  <a:pt x="199489" y="121444"/>
                  <a:pt x="194890" y="125284"/>
                </a:cubicBezTo>
                <a:lnTo>
                  <a:pt x="66303" y="232440"/>
                </a:lnTo>
                <a:cubicBezTo>
                  <a:pt x="61258" y="236637"/>
                  <a:pt x="54069" y="236860"/>
                  <a:pt x="48756" y="233020"/>
                </a:cubicBezTo>
                <a:cubicBezTo>
                  <a:pt x="43443" y="229180"/>
                  <a:pt x="41478" y="222215"/>
                  <a:pt x="43889" y="216143"/>
                </a:cubicBezTo>
                <a:lnTo>
                  <a:pt x="78894" y="128588"/>
                </a:lnTo>
                <a:lnTo>
                  <a:pt x="14288" y="128588"/>
                </a:lnTo>
                <a:cubicBezTo>
                  <a:pt x="8260" y="128588"/>
                  <a:pt x="2902" y="124837"/>
                  <a:pt x="848" y="119167"/>
                </a:cubicBezTo>
                <a:cubicBezTo>
                  <a:pt x="-1206" y="113496"/>
                  <a:pt x="536" y="107156"/>
                  <a:pt x="5135" y="103316"/>
                </a:cubicBezTo>
                <a:lnTo>
                  <a:pt x="133722" y="-3840"/>
                </a:lnTo>
                <a:cubicBezTo>
                  <a:pt x="138767" y="-8037"/>
                  <a:pt x="145956" y="-8260"/>
                  <a:pt x="151269" y="-4420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8928100" y="518795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索引优化技术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636000" y="564515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Bloom Filter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减少 90% 无效磁盘访问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36000" y="594995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分层索引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快速定位目标文件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36000" y="625475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预取策略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批量读取相邻数据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70900" y="7023100"/>
            <a:ext cx="7264400" cy="1600200"/>
          </a:xfrm>
          <a:custGeom>
            <a:avLst/>
            <a:gdLst/>
            <a:ahLst/>
            <a:cxnLst/>
            <a:rect l="l" t="t" r="r" b="b"/>
            <a:pathLst>
              <a:path w="7264400" h="1600200">
                <a:moveTo>
                  <a:pt x="0" y="0"/>
                </a:moveTo>
                <a:lnTo>
                  <a:pt x="7264400" y="0"/>
                </a:lnTo>
                <a:lnTo>
                  <a:pt x="7264400" y="1600200"/>
                </a:lnTo>
                <a:lnTo>
                  <a:pt x="0" y="1600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8667750" y="72517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28588" y="42863"/>
                </a:move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ubicBezTo>
                  <a:pt x="122185" y="57150"/>
                  <a:pt x="128588" y="50748"/>
                  <a:pt x="128588" y="42863"/>
                </a:cubicBezTo>
                <a:close/>
                <a:moveTo>
                  <a:pt x="114300" y="185738"/>
                </a:moveTo>
                <a:cubicBezTo>
                  <a:pt x="130061" y="185738"/>
                  <a:pt x="142875" y="172923"/>
                  <a:pt x="142875" y="157163"/>
                </a:cubicBezTo>
                <a:cubicBezTo>
                  <a:pt x="142875" y="149929"/>
                  <a:pt x="140196" y="143277"/>
                  <a:pt x="135731" y="138276"/>
                </a:cubicBezTo>
                <a:lnTo>
                  <a:pt x="166762" y="76260"/>
                </a:lnTo>
                <a:cubicBezTo>
                  <a:pt x="169396" y="70946"/>
                  <a:pt x="167253" y="64517"/>
                  <a:pt x="161985" y="61883"/>
                </a:cubicBezTo>
                <a:cubicBezTo>
                  <a:pt x="156716" y="59248"/>
                  <a:pt x="150242" y="61392"/>
                  <a:pt x="147608" y="66660"/>
                </a:cubicBezTo>
                <a:lnTo>
                  <a:pt x="116577" y="128677"/>
                </a:lnTo>
                <a:cubicBezTo>
                  <a:pt x="115818" y="128632"/>
                  <a:pt x="115059" y="128588"/>
                  <a:pt x="114300" y="128588"/>
                </a:cubicBezTo>
                <a:cubicBezTo>
                  <a:pt x="98539" y="128588"/>
                  <a:pt x="85725" y="141402"/>
                  <a:pt x="85725" y="157163"/>
                </a:cubicBezTo>
                <a:cubicBezTo>
                  <a:pt x="85725" y="172923"/>
                  <a:pt x="98539" y="185738"/>
                  <a:pt x="114300" y="185738"/>
                </a:cubicBezTo>
                <a:close/>
                <a:moveTo>
                  <a:pt x="78581" y="64294"/>
                </a:moveTo>
                <a:cubicBezTo>
                  <a:pt x="78581" y="56408"/>
                  <a:pt x="72179" y="50006"/>
                  <a:pt x="64294" y="50006"/>
                </a:cubicBezTo>
                <a:cubicBezTo>
                  <a:pt x="56408" y="50006"/>
                  <a:pt x="50006" y="56408"/>
                  <a:pt x="50006" y="64294"/>
                </a:cubicBezTo>
                <a:cubicBezTo>
                  <a:pt x="50006" y="72179"/>
                  <a:pt x="56408" y="78581"/>
                  <a:pt x="64294" y="78581"/>
                </a:cubicBezTo>
                <a:cubicBezTo>
                  <a:pt x="72179" y="78581"/>
                  <a:pt x="78581" y="72179"/>
                  <a:pt x="78581" y="64294"/>
                </a:cubicBezTo>
                <a:close/>
                <a:moveTo>
                  <a:pt x="42863" y="128588"/>
                </a:moveTo>
                <a:cubicBezTo>
                  <a:pt x="50748" y="128588"/>
                  <a:pt x="57150" y="122185"/>
                  <a:pt x="57150" y="114300"/>
                </a:cubicBez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lose/>
                <a:moveTo>
                  <a:pt x="200025" y="114300"/>
                </a:moveTo>
                <a:cubicBezTo>
                  <a:pt x="200025" y="106415"/>
                  <a:pt x="193623" y="100013"/>
                  <a:pt x="185738" y="100013"/>
                </a:cubicBezTo>
                <a:cubicBezTo>
                  <a:pt x="177852" y="100013"/>
                  <a:pt x="171450" y="106415"/>
                  <a:pt x="171450" y="114300"/>
                </a:cubicBezTo>
                <a:cubicBezTo>
                  <a:pt x="171450" y="122185"/>
                  <a:pt x="177852" y="128588"/>
                  <a:pt x="185738" y="128588"/>
                </a:cubicBezTo>
                <a:cubicBezTo>
                  <a:pt x="193623" y="128588"/>
                  <a:pt x="200025" y="122185"/>
                  <a:pt x="200025" y="114300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8928100" y="71882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读取复杂度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8636000" y="76962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时间复杂度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14732298" y="7645400"/>
            <a:ext cx="952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O(log n)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636000" y="81534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平均延迟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14932323" y="8102600"/>
            <a:ext cx="749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1-5ms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416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94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删除操作(DELETE)流程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86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DELETE Operation &amp; Tombstone Marker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7493000" cy="4749800"/>
          </a:xfrm>
          <a:custGeom>
            <a:avLst/>
            <a:gdLst/>
            <a:ahLst/>
            <a:cxnLst/>
            <a:rect l="l" t="t" r="r" b="b"/>
            <a:pathLst>
              <a:path w="7493000" h="4749800">
                <a:moveTo>
                  <a:pt x="0" y="0"/>
                </a:moveTo>
                <a:lnTo>
                  <a:pt x="7493000" y="0"/>
                </a:lnTo>
                <a:lnTo>
                  <a:pt x="7493000" y="4749800"/>
                </a:lnTo>
                <a:lnTo>
                  <a:pt x="0" y="4749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31838" y="1930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61034" y="2634"/>
                </a:moveTo>
                <a:cubicBezTo>
                  <a:pt x="62999" y="-3215"/>
                  <a:pt x="68446" y="-7144"/>
                  <a:pt x="74608" y="-7144"/>
                </a:cubicBezTo>
                <a:lnTo>
                  <a:pt x="125462" y="-7144"/>
                </a:lnTo>
                <a:cubicBezTo>
                  <a:pt x="131624" y="-7144"/>
                  <a:pt x="137071" y="-3215"/>
                  <a:pt x="139035" y="2634"/>
                </a:cubicBezTo>
                <a:lnTo>
                  <a:pt x="142875" y="14288"/>
                </a:lnTo>
                <a:lnTo>
                  <a:pt x="185738" y="14288"/>
                </a:lnTo>
                <a:cubicBezTo>
                  <a:pt x="193640" y="14288"/>
                  <a:pt x="200025" y="20672"/>
                  <a:pt x="200025" y="28575"/>
                </a:cubicBezTo>
                <a:cubicBezTo>
                  <a:pt x="200025" y="36478"/>
                  <a:pt x="193640" y="42863"/>
                  <a:pt x="185738" y="42863"/>
                </a:cubicBezTo>
                <a:lnTo>
                  <a:pt x="14288" y="42863"/>
                </a:lnTo>
                <a:cubicBezTo>
                  <a:pt x="6385" y="42863"/>
                  <a:pt x="0" y="36478"/>
                  <a:pt x="0" y="28575"/>
                </a:cubicBezTo>
                <a:cubicBezTo>
                  <a:pt x="0" y="20672"/>
                  <a:pt x="6385" y="14288"/>
                  <a:pt x="14288" y="14288"/>
                </a:cubicBezTo>
                <a:lnTo>
                  <a:pt x="57150" y="14288"/>
                </a:lnTo>
                <a:lnTo>
                  <a:pt x="61034" y="2634"/>
                </a:lnTo>
                <a:close/>
                <a:moveTo>
                  <a:pt x="14288" y="64294"/>
                </a:moveTo>
                <a:lnTo>
                  <a:pt x="185738" y="64294"/>
                </a:lnTo>
                <a:lnTo>
                  <a:pt x="185738" y="200025"/>
                </a:lnTo>
                <a:cubicBezTo>
                  <a:pt x="185738" y="215786"/>
                  <a:pt x="172923" y="228600"/>
                  <a:pt x="157163" y="228600"/>
                </a:cubicBezTo>
                <a:lnTo>
                  <a:pt x="42863" y="228600"/>
                </a:lnTo>
                <a:cubicBezTo>
                  <a:pt x="27102" y="228600"/>
                  <a:pt x="14288" y="215786"/>
                  <a:pt x="14288" y="200025"/>
                </a:cubicBezTo>
                <a:lnTo>
                  <a:pt x="14288" y="64294"/>
                </a:lnTo>
                <a:close/>
                <a:moveTo>
                  <a:pt x="53578" y="92869"/>
                </a:moveTo>
                <a:cubicBezTo>
                  <a:pt x="47640" y="92869"/>
                  <a:pt x="42863" y="97646"/>
                  <a:pt x="42863" y="103584"/>
                </a:cubicBezTo>
                <a:lnTo>
                  <a:pt x="42863" y="189309"/>
                </a:lnTo>
                <a:cubicBezTo>
                  <a:pt x="42863" y="195248"/>
                  <a:pt x="47640" y="200025"/>
                  <a:pt x="53578" y="200025"/>
                </a:cubicBezTo>
                <a:cubicBezTo>
                  <a:pt x="59516" y="200025"/>
                  <a:pt x="64294" y="195248"/>
                  <a:pt x="64294" y="189309"/>
                </a:cubicBezTo>
                <a:lnTo>
                  <a:pt x="64294" y="103584"/>
                </a:lnTo>
                <a:cubicBezTo>
                  <a:pt x="64294" y="97646"/>
                  <a:pt x="59516" y="92869"/>
                  <a:pt x="53578" y="92869"/>
                </a:cubicBezTo>
                <a:close/>
                <a:moveTo>
                  <a:pt x="100013" y="92869"/>
                </a:moveTo>
                <a:cubicBezTo>
                  <a:pt x="94074" y="92869"/>
                  <a:pt x="89297" y="97646"/>
                  <a:pt x="89297" y="103584"/>
                </a:cubicBezTo>
                <a:lnTo>
                  <a:pt x="89297" y="189309"/>
                </a:lnTo>
                <a:cubicBezTo>
                  <a:pt x="89297" y="195248"/>
                  <a:pt x="94074" y="200025"/>
                  <a:pt x="100013" y="200025"/>
                </a:cubicBezTo>
                <a:cubicBezTo>
                  <a:pt x="105951" y="200025"/>
                  <a:pt x="110728" y="195248"/>
                  <a:pt x="110728" y="189309"/>
                </a:cubicBezTo>
                <a:lnTo>
                  <a:pt x="110728" y="103584"/>
                </a:lnTo>
                <a:cubicBezTo>
                  <a:pt x="110728" y="97646"/>
                  <a:pt x="105951" y="92869"/>
                  <a:pt x="100013" y="92869"/>
                </a:cubicBezTo>
                <a:close/>
                <a:moveTo>
                  <a:pt x="146447" y="92869"/>
                </a:moveTo>
                <a:cubicBezTo>
                  <a:pt x="140509" y="92869"/>
                  <a:pt x="135731" y="97646"/>
                  <a:pt x="135731" y="103584"/>
                </a:cubicBezTo>
                <a:lnTo>
                  <a:pt x="135731" y="189309"/>
                </a:lnTo>
                <a:cubicBezTo>
                  <a:pt x="135731" y="195248"/>
                  <a:pt x="140509" y="200025"/>
                  <a:pt x="146447" y="200025"/>
                </a:cubicBezTo>
                <a:cubicBezTo>
                  <a:pt x="152385" y="200025"/>
                  <a:pt x="157163" y="195248"/>
                  <a:pt x="157163" y="189309"/>
                </a:cubicBezTo>
                <a:lnTo>
                  <a:pt x="157163" y="103584"/>
                </a:lnTo>
                <a:cubicBezTo>
                  <a:pt x="157163" y="97646"/>
                  <a:pt x="152385" y="92869"/>
                  <a:pt x="146447" y="92869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逻辑删除策略 (DELETE key="user:123")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2324100"/>
            <a:ext cx="50800" cy="965200"/>
          </a:xfrm>
          <a:custGeom>
            <a:avLst/>
            <a:gdLst/>
            <a:ahLst/>
            <a:cxnLst/>
            <a:rect l="l" t="t" r="r" b="b"/>
            <a:pathLst>
              <a:path w="50800" h="965200">
                <a:moveTo>
                  <a:pt x="0" y="0"/>
                </a:moveTo>
                <a:lnTo>
                  <a:pt x="50800" y="0"/>
                </a:lnTo>
                <a:lnTo>
                  <a:pt x="50800" y="965200"/>
                </a:lnTo>
                <a:lnTo>
                  <a:pt x="0" y="9652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89000" y="2324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原始数据状态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" y="2679700"/>
            <a:ext cx="6959600" cy="609600"/>
          </a:xfrm>
          <a:custGeom>
            <a:avLst/>
            <a:gdLst/>
            <a:ahLst/>
            <a:cxnLst/>
            <a:rect l="l" t="t" r="r" b="b"/>
            <a:pathLst>
              <a:path w="6959600" h="609600">
                <a:moveTo>
                  <a:pt x="0" y="0"/>
                </a:moveTo>
                <a:lnTo>
                  <a:pt x="6959600" y="0"/>
                </a:lnTo>
                <a:lnTo>
                  <a:pt x="695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990600" y="278130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user:123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0600" y="298450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 "Alice" | Type: PUT | Version: 1001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11200" y="33909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889000" y="3390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删除标记创建 (Tombstone)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9000" y="3746500"/>
            <a:ext cx="6959600" cy="609600"/>
          </a:xfrm>
          <a:custGeom>
            <a:avLst/>
            <a:gdLst/>
            <a:ahLst/>
            <a:cxnLst/>
            <a:rect l="l" t="t" r="r" b="b"/>
            <a:pathLst>
              <a:path w="6959600" h="609600">
                <a:moveTo>
                  <a:pt x="0" y="0"/>
                </a:moveTo>
                <a:lnTo>
                  <a:pt x="6959600" y="0"/>
                </a:lnTo>
                <a:lnTo>
                  <a:pt x="69596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90600" y="384810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user:123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0600" y="4051300"/>
            <a:ext cx="6832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EDF2F4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Value: null | Type: DELETE | Version: 1005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9000" y="4406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不直接删除数据，而是添加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删除标记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1200" y="4762500"/>
            <a:ext cx="50800" cy="1524000"/>
          </a:xfrm>
          <a:custGeom>
            <a:avLst/>
            <a:gdLst/>
            <a:ahLst/>
            <a:cxnLst/>
            <a:rect l="l" t="t" r="r" b="b"/>
            <a:pathLst>
              <a:path w="50800" h="1524000">
                <a:moveTo>
                  <a:pt x="0" y="0"/>
                </a:moveTo>
                <a:lnTo>
                  <a:pt x="50800" y="0"/>
                </a:lnTo>
                <a:lnTo>
                  <a:pt x="50800" y="1524000"/>
                </a:lnTo>
                <a:lnTo>
                  <a:pt x="0" y="1524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89000" y="4762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删除操作特点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9000" y="5118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逻辑删除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数据仍存在，标记为已删除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89000" y="5422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删除标记具有更高版本号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9000" y="5727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读取屏蔽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遇到删除标记返回"不存在"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9000" y="6032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延迟清理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实际清理在Compaction时进行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20700" y="6629400"/>
            <a:ext cx="7493000" cy="1651000"/>
          </a:xfrm>
          <a:custGeom>
            <a:avLst/>
            <a:gdLst/>
            <a:ahLst/>
            <a:cxnLst/>
            <a:rect l="l" t="t" r="r" b="b"/>
            <a:pathLst>
              <a:path w="7493000" h="1651000">
                <a:moveTo>
                  <a:pt x="0" y="0"/>
                </a:moveTo>
                <a:lnTo>
                  <a:pt x="7493000" y="0"/>
                </a:lnTo>
                <a:lnTo>
                  <a:pt x="74930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703263" y="6858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77900" y="6794500"/>
            <a:ext cx="6985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删除标记清理机制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" y="72517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版本覆盖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所有旧版本已被覆盖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75565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时间过期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超过配置的保留时间(TTL)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" y="7861300"/>
            <a:ext cx="7251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 触发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在合并过程中遇到删除标记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42300" y="1689100"/>
            <a:ext cx="25400" cy="7086600"/>
          </a:xfrm>
          <a:custGeom>
            <a:avLst/>
            <a:gdLst/>
            <a:ahLst/>
            <a:cxnLst/>
            <a:rect l="l" t="t" r="r" b="b"/>
            <a:pathLst>
              <a:path w="25400" h="7086600">
                <a:moveTo>
                  <a:pt x="0" y="0"/>
                </a:moveTo>
                <a:lnTo>
                  <a:pt x="25400" y="0"/>
                </a:lnTo>
                <a:lnTo>
                  <a:pt x="25400" y="7086600"/>
                </a:lnTo>
                <a:lnTo>
                  <a:pt x="0" y="7086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470900" y="1701800"/>
            <a:ext cx="7264400" cy="3048000"/>
          </a:xfrm>
          <a:custGeom>
            <a:avLst/>
            <a:gdLst/>
            <a:ahLst/>
            <a:cxnLst/>
            <a:rect l="l" t="t" r="r" b="b"/>
            <a:pathLst>
              <a:path w="7264400" h="3048000">
                <a:moveTo>
                  <a:pt x="0" y="0"/>
                </a:moveTo>
                <a:lnTo>
                  <a:pt x="7264400" y="0"/>
                </a:lnTo>
                <a:lnTo>
                  <a:pt x="7264400" y="3048000"/>
                </a:lnTo>
                <a:lnTo>
                  <a:pt x="0" y="3048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Shape 33"/>
          <p:cNvSpPr/>
          <p:nvPr/>
        </p:nvSpPr>
        <p:spPr>
          <a:xfrm>
            <a:off x="86677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68000" y="26789"/>
                </a:moveTo>
                <a:cubicBezTo>
                  <a:pt x="88627" y="-8930"/>
                  <a:pt x="140196" y="-8930"/>
                  <a:pt x="160824" y="26789"/>
                </a:cubicBezTo>
                <a:lnTo>
                  <a:pt x="177478" y="55632"/>
                </a:lnTo>
                <a:lnTo>
                  <a:pt x="189845" y="48488"/>
                </a:lnTo>
                <a:cubicBezTo>
                  <a:pt x="193596" y="46300"/>
                  <a:pt x="198284" y="46613"/>
                  <a:pt x="201722" y="49247"/>
                </a:cubicBezTo>
                <a:cubicBezTo>
                  <a:pt x="205160" y="51881"/>
                  <a:pt x="206678" y="56346"/>
                  <a:pt x="205561" y="60543"/>
                </a:cubicBezTo>
                <a:lnTo>
                  <a:pt x="195069" y="99566"/>
                </a:lnTo>
                <a:cubicBezTo>
                  <a:pt x="193551" y="105281"/>
                  <a:pt x="187657" y="108674"/>
                  <a:pt x="181942" y="107156"/>
                </a:cubicBezTo>
                <a:lnTo>
                  <a:pt x="142920" y="96709"/>
                </a:lnTo>
                <a:cubicBezTo>
                  <a:pt x="138723" y="95592"/>
                  <a:pt x="135642" y="92065"/>
                  <a:pt x="135062" y="87779"/>
                </a:cubicBezTo>
                <a:cubicBezTo>
                  <a:pt x="134481" y="83493"/>
                  <a:pt x="136580" y="79251"/>
                  <a:pt x="140330" y="77108"/>
                </a:cubicBezTo>
                <a:lnTo>
                  <a:pt x="152698" y="69964"/>
                </a:lnTo>
                <a:lnTo>
                  <a:pt x="136044" y="41121"/>
                </a:lnTo>
                <a:cubicBezTo>
                  <a:pt x="126400" y="24467"/>
                  <a:pt x="102379" y="24467"/>
                  <a:pt x="92735" y="41121"/>
                </a:cubicBezTo>
                <a:lnTo>
                  <a:pt x="90368" y="45184"/>
                </a:lnTo>
                <a:cubicBezTo>
                  <a:pt x="86439" y="52015"/>
                  <a:pt x="77688" y="54337"/>
                  <a:pt x="70857" y="50408"/>
                </a:cubicBezTo>
                <a:cubicBezTo>
                  <a:pt x="64026" y="46479"/>
                  <a:pt x="61704" y="37728"/>
                  <a:pt x="65633" y="30852"/>
                </a:cubicBezTo>
                <a:lnTo>
                  <a:pt x="68000" y="26789"/>
                </a:lnTo>
                <a:close/>
                <a:moveTo>
                  <a:pt x="200784" y="124614"/>
                </a:moveTo>
                <a:cubicBezTo>
                  <a:pt x="207615" y="120685"/>
                  <a:pt x="216366" y="123006"/>
                  <a:pt x="220295" y="129838"/>
                </a:cubicBezTo>
                <a:lnTo>
                  <a:pt x="222662" y="133901"/>
                </a:lnTo>
                <a:cubicBezTo>
                  <a:pt x="243289" y="169619"/>
                  <a:pt x="217527" y="214268"/>
                  <a:pt x="176272" y="214268"/>
                </a:cubicBezTo>
                <a:lnTo>
                  <a:pt x="142964" y="214268"/>
                </a:lnTo>
                <a:lnTo>
                  <a:pt x="142964" y="228555"/>
                </a:lnTo>
                <a:cubicBezTo>
                  <a:pt x="142964" y="232886"/>
                  <a:pt x="140375" y="236815"/>
                  <a:pt x="136356" y="238467"/>
                </a:cubicBezTo>
                <a:cubicBezTo>
                  <a:pt x="132338" y="240119"/>
                  <a:pt x="127739" y="239226"/>
                  <a:pt x="124658" y="236146"/>
                </a:cubicBezTo>
                <a:lnTo>
                  <a:pt x="96083" y="207571"/>
                </a:lnTo>
                <a:cubicBezTo>
                  <a:pt x="91886" y="203374"/>
                  <a:pt x="91886" y="196587"/>
                  <a:pt x="96083" y="192435"/>
                </a:cubicBezTo>
                <a:lnTo>
                  <a:pt x="124658" y="163860"/>
                </a:lnTo>
                <a:cubicBezTo>
                  <a:pt x="127739" y="160779"/>
                  <a:pt x="132338" y="159886"/>
                  <a:pt x="136356" y="161538"/>
                </a:cubicBezTo>
                <a:cubicBezTo>
                  <a:pt x="140375" y="163190"/>
                  <a:pt x="142964" y="167119"/>
                  <a:pt x="142964" y="171450"/>
                </a:cubicBezTo>
                <a:lnTo>
                  <a:pt x="142964" y="185738"/>
                </a:lnTo>
                <a:lnTo>
                  <a:pt x="176272" y="185738"/>
                </a:lnTo>
                <a:cubicBezTo>
                  <a:pt x="195516" y="185738"/>
                  <a:pt x="207571" y="164887"/>
                  <a:pt x="197927" y="148233"/>
                </a:cubicBezTo>
                <a:lnTo>
                  <a:pt x="195560" y="144170"/>
                </a:lnTo>
                <a:cubicBezTo>
                  <a:pt x="191631" y="137339"/>
                  <a:pt x="193953" y="128588"/>
                  <a:pt x="200784" y="124658"/>
                </a:cubicBezTo>
                <a:close/>
                <a:moveTo>
                  <a:pt x="22771" y="105102"/>
                </a:moveTo>
                <a:lnTo>
                  <a:pt x="10403" y="97959"/>
                </a:lnTo>
                <a:cubicBezTo>
                  <a:pt x="6653" y="95771"/>
                  <a:pt x="4554" y="91574"/>
                  <a:pt x="5135" y="87288"/>
                </a:cubicBezTo>
                <a:cubicBezTo>
                  <a:pt x="5715" y="83001"/>
                  <a:pt x="8796" y="79474"/>
                  <a:pt x="12993" y="78358"/>
                </a:cubicBezTo>
                <a:lnTo>
                  <a:pt x="52015" y="67866"/>
                </a:lnTo>
                <a:cubicBezTo>
                  <a:pt x="57730" y="66348"/>
                  <a:pt x="63624" y="69741"/>
                  <a:pt x="65142" y="75456"/>
                </a:cubicBezTo>
                <a:lnTo>
                  <a:pt x="75590" y="114479"/>
                </a:lnTo>
                <a:cubicBezTo>
                  <a:pt x="76706" y="118676"/>
                  <a:pt x="75188" y="123096"/>
                  <a:pt x="71750" y="125775"/>
                </a:cubicBezTo>
                <a:cubicBezTo>
                  <a:pt x="68312" y="128454"/>
                  <a:pt x="63624" y="128721"/>
                  <a:pt x="59874" y="126534"/>
                </a:cubicBezTo>
                <a:lnTo>
                  <a:pt x="47506" y="119390"/>
                </a:lnTo>
                <a:lnTo>
                  <a:pt x="30852" y="148233"/>
                </a:lnTo>
                <a:cubicBezTo>
                  <a:pt x="21208" y="164887"/>
                  <a:pt x="33263" y="185738"/>
                  <a:pt x="52507" y="185738"/>
                </a:cubicBezTo>
                <a:lnTo>
                  <a:pt x="57239" y="185738"/>
                </a:lnTo>
                <a:cubicBezTo>
                  <a:pt x="65142" y="185738"/>
                  <a:pt x="71527" y="192122"/>
                  <a:pt x="71527" y="200025"/>
                </a:cubicBezTo>
                <a:cubicBezTo>
                  <a:pt x="71527" y="207928"/>
                  <a:pt x="65142" y="214313"/>
                  <a:pt x="57239" y="214313"/>
                </a:cubicBezTo>
                <a:lnTo>
                  <a:pt x="52507" y="214313"/>
                </a:lnTo>
                <a:cubicBezTo>
                  <a:pt x="11296" y="214313"/>
                  <a:pt x="-14466" y="169664"/>
                  <a:pt x="6161" y="133945"/>
                </a:cubicBezTo>
                <a:lnTo>
                  <a:pt x="22771" y="105102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928100" y="18669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清理执行过程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642350" y="2330450"/>
            <a:ext cx="6921500" cy="660400"/>
          </a:xfrm>
          <a:custGeom>
            <a:avLst/>
            <a:gdLst/>
            <a:ahLst/>
            <a:cxnLst/>
            <a:rect l="l" t="t" r="r" b="b"/>
            <a:pathLst>
              <a:path w="6921500" h="660400">
                <a:moveTo>
                  <a:pt x="0" y="0"/>
                </a:moveTo>
                <a:lnTo>
                  <a:pt x="6921500" y="0"/>
                </a:lnTo>
                <a:lnTo>
                  <a:pt x="692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750300" y="2438400"/>
            <a:ext cx="678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清理前状态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750300" y="2692400"/>
            <a:ext cx="676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[PUT v900] [PUT v1001] [DELETE v1003] [PUT v1004]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72500" y="3098800"/>
            <a:ext cx="7061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↓ Compaction 清理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42350" y="3562350"/>
            <a:ext cx="6921500" cy="660400"/>
          </a:xfrm>
          <a:custGeom>
            <a:avLst/>
            <a:gdLst/>
            <a:ahLst/>
            <a:cxnLst/>
            <a:rect l="l" t="t" r="r" b="b"/>
            <a:pathLst>
              <a:path w="6921500" h="660400">
                <a:moveTo>
                  <a:pt x="0" y="0"/>
                </a:moveTo>
                <a:lnTo>
                  <a:pt x="6921500" y="0"/>
                </a:lnTo>
                <a:lnTo>
                  <a:pt x="6921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750300" y="3670300"/>
            <a:ext cx="6781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清理后状态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750300" y="3924300"/>
            <a:ext cx="6769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[PUT v1004]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636000" y="43307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只保留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最新有效版本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，删除历史版本和删除标记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8470900" y="4927600"/>
            <a:ext cx="7264400" cy="2006600"/>
          </a:xfrm>
          <a:custGeom>
            <a:avLst/>
            <a:gdLst/>
            <a:ahLst/>
            <a:cxnLst/>
            <a:rect l="l" t="t" r="r" b="b"/>
            <a:pathLst>
              <a:path w="7264400" h="2006600">
                <a:moveTo>
                  <a:pt x="0" y="0"/>
                </a:moveTo>
                <a:lnTo>
                  <a:pt x="7264400" y="0"/>
                </a:lnTo>
                <a:lnTo>
                  <a:pt x="7264400" y="2006600"/>
                </a:lnTo>
                <a:lnTo>
                  <a:pt x="0" y="2006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Shape 44"/>
          <p:cNvSpPr/>
          <p:nvPr/>
        </p:nvSpPr>
        <p:spPr>
          <a:xfrm>
            <a:off x="8653463" y="51562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28779" y="107156"/>
                </a:moveTo>
                <a:lnTo>
                  <a:pt x="150197" y="107156"/>
                </a:lnTo>
                <a:cubicBezTo>
                  <a:pt x="142295" y="107156"/>
                  <a:pt x="135910" y="100772"/>
                  <a:pt x="135910" y="92869"/>
                </a:cubicBezTo>
                <a:lnTo>
                  <a:pt x="135910" y="14288"/>
                </a:lnTo>
                <a:cubicBezTo>
                  <a:pt x="135910" y="6385"/>
                  <a:pt x="142339" y="-89"/>
                  <a:pt x="150153" y="938"/>
                </a:cubicBezTo>
                <a:cubicBezTo>
                  <a:pt x="197927" y="7278"/>
                  <a:pt x="235788" y="45140"/>
                  <a:pt x="242128" y="92913"/>
                </a:cubicBezTo>
                <a:cubicBezTo>
                  <a:pt x="243155" y="100727"/>
                  <a:pt x="236681" y="107156"/>
                  <a:pt x="228779" y="107156"/>
                </a:cubicBezTo>
                <a:close/>
                <a:moveTo>
                  <a:pt x="99387" y="16609"/>
                </a:moveTo>
                <a:cubicBezTo>
                  <a:pt x="107469" y="14913"/>
                  <a:pt x="114479" y="21521"/>
                  <a:pt x="114479" y="29781"/>
                </a:cubicBezTo>
                <a:lnTo>
                  <a:pt x="114479" y="117872"/>
                </a:lnTo>
                <a:cubicBezTo>
                  <a:pt x="114479" y="120372"/>
                  <a:pt x="115372" y="122783"/>
                  <a:pt x="116934" y="124703"/>
                </a:cubicBezTo>
                <a:lnTo>
                  <a:pt x="175915" y="195873"/>
                </a:lnTo>
                <a:cubicBezTo>
                  <a:pt x="181139" y="202168"/>
                  <a:pt x="180023" y="211678"/>
                  <a:pt x="172834" y="215563"/>
                </a:cubicBezTo>
                <a:cubicBezTo>
                  <a:pt x="157609" y="223867"/>
                  <a:pt x="140151" y="228600"/>
                  <a:pt x="121622" y="228600"/>
                </a:cubicBezTo>
                <a:cubicBezTo>
                  <a:pt x="62463" y="228600"/>
                  <a:pt x="14466" y="180603"/>
                  <a:pt x="14466" y="121444"/>
                </a:cubicBezTo>
                <a:cubicBezTo>
                  <a:pt x="14466" y="69875"/>
                  <a:pt x="50855" y="26834"/>
                  <a:pt x="99387" y="16609"/>
                </a:cubicBezTo>
                <a:close/>
                <a:moveTo>
                  <a:pt x="213330" y="128588"/>
                </a:moveTo>
                <a:lnTo>
                  <a:pt x="241905" y="128588"/>
                </a:lnTo>
                <a:cubicBezTo>
                  <a:pt x="250165" y="128588"/>
                  <a:pt x="256773" y="135597"/>
                  <a:pt x="255077" y="143679"/>
                </a:cubicBezTo>
                <a:cubicBezTo>
                  <a:pt x="250522" y="165289"/>
                  <a:pt x="239450" y="184487"/>
                  <a:pt x="224001" y="199132"/>
                </a:cubicBezTo>
                <a:cubicBezTo>
                  <a:pt x="218509" y="204356"/>
                  <a:pt x="209892" y="203240"/>
                  <a:pt x="205070" y="197391"/>
                </a:cubicBezTo>
                <a:lnTo>
                  <a:pt x="167387" y="151983"/>
                </a:lnTo>
                <a:cubicBezTo>
                  <a:pt x="159663" y="142652"/>
                  <a:pt x="166315" y="128588"/>
                  <a:pt x="178371" y="128588"/>
                </a:cubicBezTo>
                <a:lnTo>
                  <a:pt x="213286" y="12858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928100" y="50927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空间优化效果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36000" y="5600700"/>
            <a:ext cx="977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清理记录数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4909998" y="5549900"/>
            <a:ext cx="774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2-3 个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36000" y="60579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空间节省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4986298" y="6007100"/>
            <a:ext cx="698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~30%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636000" y="6489700"/>
            <a:ext cx="800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优化类型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14228663" y="6464300"/>
            <a:ext cx="144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版本去重+清理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70900" y="7112000"/>
            <a:ext cx="7264400" cy="1651000"/>
          </a:xfrm>
          <a:custGeom>
            <a:avLst/>
            <a:gdLst/>
            <a:ahLst/>
            <a:cxnLst/>
            <a:rect l="l" t="t" r="r" b="b"/>
            <a:pathLst>
              <a:path w="7264400" h="1651000">
                <a:moveTo>
                  <a:pt x="0" y="0"/>
                </a:moveTo>
                <a:lnTo>
                  <a:pt x="7264400" y="0"/>
                </a:lnTo>
                <a:lnTo>
                  <a:pt x="7264400" y="1651000"/>
                </a:lnTo>
                <a:lnTo>
                  <a:pt x="0" y="16510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Shape 53"/>
          <p:cNvSpPr/>
          <p:nvPr/>
        </p:nvSpPr>
        <p:spPr>
          <a:xfrm>
            <a:off x="8667750" y="7340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16354" y="0"/>
                  <a:pt x="118408" y="446"/>
                  <a:pt x="120283" y="1295"/>
                </a:cubicBezTo>
                <a:lnTo>
                  <a:pt x="204401" y="36969"/>
                </a:lnTo>
                <a:cubicBezTo>
                  <a:pt x="214223" y="41121"/>
                  <a:pt x="221546" y="50810"/>
                  <a:pt x="221501" y="62508"/>
                </a:cubicBezTo>
                <a:cubicBezTo>
                  <a:pt x="221278" y="106799"/>
                  <a:pt x="203061" y="187836"/>
                  <a:pt x="126132" y="224671"/>
                </a:cubicBezTo>
                <a:cubicBezTo>
                  <a:pt x="118676" y="228243"/>
                  <a:pt x="110014" y="228243"/>
                  <a:pt x="102557" y="224671"/>
                </a:cubicBezTo>
                <a:cubicBezTo>
                  <a:pt x="25584" y="187836"/>
                  <a:pt x="7412" y="106799"/>
                  <a:pt x="7188" y="62508"/>
                </a:cubicBezTo>
                <a:cubicBezTo>
                  <a:pt x="7144" y="50810"/>
                  <a:pt x="14466" y="41121"/>
                  <a:pt x="24289" y="36969"/>
                </a:cubicBezTo>
                <a:lnTo>
                  <a:pt x="108362" y="1295"/>
                </a:lnTo>
                <a:cubicBezTo>
                  <a:pt x="110237" y="446"/>
                  <a:pt x="112246" y="0"/>
                  <a:pt x="114300" y="0"/>
                </a:cubicBezTo>
                <a:close/>
                <a:moveTo>
                  <a:pt x="114300" y="29825"/>
                </a:moveTo>
                <a:lnTo>
                  <a:pt x="114300" y="198641"/>
                </a:lnTo>
                <a:cubicBezTo>
                  <a:pt x="175915" y="168816"/>
                  <a:pt x="192479" y="102736"/>
                  <a:pt x="192881" y="63178"/>
                </a:cubicBezTo>
                <a:lnTo>
                  <a:pt x="114300" y="29870"/>
                </a:lnTo>
                <a:lnTo>
                  <a:pt x="114300" y="2987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8928100" y="7277100"/>
            <a:ext cx="6756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一致性保证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636000" y="77343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最终一致性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删除操作最终生效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636000" y="80391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版本优先级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删除标记优先级最高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8636000" y="8343900"/>
            <a:ext cx="7023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空间回收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释放被删除数据占用的存储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8D99A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416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406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Compaction过程可视化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975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 → Level 1 合并 &amp; Tombstone 清理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651000"/>
            <a:ext cx="7518400" cy="4813300"/>
          </a:xfrm>
          <a:custGeom>
            <a:avLst/>
            <a:gdLst/>
            <a:ahLst/>
            <a:cxnLst/>
            <a:rect l="l" t="t" r="r" b="b"/>
            <a:pathLst>
              <a:path w="7518400" h="4813300">
                <a:moveTo>
                  <a:pt x="0" y="0"/>
                </a:moveTo>
                <a:lnTo>
                  <a:pt x="7518400" y="0"/>
                </a:lnTo>
                <a:lnTo>
                  <a:pt x="7518400" y="4813300"/>
                </a:lnTo>
                <a:lnTo>
                  <a:pt x="0" y="4813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879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16100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Level 0 → Level 1 合并过程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2150" y="2279650"/>
            <a:ext cx="7175500" cy="901700"/>
          </a:xfrm>
          <a:custGeom>
            <a:avLst/>
            <a:gdLst/>
            <a:ahLst/>
            <a:cxnLst/>
            <a:rect l="l" t="t" r="r" b="b"/>
            <a:pathLst>
              <a:path w="7175500" h="901700">
                <a:moveTo>
                  <a:pt x="0" y="0"/>
                </a:moveTo>
                <a:lnTo>
                  <a:pt x="7175500" y="0"/>
                </a:lnTo>
                <a:lnTo>
                  <a:pt x="71755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00100" y="23876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初始状态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0100" y="26416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0: [SST1: A-F] [SST2: C-H] [SST3: E-J] [SST4: G-L]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0100" y="28829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1: [SST5: A-D] [SST6: E-H] [SST7: I-L]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92150" y="3295650"/>
            <a:ext cx="7175500" cy="660400"/>
          </a:xfrm>
          <a:custGeom>
            <a:avLst/>
            <a:gdLst/>
            <a:ahLst/>
            <a:cxnLst/>
            <a:rect l="l" t="t" r="r" b="b"/>
            <a:pathLst>
              <a:path w="7175500" h="660400">
                <a:moveTo>
                  <a:pt x="0" y="0"/>
                </a:moveTo>
                <a:lnTo>
                  <a:pt x="7175500" y="0"/>
                </a:lnTo>
                <a:lnTo>
                  <a:pt x="7175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00100" y="34036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选择合并文件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0100" y="36576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选择策略: 全部 Level 0 文件 + 重叠的 Level 1 文件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92150" y="4070350"/>
            <a:ext cx="7175500" cy="901700"/>
          </a:xfrm>
          <a:custGeom>
            <a:avLst/>
            <a:gdLst/>
            <a:ahLst/>
            <a:cxnLst/>
            <a:rect l="l" t="t" r="r" b="b"/>
            <a:pathLst>
              <a:path w="7175500" h="901700">
                <a:moveTo>
                  <a:pt x="0" y="0"/>
                </a:moveTo>
                <a:lnTo>
                  <a:pt x="7175500" y="0"/>
                </a:lnTo>
                <a:lnTo>
                  <a:pt x="71755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800100" y="41783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多路归并排序 (按时间戳)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0100" y="44323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合并结果 (保留最新):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0100" y="46736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A(t4) B(t4) C(t4) D(t4) E(t4) F(t4) G(t3) H(t3) I(t2) J(t2) K(t1) L(t1)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92150" y="5086350"/>
            <a:ext cx="7175500" cy="660400"/>
          </a:xfrm>
          <a:custGeom>
            <a:avLst/>
            <a:gdLst/>
            <a:ahLst/>
            <a:cxnLst/>
            <a:rect l="l" t="t" r="r" b="b"/>
            <a:pathLst>
              <a:path w="7175500" h="660400">
                <a:moveTo>
                  <a:pt x="0" y="0"/>
                </a:moveTo>
                <a:lnTo>
                  <a:pt x="7175500" y="0"/>
                </a:lnTo>
                <a:lnTo>
                  <a:pt x="7175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00100" y="51943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最终状态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" y="54483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0: [空] | Level 1: [SST8: A-D] [SST9: E-H] [SST10: I-L]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216900" y="1651000"/>
            <a:ext cx="7518400" cy="4813300"/>
          </a:xfrm>
          <a:custGeom>
            <a:avLst/>
            <a:gdLst/>
            <a:ahLst/>
            <a:cxnLst/>
            <a:rect l="l" t="t" r="r" b="b"/>
            <a:pathLst>
              <a:path w="7518400" h="4813300">
                <a:moveTo>
                  <a:pt x="0" y="0"/>
                </a:moveTo>
                <a:lnTo>
                  <a:pt x="7518400" y="0"/>
                </a:lnTo>
                <a:lnTo>
                  <a:pt x="7518400" y="4813300"/>
                </a:lnTo>
                <a:lnTo>
                  <a:pt x="0" y="48133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8399463" y="1879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52978" y="24378"/>
                </a:moveTo>
                <a:cubicBezTo>
                  <a:pt x="258559" y="18797"/>
                  <a:pt x="258559" y="9733"/>
                  <a:pt x="252978" y="4152"/>
                </a:cubicBezTo>
                <a:cubicBezTo>
                  <a:pt x="247397" y="-1429"/>
                  <a:pt x="238333" y="-1429"/>
                  <a:pt x="232752" y="4152"/>
                </a:cubicBezTo>
                <a:lnTo>
                  <a:pt x="147027" y="89877"/>
                </a:lnTo>
                <a:lnTo>
                  <a:pt x="131534" y="74384"/>
                </a:lnTo>
                <a:cubicBezTo>
                  <a:pt x="129659" y="72509"/>
                  <a:pt x="127069" y="71438"/>
                  <a:pt x="124391" y="71438"/>
                </a:cubicBezTo>
                <a:cubicBezTo>
                  <a:pt x="118809" y="71438"/>
                  <a:pt x="114300" y="75947"/>
                  <a:pt x="114300" y="81528"/>
                </a:cubicBezTo>
                <a:lnTo>
                  <a:pt x="114300" y="94521"/>
                </a:lnTo>
                <a:lnTo>
                  <a:pt x="162654" y="142875"/>
                </a:lnTo>
                <a:lnTo>
                  <a:pt x="175647" y="142875"/>
                </a:lnTo>
                <a:cubicBezTo>
                  <a:pt x="181228" y="142875"/>
                  <a:pt x="185738" y="138366"/>
                  <a:pt x="185738" y="132784"/>
                </a:cubicBezTo>
                <a:cubicBezTo>
                  <a:pt x="185738" y="130106"/>
                  <a:pt x="184666" y="127516"/>
                  <a:pt x="182791" y="125641"/>
                </a:cubicBezTo>
                <a:lnTo>
                  <a:pt x="167298" y="110148"/>
                </a:lnTo>
                <a:lnTo>
                  <a:pt x="253023" y="24423"/>
                </a:lnTo>
                <a:close/>
                <a:moveTo>
                  <a:pt x="152296" y="157788"/>
                </a:moveTo>
                <a:lnTo>
                  <a:pt x="99387" y="104879"/>
                </a:lnTo>
                <a:cubicBezTo>
                  <a:pt x="80323" y="103227"/>
                  <a:pt x="61347" y="110103"/>
                  <a:pt x="47685" y="123765"/>
                </a:cubicBezTo>
                <a:lnTo>
                  <a:pt x="44113" y="127337"/>
                </a:lnTo>
                <a:cubicBezTo>
                  <a:pt x="34156" y="137294"/>
                  <a:pt x="28575" y="150778"/>
                  <a:pt x="28575" y="164842"/>
                </a:cubicBezTo>
                <a:cubicBezTo>
                  <a:pt x="28575" y="167878"/>
                  <a:pt x="31745" y="169843"/>
                  <a:pt x="34469" y="168503"/>
                </a:cubicBezTo>
                <a:lnTo>
                  <a:pt x="57284" y="157118"/>
                </a:lnTo>
                <a:cubicBezTo>
                  <a:pt x="59516" y="156002"/>
                  <a:pt x="61526" y="158948"/>
                  <a:pt x="59695" y="160645"/>
                </a:cubicBezTo>
                <a:lnTo>
                  <a:pt x="3259" y="211366"/>
                </a:lnTo>
                <a:cubicBezTo>
                  <a:pt x="1206" y="213241"/>
                  <a:pt x="0" y="215920"/>
                  <a:pt x="0" y="218733"/>
                </a:cubicBezTo>
                <a:cubicBezTo>
                  <a:pt x="0" y="224180"/>
                  <a:pt x="4420" y="228600"/>
                  <a:pt x="9867" y="228600"/>
                </a:cubicBezTo>
                <a:lnTo>
                  <a:pt x="87243" y="228600"/>
                </a:lnTo>
                <a:cubicBezTo>
                  <a:pt x="104567" y="228600"/>
                  <a:pt x="121131" y="221724"/>
                  <a:pt x="133410" y="209490"/>
                </a:cubicBezTo>
                <a:cubicBezTo>
                  <a:pt x="147072" y="195828"/>
                  <a:pt x="153903" y="176852"/>
                  <a:pt x="152296" y="15778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674100" y="1816100"/>
            <a:ext cx="701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Tombstone 清理可视化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88350" y="2279650"/>
            <a:ext cx="7175500" cy="901700"/>
          </a:xfrm>
          <a:custGeom>
            <a:avLst/>
            <a:gdLst/>
            <a:ahLst/>
            <a:cxnLst/>
            <a:rect l="l" t="t" r="r" b="b"/>
            <a:pathLst>
              <a:path w="7175500" h="901700">
                <a:moveTo>
                  <a:pt x="0" y="0"/>
                </a:moveTo>
                <a:lnTo>
                  <a:pt x="7175500" y="0"/>
                </a:lnTo>
                <a:lnTo>
                  <a:pt x="7175500" y="901700"/>
                </a:lnTo>
                <a:lnTo>
                  <a:pt x="0" y="9017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496300" y="23876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合并前状态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496300" y="26416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SST1 (L0): user:100"Alice"(v1001) | user:101"Bob"(v1002) | user:102null(v1003&lt;-T)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496300" y="28829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SST2 (L1): user:100"Old"(v900) | user:102"Charlie"(v800) | user:103"David"(v950)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388350" y="3295650"/>
            <a:ext cx="7175500" cy="1384300"/>
          </a:xfrm>
          <a:custGeom>
            <a:avLst/>
            <a:gdLst/>
            <a:ahLst/>
            <a:cxnLst/>
            <a:rect l="l" t="t" r="r" b="b"/>
            <a:pathLst>
              <a:path w="7175500" h="1384300">
                <a:moveTo>
                  <a:pt x="0" y="0"/>
                </a:moveTo>
                <a:lnTo>
                  <a:pt x="7175500" y="0"/>
                </a:lnTo>
                <a:lnTo>
                  <a:pt x="7175500" y="1384300"/>
                </a:lnTo>
                <a:lnTo>
                  <a:pt x="0" y="13843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496300" y="34036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清理规则应用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96300" y="36576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user:100: 保留"Alice"(v1001), 丢弃"Old"(v900) → </a:t>
            </a:r>
            <a:r>
              <a:rPr lang="en-US" sz="1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新版本覆盖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96300" y="38989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user:101: 保留"Bob"(v1002) → </a:t>
            </a:r>
            <a:r>
              <a:rPr lang="en-US" sz="10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无冲突保留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96300" y="41402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user:102: 删除所有版本 → </a:t>
            </a: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删除标记优先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96300" y="43815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user:103: 保留"David"(v950) → </a:t>
            </a:r>
            <a:r>
              <a:rPr lang="en-US" sz="10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无冲突保留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388350" y="4794250"/>
            <a:ext cx="7175500" cy="660400"/>
          </a:xfrm>
          <a:custGeom>
            <a:avLst/>
            <a:gdLst/>
            <a:ahLst/>
            <a:cxnLst/>
            <a:rect l="l" t="t" r="r" b="b"/>
            <a:pathLst>
              <a:path w="7175500" h="660400">
                <a:moveTo>
                  <a:pt x="0" y="0"/>
                </a:moveTo>
                <a:lnTo>
                  <a:pt x="7175500" y="0"/>
                </a:lnTo>
                <a:lnTo>
                  <a:pt x="7175500" y="660400"/>
                </a:lnTo>
                <a:lnTo>
                  <a:pt x="0" y="660400"/>
                </a:lnTo>
                <a:lnTo>
                  <a:pt x="0" y="0"/>
                </a:lnTo>
                <a:close/>
              </a:path>
            </a:pathLst>
          </a:custGeom>
          <a:solidFill>
            <a:srgbClr val="0D0F11"/>
          </a:solidFill>
          <a:ln w="127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496300" y="49022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合并后状态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96300" y="5156200"/>
            <a:ext cx="7023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user:100"Alice" | user:101"Bob" | user:103"David"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88350" y="5568950"/>
            <a:ext cx="7175500" cy="723900"/>
          </a:xfrm>
          <a:custGeom>
            <a:avLst/>
            <a:gdLst/>
            <a:ahLst/>
            <a:cxnLst/>
            <a:rect l="l" t="t" r="r" b="b"/>
            <a:pathLst>
              <a:path w="7175500" h="723900">
                <a:moveTo>
                  <a:pt x="0" y="0"/>
                </a:moveTo>
                <a:lnTo>
                  <a:pt x="7175500" y="0"/>
                </a:lnTo>
                <a:lnTo>
                  <a:pt x="71755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496300" y="5676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空间优化效果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496300" y="5981700"/>
            <a:ext cx="70358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清理记录: 2个 | 空间节省: ~30% | 优化: 版本去重+删除标记清理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33400" y="6629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11200" y="66294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合并触发条件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1200" y="6985000"/>
            <a:ext cx="486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Level 0 文件数达到阈值(≥4个)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664200" y="6629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5842000" y="66294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合并策略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842000" y="6985000"/>
            <a:ext cx="486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选择全部L0文件+重叠的L1文件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10795000" y="66294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972800" y="6629400"/>
            <a:ext cx="4876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清理效果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0972800" y="6985000"/>
            <a:ext cx="4864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版本去重 + 删除标记清理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64eaf9eee8aa6ea38b7a402d3736303694769c7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/>
              </a:gs>
              <a:gs pos="50000">
                <a:srgbClr val="1A1D21">
                  <a:alpha val="9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33400" y="2070100"/>
            <a:ext cx="1574800" cy="1574800"/>
          </a:xfrm>
          <a:custGeom>
            <a:avLst/>
            <a:gdLst/>
            <a:ahLst/>
            <a:cxnLst/>
            <a:rect l="l" t="t" r="r" b="b"/>
            <a:pathLst>
              <a:path w="1574800" h="1574800">
                <a:moveTo>
                  <a:pt x="0" y="0"/>
                </a:moveTo>
                <a:lnTo>
                  <a:pt x="1574800" y="0"/>
                </a:lnTo>
                <a:lnTo>
                  <a:pt x="1574800" y="1574800"/>
                </a:lnTo>
                <a:lnTo>
                  <a:pt x="0" y="1574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508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858639" y="2476500"/>
            <a:ext cx="1308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6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540000" y="2806700"/>
            <a:ext cx="2032000" cy="101600"/>
          </a:xfrm>
          <a:custGeom>
            <a:avLst/>
            <a:gdLst/>
            <a:ahLst/>
            <a:cxnLst/>
            <a:rect l="l" t="t" r="r" b="b"/>
            <a:pathLst>
              <a:path w="2032000" h="101600">
                <a:moveTo>
                  <a:pt x="0" y="0"/>
                </a:moveTo>
                <a:lnTo>
                  <a:pt x="2032000" y="0"/>
                </a:lnTo>
                <a:lnTo>
                  <a:pt x="2032000" y="101600"/>
                </a:lnTo>
                <a:lnTo>
                  <a:pt x="0" y="101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4178300"/>
            <a:ext cx="7035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总结与展望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626100"/>
            <a:ext cx="6731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回顾LSM-Tree的核心优势、适用场景与未来发展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08000" y="6896100"/>
            <a:ext cx="812800" cy="50800"/>
          </a:xfrm>
          <a:custGeom>
            <a:avLst/>
            <a:gdLst/>
            <a:ahLst/>
            <a:cxnLst/>
            <a:rect l="l" t="t" r="r" b="b"/>
            <a:pathLst>
              <a:path w="812800" h="50800">
                <a:moveTo>
                  <a:pt x="0" y="0"/>
                </a:moveTo>
                <a:lnTo>
                  <a:pt x="812800" y="0"/>
                </a:lnTo>
                <a:lnTo>
                  <a:pt x="8128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524000" y="6743700"/>
            <a:ext cx="2882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Summary &amp; Future Trends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713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381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 Tree 核心优势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3721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Core Advantages &amp; Technical Features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4914900" cy="3441700"/>
          </a:xfrm>
          <a:custGeom>
            <a:avLst/>
            <a:gdLst/>
            <a:ahLst/>
            <a:cxnLst/>
            <a:rect l="l" t="t" r="r" b="b"/>
            <a:pathLst>
              <a:path w="4914900" h="3441700">
                <a:moveTo>
                  <a:pt x="0" y="0"/>
                </a:moveTo>
                <a:lnTo>
                  <a:pt x="4914900" y="0"/>
                </a:lnTo>
                <a:lnTo>
                  <a:pt x="4914900" y="3441700"/>
                </a:lnTo>
                <a:lnTo>
                  <a:pt x="0" y="3441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17550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7564" y="9465"/>
                </a:moveTo>
                <a:lnTo>
                  <a:pt x="137517" y="29513"/>
                </a:lnTo>
                <a:lnTo>
                  <a:pt x="199087" y="91083"/>
                </a:lnTo>
                <a:lnTo>
                  <a:pt x="219135" y="71036"/>
                </a:lnTo>
                <a:cubicBezTo>
                  <a:pt x="225207" y="65008"/>
                  <a:pt x="228600" y="56793"/>
                  <a:pt x="228600" y="48220"/>
                </a:cubicBezTo>
                <a:cubicBezTo>
                  <a:pt x="228600" y="39648"/>
                  <a:pt x="225207" y="31433"/>
                  <a:pt x="219135" y="25405"/>
                </a:cubicBezTo>
                <a:lnTo>
                  <a:pt x="203195" y="9465"/>
                </a:lnTo>
                <a:cubicBezTo>
                  <a:pt x="197168" y="3393"/>
                  <a:pt x="188952" y="0"/>
                  <a:pt x="180380" y="0"/>
                </a:cubicBezTo>
                <a:cubicBezTo>
                  <a:pt x="171807" y="0"/>
                  <a:pt x="163592" y="3393"/>
                  <a:pt x="157564" y="9465"/>
                </a:cubicBezTo>
                <a:close/>
                <a:moveTo>
                  <a:pt x="122381" y="44648"/>
                </a:moveTo>
                <a:lnTo>
                  <a:pt x="26298" y="140687"/>
                </a:lnTo>
                <a:cubicBezTo>
                  <a:pt x="21521" y="145465"/>
                  <a:pt x="18038" y="151448"/>
                  <a:pt x="16207" y="157966"/>
                </a:cubicBezTo>
                <a:lnTo>
                  <a:pt x="402" y="215027"/>
                </a:lnTo>
                <a:cubicBezTo>
                  <a:pt x="-625" y="218733"/>
                  <a:pt x="402" y="222751"/>
                  <a:pt x="3170" y="225475"/>
                </a:cubicBezTo>
                <a:cubicBezTo>
                  <a:pt x="5938" y="228198"/>
                  <a:pt x="9912" y="229270"/>
                  <a:pt x="13618" y="228243"/>
                </a:cubicBezTo>
                <a:lnTo>
                  <a:pt x="70678" y="212393"/>
                </a:lnTo>
                <a:cubicBezTo>
                  <a:pt x="77197" y="210562"/>
                  <a:pt x="83135" y="207124"/>
                  <a:pt x="87957" y="202302"/>
                </a:cubicBezTo>
                <a:lnTo>
                  <a:pt x="183952" y="106219"/>
                </a:lnTo>
                <a:lnTo>
                  <a:pt x="122381" y="44648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写入性能优异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23241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8200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顺序写入优化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将随机写入转换为顺序写入，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大幅提升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写入吞吐量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11200" y="30353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38200" y="3035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内存缓冲机制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8200" y="3390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MemTable内存缓冲减少磁盘I/O，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降低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写入延迟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1200" y="37465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8200" y="3746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批量处理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8200" y="4102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批量刷盘提升整体吞吐量，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提高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I/O效率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85800" y="4464050"/>
            <a:ext cx="4584700" cy="12700"/>
          </a:xfrm>
          <a:custGeom>
            <a:avLst/>
            <a:gdLst/>
            <a:ahLst/>
            <a:cxnLst/>
            <a:rect l="l" t="t" r="r" b="b"/>
            <a:pathLst>
              <a:path w="4584700" h="12700">
                <a:moveTo>
                  <a:pt x="0" y="0"/>
                </a:moveTo>
                <a:lnTo>
                  <a:pt x="4584700" y="0"/>
                </a:lnTo>
                <a:lnTo>
                  <a:pt x="45847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09600" y="4572000"/>
            <a:ext cx="4737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O(1) 顺序I/O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68367" y="1701800"/>
            <a:ext cx="4914900" cy="3441700"/>
          </a:xfrm>
          <a:custGeom>
            <a:avLst/>
            <a:gdLst/>
            <a:ahLst/>
            <a:cxnLst/>
            <a:rect l="l" t="t" r="r" b="b"/>
            <a:pathLst>
              <a:path w="4914900" h="3441700">
                <a:moveTo>
                  <a:pt x="0" y="0"/>
                </a:moveTo>
                <a:lnTo>
                  <a:pt x="4914900" y="0"/>
                </a:lnTo>
                <a:lnTo>
                  <a:pt x="4914900" y="3441700"/>
                </a:lnTo>
                <a:lnTo>
                  <a:pt x="0" y="3441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5879505" y="1930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438" y="28575"/>
                </a:moveTo>
                <a:cubicBezTo>
                  <a:pt x="71438" y="20672"/>
                  <a:pt x="65053" y="14288"/>
                  <a:pt x="57150" y="14288"/>
                </a:cubicBezTo>
                <a:cubicBezTo>
                  <a:pt x="49247" y="14288"/>
                  <a:pt x="42863" y="20672"/>
                  <a:pt x="42863" y="28575"/>
                </a:cubicBezTo>
                <a:lnTo>
                  <a:pt x="42863" y="57150"/>
                </a:lnTo>
                <a:lnTo>
                  <a:pt x="14288" y="57150"/>
                </a:lnTo>
                <a:cubicBezTo>
                  <a:pt x="6385" y="57150"/>
                  <a:pt x="0" y="63535"/>
                  <a:pt x="0" y="71438"/>
                </a:cubicBezTo>
                <a:cubicBezTo>
                  <a:pt x="0" y="79340"/>
                  <a:pt x="6385" y="85725"/>
                  <a:pt x="14288" y="85725"/>
                </a:cubicBezTo>
                <a:lnTo>
                  <a:pt x="57150" y="85725"/>
                </a:lnTo>
                <a:cubicBezTo>
                  <a:pt x="65053" y="85725"/>
                  <a:pt x="71438" y="79340"/>
                  <a:pt x="71438" y="71438"/>
                </a:cubicBezTo>
                <a:lnTo>
                  <a:pt x="71438" y="28575"/>
                </a:lnTo>
                <a:close/>
                <a:moveTo>
                  <a:pt x="14288" y="142875"/>
                </a:moveTo>
                <a:cubicBezTo>
                  <a:pt x="6385" y="142875"/>
                  <a:pt x="0" y="149260"/>
                  <a:pt x="0" y="157163"/>
                </a:cubicBezTo>
                <a:cubicBezTo>
                  <a:pt x="0" y="165065"/>
                  <a:pt x="6385" y="171450"/>
                  <a:pt x="14288" y="171450"/>
                </a:cubicBezTo>
                <a:lnTo>
                  <a:pt x="42863" y="171450"/>
                </a:lnTo>
                <a:lnTo>
                  <a:pt x="42863" y="200025"/>
                </a:lnTo>
                <a:cubicBezTo>
                  <a:pt x="42863" y="207928"/>
                  <a:pt x="49247" y="214313"/>
                  <a:pt x="57150" y="214313"/>
                </a:cubicBezTo>
                <a:cubicBezTo>
                  <a:pt x="65053" y="214313"/>
                  <a:pt x="71438" y="207928"/>
                  <a:pt x="71438" y="200025"/>
                </a:cubicBezTo>
                <a:lnTo>
                  <a:pt x="71438" y="157163"/>
                </a:lnTo>
                <a:cubicBezTo>
                  <a:pt x="71438" y="149260"/>
                  <a:pt x="65053" y="142875"/>
                  <a:pt x="57150" y="142875"/>
                </a:cubicBezTo>
                <a:lnTo>
                  <a:pt x="14288" y="142875"/>
                </a:lnTo>
                <a:close/>
                <a:moveTo>
                  <a:pt x="157163" y="28575"/>
                </a:moveTo>
                <a:cubicBezTo>
                  <a:pt x="157163" y="20672"/>
                  <a:pt x="150778" y="14288"/>
                  <a:pt x="142875" y="14288"/>
                </a:cubicBezTo>
                <a:cubicBezTo>
                  <a:pt x="134972" y="14288"/>
                  <a:pt x="128588" y="20672"/>
                  <a:pt x="128588" y="28575"/>
                </a:cubicBezTo>
                <a:lnTo>
                  <a:pt x="128588" y="71438"/>
                </a:lnTo>
                <a:cubicBezTo>
                  <a:pt x="128588" y="79340"/>
                  <a:pt x="134972" y="85725"/>
                  <a:pt x="142875" y="85725"/>
                </a:cubicBezTo>
                <a:lnTo>
                  <a:pt x="185738" y="85725"/>
                </a:lnTo>
                <a:cubicBezTo>
                  <a:pt x="193640" y="85725"/>
                  <a:pt x="200025" y="79340"/>
                  <a:pt x="200025" y="71438"/>
                </a:cubicBezTo>
                <a:cubicBezTo>
                  <a:pt x="200025" y="63535"/>
                  <a:pt x="193640" y="57150"/>
                  <a:pt x="185738" y="57150"/>
                </a:cubicBezTo>
                <a:lnTo>
                  <a:pt x="157163" y="57150"/>
                </a:lnTo>
                <a:lnTo>
                  <a:pt x="157163" y="28575"/>
                </a:lnTo>
                <a:close/>
                <a:moveTo>
                  <a:pt x="142875" y="142875"/>
                </a:moveTo>
                <a:cubicBezTo>
                  <a:pt x="134972" y="142875"/>
                  <a:pt x="128588" y="149260"/>
                  <a:pt x="128588" y="157163"/>
                </a:cubicBezTo>
                <a:lnTo>
                  <a:pt x="128588" y="200025"/>
                </a:lnTo>
                <a:cubicBezTo>
                  <a:pt x="128588" y="207928"/>
                  <a:pt x="134972" y="214313"/>
                  <a:pt x="142875" y="214313"/>
                </a:cubicBezTo>
                <a:cubicBezTo>
                  <a:pt x="150778" y="214313"/>
                  <a:pt x="157163" y="207928"/>
                  <a:pt x="157163" y="200025"/>
                </a:cubicBezTo>
                <a:lnTo>
                  <a:pt x="157163" y="171450"/>
                </a:lnTo>
                <a:lnTo>
                  <a:pt x="185738" y="171450"/>
                </a:lnTo>
                <a:cubicBezTo>
                  <a:pt x="193640" y="171450"/>
                  <a:pt x="200025" y="165065"/>
                  <a:pt x="200025" y="157163"/>
                </a:cubicBezTo>
                <a:cubicBezTo>
                  <a:pt x="200025" y="149260"/>
                  <a:pt x="193640" y="142875"/>
                  <a:pt x="185738" y="142875"/>
                </a:cubicBezTo>
                <a:lnTo>
                  <a:pt x="142875" y="14287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125567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存储效率高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58867" y="23241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5985867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分层存储架构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85867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分层存储架构优化空间利用，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空间利用率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58867" y="30353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5985867" y="3035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数据压缩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985867" y="3390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压缩算法减少存储开销，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节省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存储空间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858867" y="37465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85867" y="3746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空间回收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5867" y="4102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Compaction机制回收无效空间，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空间碎片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33467" y="4464050"/>
            <a:ext cx="4584700" cy="12700"/>
          </a:xfrm>
          <a:custGeom>
            <a:avLst/>
            <a:gdLst/>
            <a:ahLst/>
            <a:cxnLst/>
            <a:rect l="l" t="t" r="r" b="b"/>
            <a:pathLst>
              <a:path w="4584700" h="12700">
                <a:moveTo>
                  <a:pt x="0" y="0"/>
                </a:moveTo>
                <a:lnTo>
                  <a:pt x="4584700" y="0"/>
                </a:lnTo>
                <a:lnTo>
                  <a:pt x="45847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757267" y="4572000"/>
            <a:ext cx="4737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60-80% 压缩率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0816134" y="1701800"/>
            <a:ext cx="4914900" cy="3441700"/>
          </a:xfrm>
          <a:custGeom>
            <a:avLst/>
            <a:gdLst/>
            <a:ahLst/>
            <a:cxnLst/>
            <a:rect l="l" t="t" r="r" b="b"/>
            <a:pathLst>
              <a:path w="4914900" h="3441700">
                <a:moveTo>
                  <a:pt x="0" y="0"/>
                </a:moveTo>
                <a:lnTo>
                  <a:pt x="4914900" y="0"/>
                </a:lnTo>
                <a:lnTo>
                  <a:pt x="4914900" y="3441700"/>
                </a:lnTo>
                <a:lnTo>
                  <a:pt x="0" y="34417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Shape 34"/>
          <p:cNvSpPr/>
          <p:nvPr/>
        </p:nvSpPr>
        <p:spPr>
          <a:xfrm>
            <a:off x="11027271" y="19304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5009" y="14288"/>
                </a:moveTo>
                <a:lnTo>
                  <a:pt x="10716" y="14288"/>
                </a:lnTo>
                <a:cubicBezTo>
                  <a:pt x="4777" y="14288"/>
                  <a:pt x="0" y="19065"/>
                  <a:pt x="0" y="25003"/>
                </a:cubicBezTo>
                <a:lnTo>
                  <a:pt x="0" y="89297"/>
                </a:lnTo>
                <a:cubicBezTo>
                  <a:pt x="0" y="93628"/>
                  <a:pt x="2590" y="97557"/>
                  <a:pt x="6608" y="99209"/>
                </a:cubicBezTo>
                <a:cubicBezTo>
                  <a:pt x="10626" y="100861"/>
                  <a:pt x="15225" y="99923"/>
                  <a:pt x="18306" y="96887"/>
                </a:cubicBezTo>
                <a:lnTo>
                  <a:pt x="36165" y="79028"/>
                </a:lnTo>
                <a:lnTo>
                  <a:pt x="71438" y="114300"/>
                </a:lnTo>
                <a:lnTo>
                  <a:pt x="36165" y="149572"/>
                </a:lnTo>
                <a:lnTo>
                  <a:pt x="18306" y="131713"/>
                </a:lnTo>
                <a:cubicBezTo>
                  <a:pt x="15225" y="128632"/>
                  <a:pt x="10626" y="127739"/>
                  <a:pt x="6608" y="129391"/>
                </a:cubicBezTo>
                <a:cubicBezTo>
                  <a:pt x="2590" y="131043"/>
                  <a:pt x="0" y="134972"/>
                  <a:pt x="0" y="139303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lnTo>
                  <a:pt x="75009" y="214313"/>
                </a:lnTo>
                <a:cubicBezTo>
                  <a:pt x="79340" y="214313"/>
                  <a:pt x="83269" y="211723"/>
                  <a:pt x="84921" y="207705"/>
                </a:cubicBezTo>
                <a:cubicBezTo>
                  <a:pt x="86573" y="203686"/>
                  <a:pt x="85680" y="199087"/>
                  <a:pt x="82600" y="196007"/>
                </a:cubicBezTo>
                <a:lnTo>
                  <a:pt x="64740" y="178147"/>
                </a:lnTo>
                <a:lnTo>
                  <a:pt x="100013" y="142875"/>
                </a:lnTo>
                <a:lnTo>
                  <a:pt x="135285" y="178147"/>
                </a:lnTo>
                <a:lnTo>
                  <a:pt x="117425" y="196007"/>
                </a:lnTo>
                <a:cubicBezTo>
                  <a:pt x="114345" y="199087"/>
                  <a:pt x="113452" y="203686"/>
                  <a:pt x="115104" y="207705"/>
                </a:cubicBezTo>
                <a:cubicBezTo>
                  <a:pt x="116756" y="211723"/>
                  <a:pt x="120685" y="214313"/>
                  <a:pt x="125016" y="214313"/>
                </a:cubicBezTo>
                <a:lnTo>
                  <a:pt x="189309" y="214313"/>
                </a:lnTo>
                <a:cubicBezTo>
                  <a:pt x="195248" y="214313"/>
                  <a:pt x="200025" y="209535"/>
                  <a:pt x="200025" y="203597"/>
                </a:cubicBezTo>
                <a:lnTo>
                  <a:pt x="200025" y="139303"/>
                </a:lnTo>
                <a:cubicBezTo>
                  <a:pt x="200025" y="134972"/>
                  <a:pt x="197435" y="131043"/>
                  <a:pt x="193417" y="129391"/>
                </a:cubicBezTo>
                <a:cubicBezTo>
                  <a:pt x="189399" y="127739"/>
                  <a:pt x="184800" y="128632"/>
                  <a:pt x="181719" y="131713"/>
                </a:cubicBezTo>
                <a:lnTo>
                  <a:pt x="163860" y="149572"/>
                </a:lnTo>
                <a:lnTo>
                  <a:pt x="128588" y="114300"/>
                </a:lnTo>
                <a:lnTo>
                  <a:pt x="163860" y="79028"/>
                </a:lnTo>
                <a:lnTo>
                  <a:pt x="181719" y="96887"/>
                </a:lnTo>
                <a:cubicBezTo>
                  <a:pt x="184800" y="99968"/>
                  <a:pt x="189399" y="100861"/>
                  <a:pt x="193417" y="99209"/>
                </a:cubicBezTo>
                <a:cubicBezTo>
                  <a:pt x="197435" y="97557"/>
                  <a:pt x="200025" y="93628"/>
                  <a:pt x="200025" y="89297"/>
                </a:cubicBezTo>
                <a:lnTo>
                  <a:pt x="200025" y="25003"/>
                </a:lnTo>
                <a:cubicBezTo>
                  <a:pt x="200025" y="19065"/>
                  <a:pt x="195248" y="14288"/>
                  <a:pt x="189309" y="14288"/>
                </a:cubicBezTo>
                <a:lnTo>
                  <a:pt x="125016" y="14288"/>
                </a:lnTo>
                <a:cubicBezTo>
                  <a:pt x="120685" y="14288"/>
                  <a:pt x="116756" y="16877"/>
                  <a:pt x="115104" y="20895"/>
                </a:cubicBezTo>
                <a:cubicBezTo>
                  <a:pt x="113452" y="24914"/>
                  <a:pt x="114389" y="29513"/>
                  <a:pt x="117425" y="32593"/>
                </a:cubicBezTo>
                <a:lnTo>
                  <a:pt x="135285" y="50453"/>
                </a:lnTo>
                <a:lnTo>
                  <a:pt x="100013" y="85725"/>
                </a:lnTo>
                <a:lnTo>
                  <a:pt x="64740" y="50453"/>
                </a:lnTo>
                <a:lnTo>
                  <a:pt x="82600" y="32593"/>
                </a:lnTo>
                <a:cubicBezTo>
                  <a:pt x="85680" y="29513"/>
                  <a:pt x="86573" y="24914"/>
                  <a:pt x="84921" y="20895"/>
                </a:cubicBezTo>
                <a:cubicBezTo>
                  <a:pt x="83269" y="16877"/>
                  <a:pt x="79340" y="14288"/>
                  <a:pt x="75009" y="14288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11273334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扩展性强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1006634" y="23241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133634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大规模存储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133634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支持大规模数据存储，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满足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海量数据需求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006634" y="30353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133634" y="3035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水平扩展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33634" y="3390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分层架构便于水平扩展，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集群部署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06634" y="37465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133634" y="3746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分布式友好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33634" y="4102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适合分布式环境部署，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提升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系统可用性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10981234" y="4464050"/>
            <a:ext cx="4584700" cy="12700"/>
          </a:xfrm>
          <a:custGeom>
            <a:avLst/>
            <a:gdLst/>
            <a:ahLst/>
            <a:cxnLst/>
            <a:rect l="l" t="t" r="r" b="b"/>
            <a:pathLst>
              <a:path w="4584700" h="12700">
                <a:moveTo>
                  <a:pt x="0" y="0"/>
                </a:moveTo>
                <a:lnTo>
                  <a:pt x="4584700" y="0"/>
                </a:lnTo>
                <a:lnTo>
                  <a:pt x="45847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0905034" y="4572000"/>
            <a:ext cx="4737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 级数据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0700" y="5321300"/>
            <a:ext cx="15214600" cy="2463800"/>
          </a:xfrm>
          <a:custGeom>
            <a:avLst/>
            <a:gdLst/>
            <a:ahLst/>
            <a:cxnLst/>
            <a:rect l="l" t="t" r="r" b="b"/>
            <a:pathLst>
              <a:path w="15214600" h="2463800">
                <a:moveTo>
                  <a:pt x="0" y="0"/>
                </a:moveTo>
                <a:lnTo>
                  <a:pt x="15214600" y="0"/>
                </a:lnTo>
                <a:lnTo>
                  <a:pt x="15214600" y="2463800"/>
                </a:lnTo>
                <a:lnTo>
                  <a:pt x="0" y="2463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768350" y="55880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71586" y="0"/>
                </a:moveTo>
                <a:lnTo>
                  <a:pt x="182711" y="0"/>
                </a:lnTo>
                <a:cubicBezTo>
                  <a:pt x="195858" y="0"/>
                  <a:pt x="206573" y="10815"/>
                  <a:pt x="206077" y="23912"/>
                </a:cubicBezTo>
                <a:cubicBezTo>
                  <a:pt x="205978" y="26541"/>
                  <a:pt x="205879" y="29170"/>
                  <a:pt x="205730" y="31750"/>
                </a:cubicBezTo>
                <a:lnTo>
                  <a:pt x="230336" y="31750"/>
                </a:lnTo>
                <a:cubicBezTo>
                  <a:pt x="243284" y="31750"/>
                  <a:pt x="254695" y="42466"/>
                  <a:pt x="253702" y="56455"/>
                </a:cubicBezTo>
                <a:cubicBezTo>
                  <a:pt x="249982" y="107900"/>
                  <a:pt x="223689" y="136178"/>
                  <a:pt x="195163" y="150961"/>
                </a:cubicBezTo>
                <a:cubicBezTo>
                  <a:pt x="187325" y="155029"/>
                  <a:pt x="179338" y="158055"/>
                  <a:pt x="171748" y="160288"/>
                </a:cubicBezTo>
                <a:cubicBezTo>
                  <a:pt x="161727" y="174476"/>
                  <a:pt x="151309" y="181967"/>
                  <a:pt x="143024" y="185986"/>
                </a:cubicBezTo>
                <a:lnTo>
                  <a:pt x="143024" y="222250"/>
                </a:lnTo>
                <a:lnTo>
                  <a:pt x="174774" y="222250"/>
                </a:lnTo>
                <a:cubicBezTo>
                  <a:pt x="183555" y="222250"/>
                  <a:pt x="190649" y="229344"/>
                  <a:pt x="190649" y="238125"/>
                </a:cubicBezTo>
                <a:cubicBezTo>
                  <a:pt x="190649" y="246906"/>
                  <a:pt x="183555" y="254000"/>
                  <a:pt x="174774" y="254000"/>
                </a:cubicBezTo>
                <a:lnTo>
                  <a:pt x="79524" y="254000"/>
                </a:lnTo>
                <a:cubicBezTo>
                  <a:pt x="70743" y="254000"/>
                  <a:pt x="63649" y="246906"/>
                  <a:pt x="63649" y="238125"/>
                </a:cubicBezTo>
                <a:cubicBezTo>
                  <a:pt x="63649" y="229344"/>
                  <a:pt x="70743" y="222250"/>
                  <a:pt x="79524" y="222250"/>
                </a:cubicBezTo>
                <a:lnTo>
                  <a:pt x="111274" y="222250"/>
                </a:lnTo>
                <a:lnTo>
                  <a:pt x="111274" y="185986"/>
                </a:lnTo>
                <a:cubicBezTo>
                  <a:pt x="103336" y="182166"/>
                  <a:pt x="93464" y="175071"/>
                  <a:pt x="83840" y="162024"/>
                </a:cubicBezTo>
                <a:cubicBezTo>
                  <a:pt x="74712" y="159643"/>
                  <a:pt x="64790" y="156021"/>
                  <a:pt x="55116" y="150564"/>
                </a:cubicBezTo>
                <a:cubicBezTo>
                  <a:pt x="28277" y="135533"/>
                  <a:pt x="4068" y="107206"/>
                  <a:pt x="595" y="56356"/>
                </a:cubicBezTo>
                <a:cubicBezTo>
                  <a:pt x="-347" y="42416"/>
                  <a:pt x="11013" y="31700"/>
                  <a:pt x="23961" y="31700"/>
                </a:cubicBezTo>
                <a:lnTo>
                  <a:pt x="48568" y="31700"/>
                </a:lnTo>
                <a:cubicBezTo>
                  <a:pt x="48419" y="29121"/>
                  <a:pt x="48320" y="26541"/>
                  <a:pt x="48220" y="23862"/>
                </a:cubicBezTo>
                <a:cubicBezTo>
                  <a:pt x="47724" y="10716"/>
                  <a:pt x="58440" y="-50"/>
                  <a:pt x="71586" y="-50"/>
                </a:cubicBezTo>
                <a:close/>
                <a:moveTo>
                  <a:pt x="50354" y="55563"/>
                </a:moveTo>
                <a:lnTo>
                  <a:pt x="24358" y="55563"/>
                </a:lnTo>
                <a:cubicBezTo>
                  <a:pt x="27434" y="97582"/>
                  <a:pt x="46732" y="118616"/>
                  <a:pt x="66625" y="129778"/>
                </a:cubicBezTo>
                <a:cubicBezTo>
                  <a:pt x="59482" y="111274"/>
                  <a:pt x="53578" y="87114"/>
                  <a:pt x="50354" y="55563"/>
                </a:cubicBezTo>
                <a:close/>
                <a:moveTo>
                  <a:pt x="188516" y="127397"/>
                </a:moveTo>
                <a:cubicBezTo>
                  <a:pt x="208607" y="115590"/>
                  <a:pt x="226764" y="94605"/>
                  <a:pt x="229840" y="55563"/>
                </a:cubicBezTo>
                <a:lnTo>
                  <a:pt x="203895" y="55563"/>
                </a:lnTo>
                <a:cubicBezTo>
                  <a:pt x="200819" y="85775"/>
                  <a:pt x="195263" y="109240"/>
                  <a:pt x="188516" y="127397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054100" y="5537200"/>
            <a:ext cx="145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核心优势总结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2904034" y="6076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285750"/>
                </a:moveTo>
                <a:lnTo>
                  <a:pt x="21878" y="285750"/>
                </a:lnTo>
                <a:cubicBezTo>
                  <a:pt x="-357" y="285750"/>
                  <a:pt x="-14020" y="261551"/>
                  <a:pt x="-2590" y="242441"/>
                </a:cubicBezTo>
                <a:lnTo>
                  <a:pt x="44648" y="163681"/>
                </a:lnTo>
                <a:cubicBezTo>
                  <a:pt x="52417" y="150733"/>
                  <a:pt x="66348" y="142875"/>
                  <a:pt x="81439" y="142875"/>
                </a:cubicBezTo>
                <a:lnTo>
                  <a:pt x="166271" y="142875"/>
                </a:lnTo>
                <a:cubicBezTo>
                  <a:pt x="234226" y="27771"/>
                  <a:pt x="335578" y="21967"/>
                  <a:pt x="403354" y="31879"/>
                </a:cubicBezTo>
                <a:cubicBezTo>
                  <a:pt x="414784" y="33576"/>
                  <a:pt x="423714" y="42505"/>
                  <a:pt x="425321" y="53846"/>
                </a:cubicBezTo>
                <a:cubicBezTo>
                  <a:pt x="435233" y="121622"/>
                  <a:pt x="429429" y="222974"/>
                  <a:pt x="314325" y="290929"/>
                </a:cubicBezTo>
                <a:lnTo>
                  <a:pt x="314325" y="375761"/>
                </a:lnTo>
                <a:cubicBezTo>
                  <a:pt x="314325" y="390852"/>
                  <a:pt x="306467" y="404783"/>
                  <a:pt x="293519" y="412552"/>
                </a:cubicBezTo>
                <a:lnTo>
                  <a:pt x="214759" y="459790"/>
                </a:lnTo>
                <a:cubicBezTo>
                  <a:pt x="195739" y="471220"/>
                  <a:pt x="171450" y="457468"/>
                  <a:pt x="171450" y="435322"/>
                </a:cubicBezTo>
                <a:lnTo>
                  <a:pt x="171450" y="342900"/>
                </a:lnTo>
                <a:cubicBezTo>
                  <a:pt x="171450" y="311378"/>
                  <a:pt x="145822" y="285750"/>
                  <a:pt x="114300" y="285750"/>
                </a:cubicBezTo>
                <a:lnTo>
                  <a:pt x="114211" y="285750"/>
                </a:lnTo>
                <a:close/>
                <a:moveTo>
                  <a:pt x="357188" y="142875"/>
                </a:moveTo>
                <a:cubicBezTo>
                  <a:pt x="357188" y="119219"/>
                  <a:pt x="337981" y="100013"/>
                  <a:pt x="314325" y="100013"/>
                </a:cubicBezTo>
                <a:cubicBezTo>
                  <a:pt x="290669" y="100013"/>
                  <a:pt x="271463" y="119219"/>
                  <a:pt x="271463" y="142875"/>
                </a:cubicBezTo>
                <a:cubicBezTo>
                  <a:pt x="271463" y="166531"/>
                  <a:pt x="290669" y="185738"/>
                  <a:pt x="314325" y="185738"/>
                </a:cubicBezTo>
                <a:cubicBezTo>
                  <a:pt x="337981" y="185738"/>
                  <a:pt x="357188" y="166531"/>
                  <a:pt x="357188" y="142875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79450" y="6654800"/>
            <a:ext cx="490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极致写入性能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92150" y="70612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通过顺序写入和内存缓冲，实现毫秒级写入延迟和每秒数十万次的写入吞吐量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899301" y="6076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7194" y="200025"/>
                </a:moveTo>
                <a:lnTo>
                  <a:pt x="278606" y="200025"/>
                </a:lnTo>
                <a:cubicBezTo>
                  <a:pt x="266730" y="200025"/>
                  <a:pt x="257175" y="190470"/>
                  <a:pt x="257175" y="178594"/>
                </a:cubicBezTo>
                <a:lnTo>
                  <a:pt x="257175" y="50006"/>
                </a:lnTo>
                <a:cubicBezTo>
                  <a:pt x="257175" y="41344"/>
                  <a:pt x="262354" y="33486"/>
                  <a:pt x="270391" y="30182"/>
                </a:cubicBezTo>
                <a:cubicBezTo>
                  <a:pt x="278428" y="26878"/>
                  <a:pt x="287625" y="28754"/>
                  <a:pt x="293787" y="34826"/>
                </a:cubicBezTo>
                <a:lnTo>
                  <a:pt x="329505" y="70545"/>
                </a:lnTo>
                <a:lnTo>
                  <a:pt x="395049" y="5001"/>
                </a:lnTo>
                <a:cubicBezTo>
                  <a:pt x="398264" y="1786"/>
                  <a:pt x="402640" y="0"/>
                  <a:pt x="407194" y="0"/>
                </a:cubicBezTo>
                <a:cubicBezTo>
                  <a:pt x="411748" y="0"/>
                  <a:pt x="416123" y="1786"/>
                  <a:pt x="419427" y="5090"/>
                </a:cubicBezTo>
                <a:lnTo>
                  <a:pt x="452199" y="37862"/>
                </a:lnTo>
                <a:cubicBezTo>
                  <a:pt x="455414" y="41077"/>
                  <a:pt x="457200" y="45452"/>
                  <a:pt x="457200" y="50006"/>
                </a:cubicBezTo>
                <a:cubicBezTo>
                  <a:pt x="457200" y="54560"/>
                  <a:pt x="455414" y="58936"/>
                  <a:pt x="452110" y="62240"/>
                </a:cubicBezTo>
                <a:lnTo>
                  <a:pt x="386655" y="127695"/>
                </a:lnTo>
                <a:lnTo>
                  <a:pt x="422374" y="163413"/>
                </a:lnTo>
                <a:cubicBezTo>
                  <a:pt x="428536" y="169575"/>
                  <a:pt x="430322" y="178772"/>
                  <a:pt x="427018" y="186809"/>
                </a:cubicBezTo>
                <a:cubicBezTo>
                  <a:pt x="423714" y="194846"/>
                  <a:pt x="415856" y="200025"/>
                  <a:pt x="407194" y="200025"/>
                </a:cubicBezTo>
                <a:close/>
                <a:moveTo>
                  <a:pt x="407194" y="257175"/>
                </a:moveTo>
                <a:cubicBezTo>
                  <a:pt x="415856" y="257175"/>
                  <a:pt x="423714" y="262354"/>
                  <a:pt x="427018" y="270391"/>
                </a:cubicBezTo>
                <a:cubicBezTo>
                  <a:pt x="430322" y="278428"/>
                  <a:pt x="428536" y="287625"/>
                  <a:pt x="422374" y="293787"/>
                </a:cubicBezTo>
                <a:lnTo>
                  <a:pt x="386655" y="329505"/>
                </a:lnTo>
                <a:lnTo>
                  <a:pt x="452199" y="395049"/>
                </a:lnTo>
                <a:cubicBezTo>
                  <a:pt x="455414" y="398264"/>
                  <a:pt x="457289" y="402640"/>
                  <a:pt x="457289" y="407283"/>
                </a:cubicBezTo>
                <a:cubicBezTo>
                  <a:pt x="457289" y="411926"/>
                  <a:pt x="455503" y="416213"/>
                  <a:pt x="452199" y="419517"/>
                </a:cubicBezTo>
                <a:lnTo>
                  <a:pt x="419427" y="452289"/>
                </a:lnTo>
                <a:cubicBezTo>
                  <a:pt x="416123" y="455414"/>
                  <a:pt x="411748" y="457200"/>
                  <a:pt x="407194" y="457200"/>
                </a:cubicBezTo>
                <a:cubicBezTo>
                  <a:pt x="402640" y="457200"/>
                  <a:pt x="398264" y="455414"/>
                  <a:pt x="394960" y="452110"/>
                </a:cubicBezTo>
                <a:lnTo>
                  <a:pt x="329505" y="386655"/>
                </a:lnTo>
                <a:lnTo>
                  <a:pt x="293787" y="422374"/>
                </a:lnTo>
                <a:cubicBezTo>
                  <a:pt x="287625" y="428536"/>
                  <a:pt x="278428" y="430322"/>
                  <a:pt x="270391" y="427018"/>
                </a:cubicBezTo>
                <a:cubicBezTo>
                  <a:pt x="262354" y="423714"/>
                  <a:pt x="257175" y="415856"/>
                  <a:pt x="257175" y="407194"/>
                </a:cubicBezTo>
                <a:lnTo>
                  <a:pt x="257175" y="278606"/>
                </a:lnTo>
                <a:cubicBezTo>
                  <a:pt x="257175" y="266730"/>
                  <a:pt x="266730" y="257175"/>
                  <a:pt x="278606" y="257175"/>
                </a:cubicBezTo>
                <a:lnTo>
                  <a:pt x="407194" y="257175"/>
                </a:lnTo>
                <a:close/>
                <a:moveTo>
                  <a:pt x="178594" y="257175"/>
                </a:moveTo>
                <a:cubicBezTo>
                  <a:pt x="190470" y="257175"/>
                  <a:pt x="200025" y="266730"/>
                  <a:pt x="200025" y="278606"/>
                </a:cubicBezTo>
                <a:lnTo>
                  <a:pt x="200025" y="407194"/>
                </a:lnTo>
                <a:cubicBezTo>
                  <a:pt x="200025" y="415856"/>
                  <a:pt x="194846" y="423714"/>
                  <a:pt x="186809" y="427018"/>
                </a:cubicBezTo>
                <a:cubicBezTo>
                  <a:pt x="178772" y="430322"/>
                  <a:pt x="169575" y="428536"/>
                  <a:pt x="163413" y="422374"/>
                </a:cubicBezTo>
                <a:lnTo>
                  <a:pt x="127695" y="386655"/>
                </a:lnTo>
                <a:lnTo>
                  <a:pt x="62151" y="452199"/>
                </a:lnTo>
                <a:cubicBezTo>
                  <a:pt x="58936" y="455414"/>
                  <a:pt x="54560" y="457200"/>
                  <a:pt x="50006" y="457200"/>
                </a:cubicBezTo>
                <a:cubicBezTo>
                  <a:pt x="45452" y="457200"/>
                  <a:pt x="41077" y="455414"/>
                  <a:pt x="37773" y="452110"/>
                </a:cubicBezTo>
                <a:lnTo>
                  <a:pt x="5090" y="419427"/>
                </a:lnTo>
                <a:cubicBezTo>
                  <a:pt x="1786" y="416123"/>
                  <a:pt x="0" y="411748"/>
                  <a:pt x="0" y="407194"/>
                </a:cubicBezTo>
                <a:cubicBezTo>
                  <a:pt x="0" y="402640"/>
                  <a:pt x="1786" y="398264"/>
                  <a:pt x="5090" y="394960"/>
                </a:cubicBezTo>
                <a:lnTo>
                  <a:pt x="70545" y="329505"/>
                </a:lnTo>
                <a:lnTo>
                  <a:pt x="34826" y="293787"/>
                </a:lnTo>
                <a:cubicBezTo>
                  <a:pt x="28664" y="287625"/>
                  <a:pt x="26878" y="278428"/>
                  <a:pt x="30182" y="270391"/>
                </a:cubicBezTo>
                <a:cubicBezTo>
                  <a:pt x="33486" y="262354"/>
                  <a:pt x="41344" y="257175"/>
                  <a:pt x="50006" y="257175"/>
                </a:cubicBezTo>
                <a:lnTo>
                  <a:pt x="178594" y="257175"/>
                </a:lnTo>
                <a:close/>
                <a:moveTo>
                  <a:pt x="50006" y="200025"/>
                </a:moveTo>
                <a:cubicBezTo>
                  <a:pt x="41344" y="200025"/>
                  <a:pt x="33486" y="194846"/>
                  <a:pt x="30182" y="186809"/>
                </a:cubicBezTo>
                <a:cubicBezTo>
                  <a:pt x="26878" y="178772"/>
                  <a:pt x="28754" y="169575"/>
                  <a:pt x="34826" y="163413"/>
                </a:cubicBezTo>
                <a:lnTo>
                  <a:pt x="70545" y="127695"/>
                </a:lnTo>
                <a:lnTo>
                  <a:pt x="5090" y="62240"/>
                </a:lnTo>
                <a:cubicBezTo>
                  <a:pt x="1786" y="58936"/>
                  <a:pt x="0" y="54560"/>
                  <a:pt x="0" y="50006"/>
                </a:cubicBezTo>
                <a:cubicBezTo>
                  <a:pt x="0" y="45452"/>
                  <a:pt x="1786" y="41077"/>
                  <a:pt x="5090" y="37773"/>
                </a:cubicBezTo>
                <a:lnTo>
                  <a:pt x="37773" y="5090"/>
                </a:lnTo>
                <a:cubicBezTo>
                  <a:pt x="41077" y="1786"/>
                  <a:pt x="45452" y="0"/>
                  <a:pt x="50006" y="0"/>
                </a:cubicBezTo>
                <a:cubicBezTo>
                  <a:pt x="54560" y="0"/>
                  <a:pt x="58936" y="1786"/>
                  <a:pt x="62240" y="5090"/>
                </a:cubicBezTo>
                <a:lnTo>
                  <a:pt x="127695" y="70545"/>
                </a:lnTo>
                <a:lnTo>
                  <a:pt x="163413" y="34826"/>
                </a:lnTo>
                <a:cubicBezTo>
                  <a:pt x="169575" y="28664"/>
                  <a:pt x="178772" y="26878"/>
                  <a:pt x="186809" y="30182"/>
                </a:cubicBezTo>
                <a:cubicBezTo>
                  <a:pt x="194846" y="33486"/>
                  <a:pt x="200025" y="41344"/>
                  <a:pt x="200025" y="50006"/>
                </a:cubicBezTo>
                <a:lnTo>
                  <a:pt x="200025" y="178594"/>
                </a:lnTo>
                <a:cubicBezTo>
                  <a:pt x="200025" y="190470"/>
                  <a:pt x="190470" y="200025"/>
                  <a:pt x="178594" y="200025"/>
                </a:cubicBezTo>
                <a:lnTo>
                  <a:pt x="50006" y="200025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5674717" y="6654800"/>
            <a:ext cx="490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高效存储利用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5687417" y="70612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通过分层架构和数据压缩，实现高达80%的存储空间节省，显著降低存储成本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2894667" y="6076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71450" y="57150"/>
                </a:moveTo>
                <a:cubicBezTo>
                  <a:pt x="171450" y="41344"/>
                  <a:pt x="184219" y="28575"/>
                  <a:pt x="200025" y="28575"/>
                </a:cubicBezTo>
                <a:lnTo>
                  <a:pt x="257175" y="28575"/>
                </a:lnTo>
                <a:cubicBezTo>
                  <a:pt x="272981" y="28575"/>
                  <a:pt x="285750" y="41344"/>
                  <a:pt x="285750" y="57150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250031" y="142875"/>
                </a:lnTo>
                <a:lnTo>
                  <a:pt x="250031" y="200025"/>
                </a:lnTo>
                <a:lnTo>
                  <a:pt x="357188" y="200025"/>
                </a:lnTo>
                <a:cubicBezTo>
                  <a:pt x="392728" y="200025"/>
                  <a:pt x="421481" y="228779"/>
                  <a:pt x="421481" y="264319"/>
                </a:cubicBezTo>
                <a:lnTo>
                  <a:pt x="421481" y="314325"/>
                </a:lnTo>
                <a:lnTo>
                  <a:pt x="428625" y="314325"/>
                </a:lnTo>
                <a:cubicBezTo>
                  <a:pt x="444431" y="314325"/>
                  <a:pt x="457200" y="327094"/>
                  <a:pt x="457200" y="342900"/>
                </a:cubicBezTo>
                <a:lnTo>
                  <a:pt x="457200" y="400050"/>
                </a:lnTo>
                <a:cubicBezTo>
                  <a:pt x="457200" y="415856"/>
                  <a:pt x="444431" y="428625"/>
                  <a:pt x="428625" y="428625"/>
                </a:cubicBezTo>
                <a:lnTo>
                  <a:pt x="371475" y="428625"/>
                </a:lnTo>
                <a:cubicBezTo>
                  <a:pt x="355669" y="428625"/>
                  <a:pt x="342900" y="415856"/>
                  <a:pt x="342900" y="400050"/>
                </a:cubicBezTo>
                <a:lnTo>
                  <a:pt x="342900" y="342900"/>
                </a:lnTo>
                <a:cubicBezTo>
                  <a:pt x="342900" y="327094"/>
                  <a:pt x="355669" y="314325"/>
                  <a:pt x="371475" y="314325"/>
                </a:cubicBezTo>
                <a:lnTo>
                  <a:pt x="378619" y="314325"/>
                </a:lnTo>
                <a:lnTo>
                  <a:pt x="378619" y="264319"/>
                </a:lnTo>
                <a:cubicBezTo>
                  <a:pt x="378619" y="252442"/>
                  <a:pt x="369064" y="242888"/>
                  <a:pt x="357188" y="242888"/>
                </a:cubicBezTo>
                <a:lnTo>
                  <a:pt x="250031" y="242888"/>
                </a:lnTo>
                <a:lnTo>
                  <a:pt x="250031" y="314325"/>
                </a:lnTo>
                <a:lnTo>
                  <a:pt x="257175" y="314325"/>
                </a:lnTo>
                <a:cubicBezTo>
                  <a:pt x="272981" y="314325"/>
                  <a:pt x="285750" y="327094"/>
                  <a:pt x="285750" y="342900"/>
                </a:cubicBezTo>
                <a:lnTo>
                  <a:pt x="285750" y="400050"/>
                </a:lnTo>
                <a:cubicBezTo>
                  <a:pt x="285750" y="415856"/>
                  <a:pt x="272981" y="428625"/>
                  <a:pt x="257175" y="428625"/>
                </a:cubicBezTo>
                <a:lnTo>
                  <a:pt x="200025" y="428625"/>
                </a:lnTo>
                <a:cubicBezTo>
                  <a:pt x="184219" y="428625"/>
                  <a:pt x="171450" y="415856"/>
                  <a:pt x="171450" y="400050"/>
                </a:cubicBezTo>
                <a:lnTo>
                  <a:pt x="171450" y="342900"/>
                </a:lnTo>
                <a:cubicBezTo>
                  <a:pt x="171450" y="327094"/>
                  <a:pt x="184219" y="314325"/>
                  <a:pt x="200025" y="314325"/>
                </a:cubicBezTo>
                <a:lnTo>
                  <a:pt x="207169" y="314325"/>
                </a:lnTo>
                <a:lnTo>
                  <a:pt x="207169" y="242888"/>
                </a:lnTo>
                <a:lnTo>
                  <a:pt x="100013" y="242888"/>
                </a:lnTo>
                <a:cubicBezTo>
                  <a:pt x="88136" y="242888"/>
                  <a:pt x="78581" y="252442"/>
                  <a:pt x="78581" y="264319"/>
                </a:cubicBezTo>
                <a:lnTo>
                  <a:pt x="78581" y="314325"/>
                </a:lnTo>
                <a:lnTo>
                  <a:pt x="85725" y="314325"/>
                </a:lnTo>
                <a:cubicBezTo>
                  <a:pt x="101531" y="314325"/>
                  <a:pt x="114300" y="327094"/>
                  <a:pt x="114300" y="342900"/>
                </a:cubicBezTo>
                <a:lnTo>
                  <a:pt x="114300" y="400050"/>
                </a:lnTo>
                <a:cubicBezTo>
                  <a:pt x="114300" y="415856"/>
                  <a:pt x="101531" y="428625"/>
                  <a:pt x="8572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42900"/>
                </a:lnTo>
                <a:cubicBezTo>
                  <a:pt x="0" y="327094"/>
                  <a:pt x="12769" y="314325"/>
                  <a:pt x="28575" y="314325"/>
                </a:cubicBezTo>
                <a:lnTo>
                  <a:pt x="35719" y="314325"/>
                </a:lnTo>
                <a:lnTo>
                  <a:pt x="35719" y="264319"/>
                </a:lnTo>
                <a:cubicBezTo>
                  <a:pt x="35719" y="228779"/>
                  <a:pt x="64472" y="200025"/>
                  <a:pt x="100013" y="200025"/>
                </a:cubicBezTo>
                <a:lnTo>
                  <a:pt x="207169" y="200025"/>
                </a:lnTo>
                <a:lnTo>
                  <a:pt x="207169" y="142875"/>
                </a:lnTo>
                <a:lnTo>
                  <a:pt x="200025" y="142875"/>
                </a:lnTo>
                <a:cubicBezTo>
                  <a:pt x="184219" y="142875"/>
                  <a:pt x="171450" y="130106"/>
                  <a:pt x="171450" y="114300"/>
                </a:cubicBezTo>
                <a:lnTo>
                  <a:pt x="171450" y="5715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0670084" y="6654800"/>
            <a:ext cx="490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优秀扩展能力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0682784" y="7061200"/>
            <a:ext cx="4876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天然支持分布式部署，能够水平扩展到数百个节点，处理PB级别的海量数据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0700" y="622300"/>
            <a:ext cx="584200" cy="584200"/>
          </a:xfrm>
          <a:custGeom>
            <a:avLst/>
            <a:gdLst/>
            <a:ahLst/>
            <a:cxnLst/>
            <a:rect l="l" t="t" r="r" b="b"/>
            <a:pathLst>
              <a:path w="584200" h="584200">
                <a:moveTo>
                  <a:pt x="0" y="0"/>
                </a:moveTo>
                <a:lnTo>
                  <a:pt x="584200" y="0"/>
                </a:lnTo>
                <a:lnTo>
                  <a:pt x="584200" y="584200"/>
                </a:lnTo>
                <a:lnTo>
                  <a:pt x="0" y="5842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8713" y="736600"/>
            <a:ext cx="431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20800" y="5080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适用场景分析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20800" y="1016000"/>
            <a:ext cx="410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Application Scenarios &amp; 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8000" y="1473200"/>
            <a:ext cx="15240000" cy="12700"/>
          </a:xfrm>
          <a:custGeom>
            <a:avLst/>
            <a:gdLst/>
            <a:ahLst/>
            <a:cxnLst/>
            <a:rect l="l" t="t" r="r" b="b"/>
            <a:pathLst>
              <a:path w="15240000" h="12700">
                <a:moveTo>
                  <a:pt x="0" y="0"/>
                </a:moveTo>
                <a:lnTo>
                  <a:pt x="15240000" y="0"/>
                </a:lnTo>
                <a:lnTo>
                  <a:pt x="15240000" y="12700"/>
                </a:lnTo>
                <a:lnTo>
                  <a:pt x="0" y="127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20700" y="1701800"/>
            <a:ext cx="4914900" cy="3581400"/>
          </a:xfrm>
          <a:custGeom>
            <a:avLst/>
            <a:gdLst/>
            <a:ahLst/>
            <a:cxnLst/>
            <a:rect l="l" t="t" r="r" b="b"/>
            <a:pathLst>
              <a:path w="4914900" h="3581400">
                <a:moveTo>
                  <a:pt x="0" y="0"/>
                </a:moveTo>
                <a:lnTo>
                  <a:pt x="4914900" y="0"/>
                </a:lnTo>
                <a:lnTo>
                  <a:pt x="49149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3263" y="19304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77900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高度适合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1200" y="23241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38200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写密集型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38200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日志收集系统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" y="29845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充分发挥</a:t>
            </a: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写入性能优势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1200" y="32893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838200" y="3289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时序数据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8200" y="3644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时序数据库 (InfluxDB)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8200" y="39497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</a:t>
            </a: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时间有序数据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11200" y="42545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38200" y="4254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大数据处理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" y="4610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大数据分析平台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8200" y="49149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大规模数据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668367" y="1701800"/>
            <a:ext cx="4914900" cy="3581400"/>
          </a:xfrm>
          <a:custGeom>
            <a:avLst/>
            <a:gdLst/>
            <a:ahLst/>
            <a:cxnLst/>
            <a:rect l="l" t="t" r="r" b="b"/>
            <a:pathLst>
              <a:path w="4914900" h="3581400">
                <a:moveTo>
                  <a:pt x="0" y="0"/>
                </a:moveTo>
                <a:lnTo>
                  <a:pt x="4914900" y="0"/>
                </a:lnTo>
                <a:lnTo>
                  <a:pt x="49149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5865217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125567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适合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58867" y="23241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5985867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混合负载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985867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内容管理系统 (CMS)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985867" y="29845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读写性能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858867" y="32893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5985867" y="3289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会话存储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985867" y="3644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用户会话管理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985867" y="39497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</a:t>
            </a:r>
            <a:r>
              <a:rPr lang="en-US" sz="12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临时性数据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858867" y="42545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985867" y="4254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事件存储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985867" y="4610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事件溯源系统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985867" y="49149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适合</a:t>
            </a: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追加写入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场景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816134" y="1701800"/>
            <a:ext cx="4914900" cy="3581400"/>
          </a:xfrm>
          <a:custGeom>
            <a:avLst/>
            <a:gdLst/>
            <a:ahLst/>
            <a:cxnLst/>
            <a:rect l="l" t="t" r="r" b="b"/>
            <a:pathLst>
              <a:path w="4914900" h="3581400">
                <a:moveTo>
                  <a:pt x="0" y="0"/>
                </a:moveTo>
                <a:lnTo>
                  <a:pt x="4914900" y="0"/>
                </a:lnTo>
                <a:lnTo>
                  <a:pt x="4914900" y="3581400"/>
                </a:lnTo>
                <a:lnTo>
                  <a:pt x="0" y="35814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6"/>
          <p:cNvSpPr/>
          <p:nvPr/>
        </p:nvSpPr>
        <p:spPr>
          <a:xfrm>
            <a:off x="11012984" y="1930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74563" y="74563"/>
                </a:moveTo>
                <a:cubicBezTo>
                  <a:pt x="78760" y="70366"/>
                  <a:pt x="85546" y="70366"/>
                  <a:pt x="89699" y="74563"/>
                </a:cubicBezTo>
                <a:lnTo>
                  <a:pt x="114255" y="99120"/>
                </a:lnTo>
                <a:lnTo>
                  <a:pt x="138812" y="74563"/>
                </a:lnTo>
                <a:cubicBezTo>
                  <a:pt x="143009" y="70366"/>
                  <a:pt x="149796" y="70366"/>
                  <a:pt x="153948" y="74563"/>
                </a:cubicBezTo>
                <a:cubicBezTo>
                  <a:pt x="158100" y="78760"/>
                  <a:pt x="158145" y="85546"/>
                  <a:pt x="153948" y="89699"/>
                </a:cubicBezTo>
                <a:lnTo>
                  <a:pt x="129391" y="114255"/>
                </a:lnTo>
                <a:lnTo>
                  <a:pt x="153948" y="138812"/>
                </a:lnTo>
                <a:cubicBezTo>
                  <a:pt x="158145" y="143009"/>
                  <a:pt x="158145" y="149796"/>
                  <a:pt x="153948" y="153948"/>
                </a:cubicBezTo>
                <a:cubicBezTo>
                  <a:pt x="149751" y="158100"/>
                  <a:pt x="142964" y="158145"/>
                  <a:pt x="138812" y="153948"/>
                </a:cubicBezTo>
                <a:lnTo>
                  <a:pt x="114255" y="129391"/>
                </a:lnTo>
                <a:lnTo>
                  <a:pt x="89699" y="153948"/>
                </a:lnTo>
                <a:cubicBezTo>
                  <a:pt x="85502" y="158145"/>
                  <a:pt x="78715" y="158145"/>
                  <a:pt x="74563" y="153948"/>
                </a:cubicBezTo>
                <a:cubicBezTo>
                  <a:pt x="70411" y="149751"/>
                  <a:pt x="70366" y="142964"/>
                  <a:pt x="74563" y="138812"/>
                </a:cubicBezTo>
                <a:lnTo>
                  <a:pt x="99120" y="114255"/>
                </a:lnTo>
                <a:lnTo>
                  <a:pt x="74563" y="89699"/>
                </a:lnTo>
                <a:cubicBezTo>
                  <a:pt x="70366" y="85502"/>
                  <a:pt x="70366" y="78715"/>
                  <a:pt x="74563" y="74563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1273334" y="1866900"/>
            <a:ext cx="4406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不适合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006634" y="23241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133634" y="23241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读密集型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1133634" y="26797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实时查询系统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133634" y="29845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多层查找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影响读取性能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11006634" y="32893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11133634" y="32893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小数据量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133634" y="36449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轻量级应用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133634" y="39497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Compaction开销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相对较大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1006634" y="4254500"/>
            <a:ext cx="50800" cy="863600"/>
          </a:xfrm>
          <a:custGeom>
            <a:avLst/>
            <a:gdLst/>
            <a:ahLst/>
            <a:cxnLst/>
            <a:rect l="l" t="t" r="r" b="b"/>
            <a:pathLst>
              <a:path w="50800" h="863600">
                <a:moveTo>
                  <a:pt x="0" y="0"/>
                </a:moveTo>
                <a:lnTo>
                  <a:pt x="50800" y="0"/>
                </a:lnTo>
                <a:lnTo>
                  <a:pt x="50800" y="863600"/>
                </a:lnTo>
                <a:lnTo>
                  <a:pt x="0" y="863600"/>
                </a:lnTo>
                <a:lnTo>
                  <a:pt x="0" y="0"/>
                </a:lnTo>
                <a:close/>
              </a:path>
            </a:pathLst>
          </a:custGeom>
          <a:solidFill>
            <a:srgbClr val="F0B1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133634" y="42545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频繁更新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1133634" y="4610100"/>
            <a:ext cx="45212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高频更新场景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11133634" y="4914900"/>
            <a:ext cx="4508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写放大</a:t>
            </a: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问题严重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520700" y="5461000"/>
            <a:ext cx="15214600" cy="2209800"/>
          </a:xfrm>
          <a:custGeom>
            <a:avLst/>
            <a:gdLst/>
            <a:ahLst/>
            <a:cxnLst/>
            <a:rect l="l" t="t" r="r" b="b"/>
            <a:pathLst>
              <a:path w="15214600" h="2209800">
                <a:moveTo>
                  <a:pt x="0" y="0"/>
                </a:moveTo>
                <a:lnTo>
                  <a:pt x="15214600" y="0"/>
                </a:lnTo>
                <a:lnTo>
                  <a:pt x="15214600" y="2209800"/>
                </a:ln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51"/>
          <p:cNvSpPr/>
          <p:nvPr/>
        </p:nvSpPr>
        <p:spPr>
          <a:xfrm>
            <a:off x="800100" y="57277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1054100" y="5676900"/>
            <a:ext cx="145923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场景选择建议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762000" y="61849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39800" y="61849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优先选择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939800" y="65913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写入量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远大于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读取量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39800" y="68961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数据具有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时间局部性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939800" y="72009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需要</a:t>
            </a:r>
            <a:r>
              <a:rPr lang="en-US" sz="1400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高吞吐量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5757267" y="61849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5935067" y="61849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可以考虑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935067" y="65913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读写操作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相对均衡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5935067" y="68961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数据具有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冷热分层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5935067" y="72009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需要</a:t>
            </a:r>
            <a:r>
              <a:rPr lang="en-US" sz="1400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水平扩展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能力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10752634" y="6184900"/>
            <a:ext cx="50800" cy="1270000"/>
          </a:xfrm>
          <a:custGeom>
            <a:avLst/>
            <a:gdLst/>
            <a:ahLst/>
            <a:cxnLst/>
            <a:rect l="l" t="t" r="r" b="b"/>
            <a:pathLst>
              <a:path w="50800" h="1270000">
                <a:moveTo>
                  <a:pt x="0" y="0"/>
                </a:moveTo>
                <a:lnTo>
                  <a:pt x="50800" y="0"/>
                </a:lnTo>
                <a:lnTo>
                  <a:pt x="50800" y="1270000"/>
                </a:lnTo>
                <a:lnTo>
                  <a:pt x="0" y="127000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10930434" y="6184900"/>
            <a:ext cx="468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避免使用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10930434" y="65913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读取量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远大于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写入量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10930434" y="68961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需要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实时更新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和查询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10930434" y="7200900"/>
            <a:ext cx="4673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数据量</a:t>
            </a:r>
            <a:r>
              <a:rPr lang="en-US" sz="1400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较小</a:t>
            </a:r>
            <a:r>
              <a:rPr lang="en-US" sz="1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的场景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1509" y="611315"/>
            <a:ext cx="573888" cy="573888"/>
          </a:xfrm>
          <a:custGeom>
            <a:avLst/>
            <a:gdLst/>
            <a:ahLst/>
            <a:cxnLst/>
            <a:rect l="l" t="t" r="r" b="b"/>
            <a:pathLst>
              <a:path w="573888" h="573888">
                <a:moveTo>
                  <a:pt x="0" y="0"/>
                </a:moveTo>
                <a:lnTo>
                  <a:pt x="573888" y="0"/>
                </a:lnTo>
                <a:lnTo>
                  <a:pt x="573888" y="573888"/>
                </a:lnTo>
                <a:lnTo>
                  <a:pt x="0" y="573888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D4A37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7086" y="723598"/>
            <a:ext cx="424178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97486" y="499033"/>
            <a:ext cx="3942361" cy="449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947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技术发展趋势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97486" y="998066"/>
            <a:ext cx="3855030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Future Trends &amp; Development Directions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9033" y="1447196"/>
            <a:ext cx="15257934" cy="12476"/>
          </a:xfrm>
          <a:custGeom>
            <a:avLst/>
            <a:gdLst/>
            <a:ahLst/>
            <a:cxnLst/>
            <a:rect l="l" t="t" r="r" b="b"/>
            <a:pathLst>
              <a:path w="15257934" h="12476">
                <a:moveTo>
                  <a:pt x="0" y="0"/>
                </a:moveTo>
                <a:lnTo>
                  <a:pt x="15257934" y="0"/>
                </a:lnTo>
                <a:lnTo>
                  <a:pt x="15257934" y="12476"/>
                </a:lnTo>
                <a:lnTo>
                  <a:pt x="0" y="12476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11509" y="1671761"/>
            <a:ext cx="7510447" cy="2769633"/>
          </a:xfrm>
          <a:custGeom>
            <a:avLst/>
            <a:gdLst/>
            <a:ahLst/>
            <a:cxnLst/>
            <a:rect l="l" t="t" r="r" b="b"/>
            <a:pathLst>
              <a:path w="7510447" h="2769633">
                <a:moveTo>
                  <a:pt x="0" y="0"/>
                </a:moveTo>
                <a:lnTo>
                  <a:pt x="7510447" y="0"/>
                </a:lnTo>
                <a:lnTo>
                  <a:pt x="7510447" y="2769633"/>
                </a:lnTo>
                <a:lnTo>
                  <a:pt x="0" y="27696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04884" y="1896325"/>
            <a:ext cx="224565" cy="224565"/>
          </a:xfrm>
          <a:custGeom>
            <a:avLst/>
            <a:gdLst/>
            <a:ahLst/>
            <a:cxnLst/>
            <a:rect l="l" t="t" r="r" b="b"/>
            <a:pathLst>
              <a:path w="224565" h="224565">
                <a:moveTo>
                  <a:pt x="77194" y="10526"/>
                </a:moveTo>
                <a:cubicBezTo>
                  <a:pt x="77194" y="4693"/>
                  <a:pt x="72501" y="0"/>
                  <a:pt x="66668" y="0"/>
                </a:cubicBezTo>
                <a:cubicBezTo>
                  <a:pt x="60834" y="0"/>
                  <a:pt x="56141" y="4693"/>
                  <a:pt x="56141" y="10526"/>
                </a:cubicBezTo>
                <a:lnTo>
                  <a:pt x="56141" y="28071"/>
                </a:lnTo>
                <a:cubicBezTo>
                  <a:pt x="40659" y="28071"/>
                  <a:pt x="28071" y="40659"/>
                  <a:pt x="28071" y="56141"/>
                </a:cubicBezTo>
                <a:lnTo>
                  <a:pt x="10526" y="56141"/>
                </a:lnTo>
                <a:cubicBezTo>
                  <a:pt x="4693" y="56141"/>
                  <a:pt x="0" y="60834"/>
                  <a:pt x="0" y="66668"/>
                </a:cubicBezTo>
                <a:cubicBezTo>
                  <a:pt x="0" y="72501"/>
                  <a:pt x="4693" y="77194"/>
                  <a:pt x="10526" y="77194"/>
                </a:cubicBezTo>
                <a:lnTo>
                  <a:pt x="28071" y="77194"/>
                </a:lnTo>
                <a:lnTo>
                  <a:pt x="28071" y="101756"/>
                </a:lnTo>
                <a:lnTo>
                  <a:pt x="10526" y="101756"/>
                </a:lnTo>
                <a:cubicBezTo>
                  <a:pt x="4693" y="101756"/>
                  <a:pt x="0" y="106449"/>
                  <a:pt x="0" y="112282"/>
                </a:cubicBezTo>
                <a:cubicBezTo>
                  <a:pt x="0" y="118116"/>
                  <a:pt x="4693" y="122809"/>
                  <a:pt x="10526" y="122809"/>
                </a:cubicBezTo>
                <a:lnTo>
                  <a:pt x="28071" y="122809"/>
                </a:lnTo>
                <a:lnTo>
                  <a:pt x="28071" y="147371"/>
                </a:lnTo>
                <a:lnTo>
                  <a:pt x="10526" y="147371"/>
                </a:lnTo>
                <a:cubicBezTo>
                  <a:pt x="4693" y="147371"/>
                  <a:pt x="0" y="152064"/>
                  <a:pt x="0" y="157897"/>
                </a:cubicBezTo>
                <a:cubicBezTo>
                  <a:pt x="0" y="163731"/>
                  <a:pt x="4693" y="168424"/>
                  <a:pt x="10526" y="168424"/>
                </a:cubicBezTo>
                <a:lnTo>
                  <a:pt x="28071" y="168424"/>
                </a:lnTo>
                <a:cubicBezTo>
                  <a:pt x="28071" y="183906"/>
                  <a:pt x="40659" y="196494"/>
                  <a:pt x="56141" y="196494"/>
                </a:cubicBezTo>
                <a:lnTo>
                  <a:pt x="56141" y="214038"/>
                </a:lnTo>
                <a:cubicBezTo>
                  <a:pt x="56141" y="219872"/>
                  <a:pt x="60834" y="224565"/>
                  <a:pt x="66668" y="224565"/>
                </a:cubicBezTo>
                <a:cubicBezTo>
                  <a:pt x="72501" y="224565"/>
                  <a:pt x="77194" y="219872"/>
                  <a:pt x="77194" y="214038"/>
                </a:cubicBezTo>
                <a:lnTo>
                  <a:pt x="77194" y="196494"/>
                </a:lnTo>
                <a:lnTo>
                  <a:pt x="101756" y="196494"/>
                </a:lnTo>
                <a:lnTo>
                  <a:pt x="101756" y="214038"/>
                </a:lnTo>
                <a:cubicBezTo>
                  <a:pt x="101756" y="219872"/>
                  <a:pt x="106449" y="224565"/>
                  <a:pt x="112282" y="224565"/>
                </a:cubicBezTo>
                <a:cubicBezTo>
                  <a:pt x="118116" y="224565"/>
                  <a:pt x="122809" y="219872"/>
                  <a:pt x="122809" y="214038"/>
                </a:cubicBezTo>
                <a:lnTo>
                  <a:pt x="122809" y="196494"/>
                </a:lnTo>
                <a:lnTo>
                  <a:pt x="147371" y="196494"/>
                </a:lnTo>
                <a:lnTo>
                  <a:pt x="147371" y="214038"/>
                </a:lnTo>
                <a:cubicBezTo>
                  <a:pt x="147371" y="219872"/>
                  <a:pt x="152064" y="224565"/>
                  <a:pt x="157897" y="224565"/>
                </a:cubicBezTo>
                <a:cubicBezTo>
                  <a:pt x="163731" y="224565"/>
                  <a:pt x="168424" y="219872"/>
                  <a:pt x="168424" y="214038"/>
                </a:cubicBezTo>
                <a:lnTo>
                  <a:pt x="168424" y="196494"/>
                </a:lnTo>
                <a:cubicBezTo>
                  <a:pt x="183906" y="196494"/>
                  <a:pt x="196494" y="183906"/>
                  <a:pt x="196494" y="168424"/>
                </a:cubicBezTo>
                <a:lnTo>
                  <a:pt x="214038" y="168424"/>
                </a:lnTo>
                <a:cubicBezTo>
                  <a:pt x="219872" y="168424"/>
                  <a:pt x="224565" y="163731"/>
                  <a:pt x="224565" y="157897"/>
                </a:cubicBezTo>
                <a:cubicBezTo>
                  <a:pt x="224565" y="152064"/>
                  <a:pt x="219872" y="147371"/>
                  <a:pt x="214038" y="147371"/>
                </a:cubicBezTo>
                <a:lnTo>
                  <a:pt x="196494" y="147371"/>
                </a:lnTo>
                <a:lnTo>
                  <a:pt x="196494" y="122809"/>
                </a:lnTo>
                <a:lnTo>
                  <a:pt x="214038" y="122809"/>
                </a:lnTo>
                <a:cubicBezTo>
                  <a:pt x="219872" y="122809"/>
                  <a:pt x="224565" y="118116"/>
                  <a:pt x="224565" y="112282"/>
                </a:cubicBezTo>
                <a:cubicBezTo>
                  <a:pt x="224565" y="106449"/>
                  <a:pt x="219872" y="101756"/>
                  <a:pt x="214038" y="101756"/>
                </a:cubicBezTo>
                <a:lnTo>
                  <a:pt x="196494" y="101756"/>
                </a:lnTo>
                <a:lnTo>
                  <a:pt x="196494" y="77194"/>
                </a:lnTo>
                <a:lnTo>
                  <a:pt x="214038" y="77194"/>
                </a:lnTo>
                <a:cubicBezTo>
                  <a:pt x="219872" y="77194"/>
                  <a:pt x="224565" y="72501"/>
                  <a:pt x="224565" y="66668"/>
                </a:cubicBezTo>
                <a:cubicBezTo>
                  <a:pt x="224565" y="60834"/>
                  <a:pt x="219872" y="56141"/>
                  <a:pt x="214038" y="56141"/>
                </a:cubicBezTo>
                <a:lnTo>
                  <a:pt x="196494" y="56141"/>
                </a:lnTo>
                <a:cubicBezTo>
                  <a:pt x="196494" y="40659"/>
                  <a:pt x="183906" y="28071"/>
                  <a:pt x="168424" y="28071"/>
                </a:cubicBezTo>
                <a:lnTo>
                  <a:pt x="168424" y="10526"/>
                </a:lnTo>
                <a:cubicBezTo>
                  <a:pt x="168424" y="4693"/>
                  <a:pt x="163731" y="0"/>
                  <a:pt x="157897" y="0"/>
                </a:cubicBezTo>
                <a:cubicBezTo>
                  <a:pt x="152064" y="0"/>
                  <a:pt x="147371" y="4693"/>
                  <a:pt x="147371" y="10526"/>
                </a:cubicBezTo>
                <a:lnTo>
                  <a:pt x="147371" y="28071"/>
                </a:lnTo>
                <a:lnTo>
                  <a:pt x="122809" y="28071"/>
                </a:lnTo>
                <a:lnTo>
                  <a:pt x="122809" y="10526"/>
                </a:lnTo>
                <a:cubicBezTo>
                  <a:pt x="122809" y="4693"/>
                  <a:pt x="118116" y="0"/>
                  <a:pt x="112282" y="0"/>
                </a:cubicBezTo>
                <a:cubicBezTo>
                  <a:pt x="106449" y="0"/>
                  <a:pt x="101756" y="4693"/>
                  <a:pt x="101756" y="10526"/>
                </a:cubicBezTo>
                <a:lnTo>
                  <a:pt x="101756" y="28071"/>
                </a:lnTo>
                <a:lnTo>
                  <a:pt x="77194" y="28071"/>
                </a:lnTo>
                <a:lnTo>
                  <a:pt x="77194" y="10526"/>
                </a:lnTo>
                <a:close/>
                <a:moveTo>
                  <a:pt x="70177" y="56141"/>
                </a:moveTo>
                <a:lnTo>
                  <a:pt x="154388" y="56141"/>
                </a:lnTo>
                <a:cubicBezTo>
                  <a:pt x="162152" y="56141"/>
                  <a:pt x="168424" y="62413"/>
                  <a:pt x="168424" y="70177"/>
                </a:cubicBezTo>
                <a:lnTo>
                  <a:pt x="168424" y="154388"/>
                </a:lnTo>
                <a:cubicBezTo>
                  <a:pt x="168424" y="162152"/>
                  <a:pt x="162152" y="168424"/>
                  <a:pt x="154388" y="168424"/>
                </a:cubicBezTo>
                <a:lnTo>
                  <a:pt x="70177" y="168424"/>
                </a:lnTo>
                <a:cubicBezTo>
                  <a:pt x="62413" y="168424"/>
                  <a:pt x="56141" y="162152"/>
                  <a:pt x="56141" y="154388"/>
                </a:cubicBezTo>
                <a:lnTo>
                  <a:pt x="56141" y="70177"/>
                </a:lnTo>
                <a:cubicBezTo>
                  <a:pt x="56141" y="62413"/>
                  <a:pt x="62413" y="56141"/>
                  <a:pt x="70177" y="56141"/>
                </a:cubicBezTo>
                <a:close/>
                <a:moveTo>
                  <a:pt x="77194" y="77194"/>
                </a:moveTo>
                <a:lnTo>
                  <a:pt x="77194" y="147371"/>
                </a:lnTo>
                <a:lnTo>
                  <a:pt x="147371" y="147371"/>
                </a:lnTo>
                <a:lnTo>
                  <a:pt x="147371" y="77194"/>
                </a:lnTo>
                <a:lnTo>
                  <a:pt x="77194" y="77194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60639" y="1833946"/>
            <a:ext cx="701141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硬件优化适配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98646" y="2283076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3404" y="2283076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NVMe SSD 优化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3404" y="2632399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</a:t>
            </a:r>
            <a:r>
              <a:rPr lang="en-US" sz="13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高速SSD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的特性进行优化，充分发挥硬件性能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98646" y="2981722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23404" y="2981722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持久化内存支持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3404" y="3331045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适配</a:t>
            </a:r>
            <a:r>
              <a:rPr lang="en-US" sz="1375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Intel Optane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等持久化内存，实现更低的写入延迟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98646" y="3680368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3404" y="3680368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CPU 缓存优化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3404" y="4029691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优化数据结构和算法，更好地利用</a:t>
            </a:r>
            <a:r>
              <a:rPr lang="en-US" sz="13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CPU缓存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40965" y="1671761"/>
            <a:ext cx="7510447" cy="2769633"/>
          </a:xfrm>
          <a:custGeom>
            <a:avLst/>
            <a:gdLst/>
            <a:ahLst/>
            <a:cxnLst/>
            <a:rect l="l" t="t" r="r" b="b"/>
            <a:pathLst>
              <a:path w="7510447" h="2769633">
                <a:moveTo>
                  <a:pt x="0" y="0"/>
                </a:moveTo>
                <a:lnTo>
                  <a:pt x="7510447" y="0"/>
                </a:lnTo>
                <a:lnTo>
                  <a:pt x="7510447" y="2769633"/>
                </a:lnTo>
                <a:lnTo>
                  <a:pt x="0" y="27696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434340" y="1896325"/>
            <a:ext cx="224565" cy="224565"/>
          </a:xfrm>
          <a:custGeom>
            <a:avLst/>
            <a:gdLst/>
            <a:ahLst/>
            <a:cxnLst/>
            <a:rect l="l" t="t" r="r" b="b"/>
            <a:pathLst>
              <a:path w="224565" h="224565">
                <a:moveTo>
                  <a:pt x="52632" y="24562"/>
                </a:moveTo>
                <a:cubicBezTo>
                  <a:pt x="52632" y="11009"/>
                  <a:pt x="63641" y="0"/>
                  <a:pt x="77194" y="0"/>
                </a:cubicBezTo>
                <a:lnTo>
                  <a:pt x="87721" y="0"/>
                </a:lnTo>
                <a:cubicBezTo>
                  <a:pt x="95484" y="0"/>
                  <a:pt x="101756" y="6272"/>
                  <a:pt x="101756" y="14035"/>
                </a:cubicBezTo>
                <a:lnTo>
                  <a:pt x="101756" y="210530"/>
                </a:lnTo>
                <a:cubicBezTo>
                  <a:pt x="101756" y="218293"/>
                  <a:pt x="95484" y="224565"/>
                  <a:pt x="87721" y="224565"/>
                </a:cubicBezTo>
                <a:lnTo>
                  <a:pt x="73685" y="224565"/>
                </a:lnTo>
                <a:cubicBezTo>
                  <a:pt x="60615" y="224565"/>
                  <a:pt x="49606" y="215617"/>
                  <a:pt x="46492" y="203512"/>
                </a:cubicBezTo>
                <a:cubicBezTo>
                  <a:pt x="46185" y="203512"/>
                  <a:pt x="45922" y="203512"/>
                  <a:pt x="45615" y="203512"/>
                </a:cubicBezTo>
                <a:cubicBezTo>
                  <a:pt x="26228" y="203512"/>
                  <a:pt x="10526" y="187810"/>
                  <a:pt x="10526" y="168424"/>
                </a:cubicBezTo>
                <a:cubicBezTo>
                  <a:pt x="10526" y="160529"/>
                  <a:pt x="13158" y="153248"/>
                  <a:pt x="17544" y="147371"/>
                </a:cubicBezTo>
                <a:cubicBezTo>
                  <a:pt x="9035" y="140967"/>
                  <a:pt x="3509" y="130791"/>
                  <a:pt x="3509" y="119300"/>
                </a:cubicBezTo>
                <a:cubicBezTo>
                  <a:pt x="3509" y="105747"/>
                  <a:pt x="11228" y="93949"/>
                  <a:pt x="22456" y="88115"/>
                </a:cubicBezTo>
                <a:cubicBezTo>
                  <a:pt x="19342" y="82852"/>
                  <a:pt x="17544" y="76712"/>
                  <a:pt x="17544" y="70177"/>
                </a:cubicBezTo>
                <a:cubicBezTo>
                  <a:pt x="17544" y="50790"/>
                  <a:pt x="33246" y="35088"/>
                  <a:pt x="52632" y="35088"/>
                </a:cubicBezTo>
                <a:lnTo>
                  <a:pt x="52632" y="24562"/>
                </a:lnTo>
                <a:close/>
                <a:moveTo>
                  <a:pt x="171932" y="24562"/>
                </a:moveTo>
                <a:lnTo>
                  <a:pt x="171932" y="35088"/>
                </a:lnTo>
                <a:cubicBezTo>
                  <a:pt x="191319" y="35088"/>
                  <a:pt x="207021" y="50790"/>
                  <a:pt x="207021" y="70177"/>
                </a:cubicBezTo>
                <a:cubicBezTo>
                  <a:pt x="207021" y="76756"/>
                  <a:pt x="205222" y="82896"/>
                  <a:pt x="202108" y="88115"/>
                </a:cubicBezTo>
                <a:cubicBezTo>
                  <a:pt x="213380" y="93949"/>
                  <a:pt x="221056" y="105703"/>
                  <a:pt x="221056" y="119300"/>
                </a:cubicBezTo>
                <a:cubicBezTo>
                  <a:pt x="221056" y="130791"/>
                  <a:pt x="215530" y="140967"/>
                  <a:pt x="207021" y="147371"/>
                </a:cubicBezTo>
                <a:cubicBezTo>
                  <a:pt x="211407" y="153248"/>
                  <a:pt x="214038" y="160529"/>
                  <a:pt x="214038" y="168424"/>
                </a:cubicBezTo>
                <a:cubicBezTo>
                  <a:pt x="214038" y="187810"/>
                  <a:pt x="198336" y="203512"/>
                  <a:pt x="178950" y="203512"/>
                </a:cubicBezTo>
                <a:cubicBezTo>
                  <a:pt x="178643" y="203512"/>
                  <a:pt x="178380" y="203512"/>
                  <a:pt x="178073" y="203512"/>
                </a:cubicBezTo>
                <a:cubicBezTo>
                  <a:pt x="174959" y="215617"/>
                  <a:pt x="163950" y="224565"/>
                  <a:pt x="150880" y="224565"/>
                </a:cubicBezTo>
                <a:lnTo>
                  <a:pt x="136844" y="224565"/>
                </a:lnTo>
                <a:cubicBezTo>
                  <a:pt x="129081" y="224565"/>
                  <a:pt x="122809" y="218293"/>
                  <a:pt x="122809" y="210530"/>
                </a:cubicBezTo>
                <a:lnTo>
                  <a:pt x="122809" y="14035"/>
                </a:lnTo>
                <a:cubicBezTo>
                  <a:pt x="122809" y="6272"/>
                  <a:pt x="129081" y="0"/>
                  <a:pt x="136844" y="0"/>
                </a:cubicBezTo>
                <a:lnTo>
                  <a:pt x="147371" y="0"/>
                </a:lnTo>
                <a:cubicBezTo>
                  <a:pt x="160924" y="0"/>
                  <a:pt x="171932" y="11009"/>
                  <a:pt x="171932" y="24562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690094" y="1833946"/>
            <a:ext cx="701141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智能调优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428102" y="2283076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52860" y="2283076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机器学习自适应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52860" y="2632399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</a:t>
            </a:r>
            <a:r>
              <a:rPr lang="en-US" sz="13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ML算法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自动调整参数，适应不同的工作负载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428102" y="2981722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8552860" y="2981722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智能Compaction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52860" y="3331045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sz="1375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数据访问模式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智能选择Compaction策略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428102" y="3680368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8552860" y="3680368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预测性维护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52860" y="4029691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</a:t>
            </a:r>
            <a:r>
              <a:rPr lang="en-US" sz="13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预测模型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提前发现性能问题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1509" y="4665959"/>
            <a:ext cx="7510447" cy="2769633"/>
          </a:xfrm>
          <a:custGeom>
            <a:avLst/>
            <a:gdLst/>
            <a:ahLst/>
            <a:cxnLst/>
            <a:rect l="l" t="t" r="r" b="b"/>
            <a:pathLst>
              <a:path w="7510447" h="2769633">
                <a:moveTo>
                  <a:pt x="0" y="0"/>
                </a:moveTo>
                <a:lnTo>
                  <a:pt x="7510447" y="0"/>
                </a:lnTo>
                <a:lnTo>
                  <a:pt x="7510447" y="2769633"/>
                </a:lnTo>
                <a:lnTo>
                  <a:pt x="0" y="27696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690849" y="4890523"/>
            <a:ext cx="252635" cy="224565"/>
          </a:xfrm>
          <a:custGeom>
            <a:avLst/>
            <a:gdLst/>
            <a:ahLst/>
            <a:cxnLst/>
            <a:rect l="l" t="t" r="r" b="b"/>
            <a:pathLst>
              <a:path w="252635" h="224565">
                <a:moveTo>
                  <a:pt x="0" y="147371"/>
                </a:moveTo>
                <a:cubicBezTo>
                  <a:pt x="0" y="182240"/>
                  <a:pt x="28290" y="210530"/>
                  <a:pt x="63159" y="210530"/>
                </a:cubicBezTo>
                <a:lnTo>
                  <a:pt x="196494" y="210530"/>
                </a:lnTo>
                <a:cubicBezTo>
                  <a:pt x="227503" y="210530"/>
                  <a:pt x="252635" y="185398"/>
                  <a:pt x="252635" y="154388"/>
                </a:cubicBezTo>
                <a:cubicBezTo>
                  <a:pt x="252635" y="131756"/>
                  <a:pt x="239258" y="112239"/>
                  <a:pt x="219960" y="103379"/>
                </a:cubicBezTo>
                <a:cubicBezTo>
                  <a:pt x="222898" y="97633"/>
                  <a:pt x="224565" y="91098"/>
                  <a:pt x="224565" y="84212"/>
                </a:cubicBezTo>
                <a:cubicBezTo>
                  <a:pt x="224565" y="60966"/>
                  <a:pt x="205705" y="42106"/>
                  <a:pt x="182459" y="42106"/>
                </a:cubicBezTo>
                <a:cubicBezTo>
                  <a:pt x="174696" y="42106"/>
                  <a:pt x="167459" y="44211"/>
                  <a:pt x="161231" y="47852"/>
                </a:cubicBezTo>
                <a:cubicBezTo>
                  <a:pt x="150660" y="27764"/>
                  <a:pt x="129563" y="14035"/>
                  <a:pt x="105265" y="14035"/>
                </a:cubicBezTo>
                <a:cubicBezTo>
                  <a:pt x="70396" y="14035"/>
                  <a:pt x="42106" y="42325"/>
                  <a:pt x="42106" y="77194"/>
                </a:cubicBezTo>
                <a:cubicBezTo>
                  <a:pt x="42106" y="80703"/>
                  <a:pt x="42413" y="84168"/>
                  <a:pt x="42939" y="87501"/>
                </a:cubicBezTo>
                <a:cubicBezTo>
                  <a:pt x="17983" y="95923"/>
                  <a:pt x="0" y="119563"/>
                  <a:pt x="0" y="147371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60639" y="4828144"/>
            <a:ext cx="701141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云原生支持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8646" y="5277274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23404" y="5277274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容器化部署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23404" y="5626597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更好地支持</a:t>
            </a:r>
            <a:r>
              <a:rPr lang="en-US" sz="13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Docker/Kubernetes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等容器化平台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98646" y="5975920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23404" y="5975920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微服务架构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3404" y="6325243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适应</a:t>
            </a:r>
            <a:r>
              <a:rPr lang="en-US" sz="1375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微服务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架构，支持服务拆分和独立部署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8646" y="6674566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823404" y="6674566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云存储集成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3404" y="7023889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3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S3/对象存储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等云服务深度集成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8240965" y="4665959"/>
            <a:ext cx="7510447" cy="2769633"/>
          </a:xfrm>
          <a:custGeom>
            <a:avLst/>
            <a:gdLst/>
            <a:ahLst/>
            <a:cxnLst/>
            <a:rect l="l" t="t" r="r" b="b"/>
            <a:pathLst>
              <a:path w="7510447" h="2769633">
                <a:moveTo>
                  <a:pt x="0" y="0"/>
                </a:moveTo>
                <a:lnTo>
                  <a:pt x="7510447" y="0"/>
                </a:lnTo>
                <a:lnTo>
                  <a:pt x="7510447" y="2769633"/>
                </a:lnTo>
                <a:lnTo>
                  <a:pt x="0" y="27696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448375" y="4890523"/>
            <a:ext cx="196494" cy="224565"/>
          </a:xfrm>
          <a:custGeom>
            <a:avLst/>
            <a:gdLst/>
            <a:ahLst/>
            <a:cxnLst/>
            <a:rect l="l" t="t" r="r" b="b"/>
            <a:pathLst>
              <a:path w="196494" h="224565">
                <a:moveTo>
                  <a:pt x="196494" y="90265"/>
                </a:moveTo>
                <a:cubicBezTo>
                  <a:pt x="190003" y="94563"/>
                  <a:pt x="182547" y="98028"/>
                  <a:pt x="174783" y="100791"/>
                </a:cubicBezTo>
                <a:cubicBezTo>
                  <a:pt x="154169" y="108160"/>
                  <a:pt x="127107" y="112282"/>
                  <a:pt x="98247" y="112282"/>
                </a:cubicBezTo>
                <a:cubicBezTo>
                  <a:pt x="69387" y="112282"/>
                  <a:pt x="42281" y="108116"/>
                  <a:pt x="21711" y="100791"/>
                </a:cubicBezTo>
                <a:cubicBezTo>
                  <a:pt x="13991" y="98028"/>
                  <a:pt x="6491" y="94563"/>
                  <a:pt x="0" y="90265"/>
                </a:cubicBezTo>
                <a:lnTo>
                  <a:pt x="0" y="126318"/>
                </a:lnTo>
                <a:cubicBezTo>
                  <a:pt x="0" y="145704"/>
                  <a:pt x="43992" y="161406"/>
                  <a:pt x="98247" y="161406"/>
                </a:cubicBezTo>
                <a:cubicBezTo>
                  <a:pt x="152502" y="161406"/>
                  <a:pt x="196494" y="145704"/>
                  <a:pt x="196494" y="126318"/>
                </a:cubicBezTo>
                <a:lnTo>
                  <a:pt x="196494" y="90265"/>
                </a:lnTo>
                <a:close/>
                <a:moveTo>
                  <a:pt x="196494" y="56141"/>
                </a:moveTo>
                <a:lnTo>
                  <a:pt x="196494" y="35088"/>
                </a:lnTo>
                <a:cubicBezTo>
                  <a:pt x="196494" y="15702"/>
                  <a:pt x="152502" y="0"/>
                  <a:pt x="98247" y="0"/>
                </a:cubicBezTo>
                <a:cubicBezTo>
                  <a:pt x="43992" y="0"/>
                  <a:pt x="0" y="15702"/>
                  <a:pt x="0" y="35088"/>
                </a:cubicBezTo>
                <a:lnTo>
                  <a:pt x="0" y="56141"/>
                </a:lnTo>
                <a:cubicBezTo>
                  <a:pt x="0" y="75527"/>
                  <a:pt x="43992" y="91229"/>
                  <a:pt x="98247" y="91229"/>
                </a:cubicBezTo>
                <a:cubicBezTo>
                  <a:pt x="152502" y="91229"/>
                  <a:pt x="196494" y="75527"/>
                  <a:pt x="196494" y="56141"/>
                </a:cubicBezTo>
                <a:close/>
                <a:moveTo>
                  <a:pt x="174783" y="170968"/>
                </a:moveTo>
                <a:cubicBezTo>
                  <a:pt x="154213" y="178292"/>
                  <a:pt x="127151" y="182459"/>
                  <a:pt x="98247" y="182459"/>
                </a:cubicBezTo>
                <a:cubicBezTo>
                  <a:pt x="69343" y="182459"/>
                  <a:pt x="42281" y="178292"/>
                  <a:pt x="21711" y="170968"/>
                </a:cubicBezTo>
                <a:cubicBezTo>
                  <a:pt x="13991" y="168204"/>
                  <a:pt x="6491" y="164739"/>
                  <a:pt x="0" y="160441"/>
                </a:cubicBezTo>
                <a:lnTo>
                  <a:pt x="0" y="189477"/>
                </a:lnTo>
                <a:cubicBezTo>
                  <a:pt x="0" y="208863"/>
                  <a:pt x="43992" y="224565"/>
                  <a:pt x="98247" y="224565"/>
                </a:cubicBezTo>
                <a:cubicBezTo>
                  <a:pt x="152502" y="224565"/>
                  <a:pt x="196494" y="208863"/>
                  <a:pt x="196494" y="189477"/>
                </a:cubicBezTo>
                <a:lnTo>
                  <a:pt x="196494" y="160441"/>
                </a:lnTo>
                <a:cubicBezTo>
                  <a:pt x="190003" y="164739"/>
                  <a:pt x="182547" y="168204"/>
                  <a:pt x="174783" y="170968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90094" y="4828144"/>
            <a:ext cx="701141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68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多模数据支持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428102" y="5277274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8552860" y="5277274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图数据支持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552860" y="5626597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375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图数据库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的存储需求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8428102" y="5975920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8552860" y="5975920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时序数据优化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552860" y="6325243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</a:t>
            </a:r>
            <a:r>
              <a:rPr lang="en-US" sz="1375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时间序列数据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的特殊优化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428102" y="6674566"/>
            <a:ext cx="49903" cy="598840"/>
          </a:xfrm>
          <a:custGeom>
            <a:avLst/>
            <a:gdLst/>
            <a:ahLst/>
            <a:cxnLst/>
            <a:rect l="l" t="t" r="r" b="b"/>
            <a:pathLst>
              <a:path w="49903" h="598840">
                <a:moveTo>
                  <a:pt x="0" y="0"/>
                </a:moveTo>
                <a:lnTo>
                  <a:pt x="49903" y="0"/>
                </a:lnTo>
                <a:lnTo>
                  <a:pt x="49903" y="598840"/>
                </a:lnTo>
                <a:lnTo>
                  <a:pt x="0" y="598840"/>
                </a:lnTo>
                <a:lnTo>
                  <a:pt x="0" y="0"/>
                </a:ln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8552860" y="6674566"/>
            <a:ext cx="7136172" cy="299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72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JSON/文档支持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552860" y="7023889"/>
            <a:ext cx="7123696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原生支持</a:t>
            </a:r>
            <a:r>
              <a:rPr lang="en-US" sz="1375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半结构化数据</a:t>
            </a: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11509" y="7610253"/>
            <a:ext cx="15232982" cy="1522051"/>
          </a:xfrm>
          <a:custGeom>
            <a:avLst/>
            <a:gdLst/>
            <a:ahLst/>
            <a:cxnLst/>
            <a:rect l="l" t="t" r="r" b="b"/>
            <a:pathLst>
              <a:path w="15232982" h="1522051">
                <a:moveTo>
                  <a:pt x="0" y="0"/>
                </a:moveTo>
                <a:lnTo>
                  <a:pt x="15232982" y="0"/>
                </a:lnTo>
                <a:lnTo>
                  <a:pt x="15232982" y="1522051"/>
                </a:lnTo>
                <a:lnTo>
                  <a:pt x="0" y="1522051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25400">
            <a:solidFill>
              <a:srgbClr val="5C7A9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754787" y="7872246"/>
            <a:ext cx="249517" cy="249517"/>
          </a:xfrm>
          <a:custGeom>
            <a:avLst/>
            <a:gdLst/>
            <a:ahLst/>
            <a:cxnLst/>
            <a:rect l="l" t="t" r="r" b="b"/>
            <a:pathLst>
              <a:path w="249517" h="249517">
                <a:moveTo>
                  <a:pt x="62379" y="155948"/>
                </a:moveTo>
                <a:lnTo>
                  <a:pt x="11940" y="155948"/>
                </a:lnTo>
                <a:cubicBezTo>
                  <a:pt x="-195" y="155948"/>
                  <a:pt x="-7651" y="142741"/>
                  <a:pt x="-1413" y="132312"/>
                </a:cubicBezTo>
                <a:lnTo>
                  <a:pt x="24367" y="89329"/>
                </a:lnTo>
                <a:cubicBezTo>
                  <a:pt x="28607" y="82262"/>
                  <a:pt x="36209" y="77974"/>
                  <a:pt x="44445" y="77974"/>
                </a:cubicBezTo>
                <a:lnTo>
                  <a:pt x="90742" y="77974"/>
                </a:lnTo>
                <a:cubicBezTo>
                  <a:pt x="127828" y="15156"/>
                  <a:pt x="183141" y="11988"/>
                  <a:pt x="220130" y="17398"/>
                </a:cubicBezTo>
                <a:cubicBezTo>
                  <a:pt x="226368" y="18324"/>
                  <a:pt x="231241" y="23197"/>
                  <a:pt x="232119" y="29386"/>
                </a:cubicBezTo>
                <a:cubicBezTo>
                  <a:pt x="237528" y="66375"/>
                  <a:pt x="234360" y="121688"/>
                  <a:pt x="171543" y="158774"/>
                </a:cubicBezTo>
                <a:lnTo>
                  <a:pt x="171543" y="205071"/>
                </a:lnTo>
                <a:cubicBezTo>
                  <a:pt x="171543" y="213307"/>
                  <a:pt x="167254" y="220910"/>
                  <a:pt x="160188" y="225150"/>
                </a:cubicBezTo>
                <a:lnTo>
                  <a:pt x="117205" y="250930"/>
                </a:lnTo>
                <a:cubicBezTo>
                  <a:pt x="106824" y="257168"/>
                  <a:pt x="93569" y="249663"/>
                  <a:pt x="93569" y="237577"/>
                </a:cubicBezTo>
                <a:lnTo>
                  <a:pt x="93569" y="187137"/>
                </a:lnTo>
                <a:cubicBezTo>
                  <a:pt x="93569" y="169934"/>
                  <a:pt x="79582" y="155948"/>
                  <a:pt x="62379" y="155948"/>
                </a:cubicBezTo>
                <a:lnTo>
                  <a:pt x="62330" y="155948"/>
                </a:lnTo>
                <a:close/>
                <a:moveTo>
                  <a:pt x="194935" y="77974"/>
                </a:moveTo>
                <a:cubicBezTo>
                  <a:pt x="194935" y="65063"/>
                  <a:pt x="184453" y="54582"/>
                  <a:pt x="171543" y="54582"/>
                </a:cubicBezTo>
                <a:cubicBezTo>
                  <a:pt x="158632" y="54582"/>
                  <a:pt x="148150" y="65063"/>
                  <a:pt x="148150" y="77974"/>
                </a:cubicBezTo>
                <a:cubicBezTo>
                  <a:pt x="148150" y="90884"/>
                  <a:pt x="158632" y="101366"/>
                  <a:pt x="171543" y="101366"/>
                </a:cubicBezTo>
                <a:cubicBezTo>
                  <a:pt x="184453" y="101366"/>
                  <a:pt x="194935" y="90884"/>
                  <a:pt x="194935" y="77974"/>
                </a:cubicBez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035493" y="7822342"/>
            <a:ext cx="11702324" cy="349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65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未来展望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723598" y="8271472"/>
            <a:ext cx="11989268" cy="648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 作为现代存储系统的重要技术，正在持续发展中。未来的 LSM-Tree 将更加</a:t>
            </a:r>
            <a:r>
              <a:rPr lang="en-US" sz="1572" b="1" dirty="0">
                <a:solidFill>
                  <a:srgbClr val="D4A373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智能化</a:t>
            </a:r>
            <a:r>
              <a:rPr lang="en-US" sz="15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572" b="1" dirty="0">
                <a:solidFill>
                  <a:srgbClr val="5C7A9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自适应</a:t>
            </a:r>
            <a:r>
              <a:rPr lang="en-US" sz="15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72" b="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云原生化</a:t>
            </a:r>
            <a:r>
              <a:rPr lang="en-US" sz="1572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，为数据系统提供更强大的存储能力。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979342" y="8040669"/>
            <a:ext cx="374275" cy="374275"/>
          </a:xfrm>
          <a:custGeom>
            <a:avLst/>
            <a:gdLst/>
            <a:ahLst/>
            <a:cxnLst/>
            <a:rect l="l" t="t" r="r" b="b"/>
            <a:pathLst>
              <a:path w="374275" h="374275">
                <a:moveTo>
                  <a:pt x="46784" y="46784"/>
                </a:moveTo>
                <a:cubicBezTo>
                  <a:pt x="46784" y="33846"/>
                  <a:pt x="36331" y="23392"/>
                  <a:pt x="23392" y="23392"/>
                </a:cubicBezTo>
                <a:cubicBezTo>
                  <a:pt x="10453" y="23392"/>
                  <a:pt x="0" y="33846"/>
                  <a:pt x="0" y="46784"/>
                </a:cubicBezTo>
                <a:lnTo>
                  <a:pt x="0" y="292402"/>
                </a:lnTo>
                <a:cubicBezTo>
                  <a:pt x="0" y="324713"/>
                  <a:pt x="26170" y="350883"/>
                  <a:pt x="58480" y="350883"/>
                </a:cubicBezTo>
                <a:lnTo>
                  <a:pt x="350883" y="350883"/>
                </a:lnTo>
                <a:cubicBezTo>
                  <a:pt x="363821" y="350883"/>
                  <a:pt x="374275" y="340429"/>
                  <a:pt x="374275" y="327490"/>
                </a:cubicBezTo>
                <a:cubicBezTo>
                  <a:pt x="374275" y="314552"/>
                  <a:pt x="363821" y="304098"/>
                  <a:pt x="350883" y="304098"/>
                </a:cubicBezTo>
                <a:lnTo>
                  <a:pt x="58480" y="304098"/>
                </a:lnTo>
                <a:cubicBezTo>
                  <a:pt x="52048" y="304098"/>
                  <a:pt x="46784" y="298835"/>
                  <a:pt x="46784" y="292402"/>
                </a:cubicBezTo>
                <a:lnTo>
                  <a:pt x="46784" y="46784"/>
                </a:lnTo>
                <a:close/>
                <a:moveTo>
                  <a:pt x="344011" y="110089"/>
                </a:moveTo>
                <a:cubicBezTo>
                  <a:pt x="353149" y="100952"/>
                  <a:pt x="353149" y="86112"/>
                  <a:pt x="344011" y="76975"/>
                </a:cubicBezTo>
                <a:cubicBezTo>
                  <a:pt x="334874" y="67837"/>
                  <a:pt x="320034" y="67837"/>
                  <a:pt x="310897" y="76975"/>
                </a:cubicBezTo>
                <a:lnTo>
                  <a:pt x="233922" y="154023"/>
                </a:lnTo>
                <a:lnTo>
                  <a:pt x="191962" y="112136"/>
                </a:lnTo>
                <a:cubicBezTo>
                  <a:pt x="182824" y="102999"/>
                  <a:pt x="167985" y="102999"/>
                  <a:pt x="158847" y="112136"/>
                </a:cubicBezTo>
                <a:lnTo>
                  <a:pt x="88671" y="182313"/>
                </a:lnTo>
                <a:cubicBezTo>
                  <a:pt x="79533" y="191450"/>
                  <a:pt x="79533" y="206290"/>
                  <a:pt x="88671" y="215427"/>
                </a:cubicBezTo>
                <a:cubicBezTo>
                  <a:pt x="97809" y="224565"/>
                  <a:pt x="112648" y="224565"/>
                  <a:pt x="121785" y="215427"/>
                </a:cubicBezTo>
                <a:lnTo>
                  <a:pt x="175441" y="161771"/>
                </a:lnTo>
                <a:lnTo>
                  <a:pt x="217401" y="203731"/>
                </a:lnTo>
                <a:cubicBezTo>
                  <a:pt x="226539" y="212869"/>
                  <a:pt x="241378" y="212869"/>
                  <a:pt x="250516" y="203731"/>
                </a:cubicBezTo>
                <a:lnTo>
                  <a:pt x="344084" y="110163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2770371" y="8496037"/>
            <a:ext cx="785977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14077214" y="8040669"/>
            <a:ext cx="374275" cy="374275"/>
          </a:xfrm>
          <a:custGeom>
            <a:avLst/>
            <a:gdLst/>
            <a:ahLst/>
            <a:cxnLst/>
            <a:rect l="l" t="t" r="r" b="b"/>
            <a:pathLst>
              <a:path w="374275" h="374275">
                <a:moveTo>
                  <a:pt x="142619" y="6945"/>
                </a:moveTo>
                <a:cubicBezTo>
                  <a:pt x="144812" y="-3874"/>
                  <a:pt x="154388" y="-11696"/>
                  <a:pt x="165500" y="-11696"/>
                </a:cubicBezTo>
                <a:lnTo>
                  <a:pt x="209214" y="-11696"/>
                </a:lnTo>
                <a:cubicBezTo>
                  <a:pt x="220325" y="-11696"/>
                  <a:pt x="229901" y="-3874"/>
                  <a:pt x="232094" y="6945"/>
                </a:cubicBezTo>
                <a:lnTo>
                  <a:pt x="242694" y="58115"/>
                </a:lnTo>
                <a:cubicBezTo>
                  <a:pt x="253001" y="62501"/>
                  <a:pt x="262650" y="68130"/>
                  <a:pt x="271422" y="74782"/>
                </a:cubicBezTo>
                <a:lnTo>
                  <a:pt x="320984" y="58334"/>
                </a:lnTo>
                <a:cubicBezTo>
                  <a:pt x="331511" y="54825"/>
                  <a:pt x="343061" y="59211"/>
                  <a:pt x="348616" y="68861"/>
                </a:cubicBezTo>
                <a:lnTo>
                  <a:pt x="370474" y="106727"/>
                </a:lnTo>
                <a:cubicBezTo>
                  <a:pt x="376029" y="116376"/>
                  <a:pt x="374055" y="128511"/>
                  <a:pt x="365722" y="135894"/>
                </a:cubicBezTo>
                <a:lnTo>
                  <a:pt x="326759" y="170544"/>
                </a:lnTo>
                <a:cubicBezTo>
                  <a:pt x="327417" y="175953"/>
                  <a:pt x="327710" y="181509"/>
                  <a:pt x="327710" y="187137"/>
                </a:cubicBezTo>
                <a:cubicBezTo>
                  <a:pt x="327710" y="192766"/>
                  <a:pt x="327344" y="198322"/>
                  <a:pt x="326759" y="203731"/>
                </a:cubicBezTo>
                <a:lnTo>
                  <a:pt x="365795" y="238454"/>
                </a:lnTo>
                <a:cubicBezTo>
                  <a:pt x="374129" y="245837"/>
                  <a:pt x="376029" y="258045"/>
                  <a:pt x="370547" y="267621"/>
                </a:cubicBezTo>
                <a:lnTo>
                  <a:pt x="348690" y="305487"/>
                </a:lnTo>
                <a:cubicBezTo>
                  <a:pt x="343134" y="315063"/>
                  <a:pt x="331584" y="319522"/>
                  <a:pt x="321058" y="316014"/>
                </a:cubicBezTo>
                <a:lnTo>
                  <a:pt x="271495" y="299566"/>
                </a:lnTo>
                <a:cubicBezTo>
                  <a:pt x="262650" y="306218"/>
                  <a:pt x="253001" y="311774"/>
                  <a:pt x="242767" y="316233"/>
                </a:cubicBezTo>
                <a:lnTo>
                  <a:pt x="232240" y="367330"/>
                </a:lnTo>
                <a:cubicBezTo>
                  <a:pt x="229974" y="378222"/>
                  <a:pt x="220398" y="385971"/>
                  <a:pt x="209360" y="385971"/>
                </a:cubicBezTo>
                <a:lnTo>
                  <a:pt x="165646" y="385971"/>
                </a:lnTo>
                <a:cubicBezTo>
                  <a:pt x="154535" y="385971"/>
                  <a:pt x="144958" y="378149"/>
                  <a:pt x="142765" y="367330"/>
                </a:cubicBezTo>
                <a:lnTo>
                  <a:pt x="132239" y="316233"/>
                </a:lnTo>
                <a:cubicBezTo>
                  <a:pt x="121932" y="311847"/>
                  <a:pt x="112356" y="306218"/>
                  <a:pt x="103510" y="299566"/>
                </a:cubicBezTo>
                <a:lnTo>
                  <a:pt x="53729" y="316014"/>
                </a:lnTo>
                <a:cubicBezTo>
                  <a:pt x="43202" y="319522"/>
                  <a:pt x="31653" y="315136"/>
                  <a:pt x="26097" y="305487"/>
                </a:cubicBezTo>
                <a:lnTo>
                  <a:pt x="4240" y="267621"/>
                </a:lnTo>
                <a:cubicBezTo>
                  <a:pt x="-1316" y="257972"/>
                  <a:pt x="658" y="245837"/>
                  <a:pt x="8991" y="238454"/>
                </a:cubicBezTo>
                <a:lnTo>
                  <a:pt x="48027" y="203731"/>
                </a:lnTo>
                <a:cubicBezTo>
                  <a:pt x="47369" y="198322"/>
                  <a:pt x="47077" y="192766"/>
                  <a:pt x="47077" y="187137"/>
                </a:cubicBezTo>
                <a:cubicBezTo>
                  <a:pt x="47077" y="181509"/>
                  <a:pt x="47442" y="175953"/>
                  <a:pt x="48027" y="170544"/>
                </a:cubicBezTo>
                <a:lnTo>
                  <a:pt x="8991" y="135821"/>
                </a:lnTo>
                <a:cubicBezTo>
                  <a:pt x="658" y="128438"/>
                  <a:pt x="-1243" y="116230"/>
                  <a:pt x="4240" y="106654"/>
                </a:cubicBezTo>
                <a:lnTo>
                  <a:pt x="26097" y="68788"/>
                </a:lnTo>
                <a:cubicBezTo>
                  <a:pt x="31653" y="59138"/>
                  <a:pt x="43202" y="54752"/>
                  <a:pt x="53729" y="58261"/>
                </a:cubicBezTo>
                <a:lnTo>
                  <a:pt x="103291" y="74709"/>
                </a:lnTo>
                <a:cubicBezTo>
                  <a:pt x="112136" y="68057"/>
                  <a:pt x="121785" y="62501"/>
                  <a:pt x="132020" y="58042"/>
                </a:cubicBezTo>
                <a:lnTo>
                  <a:pt x="142619" y="6945"/>
                </a:lnTo>
                <a:close/>
                <a:moveTo>
                  <a:pt x="187357" y="245618"/>
                </a:moveTo>
                <a:cubicBezTo>
                  <a:pt x="208250" y="245539"/>
                  <a:pt x="227514" y="234321"/>
                  <a:pt x="237893" y="216188"/>
                </a:cubicBezTo>
                <a:cubicBezTo>
                  <a:pt x="248271" y="198055"/>
                  <a:pt x="248188" y="175762"/>
                  <a:pt x="237673" y="157707"/>
                </a:cubicBezTo>
                <a:cubicBezTo>
                  <a:pt x="227159" y="139653"/>
                  <a:pt x="207811" y="128579"/>
                  <a:pt x="186918" y="128657"/>
                </a:cubicBezTo>
                <a:cubicBezTo>
                  <a:pt x="166025" y="128735"/>
                  <a:pt x="146761" y="139954"/>
                  <a:pt x="136382" y="158087"/>
                </a:cubicBezTo>
                <a:cubicBezTo>
                  <a:pt x="126004" y="176220"/>
                  <a:pt x="126087" y="198513"/>
                  <a:pt x="136601" y="216568"/>
                </a:cubicBezTo>
                <a:cubicBezTo>
                  <a:pt x="147116" y="234622"/>
                  <a:pt x="166464" y="245696"/>
                  <a:pt x="187357" y="245618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13868244" y="8496037"/>
            <a:ext cx="785977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智能调优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15064364" y="8040669"/>
            <a:ext cx="421059" cy="374275"/>
          </a:xfrm>
          <a:custGeom>
            <a:avLst/>
            <a:gdLst/>
            <a:ahLst/>
            <a:cxnLst/>
            <a:rect l="l" t="t" r="r" b="b"/>
            <a:pathLst>
              <a:path w="421059" h="374275">
                <a:moveTo>
                  <a:pt x="0" y="245618"/>
                </a:moveTo>
                <a:cubicBezTo>
                  <a:pt x="0" y="303733"/>
                  <a:pt x="47150" y="350883"/>
                  <a:pt x="105265" y="350883"/>
                </a:cubicBezTo>
                <a:lnTo>
                  <a:pt x="327490" y="350883"/>
                </a:lnTo>
                <a:cubicBezTo>
                  <a:pt x="379172" y="350883"/>
                  <a:pt x="421059" y="308996"/>
                  <a:pt x="421059" y="257314"/>
                </a:cubicBezTo>
                <a:cubicBezTo>
                  <a:pt x="421059" y="219594"/>
                  <a:pt x="398763" y="187064"/>
                  <a:pt x="366599" y="172298"/>
                </a:cubicBezTo>
                <a:cubicBezTo>
                  <a:pt x="371497" y="162722"/>
                  <a:pt x="374275" y="151830"/>
                  <a:pt x="374275" y="140353"/>
                </a:cubicBezTo>
                <a:cubicBezTo>
                  <a:pt x="374275" y="101610"/>
                  <a:pt x="342842" y="70177"/>
                  <a:pt x="304098" y="70177"/>
                </a:cubicBezTo>
                <a:cubicBezTo>
                  <a:pt x="291159" y="70177"/>
                  <a:pt x="279098" y="73685"/>
                  <a:pt x="268718" y="79753"/>
                </a:cubicBezTo>
                <a:cubicBezTo>
                  <a:pt x="251100" y="46273"/>
                  <a:pt x="215939" y="23392"/>
                  <a:pt x="175441" y="23392"/>
                </a:cubicBezTo>
                <a:cubicBezTo>
                  <a:pt x="117326" y="23392"/>
                  <a:pt x="70177" y="70542"/>
                  <a:pt x="70177" y="128657"/>
                </a:cubicBezTo>
                <a:cubicBezTo>
                  <a:pt x="70177" y="134505"/>
                  <a:pt x="70688" y="140280"/>
                  <a:pt x="71565" y="145836"/>
                </a:cubicBezTo>
                <a:cubicBezTo>
                  <a:pt x="29971" y="159871"/>
                  <a:pt x="0" y="199272"/>
                  <a:pt x="0" y="245618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14966117" y="8496037"/>
            <a:ext cx="611315" cy="249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75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ages.stockcake.com/1b0b00242ac1aa243c9fc999c83c49f50f987710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" b="781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0000"/>
                </a:srgbClr>
              </a:gs>
              <a:gs pos="50000">
                <a:srgbClr val="5C7A96">
                  <a:alpha val="3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4853384" y="476250"/>
            <a:ext cx="3383359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EDF2F4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深入理解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779544" y="476250"/>
            <a:ext cx="3622873" cy="1098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b="1" dirty="0">
                <a:solidFill>
                  <a:srgbClr val="5C7A96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LSM-Tree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682034" y="1905000"/>
            <a:ext cx="6896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8D99A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构建高性能数据系统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315101" y="2819400"/>
            <a:ext cx="1625600" cy="50800"/>
          </a:xfrm>
          <a:custGeom>
            <a:avLst/>
            <a:gdLst/>
            <a:ahLst/>
            <a:cxnLst/>
            <a:rect l="l" t="t" r="r" b="b"/>
            <a:pathLst>
              <a:path w="1625600" h="50800">
                <a:moveTo>
                  <a:pt x="0" y="0"/>
                </a:moveTo>
                <a:lnTo>
                  <a:pt x="1625600" y="0"/>
                </a:lnTo>
                <a:lnTo>
                  <a:pt x="16256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4720134" y="3276600"/>
            <a:ext cx="6819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从1996年的经典论文到现代分布式存储系统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20134" y="3975100"/>
            <a:ext cx="6819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LSM-Tree 以其卓越的写入性能和优秀的扩展能力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20134" y="4673600"/>
            <a:ext cx="6819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4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成为数据库存储领域的重要基石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99101" y="589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420172" y="25241"/>
                </a:moveTo>
                <a:lnTo>
                  <a:pt x="366712" y="78700"/>
                </a:lnTo>
                <a:lnTo>
                  <a:pt x="530900" y="242888"/>
                </a:lnTo>
                <a:lnTo>
                  <a:pt x="584359" y="189428"/>
                </a:lnTo>
                <a:cubicBezTo>
                  <a:pt x="600551" y="173355"/>
                  <a:pt x="609600" y="151448"/>
                  <a:pt x="609600" y="128588"/>
                </a:cubicBezTo>
                <a:cubicBezTo>
                  <a:pt x="609600" y="105728"/>
                  <a:pt x="600551" y="83820"/>
                  <a:pt x="584359" y="67747"/>
                </a:cubicBezTo>
                <a:lnTo>
                  <a:pt x="541853" y="25241"/>
                </a:lnTo>
                <a:cubicBezTo>
                  <a:pt x="525780" y="9049"/>
                  <a:pt x="503873" y="0"/>
                  <a:pt x="481012" y="0"/>
                </a:cubicBezTo>
                <a:cubicBezTo>
                  <a:pt x="458153" y="0"/>
                  <a:pt x="436245" y="9049"/>
                  <a:pt x="420172" y="25241"/>
                </a:cubicBezTo>
                <a:close/>
                <a:moveTo>
                  <a:pt x="326350" y="119062"/>
                </a:moveTo>
                <a:lnTo>
                  <a:pt x="70128" y="375166"/>
                </a:lnTo>
                <a:cubicBezTo>
                  <a:pt x="57388" y="387906"/>
                  <a:pt x="48101" y="403860"/>
                  <a:pt x="43220" y="421243"/>
                </a:cubicBezTo>
                <a:lnTo>
                  <a:pt x="1072" y="573405"/>
                </a:lnTo>
                <a:cubicBezTo>
                  <a:pt x="-1667" y="583287"/>
                  <a:pt x="1072" y="594003"/>
                  <a:pt x="8453" y="601266"/>
                </a:cubicBezTo>
                <a:cubicBezTo>
                  <a:pt x="15835" y="608528"/>
                  <a:pt x="26432" y="611386"/>
                  <a:pt x="36314" y="608647"/>
                </a:cubicBezTo>
                <a:lnTo>
                  <a:pt x="188476" y="566380"/>
                </a:lnTo>
                <a:cubicBezTo>
                  <a:pt x="205859" y="561499"/>
                  <a:pt x="221694" y="552331"/>
                  <a:pt x="234553" y="539472"/>
                </a:cubicBezTo>
                <a:lnTo>
                  <a:pt x="490538" y="283250"/>
                </a:lnTo>
                <a:lnTo>
                  <a:pt x="326350" y="119062"/>
                </a:lnTo>
                <a:close/>
              </a:path>
            </a:pathLst>
          </a:custGeom>
          <a:solidFill>
            <a:srgbClr val="D4A37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089551" y="6654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顺序写入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823101" y="589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276820" y="6191"/>
                </a:moveTo>
                <a:cubicBezTo>
                  <a:pt x="294561" y="-2024"/>
                  <a:pt x="315039" y="-2024"/>
                  <a:pt x="332780" y="6191"/>
                </a:cubicBezTo>
                <a:lnTo>
                  <a:pt x="593050" y="126444"/>
                </a:lnTo>
                <a:cubicBezTo>
                  <a:pt x="603171" y="131088"/>
                  <a:pt x="609600" y="141208"/>
                  <a:pt x="609600" y="152400"/>
                </a:cubicBezTo>
                <a:cubicBezTo>
                  <a:pt x="609600" y="163592"/>
                  <a:pt x="603171" y="173712"/>
                  <a:pt x="593050" y="178356"/>
                </a:cubicBezTo>
                <a:lnTo>
                  <a:pt x="332780" y="298609"/>
                </a:lnTo>
                <a:cubicBezTo>
                  <a:pt x="315039" y="306824"/>
                  <a:pt x="294561" y="306824"/>
                  <a:pt x="276820" y="298609"/>
                </a:cubicBezTo>
                <a:lnTo>
                  <a:pt x="16550" y="178356"/>
                </a:lnTo>
                <a:cubicBezTo>
                  <a:pt x="6429" y="173593"/>
                  <a:pt x="0" y="163473"/>
                  <a:pt x="0" y="152400"/>
                </a:cubicBezTo>
                <a:cubicBezTo>
                  <a:pt x="0" y="141327"/>
                  <a:pt x="6429" y="131088"/>
                  <a:pt x="16550" y="126444"/>
                </a:cubicBezTo>
                <a:lnTo>
                  <a:pt x="276820" y="6191"/>
                </a:lnTo>
                <a:close/>
                <a:moveTo>
                  <a:pt x="57269" y="260033"/>
                </a:moveTo>
                <a:lnTo>
                  <a:pt x="252889" y="350401"/>
                </a:lnTo>
                <a:cubicBezTo>
                  <a:pt x="285869" y="365641"/>
                  <a:pt x="323850" y="365641"/>
                  <a:pt x="356830" y="350401"/>
                </a:cubicBezTo>
                <a:lnTo>
                  <a:pt x="552450" y="260033"/>
                </a:lnTo>
                <a:lnTo>
                  <a:pt x="593050" y="278844"/>
                </a:lnTo>
                <a:cubicBezTo>
                  <a:pt x="603171" y="283488"/>
                  <a:pt x="609600" y="293608"/>
                  <a:pt x="609600" y="304800"/>
                </a:cubicBezTo>
                <a:cubicBezTo>
                  <a:pt x="609600" y="315992"/>
                  <a:pt x="603171" y="326112"/>
                  <a:pt x="593050" y="330756"/>
                </a:cubicBezTo>
                <a:lnTo>
                  <a:pt x="332780" y="451009"/>
                </a:lnTo>
                <a:cubicBezTo>
                  <a:pt x="315039" y="459224"/>
                  <a:pt x="294561" y="459224"/>
                  <a:pt x="276820" y="451009"/>
                </a:cubicBezTo>
                <a:lnTo>
                  <a:pt x="16550" y="330756"/>
                </a:lnTo>
                <a:cubicBezTo>
                  <a:pt x="6429" y="325993"/>
                  <a:pt x="0" y="315873"/>
                  <a:pt x="0" y="304800"/>
                </a:cubicBezTo>
                <a:cubicBezTo>
                  <a:pt x="0" y="293727"/>
                  <a:pt x="6429" y="283488"/>
                  <a:pt x="16550" y="278844"/>
                </a:cubicBezTo>
                <a:lnTo>
                  <a:pt x="57150" y="260033"/>
                </a:lnTo>
                <a:close/>
                <a:moveTo>
                  <a:pt x="16550" y="431244"/>
                </a:moveTo>
                <a:lnTo>
                  <a:pt x="57150" y="412433"/>
                </a:lnTo>
                <a:lnTo>
                  <a:pt x="252770" y="502801"/>
                </a:lnTo>
                <a:cubicBezTo>
                  <a:pt x="285750" y="518041"/>
                  <a:pt x="323731" y="518041"/>
                  <a:pt x="356711" y="502801"/>
                </a:cubicBezTo>
                <a:lnTo>
                  <a:pt x="552331" y="412433"/>
                </a:lnTo>
                <a:lnTo>
                  <a:pt x="592931" y="431244"/>
                </a:lnTo>
                <a:cubicBezTo>
                  <a:pt x="603052" y="435888"/>
                  <a:pt x="609481" y="446008"/>
                  <a:pt x="609481" y="457200"/>
                </a:cubicBezTo>
                <a:cubicBezTo>
                  <a:pt x="609481" y="468392"/>
                  <a:pt x="603052" y="478512"/>
                  <a:pt x="592931" y="483156"/>
                </a:cubicBezTo>
                <a:lnTo>
                  <a:pt x="332661" y="603409"/>
                </a:lnTo>
                <a:cubicBezTo>
                  <a:pt x="314920" y="611624"/>
                  <a:pt x="294442" y="611624"/>
                  <a:pt x="276701" y="603409"/>
                </a:cubicBezTo>
                <a:lnTo>
                  <a:pt x="16550" y="483156"/>
                </a:lnTo>
                <a:cubicBezTo>
                  <a:pt x="6429" y="478393"/>
                  <a:pt x="0" y="468273"/>
                  <a:pt x="0" y="457200"/>
                </a:cubicBezTo>
                <a:cubicBezTo>
                  <a:pt x="0" y="446127"/>
                  <a:pt x="6429" y="435888"/>
                  <a:pt x="16550" y="431244"/>
                </a:cubicBezTo>
                <a:close/>
              </a:path>
            </a:pathLst>
          </a:custGeom>
          <a:solidFill>
            <a:srgbClr val="5C7A9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613551" y="6654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9347101" y="58928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571619" y="228600"/>
                </a:moveTo>
                <a:lnTo>
                  <a:pt x="581025" y="228600"/>
                </a:lnTo>
                <a:cubicBezTo>
                  <a:pt x="596860" y="228600"/>
                  <a:pt x="609600" y="215860"/>
                  <a:pt x="609600" y="200025"/>
                </a:cubicBezTo>
                <a:lnTo>
                  <a:pt x="609600" y="28575"/>
                </a:lnTo>
                <a:cubicBezTo>
                  <a:pt x="609600" y="17026"/>
                  <a:pt x="602694" y="6548"/>
                  <a:pt x="591979" y="2143"/>
                </a:cubicBezTo>
                <a:cubicBezTo>
                  <a:pt x="581263" y="-2262"/>
                  <a:pt x="569000" y="238"/>
                  <a:pt x="560784" y="8334"/>
                </a:cubicBezTo>
                <a:lnTo>
                  <a:pt x="499229" y="70009"/>
                </a:lnTo>
                <a:cubicBezTo>
                  <a:pt x="446484" y="26313"/>
                  <a:pt x="378619" y="0"/>
                  <a:pt x="304800" y="0"/>
                </a:cubicBezTo>
                <a:cubicBezTo>
                  <a:pt x="151209" y="0"/>
                  <a:pt x="24170" y="113586"/>
                  <a:pt x="3096" y="261342"/>
                </a:cubicBezTo>
                <a:cubicBezTo>
                  <a:pt x="119" y="282178"/>
                  <a:pt x="14526" y="301466"/>
                  <a:pt x="35362" y="304443"/>
                </a:cubicBezTo>
                <a:cubicBezTo>
                  <a:pt x="56198" y="307419"/>
                  <a:pt x="75486" y="292894"/>
                  <a:pt x="78462" y="272177"/>
                </a:cubicBezTo>
                <a:cubicBezTo>
                  <a:pt x="94298" y="161330"/>
                  <a:pt x="189667" y="76200"/>
                  <a:pt x="304800" y="76200"/>
                </a:cubicBezTo>
                <a:cubicBezTo>
                  <a:pt x="357664" y="76200"/>
                  <a:pt x="406241" y="94059"/>
                  <a:pt x="444937" y="124182"/>
                </a:cubicBezTo>
                <a:lnTo>
                  <a:pt x="389334" y="179784"/>
                </a:lnTo>
                <a:cubicBezTo>
                  <a:pt x="381119" y="188000"/>
                  <a:pt x="378738" y="200263"/>
                  <a:pt x="383143" y="210979"/>
                </a:cubicBezTo>
                <a:cubicBezTo>
                  <a:pt x="387548" y="221694"/>
                  <a:pt x="398026" y="228600"/>
                  <a:pt x="409575" y="228600"/>
                </a:cubicBezTo>
                <a:lnTo>
                  <a:pt x="571619" y="228600"/>
                </a:lnTo>
                <a:close/>
                <a:moveTo>
                  <a:pt x="606623" y="348258"/>
                </a:moveTo>
                <a:cubicBezTo>
                  <a:pt x="609600" y="327422"/>
                  <a:pt x="595074" y="308134"/>
                  <a:pt x="574357" y="305157"/>
                </a:cubicBezTo>
                <a:cubicBezTo>
                  <a:pt x="553641" y="302181"/>
                  <a:pt x="534233" y="316706"/>
                  <a:pt x="531257" y="337423"/>
                </a:cubicBezTo>
                <a:cubicBezTo>
                  <a:pt x="515422" y="448151"/>
                  <a:pt x="420053" y="533281"/>
                  <a:pt x="304919" y="533281"/>
                </a:cubicBezTo>
                <a:cubicBezTo>
                  <a:pt x="252055" y="533281"/>
                  <a:pt x="203478" y="515422"/>
                  <a:pt x="164783" y="485299"/>
                </a:cubicBezTo>
                <a:lnTo>
                  <a:pt x="220266" y="429816"/>
                </a:lnTo>
                <a:cubicBezTo>
                  <a:pt x="228481" y="421600"/>
                  <a:pt x="230862" y="409337"/>
                  <a:pt x="226457" y="398621"/>
                </a:cubicBezTo>
                <a:cubicBezTo>
                  <a:pt x="222052" y="387906"/>
                  <a:pt x="211574" y="381000"/>
                  <a:pt x="200025" y="381000"/>
                </a:cubicBezTo>
                <a:lnTo>
                  <a:pt x="28575" y="381000"/>
                </a:lnTo>
                <a:cubicBezTo>
                  <a:pt x="12740" y="381000"/>
                  <a:pt x="0" y="393740"/>
                  <a:pt x="0" y="409575"/>
                </a:cubicBezTo>
                <a:lnTo>
                  <a:pt x="0" y="581025"/>
                </a:lnTo>
                <a:cubicBezTo>
                  <a:pt x="0" y="592574"/>
                  <a:pt x="6906" y="603052"/>
                  <a:pt x="17621" y="607457"/>
                </a:cubicBezTo>
                <a:cubicBezTo>
                  <a:pt x="28337" y="611862"/>
                  <a:pt x="40600" y="609362"/>
                  <a:pt x="48816" y="601266"/>
                </a:cubicBezTo>
                <a:lnTo>
                  <a:pt x="110490" y="539591"/>
                </a:lnTo>
                <a:cubicBezTo>
                  <a:pt x="163116" y="583287"/>
                  <a:pt x="230981" y="609600"/>
                  <a:pt x="304800" y="609600"/>
                </a:cubicBezTo>
                <a:cubicBezTo>
                  <a:pt x="458391" y="609600"/>
                  <a:pt x="585430" y="496014"/>
                  <a:pt x="606504" y="348258"/>
                </a:cubicBezTo>
                <a:close/>
              </a:path>
            </a:pathLst>
          </a:custGeom>
          <a:solidFill>
            <a:srgbClr val="8D99A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9137551" y="66548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2698</Words>
  <Application>Microsoft Macintosh PowerPoint</Application>
  <PresentationFormat>自定义</PresentationFormat>
  <Paragraphs>780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9" baseType="lpstr">
      <vt:lpstr>MiSans</vt:lpstr>
      <vt:lpstr>得意黑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LSM-Tree 入门</dc:title>
  <dc:subject>LSM-Tree 入门</dc:subject>
  <dc:creator>Kimi</dc:creator>
  <cp:lastModifiedBy>王 天青</cp:lastModifiedBy>
  <cp:revision>2</cp:revision>
  <dcterms:created xsi:type="dcterms:W3CDTF">2025-12-20T00:19:16Z</dcterms:created>
  <dcterms:modified xsi:type="dcterms:W3CDTF">2025-12-20T00:21:26Z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{"Label":"LSM-Tree 入门","ContentProducer":"001191110108MACG2KBH8F10000","ProduceID":"19b39160-2172-899b-8000-0000fd0c7e7f","ReservedCode1":"","ContentPropagator":"001191110108MACG2KBH8F20000","PropagateID":"19b39160-2172-899b-8000-0000fd0c7e7f","ReservedCode2":""}</vt:lpwstr>
  </property>
</Properties>
</file>